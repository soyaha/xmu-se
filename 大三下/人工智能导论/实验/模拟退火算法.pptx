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1"/>
  </p:notesMasterIdLst>
  <p:sldIdLst>
    <p:sldId id="256" r:id="rId2"/>
    <p:sldId id="265" r:id="rId3"/>
    <p:sldId id="309" r:id="rId4"/>
    <p:sldId id="332" r:id="rId5"/>
    <p:sldId id="331" r:id="rId6"/>
    <p:sldId id="330" r:id="rId7"/>
    <p:sldId id="347" r:id="rId8"/>
    <p:sldId id="327" r:id="rId9"/>
    <p:sldId id="329" r:id="rId10"/>
    <p:sldId id="310" r:id="rId11"/>
    <p:sldId id="311" r:id="rId12"/>
    <p:sldId id="333" r:id="rId13"/>
    <p:sldId id="313" r:id="rId14"/>
    <p:sldId id="328" r:id="rId15"/>
    <p:sldId id="348" r:id="rId16"/>
    <p:sldId id="349" r:id="rId17"/>
    <p:sldId id="335" r:id="rId18"/>
    <p:sldId id="350" r:id="rId19"/>
    <p:sldId id="336" r:id="rId20"/>
    <p:sldId id="352" r:id="rId21"/>
    <p:sldId id="353" r:id="rId22"/>
    <p:sldId id="354" r:id="rId23"/>
    <p:sldId id="355" r:id="rId24"/>
    <p:sldId id="356" r:id="rId25"/>
    <p:sldId id="357" r:id="rId26"/>
    <p:sldId id="351" r:id="rId27"/>
    <p:sldId id="334" r:id="rId28"/>
    <p:sldId id="325" r:id="rId29"/>
    <p:sldId id="337" r:id="rId30"/>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30" userDrawn="1">
          <p15:clr>
            <a:srgbClr val="A4A3A4"/>
          </p15:clr>
        </p15:guide>
        <p15:guide id="2" pos="372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C3B6C"/>
    <a:srgbClr val="ECD37E"/>
    <a:srgbClr val="FFFFFF"/>
    <a:srgbClr val="043567"/>
    <a:srgbClr val="073769"/>
    <a:srgbClr val="002060"/>
    <a:srgbClr val="DCDCDC"/>
    <a:srgbClr val="F0F0F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4" d="100"/>
          <a:sy n="94" d="100"/>
        </p:scale>
        <p:origin x="68" y="580"/>
      </p:cViewPr>
      <p:guideLst>
        <p:guide orient="horz" pos="2330"/>
        <p:guide pos="372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2026-03-11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0.xml"/><Relationship Id="rId7" Type="http://schemas.openxmlformats.org/officeDocument/2006/relationships/image" Target="../media/image3.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image" Target="../media/image5.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a:solidFill>
                  <a:srgbClr val="002060"/>
                </a:solidFill>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atin typeface="楷体" panose="02010609060101010101" charset="-122"/>
                <a:ea typeface="楷体"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2026-03-11</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pic>
        <p:nvPicPr>
          <p:cNvPr id="7" name="图片 6"/>
          <p:cNvPicPr>
            <a:picLocks noChangeAspect="1"/>
          </p:cNvPicPr>
          <p:nvPr userDrawn="1"/>
        </p:nvPicPr>
        <p:blipFill>
          <a:blip r:embed="rId7"/>
          <a:stretch>
            <a:fillRect/>
          </a:stretch>
        </p:blipFill>
        <p:spPr>
          <a:xfrm>
            <a:off x="8601710" y="213995"/>
            <a:ext cx="3359150" cy="718185"/>
          </a:xfrm>
          <a:prstGeom prst="rect">
            <a:avLst/>
          </a:prstGeom>
        </p:spPr>
      </p:pic>
      <p:pic>
        <p:nvPicPr>
          <p:cNvPr id="5" name="图片 4" descr="图片1"/>
          <p:cNvPicPr>
            <a:picLocks noChangeAspect="1"/>
          </p:cNvPicPr>
          <p:nvPr userDrawn="1"/>
        </p:nvPicPr>
        <p:blipFill>
          <a:blip r:embed="rId8">
            <a:alphaModFix amt="38000"/>
          </a:blip>
          <a:stretch>
            <a:fillRect/>
          </a:stretch>
        </p:blipFill>
        <p:spPr>
          <a:xfrm>
            <a:off x="2540" y="5318125"/>
            <a:ext cx="12189460" cy="1539875"/>
          </a:xfrm>
          <a:prstGeom prst="rect">
            <a:avLst/>
          </a:prstGeom>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12210" y="0"/>
            <a:ext cx="10969200" cy="705600"/>
          </a:xfrm>
        </p:spPr>
        <p:txBody>
          <a:bodyPr vert="horz" lIns="90000" tIns="46800" rIns="90000" bIns="46800" rtlCol="0" anchor="ctr" anchorCtr="0">
            <a:normAutofit/>
          </a:bodyPr>
          <a:lstStyle>
            <a:lvl1pPr>
              <a:defRPr>
                <a:solidFill>
                  <a:srgbClr val="002060"/>
                </a:solidFill>
              </a:defRPr>
            </a:lvl1p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330" y="858520"/>
            <a:ext cx="10968990" cy="5247640"/>
          </a:xfrm>
        </p:spPr>
        <p:txBody>
          <a:bodyPr vert="horz" lIns="90000" tIns="46800" rIns="90000" bIns="46800" rtlCol="0">
            <a:normAutofit/>
          </a:bodyPr>
          <a:lstStyle>
            <a:lvl1pPr>
              <a:defRPr sz="2400">
                <a:solidFill>
                  <a:srgbClr val="002060"/>
                </a:solidFill>
              </a:defRPr>
            </a:lvl1pPr>
            <a:lvl2pPr>
              <a:defRPr sz="2000">
                <a:solidFill>
                  <a:srgbClr val="002060"/>
                </a:solidFill>
              </a:defRPr>
            </a:lvl2pPr>
            <a:lvl3pPr>
              <a:defRPr sz="2000">
                <a:solidFill>
                  <a:srgbClr val="002060"/>
                </a:solidFill>
              </a:defRPr>
            </a:lvl3pPr>
            <a:lvl4pPr>
              <a:defRPr sz="1800">
                <a:solidFill>
                  <a:srgbClr val="002060"/>
                </a:solidFill>
              </a:defRPr>
            </a:lvl4pPr>
            <a:lvl5pPr>
              <a:defRPr sz="1800">
                <a:solidFill>
                  <a:srgbClr val="002060"/>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pic>
        <p:nvPicPr>
          <p:cNvPr id="7" name="图片 6"/>
          <p:cNvPicPr>
            <a:picLocks noChangeAspect="1"/>
          </p:cNvPicPr>
          <p:nvPr userDrawn="1"/>
        </p:nvPicPr>
        <p:blipFill>
          <a:blip r:embed="rId6"/>
          <a:stretch>
            <a:fillRect/>
          </a:stretch>
        </p:blipFill>
        <p:spPr>
          <a:xfrm>
            <a:off x="8280000" y="8890"/>
            <a:ext cx="3359150" cy="718185"/>
          </a:xfrm>
          <a:prstGeom prst="rect">
            <a:avLst/>
          </a:prstGeom>
        </p:spPr>
      </p:pic>
      <p:cxnSp>
        <p:nvCxnSpPr>
          <p:cNvPr id="8" name="直接连接符 7"/>
          <p:cNvCxnSpPr/>
          <p:nvPr userDrawn="1"/>
        </p:nvCxnSpPr>
        <p:spPr>
          <a:xfrm flipV="1">
            <a:off x="598805" y="697865"/>
            <a:ext cx="10974705" cy="9525"/>
          </a:xfrm>
          <a:prstGeom prst="line">
            <a:avLst/>
          </a:prstGeom>
          <a:ln w="127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flipV="1">
            <a:off x="602615" y="6240145"/>
            <a:ext cx="10974705" cy="9525"/>
          </a:xfrm>
          <a:prstGeom prst="line">
            <a:avLst/>
          </a:prstGeom>
          <a:ln w="127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 name="图片 3" descr="厦门大学空天数据智能交叉创新中心-红色"/>
          <p:cNvPicPr>
            <a:picLocks noChangeAspect="1"/>
          </p:cNvPicPr>
          <p:nvPr userDrawn="1"/>
        </p:nvPicPr>
        <p:blipFill>
          <a:blip r:embed="rId7"/>
          <a:srcRect r="20382"/>
          <a:stretch>
            <a:fillRect/>
          </a:stretch>
        </p:blipFill>
        <p:spPr>
          <a:xfrm>
            <a:off x="612140" y="6257290"/>
            <a:ext cx="3728085" cy="488950"/>
          </a:xfrm>
          <a:prstGeom prst="rect">
            <a:avLst/>
          </a:prstGeom>
        </p:spPr>
      </p:pic>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2026-03-11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cxnSp>
        <p:nvCxnSpPr>
          <p:cNvPr id="10" name="直接连接符 9"/>
          <p:cNvCxnSpPr/>
          <p:nvPr userDrawn="1"/>
        </p:nvCxnSpPr>
        <p:spPr>
          <a:xfrm flipV="1">
            <a:off x="602615" y="6240145"/>
            <a:ext cx="10974705" cy="9525"/>
          </a:xfrm>
          <a:prstGeom prst="line">
            <a:avLst/>
          </a:prstGeom>
          <a:ln w="127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12000" y="0"/>
            <a:ext cx="10969200" cy="705600"/>
          </a:xfrm>
        </p:spPr>
        <p:txBody>
          <a:bodyPr vert="horz" lIns="90000" tIns="46800" rIns="90000" bIns="46800" rtlCol="0" anchor="ctr" anchorCtr="0">
            <a:normAutofit/>
          </a:bodyPr>
          <a:lstStyle/>
          <a:p>
            <a:pPr lvl="0" algn="l">
              <a:buClrTx/>
              <a:buSzTx/>
              <a:buFontTx/>
            </a:pPr>
            <a:r>
              <a:rPr lang="zh-CN" altLang="en-US"/>
              <a:t>单击此处编辑母版标题样式</a:t>
            </a:r>
          </a:p>
        </p:txBody>
      </p:sp>
      <p:sp>
        <p:nvSpPr>
          <p:cNvPr id="3" name="内容占位符 2"/>
          <p:cNvSpPr>
            <a:spLocks noGrp="1"/>
          </p:cNvSpPr>
          <p:nvPr>
            <p:ph sz="half" idx="1"/>
            <p:custDataLst>
              <p:tags r:id="rId2"/>
            </p:custDataLst>
          </p:nvPr>
        </p:nvSpPr>
        <p:spPr>
          <a:xfrm>
            <a:off x="608330" y="835025"/>
            <a:ext cx="5176520" cy="5343525"/>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595" y="835200"/>
            <a:ext cx="5176520" cy="534289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2026-03-11</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cxnSp>
        <p:nvCxnSpPr>
          <p:cNvPr id="8" name="直接连接符 7"/>
          <p:cNvCxnSpPr/>
          <p:nvPr userDrawn="1"/>
        </p:nvCxnSpPr>
        <p:spPr>
          <a:xfrm flipV="1">
            <a:off x="598805" y="724535"/>
            <a:ext cx="10974705" cy="9525"/>
          </a:xfrm>
          <a:prstGeom prst="line">
            <a:avLst/>
          </a:prstGeom>
          <a:ln w="127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flipV="1">
            <a:off x="602615" y="6240145"/>
            <a:ext cx="10974705" cy="9525"/>
          </a:xfrm>
          <a:prstGeom prst="line">
            <a:avLst/>
          </a:prstGeom>
          <a:ln w="127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12000" y="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01137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580315"/>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01151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8925" y="1580315"/>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2026-03-11</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cxnSp>
        <p:nvCxnSpPr>
          <p:cNvPr id="10" name="直接连接符 9"/>
          <p:cNvCxnSpPr/>
          <p:nvPr userDrawn="1"/>
        </p:nvCxnSpPr>
        <p:spPr>
          <a:xfrm flipV="1">
            <a:off x="612140" y="705485"/>
            <a:ext cx="10974705" cy="9525"/>
          </a:xfrm>
          <a:prstGeom prst="line">
            <a:avLst/>
          </a:prstGeom>
          <a:ln w="127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flipV="1">
            <a:off x="602615" y="6240145"/>
            <a:ext cx="10974705" cy="9525"/>
          </a:xfrm>
          <a:prstGeom prst="line">
            <a:avLst/>
          </a:prstGeom>
          <a:ln w="127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12000" y="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2026-03-11</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cxnSp>
        <p:nvCxnSpPr>
          <p:cNvPr id="8" name="直接连接符 7"/>
          <p:cNvCxnSpPr/>
          <p:nvPr userDrawn="1"/>
        </p:nvCxnSpPr>
        <p:spPr>
          <a:xfrm flipV="1">
            <a:off x="602615" y="705485"/>
            <a:ext cx="10974705" cy="9525"/>
          </a:xfrm>
          <a:prstGeom prst="line">
            <a:avLst/>
          </a:prstGeom>
          <a:ln w="127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flipV="1">
            <a:off x="602615" y="6240145"/>
            <a:ext cx="10974705" cy="9525"/>
          </a:xfrm>
          <a:prstGeom prst="line">
            <a:avLst/>
          </a:prstGeom>
          <a:ln w="127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2026-03-11</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2026-03-11</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a:xfrm>
            <a:off x="612210" y="0"/>
            <a:ext cx="10969200" cy="705600"/>
          </a:xfrm>
        </p:spPr>
        <p:txBody>
          <a:bodyPr/>
          <a:lstStyle/>
          <a:p>
            <a:r>
              <a:rPr lang="zh-CN" altLang="en-US"/>
              <a:t>单击此处编辑母版标题样式</a:t>
            </a:r>
          </a:p>
        </p:txBody>
      </p:sp>
      <p:cxnSp>
        <p:nvCxnSpPr>
          <p:cNvPr id="8" name="直接连接符 7"/>
          <p:cNvCxnSpPr/>
          <p:nvPr userDrawn="1"/>
        </p:nvCxnSpPr>
        <p:spPr>
          <a:xfrm flipV="1">
            <a:off x="602615" y="705485"/>
            <a:ext cx="10974705" cy="9525"/>
          </a:xfrm>
          <a:prstGeom prst="line">
            <a:avLst/>
          </a:prstGeom>
          <a:ln w="127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flipV="1">
            <a:off x="602615" y="6240145"/>
            <a:ext cx="10974705" cy="9525"/>
          </a:xfrm>
          <a:prstGeom prst="line">
            <a:avLst/>
          </a:prstGeom>
          <a:ln w="12700" cmpd="sng">
            <a:solidFill>
              <a:schemeClr val="accent1">
                <a:shade val="50000"/>
              </a:schemeClr>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2026-03-11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2026-03-11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2026-03-11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12210" y="1800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2026-03-11</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pic>
        <p:nvPicPr>
          <p:cNvPr id="2097152" name="图片 3"/>
          <p:cNvPicPr>
            <a:picLocks noChangeAspect="1"/>
          </p:cNvPicPr>
          <p:nvPr userDrawn="1"/>
        </p:nvPicPr>
        <p:blipFill rotWithShape="1">
          <a:blip r:embed="rId19" cstate="print"/>
          <a:srcRect l="5786" r="12156" b="37144"/>
          <a:stretch>
            <a:fillRect/>
          </a:stretch>
        </p:blipFill>
        <p:spPr>
          <a:xfrm>
            <a:off x="0" y="4128135"/>
            <a:ext cx="12192000" cy="2684145"/>
          </a:xfrm>
          <a:prstGeom prst="rect">
            <a:avLst/>
          </a:prstGeom>
        </p:spPr>
      </p:pic>
      <p:pic>
        <p:nvPicPr>
          <p:cNvPr id="2097154" name="图片 6"/>
          <p:cNvPicPr>
            <a:picLocks noChangeAspect="1"/>
          </p:cNvPicPr>
          <p:nvPr userDrawn="1"/>
        </p:nvPicPr>
        <p:blipFill>
          <a:blip r:embed="rId20" cstate="print"/>
          <a:stretch>
            <a:fillRect/>
          </a:stretch>
        </p:blipFill>
        <p:spPr>
          <a:xfrm rot="9492328">
            <a:off x="-268043" y="-329224"/>
            <a:ext cx="3744106" cy="3452158"/>
          </a:xfrm>
          <a:prstGeom prst="rect">
            <a:avLst/>
          </a:prstGeom>
        </p:spPr>
      </p:pic>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fontAlgn="auto" latinLnBrk="0" hangingPunct="1">
        <a:lnSpc>
          <a:spcPct val="100000"/>
        </a:lnSpc>
        <a:spcBef>
          <a:spcPct val="0"/>
        </a:spcBef>
        <a:buNone/>
        <a:defRPr sz="2000" b="1" u="none" strike="noStrike" kern="1200" cap="none" spc="300" normalizeH="0" baseline="0">
          <a:solidFill>
            <a:srgbClr val="002060"/>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2400" u="none" strike="noStrike" kern="1200" cap="none" spc="150" normalizeH="0" baseline="0">
          <a:solidFill>
            <a:srgbClr val="002060"/>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2000" u="none" strike="noStrike" kern="1200" cap="none" spc="150" normalizeH="0" baseline="0">
          <a:solidFill>
            <a:srgbClr val="002060"/>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2000" u="none" strike="noStrike" kern="1200" cap="none" spc="150" normalizeH="0" baseline="0">
          <a:solidFill>
            <a:srgbClr val="002060"/>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800" u="none" strike="noStrike" kern="1200" cap="none" spc="150" normalizeH="0" baseline="0">
          <a:solidFill>
            <a:srgbClr val="002060"/>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800" u="none" strike="noStrike" kern="1200" cap="none" spc="150" normalizeH="0" baseline="0">
          <a:solidFill>
            <a:srgbClr val="002060"/>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69.xml"/><Relationship Id="rId6" Type="http://schemas.openxmlformats.org/officeDocument/2006/relationships/image" Target="../media/image11.jpeg"/><Relationship Id="rId5" Type="http://schemas.openxmlformats.org/officeDocument/2006/relationships/image" Target="../media/image10.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tags" Target="../tags/tag7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0.wmf"/></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71.xml"/><Relationship Id="rId4" Type="http://schemas.openxmlformats.org/officeDocument/2006/relationships/image" Target="../media/image15.emf"/></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7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73.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74.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slideLayout" Target="../slideLayouts/slideLayout2.xml"/><Relationship Id="rId1" Type="http://schemas.openxmlformats.org/officeDocument/2006/relationships/tags" Target="../tags/tag76.xml"/><Relationship Id="rId6" Type="http://schemas.openxmlformats.org/officeDocument/2006/relationships/image" Target="../media/image19.jpeg"/><Relationship Id="rId5" Type="http://schemas.openxmlformats.org/officeDocument/2006/relationships/image" Target="../media/image18.wmf"/><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slideLayout" Target="../slideLayouts/slideLayout2.xml"/><Relationship Id="rId1" Type="http://schemas.openxmlformats.org/officeDocument/2006/relationships/tags" Target="../tags/tag78.xml"/><Relationship Id="rId4" Type="http://schemas.openxmlformats.org/officeDocument/2006/relationships/image" Target="../media/image20.emf"/></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966470" y="2106648"/>
            <a:ext cx="10260965" cy="1048385"/>
          </a:xfrm>
        </p:spPr>
        <p:txBody>
          <a:bodyPr>
            <a:noAutofit/>
          </a:bodyPr>
          <a:lstStyle/>
          <a:p>
            <a:r>
              <a:rPr lang="zh-CN" altLang="en-US" sz="4400" dirty="0">
                <a:solidFill>
                  <a:srgbClr val="0C3B6C"/>
                </a:solidFill>
                <a:effectLst>
                  <a:outerShdw blurRad="38100" dist="38100" dir="2700000" algn="tl">
                    <a:srgbClr val="000000">
                      <a:alpha val="43137"/>
                    </a:srgbClr>
                  </a:outerShdw>
                </a:effectLst>
                <a:latin typeface="Times New Roman" panose="02020603050405020304" charset="0"/>
                <a:cs typeface="Times New Roman" panose="02020603050405020304" charset="0"/>
              </a:rPr>
              <a:t>模拟退火算法</a:t>
            </a:r>
          </a:p>
        </p:txBody>
      </p:sp>
      <p:sp>
        <p:nvSpPr>
          <p:cNvPr id="3" name="副标题 2"/>
          <p:cNvSpPr>
            <a:spLocks noGrp="1"/>
          </p:cNvSpPr>
          <p:nvPr>
            <p:ph type="subTitle" idx="1"/>
            <p:custDataLst>
              <p:tags r:id="rId3"/>
            </p:custDataLst>
          </p:nvPr>
        </p:nvSpPr>
        <p:spPr>
          <a:xfrm>
            <a:off x="5786378" y="3492571"/>
            <a:ext cx="5441057" cy="1472400"/>
          </a:xfrm>
        </p:spPr>
        <p:txBody>
          <a:bodyPr>
            <a:normAutofit/>
          </a:bodyPr>
          <a:lstStyle/>
          <a:p>
            <a:r>
              <a:rPr lang="zh-CN" altLang="en-US">
                <a:solidFill>
                  <a:srgbClr val="0C3B6C"/>
                </a:solidFill>
              </a:rPr>
              <a:t>林子健</a:t>
            </a:r>
            <a:endParaRPr lang="en-US" altLang="zh-CN">
              <a:solidFill>
                <a:srgbClr val="0C3B6C"/>
              </a:solidFill>
            </a:endParaRPr>
          </a:p>
          <a:p>
            <a:r>
              <a:rPr lang="en-US" altLang="zh-CN">
                <a:solidFill>
                  <a:srgbClr val="0C3B6C"/>
                </a:solidFill>
                <a:latin typeface="楷体" panose="02010609060101010101" charset="-122"/>
                <a:ea typeface="楷体" panose="02010609060101010101" charset="-122"/>
                <a:cs typeface="楷体" panose="02010609060101010101" charset="-122"/>
              </a:rPr>
              <a:t>2026</a:t>
            </a:r>
            <a:r>
              <a:rPr lang="zh-CN" altLang="en-US">
                <a:solidFill>
                  <a:srgbClr val="0C3B6C"/>
                </a:solidFill>
                <a:latin typeface="楷体" panose="02010609060101010101" charset="-122"/>
                <a:ea typeface="楷体" panose="02010609060101010101" charset="-122"/>
                <a:cs typeface="楷体" panose="02010609060101010101" charset="-122"/>
              </a:rPr>
              <a:t>年</a:t>
            </a:r>
            <a:r>
              <a:rPr lang="en-US" altLang="zh-CN">
                <a:solidFill>
                  <a:srgbClr val="0C3B6C"/>
                </a:solidFill>
                <a:cs typeface="楷体" panose="02010609060101010101" charset="-122"/>
              </a:rPr>
              <a:t>3</a:t>
            </a:r>
            <a:r>
              <a:rPr lang="zh-CN" altLang="en-US">
                <a:solidFill>
                  <a:srgbClr val="0C3B6C"/>
                </a:solidFill>
                <a:latin typeface="楷体" panose="02010609060101010101" charset="-122"/>
                <a:ea typeface="楷体" panose="02010609060101010101" charset="-122"/>
                <a:cs typeface="楷体" panose="02010609060101010101" charset="-122"/>
              </a:rPr>
              <a:t>月</a:t>
            </a:r>
            <a:r>
              <a:rPr lang="en-US" altLang="zh-CN">
                <a:solidFill>
                  <a:srgbClr val="0C3B6C"/>
                </a:solidFill>
                <a:cs typeface="楷体" panose="02010609060101010101" charset="-122"/>
              </a:rPr>
              <a:t>11</a:t>
            </a:r>
            <a:r>
              <a:rPr lang="zh-CN" altLang="en-US">
                <a:solidFill>
                  <a:srgbClr val="0C3B6C"/>
                </a:solidFill>
                <a:latin typeface="楷体" panose="02010609060101010101" charset="-122"/>
                <a:ea typeface="楷体" panose="02010609060101010101" charset="-122"/>
                <a:cs typeface="楷体" panose="02010609060101010101" charset="-122"/>
              </a:rPr>
              <a:t>日</a:t>
            </a:r>
            <a:endParaRPr lang="zh-CN" altLang="en-US" dirty="0">
              <a:solidFill>
                <a:srgbClr val="0C3B6C"/>
              </a:solidFill>
              <a:latin typeface="楷体" panose="02010609060101010101" charset="-122"/>
              <a:ea typeface="楷体" panose="02010609060101010101" charset="-122"/>
              <a:cs typeface="楷体" panose="02010609060101010101"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latin typeface="+mn-lt"/>
                <a:sym typeface="+mn-ea"/>
              </a:rPr>
              <a:t>目录</a:t>
            </a:r>
          </a:p>
        </p:txBody>
      </p:sp>
      <p:sp>
        <p:nvSpPr>
          <p:cNvPr id="3" name="内容占位符 2"/>
          <p:cNvSpPr>
            <a:spLocks noGrp="1"/>
          </p:cNvSpPr>
          <p:nvPr>
            <p:ph idx="1"/>
          </p:nvPr>
        </p:nvSpPr>
        <p:spPr/>
        <p:txBody>
          <a:bodyPr/>
          <a:lstStyle/>
          <a:p>
            <a:pPr marL="457200" indent="-457200">
              <a:buFont typeface="+mj-lt"/>
              <a:buAutoNum type="arabicPeriod"/>
            </a:pPr>
            <a:r>
              <a:rPr lang="zh-CN" altLang="en-US" kern="0" dirty="0">
                <a:solidFill>
                  <a:schemeClr val="tx2">
                    <a:lumMod val="75000"/>
                    <a:lumOff val="25000"/>
                  </a:schemeClr>
                </a:solidFill>
                <a:sym typeface="+mn-ea"/>
              </a:rPr>
              <a:t>算法简介</a:t>
            </a:r>
            <a:endParaRPr lang="en-US" altLang="zh-CN" kern="0" dirty="0">
              <a:sym typeface="+mn-ea"/>
            </a:endParaRPr>
          </a:p>
          <a:p>
            <a:pPr marL="457200" indent="-457200">
              <a:buFont typeface="+mj-lt"/>
              <a:buAutoNum type="arabicPeriod"/>
            </a:pPr>
            <a:r>
              <a:rPr lang="zh-CN" altLang="en-US" kern="0" dirty="0">
                <a:sym typeface="+mn-ea"/>
              </a:rPr>
              <a:t>算法流程</a:t>
            </a:r>
            <a:endParaRPr lang="en-US" altLang="zh-CN" kern="0" dirty="0">
              <a:sym typeface="+mn-ea"/>
            </a:endParaRPr>
          </a:p>
          <a:p>
            <a:pPr marL="457200" indent="-457200">
              <a:buFont typeface="+mj-lt"/>
              <a:buAutoNum type="arabicPeriod"/>
            </a:pPr>
            <a:r>
              <a:rPr lang="zh-CN" altLang="en-US" dirty="0"/>
              <a:t>参数分析</a:t>
            </a:r>
            <a:endParaRPr lang="en-US" altLang="zh-CN" dirty="0"/>
          </a:p>
          <a:p>
            <a:pPr marL="457200" indent="-457200">
              <a:buFont typeface="+mj-lt"/>
              <a:buAutoNum type="arabicPeriod"/>
            </a:pPr>
            <a:r>
              <a:rPr lang="zh-CN" altLang="en-US" dirty="0"/>
              <a:t>实验分析</a:t>
            </a:r>
          </a:p>
          <a:p>
            <a:pPr marL="0" indent="0">
              <a:buFont typeface="+mj-lt"/>
              <a:buNone/>
            </a:pPr>
            <a:endParaRPr lang="zh-CN" altLang="en-US" dirty="0"/>
          </a:p>
          <a:p>
            <a:pPr marL="457200" indent="-457200">
              <a:buFont typeface="+mj-lt"/>
              <a:buAutoNum type="arabicPeriod"/>
            </a:pPr>
            <a:endParaRPr lang="en-US" altLang="zh-CN" kern="0" dirty="0">
              <a:sym typeface="+mn-ea"/>
            </a:endParaRPr>
          </a:p>
          <a:p>
            <a:pPr marL="457200" indent="-457200">
              <a:buFont typeface="+mj-lt"/>
              <a:buAutoNum type="arabicPeriod"/>
            </a:pPr>
            <a:endParaRPr lang="en-US" altLang="zh-CN"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t>2</a:t>
            </a:fld>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latin typeface="+mn-lt"/>
              </a:rPr>
              <a:t>算法简介</a:t>
            </a:r>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t>3</a:t>
            </a:fld>
            <a:endParaRPr lang="zh-CN" altLang="en-US"/>
          </a:p>
        </p:txBody>
      </p:sp>
      <p:sp>
        <p:nvSpPr>
          <p:cNvPr id="5" name="文本框 4"/>
          <p:cNvSpPr txBox="1"/>
          <p:nvPr/>
        </p:nvSpPr>
        <p:spPr>
          <a:xfrm>
            <a:off x="859445" y="1201676"/>
            <a:ext cx="10190018" cy="2308324"/>
          </a:xfrm>
          <a:prstGeom prst="rect">
            <a:avLst/>
          </a:prstGeom>
          <a:noFill/>
        </p:spPr>
        <p:txBody>
          <a:bodyPr wrap="square">
            <a:spAutoFit/>
          </a:bodyPr>
          <a:lstStyle/>
          <a:p>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模拟退火算法</a:t>
            </a:r>
            <a:r>
              <a:rPr lang="zh-CN" altLang="en-US" dirty="0">
                <a:latin typeface="Times New Roman" panose="02020603050405020304" charset="0"/>
                <a:ea typeface="宋体" panose="02010600030101010101" pitchFamily="2" charset="-122"/>
                <a:cs typeface="Times New Roman" panose="02020603050405020304" charset="0"/>
              </a:rPr>
              <a:t>（</a:t>
            </a:r>
            <a:r>
              <a:rPr lang="en-US" altLang="zh-CN" dirty="0">
                <a:latin typeface="Times New Roman" panose="02020603050405020304" charset="0"/>
                <a:ea typeface="宋体" panose="02010600030101010101" pitchFamily="2" charset="-122"/>
                <a:cs typeface="Times New Roman" panose="02020603050405020304" charset="0"/>
              </a:rPr>
              <a:t>Simulated Annealing</a:t>
            </a:r>
            <a:r>
              <a:rPr lang="zh-CN" altLang="en-US" dirty="0">
                <a:latin typeface="Times New Roman" panose="02020603050405020304" charset="0"/>
                <a:ea typeface="宋体" panose="02010600030101010101" pitchFamily="2" charset="-122"/>
                <a:cs typeface="Times New Roman" panose="02020603050405020304" charset="0"/>
              </a:rPr>
              <a:t>，</a:t>
            </a:r>
            <a:r>
              <a:rPr lang="en-US" altLang="zh-CN" dirty="0">
                <a:latin typeface="Times New Roman" panose="02020603050405020304" charset="0"/>
                <a:ea typeface="宋体" panose="02010600030101010101" pitchFamily="2" charset="-122"/>
                <a:cs typeface="Times New Roman" panose="02020603050405020304" charset="0"/>
              </a:rPr>
              <a:t>SA</a:t>
            </a:r>
            <a:r>
              <a:rPr lang="zh-CN" altLang="en-US" dirty="0">
                <a:latin typeface="Times New Roman" panose="02020603050405020304" charset="0"/>
                <a:ea typeface="宋体" panose="02010600030101010101" pitchFamily="2" charset="-122"/>
                <a:cs typeface="Times New Roman" panose="02020603050405020304" charset="0"/>
              </a:rPr>
              <a:t>），最早的思想是由</a:t>
            </a:r>
            <a:r>
              <a:rPr lang="en-US" altLang="zh-CN" dirty="0">
                <a:latin typeface="Times New Roman" panose="02020603050405020304" charset="0"/>
                <a:ea typeface="宋体" panose="02010600030101010101" pitchFamily="2" charset="-122"/>
                <a:cs typeface="Times New Roman" panose="02020603050405020304" charset="0"/>
              </a:rPr>
              <a:t>N. </a:t>
            </a:r>
            <a:r>
              <a:rPr lang="en-US" altLang="zh-CN" dirty="0" err="1">
                <a:latin typeface="Times New Roman" panose="02020603050405020304" charset="0"/>
                <a:ea typeface="宋体" panose="02010600030101010101" pitchFamily="2" charset="-122"/>
                <a:cs typeface="Times New Roman" panose="02020603050405020304" charset="0"/>
              </a:rPr>
              <a:t>Metroplis</a:t>
            </a:r>
            <a:r>
              <a:rPr lang="zh-CN" altLang="en-US" dirty="0">
                <a:latin typeface="Times New Roman" panose="02020603050405020304" charset="0"/>
                <a:ea typeface="宋体" panose="02010600030101010101" pitchFamily="2" charset="-122"/>
                <a:cs typeface="Times New Roman" panose="02020603050405020304" charset="0"/>
              </a:rPr>
              <a:t>等人于</a:t>
            </a:r>
            <a:r>
              <a:rPr lang="en-US" altLang="zh-CN" dirty="0">
                <a:latin typeface="Times New Roman" panose="02020603050405020304" charset="0"/>
                <a:ea typeface="宋体" panose="02010600030101010101" pitchFamily="2" charset="-122"/>
                <a:cs typeface="Times New Roman" panose="02020603050405020304" charset="0"/>
              </a:rPr>
              <a:t>1953</a:t>
            </a:r>
            <a:r>
              <a:rPr lang="zh-CN" altLang="en-US" dirty="0">
                <a:latin typeface="Times New Roman" panose="02020603050405020304" charset="0"/>
                <a:ea typeface="宋体" panose="02010600030101010101" pitchFamily="2" charset="-122"/>
                <a:cs typeface="Times New Roman" panose="02020603050405020304" charset="0"/>
              </a:rPr>
              <a:t>年提出。</a:t>
            </a:r>
            <a:r>
              <a:rPr lang="en-US" altLang="zh-CN" dirty="0">
                <a:latin typeface="Times New Roman" panose="02020603050405020304" charset="0"/>
                <a:ea typeface="宋体" panose="02010600030101010101" pitchFamily="2" charset="-122"/>
                <a:cs typeface="Times New Roman" panose="02020603050405020304" charset="0"/>
              </a:rPr>
              <a:t>1983</a:t>
            </a:r>
            <a:r>
              <a:rPr lang="zh-CN" altLang="en-US" dirty="0">
                <a:latin typeface="Times New Roman" panose="02020603050405020304" charset="0"/>
                <a:ea typeface="宋体" panose="02010600030101010101" pitchFamily="2" charset="-122"/>
                <a:cs typeface="Times New Roman" panose="02020603050405020304" charset="0"/>
              </a:rPr>
              <a:t>年，</a:t>
            </a:r>
            <a:r>
              <a:rPr lang="en-US" altLang="zh-CN" dirty="0" err="1">
                <a:latin typeface="Times New Roman" panose="02020603050405020304" charset="0"/>
                <a:ea typeface="宋体" panose="02010600030101010101" pitchFamily="2" charset="-122"/>
                <a:cs typeface="Times New Roman" panose="02020603050405020304" charset="0"/>
              </a:rPr>
              <a:t>S.Kirkpatrick</a:t>
            </a:r>
            <a:r>
              <a:rPr lang="zh-CN" altLang="en-US" dirty="0">
                <a:latin typeface="Times New Roman" panose="02020603050405020304" charset="0"/>
                <a:ea typeface="宋体" panose="02010600030101010101" pitchFamily="2" charset="-122"/>
                <a:cs typeface="Times New Roman" panose="02020603050405020304" charset="0"/>
              </a:rPr>
              <a:t>等成功地将退火思想引入到组合优化领域。</a:t>
            </a:r>
            <a:endParaRPr lang="en-US" altLang="zh-CN" dirty="0">
              <a:latin typeface="Times New Roman" panose="02020603050405020304" charset="0"/>
              <a:ea typeface="宋体" panose="02010600030101010101" pitchFamily="2" charset="-122"/>
              <a:cs typeface="Times New Roman" panose="02020603050405020304" charset="0"/>
            </a:endParaRPr>
          </a:p>
          <a:p>
            <a:endParaRPr lang="en-US" altLang="zh-CN" dirty="0">
              <a:latin typeface="Times New Roman" panose="02020603050405020304" charset="0"/>
              <a:ea typeface="宋体" panose="02010600030101010101" pitchFamily="2" charset="-122"/>
              <a:cs typeface="Times New Roman" panose="02020603050405020304" charset="0"/>
            </a:endParaRPr>
          </a:p>
          <a:p>
            <a:r>
              <a:rPr lang="zh-CN" altLang="en-US" dirty="0">
                <a:latin typeface="Times New Roman" panose="02020603050405020304" charset="0"/>
                <a:ea typeface="宋体" panose="02010600030101010101" pitchFamily="2" charset="-122"/>
                <a:cs typeface="Times New Roman" panose="02020603050405020304" charset="0"/>
              </a:rPr>
              <a:t>其出发点是基于物理中固体物质的退火过程与一般组合优化问题之间的相似性，通过</a:t>
            </a:r>
            <a:r>
              <a:rPr lang="en-US" altLang="zh-CN" dirty="0">
                <a:latin typeface="Times New Roman" panose="02020603050405020304" charset="0"/>
                <a:ea typeface="宋体" panose="02010600030101010101" pitchFamily="2" charset="-122"/>
                <a:cs typeface="Times New Roman" panose="02020603050405020304" charset="0"/>
              </a:rPr>
              <a:t>N</a:t>
            </a:r>
            <a:r>
              <a:rPr lang="zh-CN" altLang="en-US" dirty="0">
                <a:latin typeface="Times New Roman" panose="02020603050405020304" charset="0"/>
                <a:ea typeface="宋体" panose="02010600030101010101" pitchFamily="2" charset="-122"/>
                <a:cs typeface="Times New Roman" panose="02020603050405020304" charset="0"/>
              </a:rPr>
              <a:t>次迭代（退火），逼近函数上的一个最值（最大值或者最小值）。</a:t>
            </a:r>
            <a:endParaRPr lang="en-US" altLang="zh-CN" dirty="0">
              <a:latin typeface="Times New Roman" panose="02020603050405020304" charset="0"/>
              <a:ea typeface="宋体" panose="02010600030101010101" pitchFamily="2" charset="-122"/>
              <a:cs typeface="Times New Roman" panose="02020603050405020304" charset="0"/>
            </a:endParaRPr>
          </a:p>
          <a:p>
            <a:endParaRPr lang="en-US" altLang="zh-CN" dirty="0">
              <a:latin typeface="Times New Roman" panose="02020603050405020304" charset="0"/>
              <a:ea typeface="宋体" panose="02010600030101010101" pitchFamily="2" charset="-122"/>
              <a:cs typeface="Times New Roman" panose="02020603050405020304" charset="0"/>
            </a:endParaRPr>
          </a:p>
          <a:p>
            <a:r>
              <a:rPr lang="zh-CN" altLang="en-US" dirty="0">
                <a:latin typeface="Times New Roman" panose="02020603050405020304" charset="0"/>
                <a:ea typeface="宋体" panose="02010600030101010101" pitchFamily="2" charset="-122"/>
                <a:cs typeface="Times New Roman" panose="02020603050405020304" charset="0"/>
              </a:rPr>
              <a:t>同时，模拟退火算法可以通过赋予搜索过程一种时变且最终趋于零的概率突跳性，从而可有效避免陷入局部极小并最终趋于全局最优。</a:t>
            </a:r>
          </a:p>
        </p:txBody>
      </p:sp>
      <p:pic>
        <p:nvPicPr>
          <p:cNvPr id="6" name="图片 5"/>
          <p:cNvPicPr>
            <a:picLocks noChangeAspect="1"/>
          </p:cNvPicPr>
          <p:nvPr/>
        </p:nvPicPr>
        <p:blipFill>
          <a:blip r:embed="rId3"/>
          <a:stretch>
            <a:fillRect/>
          </a:stretch>
        </p:blipFill>
        <p:spPr>
          <a:xfrm>
            <a:off x="997991" y="3772817"/>
            <a:ext cx="10190018" cy="232933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z="2800" b="1" i="0" u="none" strike="noStrike" kern="1200" cap="none" spc="300" normalizeH="0" baseline="0" noProof="0" dirty="0">
                <a:ln>
                  <a:noFill/>
                </a:ln>
                <a:solidFill>
                  <a:srgbClr val="002060"/>
                </a:solidFill>
                <a:effectLst/>
                <a:uLnTx/>
                <a:uFillTx/>
                <a:latin typeface="Arial" panose="020B0604020202020204"/>
                <a:ea typeface="微软雅黑" panose="020B0503020204020204" charset="-122"/>
                <a:cs typeface="+mj-cs"/>
              </a:rPr>
              <a:t>算法简介</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1800" dirty="0">
                <a:solidFill>
                  <a:srgbClr val="FF0000"/>
                </a:solidFill>
                <a:latin typeface="宋体" panose="02010600030101010101" pitchFamily="2" charset="-122"/>
                <a:ea typeface="宋体" panose="02010600030101010101" pitchFamily="2" charset="-122"/>
              </a:rPr>
              <a:t>爬山算法</a:t>
            </a:r>
            <a:r>
              <a:rPr lang="zh-CN" altLang="en-US" sz="1800" dirty="0">
                <a:solidFill>
                  <a:schemeClr val="tx1"/>
                </a:solidFill>
                <a:latin typeface="宋体" panose="02010600030101010101" pitchFamily="2" charset="-122"/>
                <a:ea typeface="宋体" panose="02010600030101010101" pitchFamily="2" charset="-122"/>
              </a:rPr>
              <a:t>：</a:t>
            </a:r>
            <a:endParaRPr lang="en-US" altLang="zh-CN" sz="1800" dirty="0">
              <a:solidFill>
                <a:schemeClr val="tx1"/>
              </a:solidFill>
              <a:latin typeface="宋体" panose="02010600030101010101" pitchFamily="2" charset="-122"/>
              <a:ea typeface="宋体" panose="02010600030101010101" pitchFamily="2" charset="-122"/>
            </a:endParaRPr>
          </a:p>
          <a:p>
            <a:pPr marL="0" indent="0">
              <a:buNone/>
            </a:pPr>
            <a:r>
              <a:rPr lang="zh-CN" altLang="en-US" sz="1800" dirty="0">
                <a:solidFill>
                  <a:schemeClr val="tx1"/>
                </a:solidFill>
                <a:latin typeface="宋体" panose="02010600030101010101" pitchFamily="2" charset="-122"/>
                <a:ea typeface="宋体" panose="02010600030101010101" pitchFamily="2" charset="-122"/>
              </a:rPr>
              <a:t>爬山算法是一种简单的贪心搜索算法，该算法每次从当前解的临近空间中选择一个最优解作为当前解，直到达到一个局部最优解。</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4</a:t>
            </a:fld>
            <a:endParaRPr lang="zh-CN" altLang="en-US"/>
          </a:p>
        </p:txBody>
      </p:sp>
      <p:pic>
        <p:nvPicPr>
          <p:cNvPr id="5" name="图片 4"/>
          <p:cNvPicPr>
            <a:picLocks noChangeAspect="1"/>
          </p:cNvPicPr>
          <p:nvPr/>
        </p:nvPicPr>
        <p:blipFill>
          <a:blip r:embed="rId2"/>
          <a:stretch>
            <a:fillRect/>
          </a:stretch>
        </p:blipFill>
        <p:spPr>
          <a:xfrm>
            <a:off x="2488388" y="2661211"/>
            <a:ext cx="7208874" cy="34449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latin typeface="+mn-lt"/>
              </a:rPr>
              <a:t>算法简介</a:t>
            </a:r>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t>5</a:t>
            </a:fld>
            <a:endParaRPr lang="zh-CN" altLang="en-US"/>
          </a:p>
        </p:txBody>
      </p:sp>
      <p:sp>
        <p:nvSpPr>
          <p:cNvPr id="5" name="文本框 4"/>
          <p:cNvSpPr txBox="1"/>
          <p:nvPr/>
        </p:nvSpPr>
        <p:spPr>
          <a:xfrm>
            <a:off x="1000991" y="1279091"/>
            <a:ext cx="10190018" cy="923330"/>
          </a:xfrm>
          <a:prstGeom prst="rect">
            <a:avLst/>
          </a:prstGeom>
          <a:noFill/>
        </p:spPr>
        <p:txBody>
          <a:bodyPr wrap="square">
            <a:spAutoFit/>
          </a:bodyPr>
          <a:lstStyle/>
          <a:p>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模拟退火算法</a:t>
            </a:r>
            <a:r>
              <a:rPr lang="zh-CN" altLang="en-US" dirty="0">
                <a:latin typeface="Times New Roman" panose="02020603050405020304" charset="0"/>
                <a:ea typeface="宋体" panose="02010600030101010101" pitchFamily="2" charset="-122"/>
                <a:cs typeface="Times New Roman" panose="02020603050405020304" charset="0"/>
              </a:rPr>
              <a:t>的思想借鉴于固体的退火原理，将固体加温至充分高，再让其慢慢冷却。当固体的温度很高的时候，内能比较大，固体的内部粒子处于快速无序运动；当温度慢慢降低的过程中，固体的内能减小，粒子慢慢趋于有序；最终，当固体处于常温时，内能达到最小，此时，粒子最为稳定。</a:t>
            </a:r>
          </a:p>
        </p:txBody>
      </p:sp>
      <p:pic>
        <p:nvPicPr>
          <p:cNvPr id="7" name="图片 6"/>
          <p:cNvPicPr>
            <a:picLocks noChangeAspect="1"/>
          </p:cNvPicPr>
          <p:nvPr/>
        </p:nvPicPr>
        <p:blipFill>
          <a:blip r:embed="rId3"/>
          <a:stretch>
            <a:fillRect/>
          </a:stretch>
        </p:blipFill>
        <p:spPr>
          <a:xfrm>
            <a:off x="2100018" y="3177279"/>
            <a:ext cx="7740650" cy="1854200"/>
          </a:xfrm>
          <a:prstGeom prst="rect">
            <a:avLst/>
          </a:prstGeom>
        </p:spPr>
      </p:pic>
      <p:sp>
        <p:nvSpPr>
          <p:cNvPr id="8" name="文本框 7"/>
          <p:cNvSpPr txBox="1"/>
          <p:nvPr/>
        </p:nvSpPr>
        <p:spPr>
          <a:xfrm>
            <a:off x="1991833" y="5117244"/>
            <a:ext cx="3536132" cy="923330"/>
          </a:xfrm>
          <a:prstGeom prst="rect">
            <a:avLst/>
          </a:prstGeom>
          <a:noFill/>
        </p:spPr>
        <p:txBody>
          <a:bodyPr wrap="square" rtlCol="0">
            <a:spAutoFit/>
          </a:bodyPr>
          <a:lstStyle/>
          <a:p>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升温</a:t>
            </a:r>
            <a:r>
              <a:rPr lang="zh-CN" altLang="en-US" dirty="0">
                <a:latin typeface="Times New Roman" panose="02020603050405020304" charset="0"/>
                <a:ea typeface="宋体" panose="02010600030101010101" pitchFamily="2" charset="-122"/>
                <a:cs typeface="Times New Roman" panose="02020603050405020304" charset="0"/>
              </a:rPr>
              <a:t>：对算法设置一个初始值</a:t>
            </a:r>
            <a:endParaRPr lang="en-US" altLang="zh-CN" dirty="0">
              <a:latin typeface="Times New Roman" panose="02020603050405020304" charset="0"/>
              <a:ea typeface="宋体" panose="02010600030101010101" pitchFamily="2" charset="-122"/>
              <a:cs typeface="Times New Roman" panose="02020603050405020304" charset="0"/>
            </a:endParaRPr>
          </a:p>
          <a:p>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降温</a:t>
            </a:r>
            <a:r>
              <a:rPr lang="zh-CN" altLang="en-US" dirty="0">
                <a:latin typeface="Times New Roman" panose="02020603050405020304" charset="0"/>
                <a:ea typeface="宋体" panose="02010600030101010101" pitchFamily="2" charset="-122"/>
                <a:cs typeface="Times New Roman" panose="02020603050405020304" charset="0"/>
              </a:rPr>
              <a:t>：对应控制参数</a:t>
            </a:r>
            <a:r>
              <a:rPr lang="en-US" altLang="zh-CN" dirty="0">
                <a:latin typeface="Times New Roman" panose="02020603050405020304" charset="0"/>
                <a:ea typeface="宋体" panose="02010600030101010101" pitchFamily="2" charset="-122"/>
                <a:cs typeface="Times New Roman" panose="02020603050405020304" charset="0"/>
              </a:rPr>
              <a:t>T</a:t>
            </a:r>
            <a:r>
              <a:rPr lang="zh-CN" altLang="en-US" dirty="0">
                <a:latin typeface="Times New Roman" panose="02020603050405020304" charset="0"/>
                <a:ea typeface="宋体" panose="02010600030101010101" pitchFamily="2" charset="-122"/>
                <a:cs typeface="Times New Roman" panose="02020603050405020304" charset="0"/>
              </a:rPr>
              <a:t>的下降</a:t>
            </a:r>
            <a:endParaRPr lang="en-US" altLang="zh-CN" dirty="0">
              <a:latin typeface="Times New Roman" panose="02020603050405020304" charset="0"/>
              <a:ea typeface="宋体" panose="02010600030101010101" pitchFamily="2" charset="-122"/>
              <a:cs typeface="Times New Roman" panose="02020603050405020304" charset="0"/>
            </a:endParaRPr>
          </a:p>
          <a:p>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等温</a:t>
            </a:r>
            <a:r>
              <a:rPr lang="zh-CN" altLang="en-US" dirty="0">
                <a:latin typeface="Times New Roman" panose="02020603050405020304" charset="0"/>
                <a:ea typeface="宋体" panose="02010600030101010101" pitchFamily="2" charset="-122"/>
                <a:cs typeface="Times New Roman" panose="02020603050405020304" charset="0"/>
              </a:rPr>
              <a:t>：算法的</a:t>
            </a:r>
            <a:r>
              <a:rPr lang="en-US" altLang="zh-CN" dirty="0">
                <a:latin typeface="Times New Roman" panose="02020603050405020304" charset="0"/>
                <a:ea typeface="宋体" panose="02010600030101010101" pitchFamily="2" charset="-122"/>
                <a:cs typeface="Times New Roman" panose="02020603050405020304" charset="0"/>
              </a:rPr>
              <a:t>Metropolis</a:t>
            </a:r>
            <a:r>
              <a:rPr lang="zh-CN" altLang="en-US" dirty="0">
                <a:latin typeface="Times New Roman" panose="02020603050405020304" charset="0"/>
                <a:ea typeface="宋体" panose="02010600030101010101" pitchFamily="2" charset="-122"/>
                <a:cs typeface="Times New Roman" panose="02020603050405020304" charset="0"/>
              </a:rPr>
              <a:t>抽样过程</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latin typeface="+mn-lt"/>
              </a:rPr>
              <a:t>算法简介</a:t>
            </a:r>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t>6</a:t>
            </a:fld>
            <a:endParaRPr lang="zh-CN" alt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9596" y="2112292"/>
            <a:ext cx="5307894" cy="310818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675191" y="1339388"/>
            <a:ext cx="1338828" cy="369332"/>
          </a:xfrm>
          <a:prstGeom prst="rect">
            <a:avLst/>
          </a:prstGeom>
          <a:noFill/>
        </p:spPr>
        <p:txBody>
          <a:bodyPr wrap="none" rtlCol="0">
            <a:spAutoFit/>
          </a:bodyPr>
          <a:lstStyle/>
          <a:p>
            <a:r>
              <a:rPr lang="zh-CN" altLang="en-US" dirty="0"/>
              <a:t>梯度下降：</a:t>
            </a:r>
          </a:p>
        </p:txBody>
      </p:sp>
      <p:graphicFrame>
        <p:nvGraphicFramePr>
          <p:cNvPr id="7" name="对象 6"/>
          <p:cNvGraphicFramePr>
            <a:graphicFrameLocks noChangeAspect="1"/>
          </p:cNvGraphicFramePr>
          <p:nvPr/>
        </p:nvGraphicFramePr>
        <p:xfrm>
          <a:off x="1978459" y="1739973"/>
          <a:ext cx="69850" cy="15875"/>
        </p:xfrm>
        <a:graphic>
          <a:graphicData uri="http://schemas.openxmlformats.org/presentationml/2006/ole">
            <mc:AlternateContent xmlns:mc="http://schemas.openxmlformats.org/markup-compatibility/2006">
              <mc:Choice xmlns:v="urn:schemas-microsoft-com:vml" Requires="v">
                <p:oleObj name="Equation" r:id="rId4" imgW="1143000" imgH="254000" progId="Equation.DSMT4">
                  <p:embed/>
                </p:oleObj>
              </mc:Choice>
              <mc:Fallback>
                <p:oleObj name="Equation" r:id="rId4" imgW="1143000" imgH="254000" progId="Equation.DSMT4">
                  <p:embed/>
                  <p:pic>
                    <p:nvPicPr>
                      <p:cNvPr id="0" name="图片 4"/>
                      <p:cNvPicPr/>
                      <p:nvPr/>
                    </p:nvPicPr>
                    <p:blipFill>
                      <a:blip r:embed="rId5"/>
                      <a:stretch>
                        <a:fillRect/>
                      </a:stretch>
                    </p:blipFill>
                    <p:spPr>
                      <a:xfrm>
                        <a:off x="1978459" y="1739973"/>
                        <a:ext cx="69850" cy="15875"/>
                      </a:xfrm>
                      <a:prstGeom prst="rect">
                        <a:avLst/>
                      </a:prstGeom>
                    </p:spPr>
                  </p:pic>
                </p:oleObj>
              </mc:Fallback>
            </mc:AlternateContent>
          </a:graphicData>
        </a:graphic>
      </p:graphicFrame>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556" y="2156670"/>
            <a:ext cx="4991100" cy="3019425"/>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p:cNvPicPr>
            <a:picLocks noChangeAspect="1"/>
          </p:cNvPicPr>
          <p:nvPr/>
        </p:nvPicPr>
        <p:blipFill>
          <a:blip r:embed="rId7"/>
          <a:stretch>
            <a:fillRect/>
          </a:stretch>
        </p:blipFill>
        <p:spPr>
          <a:xfrm>
            <a:off x="2014220" y="1365250"/>
            <a:ext cx="4216400" cy="400050"/>
          </a:xfrm>
          <a:prstGeom prst="rect">
            <a:avLst/>
          </a:prstGeom>
        </p:spPr>
      </p:pic>
      <p:sp>
        <p:nvSpPr>
          <p:cNvPr id="8" name="文本框 7"/>
          <p:cNvSpPr txBox="1"/>
          <p:nvPr/>
        </p:nvSpPr>
        <p:spPr>
          <a:xfrm>
            <a:off x="612140" y="798830"/>
            <a:ext cx="6096000" cy="368300"/>
          </a:xfrm>
          <a:prstGeom prst="rect">
            <a:avLst/>
          </a:prstGeom>
          <a:noFill/>
        </p:spPr>
        <p:txBody>
          <a:bodyPr wrap="square" rtlCol="0" anchor="t">
            <a:spAutoFit/>
          </a:bodyPr>
          <a:lstStyle/>
          <a:p>
            <a:r>
              <a:rPr lang="zh-CN" altLang="en-US" dirty="0">
                <a:sym typeface="+mn-ea"/>
              </a:rPr>
              <a:t>梯度下降与退火算法的对比：</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latin typeface="+mn-lt"/>
              </a:rPr>
              <a:t>算法简介</a:t>
            </a:r>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t>7</a:t>
            </a:fld>
            <a:endParaRPr lang="zh-CN" altLang="en-US"/>
          </a:p>
        </p:txBody>
      </p:sp>
      <p:sp>
        <p:nvSpPr>
          <p:cNvPr id="3" name="文本框 2"/>
          <p:cNvSpPr txBox="1"/>
          <p:nvPr/>
        </p:nvSpPr>
        <p:spPr>
          <a:xfrm>
            <a:off x="675191" y="1339388"/>
            <a:ext cx="1325880" cy="368300"/>
          </a:xfrm>
          <a:prstGeom prst="rect">
            <a:avLst/>
          </a:prstGeom>
          <a:noFill/>
        </p:spPr>
        <p:txBody>
          <a:bodyPr wrap="none" rtlCol="0">
            <a:spAutoFit/>
          </a:bodyPr>
          <a:lstStyle/>
          <a:p>
            <a:r>
              <a:rPr lang="zh-CN" altLang="en-US" dirty="0"/>
              <a:t>退火算法：</a:t>
            </a:r>
          </a:p>
        </p:txBody>
      </p:sp>
      <p:graphicFrame>
        <p:nvGraphicFramePr>
          <p:cNvPr id="7" name="对象 6"/>
          <p:cNvGraphicFramePr>
            <a:graphicFrameLocks noChangeAspect="1"/>
          </p:cNvGraphicFramePr>
          <p:nvPr/>
        </p:nvGraphicFramePr>
        <p:xfrm>
          <a:off x="1978459" y="1739973"/>
          <a:ext cx="69850" cy="15875"/>
        </p:xfrm>
        <a:graphic>
          <a:graphicData uri="http://schemas.openxmlformats.org/presentationml/2006/ole">
            <mc:AlternateContent xmlns:mc="http://schemas.openxmlformats.org/markup-compatibility/2006">
              <mc:Choice xmlns:v="urn:schemas-microsoft-com:vml" Requires="v">
                <p:oleObj name="Equation" r:id="rId3" imgW="1143000" imgH="254000" progId="Equation.DSMT4">
                  <p:embed/>
                </p:oleObj>
              </mc:Choice>
              <mc:Fallback>
                <p:oleObj name="Equation" r:id="rId3" imgW="1143000" imgH="254000" progId="Equation.DSMT4">
                  <p:embed/>
                  <p:pic>
                    <p:nvPicPr>
                      <p:cNvPr id="0" name="图片 4"/>
                      <p:cNvPicPr/>
                      <p:nvPr/>
                    </p:nvPicPr>
                    <p:blipFill>
                      <a:blip r:embed="rId4"/>
                      <a:stretch>
                        <a:fillRect/>
                      </a:stretch>
                    </p:blipFill>
                    <p:spPr>
                      <a:xfrm>
                        <a:off x="1978459" y="1739973"/>
                        <a:ext cx="69850" cy="15875"/>
                      </a:xfrm>
                      <a:prstGeom prst="rect">
                        <a:avLst/>
                      </a:prstGeom>
                    </p:spPr>
                  </p:pic>
                </p:oleObj>
              </mc:Fallback>
            </mc:AlternateContent>
          </a:graphicData>
        </a:graphic>
      </p:graphicFrame>
      <p:sp>
        <p:nvSpPr>
          <p:cNvPr id="8" name="文本框 7"/>
          <p:cNvSpPr txBox="1"/>
          <p:nvPr/>
        </p:nvSpPr>
        <p:spPr>
          <a:xfrm>
            <a:off x="612140" y="798830"/>
            <a:ext cx="6096000" cy="368300"/>
          </a:xfrm>
          <a:prstGeom prst="rect">
            <a:avLst/>
          </a:prstGeom>
          <a:noFill/>
        </p:spPr>
        <p:txBody>
          <a:bodyPr wrap="square" rtlCol="0" anchor="t">
            <a:spAutoFit/>
          </a:bodyPr>
          <a:lstStyle/>
          <a:p>
            <a:r>
              <a:rPr lang="zh-CN" altLang="en-US" dirty="0">
                <a:sym typeface="+mn-ea"/>
              </a:rPr>
              <a:t>梯度下降与退火算法的对比：</a:t>
            </a:r>
          </a:p>
        </p:txBody>
      </p:sp>
      <p:pic>
        <p:nvPicPr>
          <p:cNvPr id="9" name="图片 8"/>
          <p:cNvPicPr/>
          <p:nvPr/>
        </p:nvPicPr>
        <p:blipFill>
          <a:blip r:embed="rId5"/>
          <a:stretch>
            <a:fillRect/>
          </a:stretch>
        </p:blipFill>
        <p:spPr>
          <a:xfrm>
            <a:off x="5748020" y="1707198"/>
            <a:ext cx="5829300" cy="4352925"/>
          </a:xfrm>
          <a:prstGeom prst="rect">
            <a:avLst/>
          </a:prstGeom>
        </p:spPr>
      </p:pic>
      <p:pic>
        <p:nvPicPr>
          <p:cNvPr id="10" name="图片 9"/>
          <p:cNvPicPr>
            <a:picLocks noChangeAspect="1"/>
          </p:cNvPicPr>
          <p:nvPr/>
        </p:nvPicPr>
        <p:blipFill>
          <a:blip r:embed="rId6"/>
          <a:stretch>
            <a:fillRect/>
          </a:stretch>
        </p:blipFill>
        <p:spPr>
          <a:xfrm>
            <a:off x="1792605" y="1167130"/>
            <a:ext cx="5027295" cy="1042670"/>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lang="zh-CN" altLang="en-US" sz="2800" dirty="0">
                <a:latin typeface="+mn-lt"/>
              </a:rPr>
              <a:t>算法流程</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8</a:t>
            </a:fld>
            <a:endParaRPr lang="zh-CN" altLang="en-US"/>
          </a:p>
        </p:txBody>
      </p:sp>
      <mc:AlternateContent xmlns:mc="http://schemas.openxmlformats.org/markup-compatibility/2006" xmlns:a14="http://schemas.microsoft.com/office/drawing/2010/main">
        <mc:Choice Requires="a14">
          <p:sp>
            <p:nvSpPr>
              <p:cNvPr id="10" name="文本框 9"/>
              <p:cNvSpPr txBox="1"/>
              <p:nvPr/>
            </p:nvSpPr>
            <p:spPr>
              <a:xfrm>
                <a:off x="533402" y="809853"/>
                <a:ext cx="6511634" cy="5238293"/>
              </a:xfrm>
              <a:prstGeom prst="rect">
                <a:avLst/>
              </a:prstGeom>
              <a:noFill/>
            </p:spPr>
            <p:txBody>
              <a:bodyPr wrap="square">
                <a:spAutoFit/>
              </a:bodyPr>
              <a:lstStyle/>
              <a:p>
                <a:pPr algn="just"/>
                <a:r>
                  <a:rPr lang="en-US" altLang="zh-CN" dirty="0">
                    <a:latin typeface="宋体" panose="02010600030101010101" pitchFamily="2" charset="-122"/>
                    <a:ea typeface="宋体" panose="02010600030101010101" pitchFamily="2" charset="-122"/>
                  </a:rPr>
                  <a:t>1 </a:t>
                </a:r>
                <a:r>
                  <a:rPr lang="zh-CN" altLang="en-US" dirty="0">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设定当前解（即当前的优解）</a:t>
                </a:r>
                <a:r>
                  <a:rPr lang="zh-CN" altLang="en-US" dirty="0">
                    <a:latin typeface="宋体" panose="02010600030101010101" pitchFamily="2" charset="-122"/>
                    <a:ea typeface="宋体" panose="02010600030101010101" pitchFamily="2" charset="-122"/>
                  </a:rPr>
                  <a:t>：令</a:t>
                </a:r>
                <a14:m>
                  <m:oMath xmlns:m="http://schemas.openxmlformats.org/officeDocument/2006/math">
                    <m:r>
                      <a:rPr lang="en-US" altLang="zh-CN" b="0" i="1" smtClean="0">
                        <a:latin typeface="Cambria Math" panose="02040503050406030204" pitchFamily="18" charset="0"/>
                        <a:ea typeface="宋体" panose="02010600030101010101" pitchFamily="2" charset="-122"/>
                      </a:rPr>
                      <m:t>𝑇</m:t>
                    </m:r>
                    <m:r>
                      <a:rPr lang="en-US" altLang="zh-CN" b="0" i="1" smtClean="0">
                        <a:latin typeface="Cambria Math" panose="02040503050406030204" pitchFamily="18" charset="0"/>
                        <a:ea typeface="宋体" panose="02010600030101010101" pitchFamily="2" charset="-122"/>
                      </a:rPr>
                      <m:t>=</m:t>
                    </m:r>
                    <m:sSub>
                      <m:sSubPr>
                        <m:ctrlPr>
                          <a:rPr lang="en-US" altLang="zh-CN" b="0"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𝑇</m:t>
                        </m:r>
                      </m:e>
                      <m:sub>
                        <m:r>
                          <a:rPr lang="en-US" altLang="zh-CN" b="0" i="1" smtClean="0">
                            <a:latin typeface="Cambria Math" panose="02040503050406030204" pitchFamily="18" charset="0"/>
                            <a:ea typeface="宋体" panose="02010600030101010101" pitchFamily="2" charset="-122"/>
                          </a:rPr>
                          <m:t>0</m:t>
                        </m:r>
                      </m:sub>
                    </m:sSub>
                  </m:oMath>
                </a14:m>
                <a:r>
                  <a:rPr lang="zh-CN" altLang="en-US" dirty="0">
                    <a:latin typeface="宋体" panose="02010600030101010101" pitchFamily="2" charset="-122"/>
                    <a:ea typeface="宋体" panose="02010600030101010101" pitchFamily="2" charset="-122"/>
                  </a:rPr>
                  <a:t>，为开始退火的初始温度，同时随机生成一个初始解</a:t>
                </a:r>
                <a14:m>
                  <m:oMath xmlns:m="http://schemas.openxmlformats.org/officeDocument/2006/math">
                    <m:sSub>
                      <m:sSubPr>
                        <m:ctrlPr>
                          <a:rPr lang="en-US" altLang="zh-CN" i="1">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𝑥</m:t>
                        </m:r>
                      </m:e>
                      <m:sub>
                        <m:r>
                          <a:rPr lang="en-US" altLang="zh-CN" i="1">
                            <a:latin typeface="Cambria Math" panose="02040503050406030204" pitchFamily="18" charset="0"/>
                            <a:ea typeface="宋体" panose="02010600030101010101" pitchFamily="2" charset="-122"/>
                          </a:rPr>
                          <m:t>0</m:t>
                        </m:r>
                      </m:sub>
                    </m:sSub>
                  </m:oMath>
                </a14:m>
                <a:r>
                  <a:rPr lang="zh-CN" altLang="en-US" dirty="0">
                    <a:latin typeface="宋体" panose="02010600030101010101" pitchFamily="2" charset="-122"/>
                    <a:ea typeface="宋体" panose="02010600030101010101" pitchFamily="2" charset="-122"/>
                  </a:rPr>
                  <a:t>，并计算相应的目标函数值</a:t>
                </a:r>
                <a14:m>
                  <m:oMath xmlns:m="http://schemas.openxmlformats.org/officeDocument/2006/math">
                    <m:r>
                      <a:rPr lang="en-US" altLang="zh-CN" b="0" i="1" smtClean="0">
                        <a:latin typeface="Cambria Math" panose="02040503050406030204" pitchFamily="18" charset="0"/>
                        <a:ea typeface="宋体" panose="02010600030101010101" pitchFamily="2" charset="-122"/>
                      </a:rPr>
                      <m:t>𝐸</m:t>
                    </m:r>
                    <m:r>
                      <a:rPr lang="en-US" altLang="zh-CN" b="0" i="1" smtClean="0">
                        <a:latin typeface="Cambria Math" panose="02040503050406030204" pitchFamily="18" charset="0"/>
                        <a:ea typeface="宋体" panose="02010600030101010101" pitchFamily="2" charset="-122"/>
                      </a:rPr>
                      <m:t>(</m:t>
                    </m:r>
                    <m:sSub>
                      <m:sSubPr>
                        <m:ctrlPr>
                          <a:rPr lang="en-US" altLang="zh-CN" b="0"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𝑥</m:t>
                        </m:r>
                      </m:e>
                      <m:sub>
                        <m:r>
                          <a:rPr lang="en-US" altLang="zh-CN" b="0" i="1" smtClean="0">
                            <a:latin typeface="Cambria Math" panose="02040503050406030204" pitchFamily="18" charset="0"/>
                            <a:ea typeface="宋体" panose="02010600030101010101" pitchFamily="2" charset="-122"/>
                          </a:rPr>
                          <m:t>0</m:t>
                        </m:r>
                      </m:sub>
                    </m:sSub>
                    <m:r>
                      <a:rPr lang="en-US" altLang="zh-CN" b="0" i="1" smtClean="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algn="just"/>
                <a:endParaRPr lang="zh-CN" altLang="en-US" dirty="0">
                  <a:latin typeface="宋体" panose="02010600030101010101" pitchFamily="2" charset="-122"/>
                  <a:ea typeface="宋体" panose="02010600030101010101" pitchFamily="2" charset="-122"/>
                </a:endParaRPr>
              </a:p>
              <a:p>
                <a:pPr algn="just"/>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产生新解与当前解的差值</a:t>
                </a:r>
                <a:r>
                  <a:rPr lang="zh-CN" altLang="en-US" dirty="0">
                    <a:latin typeface="宋体" panose="02010600030101010101" pitchFamily="2" charset="-122"/>
                    <a:ea typeface="宋体" panose="02010600030101010101" pitchFamily="2" charset="-122"/>
                  </a:rPr>
                  <a:t>：对当前解给予一个扰动，产生一个新解</a:t>
                </a:r>
                <a14:m>
                  <m:oMath xmlns:m="http://schemas.openxmlformats.org/officeDocument/2006/math">
                    <m:sSub>
                      <m:sSubPr>
                        <m:ctrlPr>
                          <a:rPr lang="en-US" altLang="zh-CN"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𝑥</m:t>
                        </m:r>
                      </m:e>
                      <m:sub>
                        <m:r>
                          <a:rPr lang="en-US" altLang="zh-CN" i="1">
                            <a:latin typeface="Cambria Math" panose="02040503050406030204" pitchFamily="18" charset="0"/>
                            <a:ea typeface="宋体" panose="02010600030101010101" pitchFamily="2" charset="-122"/>
                          </a:rPr>
                          <m:t>0</m:t>
                        </m:r>
                      </m:sub>
                    </m:sSub>
                    <m:r>
                      <a:rPr lang="en-US" altLang="zh-CN" i="1">
                        <a:latin typeface="Cambria Math" panose="02040503050406030204" pitchFamily="18" charset="0"/>
                        <a:ea typeface="宋体" panose="02010600030101010101" pitchFamily="2" charset="-122"/>
                      </a:rPr>
                      <m:t> </m:t>
                    </m:r>
                  </m:oMath>
                </a14:m>
                <a:r>
                  <a:rPr lang="zh-CN" altLang="en-US" dirty="0">
                    <a:latin typeface="宋体" panose="02010600030101010101" pitchFamily="2" charset="-122"/>
                    <a:ea typeface="宋体" panose="02010600030101010101" pitchFamily="2" charset="-122"/>
                  </a:rPr>
                  <a:t>，计算相应的目标函数值</a:t>
                </a:r>
                <a14:m>
                  <m:oMath xmlns:m="http://schemas.openxmlformats.org/officeDocument/2006/math">
                    <m:r>
                      <a:rPr lang="en-US" altLang="zh-CN" i="1">
                        <a:latin typeface="Cambria Math" panose="02040503050406030204" pitchFamily="18" charset="0"/>
                        <a:ea typeface="宋体" panose="02010600030101010101" pitchFamily="2" charset="-122"/>
                      </a:rPr>
                      <m:t>𝐸</m:t>
                    </m:r>
                    <m:r>
                      <a:rPr lang="en-US" altLang="zh-CN" i="1">
                        <a:latin typeface="Cambria Math" panose="02040503050406030204" pitchFamily="18" charset="0"/>
                        <a:ea typeface="宋体" panose="02010600030101010101" pitchFamily="2" charset="-122"/>
                      </a:rPr>
                      <m:t>(</m:t>
                    </m:r>
                    <m:sSub>
                      <m:sSubPr>
                        <m:ctrlPr>
                          <a:rPr lang="en-US" altLang="zh-CN" i="1">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宋体" panose="02010600030101010101" pitchFamily="2" charset="-122"/>
                          </a:rPr>
                          <m:t>𝑥</m:t>
                        </m:r>
                      </m:e>
                      <m:sub>
                        <m:r>
                          <a:rPr lang="en-US" altLang="zh-CN" b="0" i="1" smtClean="0">
                            <a:latin typeface="Cambria Math" panose="02040503050406030204" pitchFamily="18" charset="0"/>
                            <a:ea typeface="宋体" panose="02010600030101010101" pitchFamily="2" charset="-122"/>
                          </a:rPr>
                          <m:t>1</m:t>
                        </m:r>
                      </m:sub>
                    </m:sSub>
                    <m:r>
                      <a:rPr lang="en-US" altLang="zh-CN" i="1">
                        <a:latin typeface="Cambria Math" panose="02040503050406030204" pitchFamily="18" charset="0"/>
                        <a:ea typeface="宋体" panose="02010600030101010101" pitchFamily="2" charset="-122"/>
                      </a:rPr>
                      <m:t>) </m:t>
                    </m:r>
                  </m:oMath>
                </a14:m>
                <a:r>
                  <a:rPr lang="zh-CN" altLang="en-US" dirty="0">
                    <a:latin typeface="宋体" panose="02010600030101010101" pitchFamily="2" charset="-122"/>
                    <a:ea typeface="宋体" panose="02010600030101010101" pitchFamily="2" charset="-122"/>
                  </a:rPr>
                  <a:t>，得到</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𝐸</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宋体" panose="02010600030101010101" pitchFamily="2" charset="-122"/>
                      </a:rPr>
                      <m:t>𝐸</m:t>
                    </m:r>
                    <m:r>
                      <a:rPr lang="en-US" altLang="zh-CN" i="1">
                        <a:latin typeface="Cambria Math" panose="02040503050406030204" pitchFamily="18" charset="0"/>
                        <a:ea typeface="宋体" panose="02010600030101010101" pitchFamily="2" charset="-122"/>
                      </a:rPr>
                      <m:t>(</m:t>
                    </m:r>
                    <m:sSub>
                      <m:sSubPr>
                        <m:ctrlPr>
                          <a:rPr lang="en-US" altLang="zh-CN" i="1">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宋体" panose="02010600030101010101" pitchFamily="2" charset="-122"/>
                          </a:rPr>
                          <m:t>𝑥</m:t>
                        </m:r>
                      </m:e>
                      <m:sub>
                        <m:r>
                          <a:rPr lang="en-US" altLang="zh-CN" i="1">
                            <a:latin typeface="Cambria Math" panose="02040503050406030204" pitchFamily="18" charset="0"/>
                            <a:ea typeface="宋体" panose="02010600030101010101" pitchFamily="2" charset="-122"/>
                          </a:rPr>
                          <m:t>1</m:t>
                        </m:r>
                      </m:sub>
                    </m:sSub>
                    <m:r>
                      <a:rPr lang="en-US" altLang="zh-CN" i="1">
                        <a:latin typeface="Cambria Math" panose="02040503050406030204" pitchFamily="18" charset="0"/>
                        <a:ea typeface="宋体" panose="02010600030101010101" pitchFamily="2" charset="-122"/>
                      </a:rPr>
                      <m:t>)</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宋体" panose="02010600030101010101" pitchFamily="2" charset="-122"/>
                      </a:rPr>
                      <m:t>𝐸</m:t>
                    </m:r>
                    <m:r>
                      <a:rPr lang="en-US" altLang="zh-CN" i="1">
                        <a:latin typeface="Cambria Math" panose="02040503050406030204" pitchFamily="18" charset="0"/>
                        <a:ea typeface="宋体" panose="02010600030101010101" pitchFamily="2" charset="-122"/>
                      </a:rPr>
                      <m:t>(</m:t>
                    </m:r>
                    <m:sSub>
                      <m:sSubPr>
                        <m:ctrlPr>
                          <a:rPr lang="en-US" altLang="zh-CN" i="1">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宋体" panose="02010600030101010101" pitchFamily="2" charset="-122"/>
                          </a:rPr>
                          <m:t>𝑥</m:t>
                        </m:r>
                      </m:e>
                      <m:sub>
                        <m:r>
                          <a:rPr lang="en-US" altLang="zh-CN" i="1">
                            <a:latin typeface="Cambria Math" panose="02040503050406030204" pitchFamily="18" charset="0"/>
                            <a:ea typeface="宋体" panose="02010600030101010101" pitchFamily="2" charset="-122"/>
                          </a:rPr>
                          <m:t>0</m:t>
                        </m:r>
                      </m:sub>
                    </m:sSub>
                    <m:r>
                      <a:rPr lang="en-US" altLang="zh-CN" i="1">
                        <a:latin typeface="Cambria Math" panose="02040503050406030204" pitchFamily="18" charset="0"/>
                        <a:ea typeface="宋体" panose="02010600030101010101" pitchFamily="2" charset="-122"/>
                      </a:rPr>
                      <m:t>) </m:t>
                    </m:r>
                  </m:oMath>
                </a14:m>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algn="just"/>
                <a:endParaRPr lang="en-US" altLang="zh-CN" dirty="0">
                  <a:latin typeface="宋体" panose="02010600030101010101" pitchFamily="2" charset="-122"/>
                  <a:ea typeface="宋体" panose="02010600030101010101" pitchFamily="2" charset="-122"/>
                </a:endParaRPr>
              </a:p>
              <a:p>
                <a:pPr algn="just"/>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判断新解是否被接受</a:t>
                </a:r>
                <a:r>
                  <a:rPr lang="zh-CN" altLang="en-US" dirty="0">
                    <a:latin typeface="宋体" panose="02010600030101010101" pitchFamily="2" charset="-122"/>
                    <a:ea typeface="宋体" panose="02010600030101010101" pitchFamily="2" charset="-122"/>
                  </a:rPr>
                  <a:t>：若</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𝐸</m:t>
                    </m:r>
                    <m:r>
                      <a:rPr lang="en-US" altLang="zh-CN" b="0" i="1" smtClean="0">
                        <a:latin typeface="Cambria Math" panose="02040503050406030204" pitchFamily="18" charset="0"/>
                        <a:ea typeface="Cambria Math" panose="02040503050406030204" pitchFamily="18" charset="0"/>
                      </a:rPr>
                      <m:t>&gt;0 </m:t>
                    </m:r>
                  </m:oMath>
                </a14:m>
                <a:r>
                  <a:rPr lang="zh-CN" altLang="en-US" dirty="0">
                    <a:latin typeface="宋体" panose="02010600030101010101" pitchFamily="2" charset="-122"/>
                    <a:ea typeface="宋体" panose="02010600030101010101" pitchFamily="2" charset="-122"/>
                  </a:rPr>
                  <a:t>，则新解被接受；若不满足条件，则新解以</a:t>
                </a:r>
                <a14:m>
                  <m:oMath xmlns:m="http://schemas.openxmlformats.org/officeDocument/2006/math">
                    <m:sSup>
                      <m:sSupPr>
                        <m:ctrlPr>
                          <a:rPr lang="en-US" altLang="zh-CN" i="1" smtClean="0">
                            <a:latin typeface="Cambria Math" panose="02040503050406030204" pitchFamily="18" charset="0"/>
                            <a:ea typeface="宋体" panose="02010600030101010101" pitchFamily="2" charset="-122"/>
                          </a:rPr>
                        </m:ctrlPr>
                      </m:sSupPr>
                      <m:e>
                        <m:r>
                          <a:rPr lang="en-US" altLang="zh-CN" b="0" i="1" smtClean="0">
                            <a:latin typeface="Cambria Math" panose="02040503050406030204" pitchFamily="18" charset="0"/>
                            <a:ea typeface="宋体" panose="02010600030101010101" pitchFamily="2" charset="-122"/>
                          </a:rPr>
                          <m:t>𝑒𝑥𝑝</m:t>
                        </m:r>
                      </m:e>
                      <m:sup>
                        <m:r>
                          <a:rPr lang="en-US" altLang="zh-CN" b="0" i="1" smtClean="0">
                            <a:latin typeface="Cambria Math" panose="02040503050406030204" pitchFamily="18" charset="0"/>
                            <a:ea typeface="宋体" panose="02010600030101010101" pitchFamily="2" charset="-122"/>
                          </a:rPr>
                          <m:t>−(</m:t>
                        </m:r>
                        <m:f>
                          <m:fPr>
                            <m:ctrlPr>
                              <a:rPr lang="en-US" altLang="zh-CN" b="0" i="1" smtClean="0">
                                <a:latin typeface="Cambria Math" panose="02040503050406030204" pitchFamily="18" charset="0"/>
                                <a:ea typeface="宋体" panose="02010600030101010101" pitchFamily="2" charset="-122"/>
                              </a:rPr>
                            </m:ctrlPr>
                          </m:fPr>
                          <m:num>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𝐸</m:t>
                            </m:r>
                          </m:num>
                          <m:den>
                            <m:sSub>
                              <m:sSubPr>
                                <m:ctrlPr>
                                  <a:rPr lang="en-US" altLang="zh-CN" b="0"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𝑇</m:t>
                                </m:r>
                              </m:e>
                              <m:sub>
                                <m:r>
                                  <a:rPr lang="en-US" altLang="zh-CN" b="0" i="1" smtClean="0">
                                    <a:latin typeface="Cambria Math" panose="02040503050406030204" pitchFamily="18" charset="0"/>
                                    <a:ea typeface="宋体" panose="02010600030101010101" pitchFamily="2" charset="-122"/>
                                  </a:rPr>
                                  <m:t>𝑖</m:t>
                                </m:r>
                              </m:sub>
                            </m:sSub>
                          </m:den>
                        </m:f>
                        <m:r>
                          <a:rPr lang="en-US" altLang="zh-CN" b="0" i="1" smtClean="0">
                            <a:latin typeface="Cambria Math" panose="02040503050406030204" pitchFamily="18" charset="0"/>
                            <a:ea typeface="宋体" panose="02010600030101010101" pitchFamily="2" charset="-122"/>
                          </a:rPr>
                          <m:t>)</m:t>
                        </m:r>
                      </m:sup>
                    </m:sSup>
                  </m:oMath>
                </a14:m>
                <a:r>
                  <a:rPr lang="zh-CN" altLang="en-US" dirty="0">
                    <a:latin typeface="宋体" panose="02010600030101010101" pitchFamily="2" charset="-122"/>
                    <a:ea typeface="宋体" panose="02010600030101010101" pitchFamily="2" charset="-122"/>
                  </a:rPr>
                  <a:t>的概率接受，</a:t>
                </a:r>
                <a14:m>
                  <m:oMath xmlns:m="http://schemas.openxmlformats.org/officeDocument/2006/math">
                    <m:sSub>
                      <m:sSubPr>
                        <m:ctrlPr>
                          <a:rPr lang="en-US" altLang="zh-CN"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𝑇</m:t>
                        </m:r>
                      </m:e>
                      <m:sub>
                        <m:r>
                          <a:rPr lang="en-US" altLang="zh-CN" b="0" i="1" smtClean="0">
                            <a:latin typeface="Cambria Math" panose="02040503050406030204" pitchFamily="18" charset="0"/>
                            <a:ea typeface="宋体" panose="02010600030101010101" pitchFamily="2" charset="-122"/>
                          </a:rPr>
                          <m:t>𝑖</m:t>
                        </m:r>
                      </m:sub>
                    </m:sSub>
                  </m:oMath>
                </a14:m>
                <a:r>
                  <a:rPr lang="zh-CN" altLang="en-US" dirty="0">
                    <a:latin typeface="宋体" panose="02010600030101010101" pitchFamily="2" charset="-122"/>
                    <a:ea typeface="宋体" panose="02010600030101010101" pitchFamily="2" charset="-122"/>
                  </a:rPr>
                  <a:t>为此时的温度。</a:t>
                </a:r>
                <a:endParaRPr lang="en-US" altLang="zh-CN" dirty="0">
                  <a:latin typeface="宋体" panose="02010600030101010101" pitchFamily="2" charset="-122"/>
                  <a:ea typeface="宋体" panose="02010600030101010101" pitchFamily="2" charset="-122"/>
                </a:endParaRPr>
              </a:p>
              <a:p>
                <a:pPr algn="just"/>
                <a:endParaRPr lang="zh-CN" altLang="en-US" dirty="0">
                  <a:latin typeface="宋体" panose="02010600030101010101" pitchFamily="2" charset="-122"/>
                  <a:ea typeface="宋体" panose="02010600030101010101" pitchFamily="2" charset="-122"/>
                </a:endParaRPr>
              </a:p>
              <a:p>
                <a:pPr algn="just"/>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当新解确定接受时</a:t>
                </a:r>
                <a:r>
                  <a:rPr lang="zh-CN" altLang="en-US" dirty="0">
                    <a:latin typeface="宋体" panose="02010600030101010101" pitchFamily="2" charset="-122"/>
                    <a:ea typeface="宋体" panose="02010600030101010101" pitchFamily="2" charset="-122"/>
                  </a:rPr>
                  <a:t>：以新解作为当前解。</a:t>
                </a:r>
                <a:endParaRPr lang="en-US" altLang="zh-CN" dirty="0">
                  <a:latin typeface="宋体" panose="02010600030101010101" pitchFamily="2" charset="-122"/>
                  <a:ea typeface="宋体" panose="02010600030101010101" pitchFamily="2" charset="-122"/>
                </a:endParaRPr>
              </a:p>
              <a:p>
                <a:pPr algn="just"/>
                <a:endParaRPr lang="zh-CN" altLang="en-US" dirty="0">
                  <a:latin typeface="宋体" panose="02010600030101010101" pitchFamily="2" charset="-122"/>
                  <a:ea typeface="宋体" panose="02010600030101010101" pitchFamily="2" charset="-122"/>
                </a:endParaRPr>
              </a:p>
              <a:p>
                <a:pPr algn="just"/>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循环以上四个步骤</a:t>
                </a:r>
                <a:r>
                  <a:rPr lang="zh-CN" altLang="en-US" dirty="0">
                    <a:latin typeface="宋体" panose="02010600030101010101" pitchFamily="2" charset="-122"/>
                    <a:ea typeface="宋体" panose="02010600030101010101" pitchFamily="2" charset="-122"/>
                  </a:rPr>
                  <a:t>：在温度</a:t>
                </a:r>
                <a14:m>
                  <m:oMath xmlns:m="http://schemas.openxmlformats.org/officeDocument/2006/math">
                    <m:sSub>
                      <m:sSubPr>
                        <m:ctrlPr>
                          <a:rPr lang="en-US" altLang="zh-CN"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𝑇</m:t>
                        </m:r>
                      </m:e>
                      <m:sub>
                        <m:r>
                          <a:rPr lang="en-US" altLang="zh-CN" b="0" i="1" smtClean="0">
                            <a:latin typeface="Cambria Math" panose="02040503050406030204" pitchFamily="18" charset="0"/>
                            <a:ea typeface="宋体" panose="02010600030101010101" pitchFamily="2" charset="-122"/>
                          </a:rPr>
                          <m:t>𝑖</m:t>
                        </m:r>
                      </m:sub>
                    </m:sSub>
                  </m:oMath>
                </a14:m>
                <a:r>
                  <a:rPr lang="zh-CN" altLang="en-US" dirty="0">
                    <a:latin typeface="宋体" panose="02010600030101010101" pitchFamily="2" charset="-122"/>
                    <a:ea typeface="宋体" panose="02010600030101010101" pitchFamily="2" charset="-122"/>
                  </a:rPr>
                  <a:t>情况下，重复</a:t>
                </a:r>
                <a:r>
                  <a:rPr lang="en-US" altLang="zh-CN" dirty="0">
                    <a:latin typeface="宋体" panose="02010600030101010101" pitchFamily="2" charset="-122"/>
                    <a:ea typeface="宋体" panose="02010600030101010101" pitchFamily="2" charset="-122"/>
                  </a:rPr>
                  <a:t>k</a:t>
                </a:r>
                <a:r>
                  <a:rPr lang="zh-CN" altLang="en-US" dirty="0">
                    <a:latin typeface="宋体" panose="02010600030101010101" pitchFamily="2" charset="-122"/>
                    <a:ea typeface="宋体" panose="02010600030101010101" pitchFamily="2" charset="-122"/>
                  </a:rPr>
                  <a:t>次的扰动和接过程接着执行下一步骤。</a:t>
                </a:r>
                <a:endParaRPr lang="en-US" altLang="zh-CN" dirty="0">
                  <a:latin typeface="宋体" panose="02010600030101010101" pitchFamily="2" charset="-122"/>
                  <a:ea typeface="宋体" panose="02010600030101010101" pitchFamily="2" charset="-122"/>
                </a:endParaRPr>
              </a:p>
              <a:p>
                <a:pPr algn="just"/>
                <a:endParaRPr lang="zh-CN" altLang="en-US" dirty="0">
                  <a:latin typeface="宋体" panose="02010600030101010101" pitchFamily="2" charset="-122"/>
                  <a:ea typeface="宋体" panose="02010600030101010101" pitchFamily="2" charset="-122"/>
                </a:endParaRPr>
              </a:p>
              <a:p>
                <a:pPr algn="just"/>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最后找到全局最优解</a:t>
                </a:r>
                <a:r>
                  <a:rPr lang="zh-CN" altLang="en-US" dirty="0">
                    <a:latin typeface="宋体" panose="02010600030101010101" pitchFamily="2" charset="-122"/>
                    <a:ea typeface="宋体" panose="02010600030101010101" pitchFamily="2" charset="-122"/>
                  </a:rPr>
                  <a:t>：判断</a:t>
                </a:r>
                <a14:m>
                  <m:oMath xmlns:m="http://schemas.openxmlformats.org/officeDocument/2006/math">
                    <m:r>
                      <a:rPr lang="en-US" altLang="zh-CN" i="1" smtClean="0">
                        <a:latin typeface="Cambria Math" panose="02040503050406030204" pitchFamily="18" charset="0"/>
                        <a:ea typeface="宋体" panose="02010600030101010101" pitchFamily="2" charset="-122"/>
                      </a:rPr>
                      <m:t>𝑇</m:t>
                    </m:r>
                  </m:oMath>
                </a14:m>
                <a:r>
                  <a:rPr lang="zh-CN" altLang="en-US" dirty="0">
                    <a:latin typeface="宋体" panose="02010600030101010101" pitchFamily="2" charset="-122"/>
                    <a:ea typeface="宋体" panose="02010600030101010101" pitchFamily="2" charset="-122"/>
                  </a:rPr>
                  <a:t>是否已经达到终止温度，是，则终止算法；否则慢降低温度，并重置迭代次数。</a:t>
                </a:r>
              </a:p>
            </p:txBody>
          </p:sp>
        </mc:Choice>
        <mc:Fallback xmlns="">
          <p:sp>
            <p:nvSpPr>
              <p:cNvPr id="10" name="文本框 9"/>
              <p:cNvSpPr txBox="1">
                <a:spLocks noRot="1" noChangeAspect="1" noMove="1" noResize="1" noEditPoints="1" noAdjustHandles="1" noChangeArrowheads="1" noChangeShapeType="1" noTextEdit="1"/>
              </p:cNvSpPr>
              <p:nvPr/>
            </p:nvSpPr>
            <p:spPr>
              <a:xfrm>
                <a:off x="533402" y="809853"/>
                <a:ext cx="6511634" cy="5238293"/>
              </a:xfrm>
              <a:prstGeom prst="rect">
                <a:avLst/>
              </a:prstGeom>
              <a:blipFill rotWithShape="1">
                <a:blip r:embed="rId3"/>
                <a:stretch>
                  <a:fillRect t="-4" r="5" b="8"/>
                </a:stretch>
              </a:blipFill>
            </p:spPr>
            <p:txBody>
              <a:bodyPr/>
              <a:lstStyle/>
              <a:p>
                <a:r>
                  <a:rPr lang="zh-CN" altLang="en-US">
                    <a:noFill/>
                  </a:rPr>
                  <a:t> </a:t>
                </a:r>
              </a:p>
            </p:txBody>
          </p:sp>
        </mc:Fallback>
      </mc:AlternateContent>
      <p:pic>
        <p:nvPicPr>
          <p:cNvPr id="20" name="图片 19"/>
          <p:cNvPicPr>
            <a:picLocks noChangeAspect="1"/>
          </p:cNvPicPr>
          <p:nvPr/>
        </p:nvPicPr>
        <p:blipFill>
          <a:blip r:embed="rId4"/>
          <a:stretch>
            <a:fillRect/>
          </a:stretch>
        </p:blipFill>
        <p:spPr>
          <a:xfrm>
            <a:off x="7045036" y="705600"/>
            <a:ext cx="4532564" cy="5515091"/>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lang="zh-CN" altLang="en-US" sz="2800" dirty="0">
                <a:latin typeface="+mn-lt"/>
              </a:rPr>
              <a:t>参数分析</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9</a:t>
            </a:fld>
            <a:endParaRPr lang="zh-CN" altLang="en-US"/>
          </a:p>
        </p:txBody>
      </p:sp>
      <mc:AlternateContent xmlns:mc="http://schemas.openxmlformats.org/markup-compatibility/2006" xmlns:a14="http://schemas.microsoft.com/office/drawing/2010/main">
        <mc:Choice Requires="a14">
          <p:sp>
            <p:nvSpPr>
              <p:cNvPr id="6" name="文本框 5"/>
              <p:cNvSpPr txBox="1"/>
              <p:nvPr/>
            </p:nvSpPr>
            <p:spPr>
              <a:xfrm flipH="1">
                <a:off x="705554" y="869731"/>
                <a:ext cx="7478845" cy="1569660"/>
              </a:xfrm>
              <a:prstGeom prst="rect">
                <a:avLst/>
              </a:prstGeom>
              <a:noFill/>
            </p:spPr>
            <p:txBody>
              <a:bodyPr wrap="square" rtlCol="0">
                <a:spAutoFit/>
              </a:bodyPr>
              <a:lstStyle/>
              <a:p>
                <a:r>
                  <a:rPr lang="zh-CN" altLang="en-US" sz="2400" b="1" dirty="0">
                    <a:solidFill>
                      <a:srgbClr val="FF0000"/>
                    </a:solidFill>
                    <a:latin typeface="宋体" panose="02010600030101010101" pitchFamily="2" charset="-122"/>
                    <a:ea typeface="宋体" panose="02010600030101010101" pitchFamily="2" charset="-122"/>
                  </a:rPr>
                  <a:t>控制温度参数的初始值</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𝑇</m:t>
                        </m:r>
                      </m:e>
                      <m:sub>
                        <m:r>
                          <a:rPr lang="en-US" altLang="zh-CN" sz="2400" i="1">
                            <a:latin typeface="Cambria Math" panose="02040503050406030204" pitchFamily="18" charset="0"/>
                            <a:ea typeface="宋体" panose="02010600030101010101" pitchFamily="2" charset="-122"/>
                          </a:rPr>
                          <m:t>0</m:t>
                        </m:r>
                      </m:sub>
                    </m:sSub>
                  </m:oMath>
                </a14:m>
                <a:endParaRPr lang="en-US" altLang="zh-CN" sz="2400" dirty="0"/>
              </a:p>
              <a:p>
                <a:endParaRPr lang="en-US" altLang="zh-CN" dirty="0"/>
              </a:p>
              <a:p>
                <a:r>
                  <a:rPr lang="zh-CN" altLang="en-US" dirty="0">
                    <a:latin typeface="宋体" panose="02010600030101010101" pitchFamily="2" charset="-122"/>
                    <a:ea typeface="宋体" panose="02010600030101010101" pitchFamily="2" charset="-122"/>
                  </a:rPr>
                  <a:t>一般来说，只有足够大的初始温度</a:t>
                </a:r>
                <a14:m>
                  <m:oMath xmlns:m="http://schemas.openxmlformats.org/officeDocument/2006/math">
                    <m:sSub>
                      <m:sSubPr>
                        <m:ctrlPr>
                          <a:rPr lang="en-US" altLang="zh-CN" i="1" smtClean="0">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宋体" panose="02010600030101010101" pitchFamily="2" charset="-122"/>
                          </a:rPr>
                          <m:t>𝑇</m:t>
                        </m:r>
                      </m:e>
                      <m:sub>
                        <m:r>
                          <a:rPr lang="en-US" altLang="zh-CN" i="1">
                            <a:latin typeface="Cambria Math" panose="02040503050406030204" pitchFamily="18" charset="0"/>
                            <a:ea typeface="宋体" panose="02010600030101010101" pitchFamily="2" charset="-122"/>
                          </a:rPr>
                          <m:t>0</m:t>
                        </m:r>
                      </m:sub>
                    </m:sSub>
                  </m:oMath>
                </a14:m>
                <a:r>
                  <a:rPr lang="zh-CN" altLang="en-US" dirty="0">
                    <a:latin typeface="宋体" panose="02010600030101010101" pitchFamily="2" charset="-122"/>
                    <a:ea typeface="宋体" panose="02010600030101010101" pitchFamily="2" charset="-122"/>
                  </a:rPr>
                  <a:t>才能满足算法要求；</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实验表明，</a:t>
                </a:r>
                <a:r>
                  <a:rPr lang="zh-CN" altLang="en-US" b="1" dirty="0">
                    <a:solidFill>
                      <a:srgbClr val="FF0000"/>
                    </a:solidFill>
                    <a:latin typeface="宋体" panose="02010600030101010101" pitchFamily="2" charset="-122"/>
                    <a:ea typeface="宋体" panose="02010600030101010101" pitchFamily="2" charset="-122"/>
                  </a:rPr>
                  <a:t>初始温度越大，获得全局最优的概率也就越大</a:t>
                </a:r>
                <a:r>
                  <a:rPr lang="zh-CN" altLang="en-US" dirty="0">
                    <a:latin typeface="宋体" panose="02010600030101010101" pitchFamily="2" charset="-122"/>
                    <a:ea typeface="宋体" panose="02010600030101010101" pitchFamily="2" charset="-122"/>
                  </a:rPr>
                  <a:t>，但相应的计算代价也就越大。</a:t>
                </a:r>
              </a:p>
            </p:txBody>
          </p:sp>
        </mc:Choice>
        <mc:Fallback xmlns="">
          <p:sp>
            <p:nvSpPr>
              <p:cNvPr id="6" name="文本框 5"/>
              <p:cNvSpPr txBox="1">
                <a:spLocks noRot="1" noChangeAspect="1" noMove="1" noResize="1" noEditPoints="1" noAdjustHandles="1" noChangeArrowheads="1" noChangeShapeType="1" noTextEdit="1"/>
              </p:cNvSpPr>
              <p:nvPr/>
            </p:nvSpPr>
            <p:spPr>
              <a:xfrm flipH="1">
                <a:off x="705554" y="869731"/>
                <a:ext cx="7478845" cy="1569660"/>
              </a:xfrm>
              <a:prstGeom prst="rect">
                <a:avLst/>
              </a:prstGeom>
              <a:blipFill rotWithShape="1">
                <a:blip r:embed="rId3"/>
                <a:stretch>
                  <a:fillRect l="-1" t="-27" r="7" b="23"/>
                </a:stretch>
              </a:blipFill>
            </p:spPr>
            <p:txBody>
              <a:bodyPr/>
              <a:lstStyle/>
              <a:p>
                <a:r>
                  <a:rPr lang="zh-CN" altLang="en-US">
                    <a:noFill/>
                  </a:rPr>
                  <a:t> </a:t>
                </a:r>
              </a:p>
            </p:txBody>
          </p:sp>
        </mc:Fallback>
      </mc:AlternateContent>
      <p:sp>
        <p:nvSpPr>
          <p:cNvPr id="8" name="文本框 7"/>
          <p:cNvSpPr txBox="1"/>
          <p:nvPr/>
        </p:nvSpPr>
        <p:spPr>
          <a:xfrm flipH="1">
            <a:off x="612209" y="2728992"/>
            <a:ext cx="7478845" cy="1846659"/>
          </a:xfrm>
          <a:prstGeom prst="rect">
            <a:avLst/>
          </a:prstGeom>
          <a:noFill/>
        </p:spPr>
        <p:txBody>
          <a:bodyPr wrap="square" rtlCol="0">
            <a:spAutoFit/>
          </a:bodyPr>
          <a:lstStyle/>
          <a:p>
            <a:r>
              <a:rPr lang="en-US" altLang="zh-CN" sz="2400" b="1" dirty="0">
                <a:solidFill>
                  <a:srgbClr val="FF0000"/>
                </a:solidFill>
                <a:latin typeface="宋体" panose="02010600030101010101" pitchFamily="2" charset="-122"/>
                <a:ea typeface="宋体" panose="02010600030101010101" pitchFamily="2" charset="-122"/>
              </a:rPr>
              <a:t>Metropolis</a:t>
            </a:r>
            <a:r>
              <a:rPr lang="zh-CN" altLang="en-US" sz="2400" b="1" dirty="0">
                <a:solidFill>
                  <a:srgbClr val="FF0000"/>
                </a:solidFill>
                <a:latin typeface="宋体" panose="02010600030101010101" pitchFamily="2" charset="-122"/>
                <a:ea typeface="宋体" panose="02010600030101010101" pitchFamily="2" charset="-122"/>
              </a:rPr>
              <a:t>准则</a:t>
            </a:r>
            <a:endParaRPr lang="en-US" altLang="zh-CN" sz="2400" dirty="0"/>
          </a:p>
          <a:p>
            <a:endParaRPr lang="en-US" altLang="zh-CN" dirty="0"/>
          </a:p>
          <a:p>
            <a:r>
              <a:rPr lang="zh-CN" altLang="en-US" dirty="0">
                <a:latin typeface="宋体" panose="02010600030101010101" pitchFamily="2" charset="-122"/>
                <a:ea typeface="宋体" panose="02010600030101010101" pitchFamily="2" charset="-122"/>
              </a:rPr>
              <a:t>在某一个温度下固体兮子从一个状态转移到另一个状态时：</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  如果新的状态内能小，则无条件接受</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  如果新的状态内能大，则以一定的概率接受它</a:t>
            </a:r>
          </a:p>
          <a:p>
            <a:endParaRPr lang="zh-CN"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9" name="文本框 8"/>
              <p:cNvSpPr txBox="1"/>
              <p:nvPr/>
            </p:nvSpPr>
            <p:spPr>
              <a:xfrm>
                <a:off x="817417" y="4630881"/>
                <a:ext cx="4864473" cy="8842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1,                               </m:t>
                              </m:r>
                              <m:r>
                                <a:rPr lang="en-US" altLang="zh-CN" b="0" i="1" smtClean="0">
                                  <a:latin typeface="Cambria Math" panose="02040503050406030204" pitchFamily="18" charset="0"/>
                                </a:rPr>
                                <m:t>𝑖𝑓</m:t>
                              </m:r>
                              <m:r>
                                <a:rPr lang="en-US" altLang="zh-CN" b="0" i="1" smtClean="0">
                                  <a:latin typeface="Cambria Math" panose="02040503050406030204" pitchFamily="18" charset="0"/>
                                </a:rPr>
                                <m:t> </m:t>
                              </m:r>
                              <m:r>
                                <a:rPr lang="en-US" altLang="zh-CN" b="0" i="1" smtClean="0">
                                  <a:latin typeface="Cambria Math" panose="02040503050406030204" pitchFamily="18" charset="0"/>
                                </a:rPr>
                                <m:t>𝐸</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𝑛𝑒𝑤</m:t>
                                      </m:r>
                                    </m:sub>
                                  </m:sSub>
                                </m:e>
                              </m:d>
                              <m:r>
                                <a:rPr lang="en-US" altLang="zh-CN" b="0"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Cambria Math" panose="02040503050406030204" pitchFamily="18" charset="0"/>
                                </a:rPr>
                                <m:t>𝐸</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𝑜𝑙𝑑</m:t>
                                      </m:r>
                                    </m:sub>
                                  </m:sSub>
                                </m:e>
                              </m:d>
                            </m:e>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𝑒𝑥𝑝</m:t>
                                  </m:r>
                                </m:e>
                                <m: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i="1">
                                          <a:latin typeface="Cambria Math" panose="02040503050406030204" pitchFamily="18" charset="0"/>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𝑛𝑒𝑤</m:t>
                                              </m:r>
                                            </m:sub>
                                          </m:sSub>
                                        </m:e>
                                      </m:d>
                                      <m:r>
                                        <a:rPr lang="en-US" altLang="zh-CN" b="0" i="1" smtClean="0">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𝐸</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𝑥</m:t>
                                              </m:r>
                                            </m:e>
                                            <m:sub>
                                              <m:r>
                                                <a:rPr lang="en-US" altLang="zh-CN" i="1">
                                                  <a:latin typeface="Cambria Math" panose="02040503050406030204" pitchFamily="18" charset="0"/>
                                                  <a:ea typeface="Cambria Math" panose="02040503050406030204" pitchFamily="18" charset="0"/>
                                                </a:rPr>
                                                <m:t>𝑜𝑙𝑑</m:t>
                                              </m:r>
                                            </m:sub>
                                          </m:sSub>
                                        </m:e>
                                      </m:d>
                                    </m:num>
                                    <m:den>
                                      <m:r>
                                        <a:rPr lang="en-US" altLang="zh-CN" b="0" i="1" smtClean="0">
                                          <a:latin typeface="Cambria Math" panose="02040503050406030204" pitchFamily="18" charset="0"/>
                                        </a:rPr>
                                        <m:t>𝑇</m:t>
                                      </m:r>
                                    </m:den>
                                  </m:f>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i="1">
                                  <a:latin typeface="Cambria Math" panose="02040503050406030204" pitchFamily="18" charset="0"/>
                                </a:rPr>
                                <m:t>𝑖𝑓</m:t>
                              </m:r>
                              <m:r>
                                <a:rPr lang="en-US" altLang="zh-CN" i="1">
                                  <a:latin typeface="Cambria Math" panose="02040503050406030204" pitchFamily="18" charset="0"/>
                                </a:rPr>
                                <m:t> </m:t>
                              </m:r>
                              <m:r>
                                <a:rPr lang="en-US" altLang="zh-CN" i="1">
                                  <a:latin typeface="Cambria Math" panose="02040503050406030204" pitchFamily="18" charset="0"/>
                                </a:rPr>
                                <m:t>𝐸</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𝑛𝑒𝑤</m:t>
                                      </m:r>
                                    </m:sub>
                                  </m:sSub>
                                </m:e>
                              </m:d>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𝐸</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𝑥</m:t>
                                      </m:r>
                                    </m:e>
                                    <m:sub>
                                      <m:r>
                                        <a:rPr lang="en-US" altLang="zh-CN" i="1">
                                          <a:latin typeface="Cambria Math" panose="02040503050406030204" pitchFamily="18" charset="0"/>
                                          <a:ea typeface="Cambria Math" panose="02040503050406030204" pitchFamily="18" charset="0"/>
                                        </a:rPr>
                                        <m:t>𝑜𝑙𝑑</m:t>
                                      </m:r>
                                    </m:sub>
                                  </m:sSub>
                                </m:e>
                              </m:d>
                            </m:e>
                          </m:eqArr>
                        </m:e>
                      </m:d>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817417" y="4630881"/>
                <a:ext cx="4864473" cy="884281"/>
              </a:xfrm>
              <a:prstGeom prst="rect">
                <a:avLst/>
              </a:prstGeom>
              <a:blipFill rotWithShape="1">
                <a:blip r:embed="rId4"/>
                <a:stretch>
                  <a:fillRect l="-4" t="-52" r="11" b="21"/>
                </a:stretch>
              </a:blipFill>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lang="zh-CN" altLang="en-US" sz="2800" dirty="0">
                <a:latin typeface="+mn-lt"/>
              </a:rPr>
              <a:t>参数分析</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10</a:t>
            </a:fld>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2123209" y="2577836"/>
                <a:ext cx="1323109" cy="5386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ea typeface="宋体" panose="02010600030101010101" pitchFamily="2" charset="-122"/>
                            </a:rPr>
                          </m:ctrlPr>
                        </m:sSupPr>
                        <m:e>
                          <m:r>
                            <a:rPr lang="en-US" altLang="zh-CN" b="0" i="1" smtClean="0">
                              <a:latin typeface="Cambria Math" panose="02040503050406030204" pitchFamily="18" charset="0"/>
                              <a:ea typeface="宋体" panose="02010600030101010101" pitchFamily="2" charset="-122"/>
                            </a:rPr>
                            <m:t>𝑒𝑥𝑝</m:t>
                          </m:r>
                        </m:e>
                        <m:sup>
                          <m:r>
                            <a:rPr lang="en-US" altLang="zh-CN" b="0" i="1" smtClean="0">
                              <a:latin typeface="Cambria Math" panose="02040503050406030204" pitchFamily="18" charset="0"/>
                              <a:ea typeface="宋体" panose="02010600030101010101" pitchFamily="2" charset="-122"/>
                            </a:rPr>
                            <m:t>−(</m:t>
                          </m:r>
                          <m:f>
                            <m:fPr>
                              <m:ctrlPr>
                                <a:rPr lang="en-US" altLang="zh-CN" b="0" i="1" smtClean="0">
                                  <a:latin typeface="Cambria Math" panose="02040503050406030204" pitchFamily="18" charset="0"/>
                                  <a:ea typeface="宋体" panose="02010600030101010101" pitchFamily="2" charset="-122"/>
                                </a:rPr>
                              </m:ctrlPr>
                            </m:fPr>
                            <m:num>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𝐸</m:t>
                              </m:r>
                            </m:num>
                            <m:den>
                              <m:sSub>
                                <m:sSubPr>
                                  <m:ctrlPr>
                                    <a:rPr lang="en-US" altLang="zh-CN" b="0"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𝑇</m:t>
                                  </m:r>
                                </m:e>
                                <m:sub>
                                  <m:r>
                                    <a:rPr lang="en-US" altLang="zh-CN" b="0" i="1" smtClean="0">
                                      <a:latin typeface="Cambria Math" panose="02040503050406030204" pitchFamily="18" charset="0"/>
                                      <a:ea typeface="宋体" panose="02010600030101010101" pitchFamily="2" charset="-122"/>
                                    </a:rPr>
                                    <m:t>𝑖</m:t>
                                  </m:r>
                                </m:sub>
                              </m:sSub>
                            </m:den>
                          </m:f>
                          <m:r>
                            <a:rPr lang="en-US" altLang="zh-CN" b="0" i="1" smtClean="0">
                              <a:latin typeface="Cambria Math" panose="02040503050406030204" pitchFamily="18" charset="0"/>
                              <a:ea typeface="宋体" panose="02010600030101010101" pitchFamily="2" charset="-122"/>
                            </a:rPr>
                            <m:t>)</m:t>
                          </m:r>
                        </m:sup>
                      </m:sSup>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2123209" y="2577836"/>
                <a:ext cx="1323109" cy="538609"/>
              </a:xfrm>
              <a:prstGeom prst="rect">
                <a:avLst/>
              </a:prstGeom>
              <a:blipFill rotWithShape="1">
                <a:blip r:embed="rId3"/>
                <a:stretch>
                  <a:fillRect l="-31" t="-69" r="13" b="93"/>
                </a:stretch>
              </a:blipFill>
            </p:spPr>
            <p:txBody>
              <a:bodyPr/>
              <a:lstStyle/>
              <a:p>
                <a:r>
                  <a:rPr lang="zh-CN" altLang="en-US">
                    <a:noFill/>
                  </a:rPr>
                  <a:t> </a:t>
                </a:r>
              </a:p>
            </p:txBody>
          </p:sp>
        </mc:Fallback>
      </mc:AlternateContent>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4648200" y="830475"/>
            <a:ext cx="6929400" cy="5197050"/>
          </a:xfrm>
          <a:prstGeom prst="rect">
            <a:avLst/>
          </a:prstGeom>
        </p:spPr>
      </p:pic>
      <p:sp>
        <p:nvSpPr>
          <p:cNvPr id="12" name="文本框 11"/>
          <p:cNvSpPr txBox="1"/>
          <p:nvPr/>
        </p:nvSpPr>
        <p:spPr>
          <a:xfrm>
            <a:off x="675408" y="3550116"/>
            <a:ext cx="4218709" cy="1200329"/>
          </a:xfrm>
          <a:prstGeom prst="rect">
            <a:avLst/>
          </a:prstGeom>
          <a:noFill/>
        </p:spPr>
        <p:txBody>
          <a:bodyPr wrap="square">
            <a:spAutoFit/>
          </a:bodyPr>
          <a:lstStyle/>
          <a:p>
            <a:r>
              <a:rPr lang="zh-CN" altLang="en-US" dirty="0">
                <a:solidFill>
                  <a:srgbClr val="FF0000"/>
                </a:solidFill>
                <a:latin typeface="宋体" panose="02010600030101010101" pitchFamily="2" charset="-122"/>
                <a:ea typeface="宋体" panose="02010600030101010101" pitchFamily="2" charset="-122"/>
                <a:cs typeface="Times New Roman" panose="02020603050405020304" charset="0"/>
              </a:rPr>
              <a:t>温度越高，出现一次能量差的降温概率就越大；</a:t>
            </a:r>
            <a:endParaRPr lang="en-US" altLang="zh-CN" dirty="0">
              <a:solidFill>
                <a:srgbClr val="FF0000"/>
              </a:solidFill>
              <a:latin typeface="宋体" panose="02010600030101010101" pitchFamily="2" charset="-122"/>
              <a:ea typeface="宋体" panose="02010600030101010101" pitchFamily="2" charset="-122"/>
              <a:cs typeface="Times New Roman" panose="02020603050405020304" charset="0"/>
            </a:endParaRPr>
          </a:p>
          <a:p>
            <a:endParaRPr lang="en-US" altLang="zh-CN" dirty="0">
              <a:solidFill>
                <a:srgbClr val="FF0000"/>
              </a:solidFill>
              <a:latin typeface="宋体" panose="02010600030101010101" pitchFamily="2" charset="-122"/>
              <a:ea typeface="宋体" panose="02010600030101010101" pitchFamily="2" charset="-122"/>
              <a:cs typeface="Times New Roman" panose="02020603050405020304" charset="0"/>
            </a:endParaRPr>
          </a:p>
          <a:p>
            <a:r>
              <a:rPr lang="zh-CN" altLang="en-US" dirty="0">
                <a:solidFill>
                  <a:srgbClr val="FF0000"/>
                </a:solidFill>
                <a:latin typeface="宋体" panose="02010600030101010101" pitchFamily="2" charset="-122"/>
                <a:ea typeface="宋体" panose="02010600030101010101" pitchFamily="2" charset="-122"/>
                <a:cs typeface="Times New Roman" panose="02020603050405020304" charset="0"/>
              </a:rPr>
              <a:t>温度越低，则出现降温的概率就越小。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lang="zh-CN" altLang="en-US" sz="2800" dirty="0">
                <a:latin typeface="+mn-lt"/>
              </a:rPr>
              <a:t>参数分析</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11</a:t>
            </a:fld>
            <a:endParaRPr lang="zh-CN" altLang="en-US"/>
          </a:p>
        </p:txBody>
      </p:sp>
      <mc:AlternateContent xmlns:mc="http://schemas.openxmlformats.org/markup-compatibility/2006" xmlns:a14="http://schemas.microsoft.com/office/drawing/2010/main">
        <mc:Choice Requires="a14">
          <p:sp>
            <p:nvSpPr>
              <p:cNvPr id="7" name="文本框 6"/>
              <p:cNvSpPr txBox="1"/>
              <p:nvPr/>
            </p:nvSpPr>
            <p:spPr>
              <a:xfrm>
                <a:off x="612210" y="1100573"/>
                <a:ext cx="6483926" cy="2399665"/>
              </a:xfrm>
              <a:prstGeom prst="rect">
                <a:avLst/>
              </a:prstGeom>
              <a:noFill/>
            </p:spPr>
            <p:txBody>
              <a:bodyPr wrap="square">
                <a:spAutoFit/>
              </a:bodyPr>
              <a:lstStyle/>
              <a:p>
                <a:r>
                  <a:rPr lang="zh-CN" altLang="en-US" sz="2400" b="1" dirty="0">
                    <a:solidFill>
                      <a:srgbClr val="FF0000"/>
                    </a:solidFill>
                    <a:latin typeface="Times New Roman" panose="02020603050405020304" charset="0"/>
                    <a:ea typeface="宋体" panose="02010600030101010101" pitchFamily="2" charset="-122"/>
                    <a:cs typeface="Times New Roman" panose="02020603050405020304" charset="0"/>
                  </a:rPr>
                  <a:t>马尔可夫链的长度</a:t>
                </a:r>
                <a:r>
                  <a:rPr lang="en-US" altLang="zh-CN" sz="2400" b="1" dirty="0">
                    <a:solidFill>
                      <a:srgbClr val="FF0000"/>
                    </a:solidFill>
                    <a:latin typeface="Times New Roman" panose="02020603050405020304" charset="0"/>
                    <a:ea typeface="宋体" panose="02010600030101010101" pitchFamily="2" charset="-122"/>
                    <a:cs typeface="Times New Roman" panose="02020603050405020304" charset="0"/>
                  </a:rPr>
                  <a:t>K</a:t>
                </a:r>
                <a:r>
                  <a:rPr lang="zh-CN" altLang="en-US" dirty="0">
                    <a:latin typeface="Times New Roman" panose="02020603050405020304" charset="0"/>
                    <a:ea typeface="宋体" panose="02010600030101010101" pitchFamily="2" charset="-122"/>
                    <a:cs typeface="Times New Roman" panose="02020603050405020304" charset="0"/>
                  </a:rPr>
                  <a:t>： 任意温度</a:t>
                </a:r>
                <a:r>
                  <a:rPr lang="en-US" altLang="zh-CN" dirty="0">
                    <a:latin typeface="Times New Roman" panose="02020603050405020304" charset="0"/>
                    <a:ea typeface="宋体" panose="02010600030101010101" pitchFamily="2" charset="-122"/>
                    <a:cs typeface="Times New Roman" panose="02020603050405020304" charset="0"/>
                  </a:rPr>
                  <a:t>T </a:t>
                </a:r>
                <a:r>
                  <a:rPr lang="zh-CN" altLang="en-US" dirty="0">
                    <a:latin typeface="Times New Roman" panose="02020603050405020304" charset="0"/>
                    <a:ea typeface="宋体" panose="02010600030101010101" pitchFamily="2" charset="-122"/>
                    <a:cs typeface="Times New Roman" panose="02020603050405020304" charset="0"/>
                  </a:rPr>
                  <a:t>的迭代次</a:t>
                </a:r>
                <a:endParaRPr lang="en-US" altLang="zh-CN" dirty="0">
                  <a:latin typeface="Times New Roman" panose="02020603050405020304" charset="0"/>
                  <a:ea typeface="宋体" panose="02010600030101010101" pitchFamily="2" charset="-122"/>
                  <a:cs typeface="Times New Roman" panose="02020603050405020304" charset="0"/>
                </a:endParaRPr>
              </a:p>
              <a:p>
                <a:endParaRPr lang="en-US" altLang="zh-CN" dirty="0">
                  <a:latin typeface="Times New Roman" panose="02020603050405020304" charset="0"/>
                  <a:ea typeface="宋体" panose="02010600030101010101" pitchFamily="2" charset="-122"/>
                  <a:cs typeface="Times New Roman" panose="02020603050405020304" charset="0"/>
                </a:endParaRPr>
              </a:p>
              <a:p>
                <a:r>
                  <a:rPr lang="zh-CN" altLang="en-US" dirty="0">
                    <a:latin typeface="Times New Roman" panose="02020603050405020304" charset="0"/>
                    <a:ea typeface="宋体" panose="02010600030101010101" pitchFamily="2" charset="-122"/>
                    <a:cs typeface="Times New Roman" panose="02020603050405020304" charset="0"/>
                  </a:rPr>
                  <a:t>算法在马尔科涟中持续</a:t>
                </a:r>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 产生新解</a:t>
                </a:r>
                <a:r>
                  <a:rPr lang="en-US" altLang="zh-CN" b="1" dirty="0">
                    <a:solidFill>
                      <a:srgbClr val="FF0000"/>
                    </a:solidFill>
                    <a:latin typeface="Times New Roman" panose="02020603050405020304" charset="0"/>
                    <a:ea typeface="宋体" panose="02010600030101010101" pitchFamily="2" charset="-122"/>
                    <a:cs typeface="Times New Roman" panose="02020603050405020304" charset="0"/>
                  </a:rPr>
                  <a:t>——</a:t>
                </a:r>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判断</a:t>
                </a:r>
                <a:r>
                  <a:rPr lang="en-US" altLang="zh-CN" b="1" dirty="0">
                    <a:solidFill>
                      <a:srgbClr val="FF0000"/>
                    </a:solidFill>
                    <a:latin typeface="Times New Roman" panose="02020603050405020304" charset="0"/>
                    <a:ea typeface="宋体" panose="02010600030101010101" pitchFamily="2" charset="-122"/>
                    <a:cs typeface="Times New Roman" panose="02020603050405020304" charset="0"/>
                  </a:rPr>
                  <a:t>——</a:t>
                </a:r>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接受</a:t>
                </a:r>
                <a:r>
                  <a:rPr lang="en-US" altLang="zh-CN" b="1" dirty="0">
                    <a:solidFill>
                      <a:srgbClr val="FF0000"/>
                    </a:solidFill>
                    <a:latin typeface="Times New Roman" panose="02020603050405020304" charset="0"/>
                    <a:ea typeface="宋体" panose="02010600030101010101" pitchFamily="2" charset="-122"/>
                    <a:cs typeface="Times New Roman" panose="02020603050405020304" charset="0"/>
                  </a:rPr>
                  <a:t>/</a:t>
                </a:r>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舍弃”</a:t>
                </a:r>
              </a:p>
              <a:p>
                <a:r>
                  <a:rPr lang="zh-CN" altLang="en-US" dirty="0">
                    <a:latin typeface="Times New Roman" panose="02020603050405020304" charset="0"/>
                    <a:ea typeface="宋体" panose="02010600030101010101" pitchFamily="2" charset="-122"/>
                    <a:cs typeface="Times New Roman" panose="02020603050405020304" charset="0"/>
                  </a:rPr>
                  <a:t>的迭代过程， 时应在某一温度下趋于热平衡的过程。</a:t>
                </a:r>
                <a:endParaRPr lang="en-US" altLang="zh-CN" dirty="0">
                  <a:latin typeface="Times New Roman" panose="02020603050405020304" charset="0"/>
                  <a:ea typeface="宋体" panose="02010600030101010101" pitchFamily="2" charset="-122"/>
                  <a:cs typeface="Times New Roman" panose="02020603050405020304" charset="0"/>
                </a:endParaRPr>
              </a:p>
              <a:p>
                <a:endParaRPr lang="zh-CN" altLang="en-US" dirty="0">
                  <a:latin typeface="Times New Roman" panose="02020603050405020304" charset="0"/>
                  <a:ea typeface="宋体" panose="02010600030101010101" pitchFamily="2" charset="-122"/>
                  <a:cs typeface="Times New Roman" panose="02020603050405020304" charset="0"/>
                </a:endParaRPr>
              </a:p>
              <a:p>
                <a:r>
                  <a:rPr lang="zh-CN" altLang="en-US" dirty="0">
                    <a:latin typeface="Times New Roman" panose="02020603050405020304" charset="0"/>
                    <a:ea typeface="宋体" panose="02010600030101010101" pitchFamily="2" charset="-122"/>
                    <a:cs typeface="Times New Roman" panose="02020603050405020304" charset="0"/>
                  </a:rPr>
                  <a:t>马尔科夫链的选取</a:t>
                </a:r>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还与温度控制参</a:t>
                </a:r>
                <a14:m>
                  <m:oMath xmlns:m="http://schemas.openxmlformats.org/officeDocument/2006/math">
                    <m:sSub>
                      <m:sSubPr>
                        <m:ctrlPr>
                          <a:rPr lang="en-US" altLang="zh-CN" b="1" i="1" smtClean="0">
                            <a:solidFill>
                              <a:srgbClr val="FF0000"/>
                            </a:solidFill>
                            <a:latin typeface="Cambria Math" panose="02040503050406030204" pitchFamily="18" charset="0"/>
                            <a:ea typeface="宋体" panose="02010600030101010101" pitchFamily="2" charset="-122"/>
                          </a:rPr>
                        </m:ctrlPr>
                      </m:sSubPr>
                      <m:e>
                        <m:r>
                          <a:rPr lang="en-US" altLang="zh-CN" b="1" i="1" smtClean="0">
                            <a:solidFill>
                              <a:srgbClr val="FF0000"/>
                            </a:solidFill>
                            <a:latin typeface="Cambria Math" panose="02040503050406030204" pitchFamily="18" charset="0"/>
                            <a:ea typeface="宋体" panose="02010600030101010101" pitchFamily="2" charset="-122"/>
                          </a:rPr>
                          <m:t>𝑻</m:t>
                        </m:r>
                      </m:e>
                      <m:sub>
                        <m:r>
                          <a:rPr lang="en-US" altLang="zh-CN" b="1" i="1" smtClean="0">
                            <a:solidFill>
                              <a:srgbClr val="FF0000"/>
                            </a:solidFill>
                            <a:latin typeface="Cambria Math" panose="02040503050406030204" pitchFamily="18" charset="0"/>
                            <a:ea typeface="宋体" panose="02010600030101010101" pitchFamily="2" charset="-122"/>
                          </a:rPr>
                          <m:t>𝒊</m:t>
                        </m:r>
                      </m:sub>
                    </m:sSub>
                  </m:oMath>
                </a14:m>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的选取密切相关</a:t>
                </a:r>
                <a:r>
                  <a:rPr lang="zh-CN" altLang="en-US" dirty="0">
                    <a:latin typeface="Times New Roman" panose="02020603050405020304" charset="0"/>
                    <a:ea typeface="宋体" panose="02010600030101010101" pitchFamily="2" charset="-122"/>
                    <a:cs typeface="Times New Roman" panose="02020603050405020304" charset="0"/>
                  </a:rPr>
                  <a:t>， 温度</a:t>
                </a:r>
              </a:p>
              <a:p>
                <a:r>
                  <a:rPr lang="zh-CN" altLang="en-US" dirty="0">
                    <a:latin typeface="Times New Roman" panose="02020603050405020304" charset="0"/>
                    <a:ea typeface="宋体" panose="02010600030101010101" pitchFamily="2" charset="-122"/>
                    <a:cs typeface="Times New Roman" panose="02020603050405020304" charset="0"/>
                  </a:rPr>
                  <a:t>的缓慢下降可以避免较长的马尔科夫链， 根据一原则一般选</a:t>
                </a:r>
              </a:p>
              <a:p>
                <a:r>
                  <a:rPr lang="zh-CN" altLang="en-US" dirty="0">
                    <a:latin typeface="Times New Roman" panose="02020603050405020304" charset="0"/>
                    <a:ea typeface="宋体" panose="02010600030101010101" pitchFamily="2" charset="-122"/>
                    <a:cs typeface="Times New Roman" panose="02020603050405020304" charset="0"/>
                  </a:rPr>
                  <a:t>取</a:t>
                </a:r>
                <a:r>
                  <a:rPr lang="en-US" altLang="zh-CN" dirty="0">
                    <a:latin typeface="Times New Roman" panose="02020603050405020304" charset="0"/>
                    <a:ea typeface="宋体" panose="02010600030101010101" pitchFamily="2" charset="-122"/>
                    <a:cs typeface="Times New Roman" panose="02020603050405020304" charset="0"/>
                  </a:rPr>
                  <a:t>L= 100N </a:t>
                </a:r>
                <a:r>
                  <a:rPr lang="zh-CN" altLang="en-US" dirty="0">
                    <a:latin typeface="Times New Roman" panose="02020603050405020304" charset="0"/>
                    <a:ea typeface="宋体" panose="02010600030101010101" pitchFamily="2" charset="-122"/>
                    <a:cs typeface="Times New Roman" panose="02020603050405020304" charset="0"/>
                  </a:rPr>
                  <a:t>， </a:t>
                </a:r>
                <a:r>
                  <a:rPr lang="en-US" altLang="zh-CN" dirty="0">
                    <a:latin typeface="Times New Roman" panose="02020603050405020304" charset="0"/>
                    <a:ea typeface="宋体" panose="02010600030101010101" pitchFamily="2" charset="-122"/>
                    <a:cs typeface="Times New Roman" panose="02020603050405020304" charset="0"/>
                  </a:rPr>
                  <a:t>N </a:t>
                </a:r>
                <a:r>
                  <a:rPr lang="zh-CN" altLang="en-US" dirty="0">
                    <a:latin typeface="Times New Roman" panose="02020603050405020304" charset="0"/>
                    <a:ea typeface="宋体" panose="02010600030101010101" pitchFamily="2" charset="-122"/>
                    <a:cs typeface="Times New Roman" panose="02020603050405020304" charset="0"/>
                  </a:rPr>
                  <a:t>为问题的规模。</a:t>
                </a:r>
              </a:p>
            </p:txBody>
          </p:sp>
        </mc:Choice>
        <mc:Fallback xmlns="">
          <p:sp>
            <p:nvSpPr>
              <p:cNvPr id="7" name="文本框 6"/>
              <p:cNvSpPr txBox="1">
                <a:spLocks noRot="1" noChangeAspect="1" noMove="1" noResize="1" noEditPoints="1" noAdjustHandles="1" noChangeArrowheads="1" noChangeShapeType="1" noTextEdit="1"/>
              </p:cNvSpPr>
              <p:nvPr/>
            </p:nvSpPr>
            <p:spPr>
              <a:xfrm>
                <a:off x="612210" y="1100573"/>
                <a:ext cx="6483926" cy="2399665"/>
              </a:xfrm>
              <a:prstGeom prst="rect">
                <a:avLst/>
              </a:prstGeom>
              <a:blipFill rotWithShape="1">
                <a:blip r:embed="rId3"/>
                <a:stretch>
                  <a:fillRect l="-1" t="-5" b="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612210" y="3795235"/>
                <a:ext cx="6483926" cy="1226554"/>
              </a:xfrm>
              <a:prstGeom prst="rect">
                <a:avLst/>
              </a:prstGeom>
              <a:noFill/>
            </p:spPr>
            <p:txBody>
              <a:bodyPr wrap="square">
                <a:spAutoFit/>
              </a:bodyPr>
              <a:lstStyle/>
              <a:p>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最终温度</a:t>
                </a:r>
                <a14:m>
                  <m:oMath xmlns:m="http://schemas.openxmlformats.org/officeDocument/2006/math">
                    <m:sSub>
                      <m:sSubPr>
                        <m:ctrlPr>
                          <a:rPr lang="en-US" altLang="zh-CN" b="1" i="1" smtClean="0">
                            <a:solidFill>
                              <a:srgbClr val="FF0000"/>
                            </a:solidFill>
                            <a:latin typeface="Cambria Math" panose="02040503050406030204" pitchFamily="18" charset="0"/>
                            <a:ea typeface="宋体" panose="02010600030101010101" pitchFamily="2" charset="-122"/>
                          </a:rPr>
                        </m:ctrlPr>
                      </m:sSubPr>
                      <m:e>
                        <m:r>
                          <a:rPr lang="en-US" altLang="zh-CN" b="1" i="1" smtClean="0">
                            <a:solidFill>
                              <a:srgbClr val="FF0000"/>
                            </a:solidFill>
                            <a:latin typeface="Cambria Math" panose="02040503050406030204" pitchFamily="18" charset="0"/>
                            <a:ea typeface="宋体" panose="02010600030101010101" pitchFamily="2" charset="-122"/>
                          </a:rPr>
                          <m:t>𝑻</m:t>
                        </m:r>
                      </m:e>
                      <m:sub>
                        <m:r>
                          <a:rPr lang="en-US" altLang="zh-CN" b="1" i="1" smtClean="0">
                            <a:solidFill>
                              <a:srgbClr val="FF0000"/>
                            </a:solidFill>
                            <a:latin typeface="Cambria Math" panose="02040503050406030204" pitchFamily="18" charset="0"/>
                            <a:ea typeface="宋体" panose="02010600030101010101" pitchFamily="2" charset="-122"/>
                          </a:rPr>
                          <m:t>𝒇</m:t>
                        </m:r>
                      </m:sub>
                    </m:sSub>
                    <m:r>
                      <a:rPr lang="en-US" altLang="zh-CN" b="1" i="1" smtClean="0">
                        <a:solidFill>
                          <a:srgbClr val="FF0000"/>
                        </a:solidFill>
                        <a:latin typeface="Cambria Math" panose="02040503050406030204" pitchFamily="18" charset="0"/>
                        <a:ea typeface="宋体" panose="02010600030101010101" pitchFamily="2" charset="-122"/>
                      </a:rPr>
                      <m:t> </m:t>
                    </m:r>
                  </m:oMath>
                </a14:m>
                <a:r>
                  <a:rPr lang="zh-CN" altLang="en-US" b="1" dirty="0">
                    <a:solidFill>
                      <a:srgbClr val="FF0000"/>
                    </a:solidFill>
                    <a:latin typeface="Times New Roman" panose="02020603050405020304" charset="0"/>
                    <a:ea typeface="宋体" panose="02010600030101010101" pitchFamily="2" charset="-122"/>
                    <a:cs typeface="Times New Roman" panose="02020603050405020304" charset="0"/>
                  </a:rPr>
                  <a:t>（停止准则）</a:t>
                </a:r>
              </a:p>
              <a:p>
                <a:r>
                  <a:rPr lang="zh-CN" altLang="en-US" dirty="0">
                    <a:latin typeface="Times New Roman" panose="02020603050405020304" charset="0"/>
                    <a:ea typeface="宋体" panose="02010600030101010101" pitchFamily="2" charset="-122"/>
                    <a:cs typeface="Times New Roman" panose="02020603050405020304" charset="0"/>
                  </a:rPr>
                  <a:t>一般来说， 终止温度一般为</a:t>
                </a:r>
                <a:r>
                  <a:rPr lang="en-US" altLang="zh-CN" dirty="0">
                    <a:latin typeface="Times New Roman" panose="02020603050405020304" charset="0"/>
                    <a:ea typeface="宋体" panose="02010600030101010101" pitchFamily="2" charset="-122"/>
                    <a:cs typeface="Times New Roman" panose="02020603050405020304" charset="0"/>
                  </a:rPr>
                  <a:t>0</a:t>
                </a:r>
                <a:r>
                  <a:rPr lang="zh-CN" altLang="en-US" dirty="0">
                    <a:latin typeface="Times New Roman" panose="02020603050405020304" charset="0"/>
                    <a:ea typeface="宋体" panose="02010600030101010101" pitchFamily="2" charset="-122"/>
                    <a:cs typeface="Times New Roman" panose="02020603050405020304" charset="0"/>
                  </a:rPr>
                  <a:t>，但会耗掉许多模拟的时间。温</a:t>
                </a:r>
              </a:p>
              <a:p>
                <a:r>
                  <a:rPr lang="zh-CN" altLang="en-US" dirty="0">
                    <a:latin typeface="Times New Roman" panose="02020603050405020304" charset="0"/>
                    <a:ea typeface="宋体" panose="02010600030101010101" pitchFamily="2" charset="-122"/>
                    <a:cs typeface="Times New Roman" panose="02020603050405020304" charset="0"/>
                  </a:rPr>
                  <a:t>度趋近于</a:t>
                </a:r>
                <a:r>
                  <a:rPr lang="en-US" altLang="zh-CN" dirty="0">
                    <a:latin typeface="Times New Roman" panose="02020603050405020304" charset="0"/>
                    <a:ea typeface="宋体" panose="02010600030101010101" pitchFamily="2" charset="-122"/>
                    <a:cs typeface="Times New Roman" panose="02020603050405020304" charset="0"/>
                  </a:rPr>
                  <a:t>0 </a:t>
                </a:r>
                <a:r>
                  <a:rPr lang="zh-CN" altLang="en-US" dirty="0">
                    <a:latin typeface="Times New Roman" panose="02020603050405020304" charset="0"/>
                    <a:ea typeface="宋体" panose="02010600030101010101" pitchFamily="2" charset="-122"/>
                    <a:cs typeface="Times New Roman" panose="02020603050405020304" charset="0"/>
                  </a:rPr>
                  <a:t>。其周围状态基本都是一样的，所以只要找寻到一个低的可以接的温度即可。</a:t>
                </a:r>
              </a:p>
            </p:txBody>
          </p:sp>
        </mc:Choice>
        <mc:Fallback xmlns="">
          <p:sp>
            <p:nvSpPr>
              <p:cNvPr id="11" name="文本框 10"/>
              <p:cNvSpPr txBox="1">
                <a:spLocks noRot="1" noChangeAspect="1" noMove="1" noResize="1" noEditPoints="1" noAdjustHandles="1" noChangeArrowheads="1" noChangeShapeType="1" noTextEdit="1"/>
              </p:cNvSpPr>
              <p:nvPr/>
            </p:nvSpPr>
            <p:spPr>
              <a:xfrm>
                <a:off x="612210" y="3795235"/>
                <a:ext cx="6483926" cy="1226554"/>
              </a:xfrm>
              <a:prstGeom prst="rect">
                <a:avLst/>
              </a:prstGeom>
              <a:blipFill rotWithShape="1">
                <a:blip r:embed="rId4"/>
                <a:stretch>
                  <a:fillRect l="-1" t="-39" b="17"/>
                </a:stretch>
              </a:blipFill>
            </p:spPr>
            <p:txBody>
              <a:bodyPr/>
              <a:lstStyle/>
              <a:p>
                <a:r>
                  <a:rPr lang="zh-CN" altLang="en-US">
                    <a:noFill/>
                  </a:rPr>
                  <a:t> </a:t>
                </a:r>
              </a:p>
            </p:txBody>
          </p:sp>
        </mc:Fallback>
      </mc:AlternateContent>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latin typeface="+mn-lt"/>
              </a:rPr>
              <a:t>参数分析</a:t>
            </a:r>
            <a:endParaRPr lang="zh-CN" altLang="en-US" sz="28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marL="0" indent="0">
                  <a:buNone/>
                </a:pPr>
                <a:r>
                  <a:rPr lang="zh-CN" altLang="en-US" sz="1800" b="1" dirty="0">
                    <a:solidFill>
                      <a:srgbClr val="FF0000"/>
                    </a:solidFill>
                    <a:latin typeface="Times New Roman" panose="02020603050405020304" charset="0"/>
                    <a:ea typeface="宋体" panose="02010600030101010101" pitchFamily="2" charset="-122"/>
                    <a:cs typeface="Times New Roman" panose="02020603050405020304" charset="0"/>
                  </a:rPr>
                  <a:t>控制温度</a:t>
                </a:r>
                <a:r>
                  <a:rPr lang="en-US" altLang="zh-CN" sz="1800" b="1" dirty="0">
                    <a:solidFill>
                      <a:srgbClr val="FF0000"/>
                    </a:solidFill>
                    <a:latin typeface="Times New Roman" panose="02020603050405020304" charset="0"/>
                    <a:ea typeface="宋体" panose="02010600030101010101" pitchFamily="2" charset="-122"/>
                    <a:cs typeface="Times New Roman" panose="02020603050405020304" charset="0"/>
                  </a:rPr>
                  <a:t>T </a:t>
                </a:r>
                <a:r>
                  <a:rPr lang="zh-CN" altLang="en-US" sz="1800" b="1" dirty="0">
                    <a:solidFill>
                      <a:srgbClr val="FF0000"/>
                    </a:solidFill>
                    <a:latin typeface="Times New Roman" panose="02020603050405020304" charset="0"/>
                    <a:ea typeface="宋体" panose="02010600030101010101" pitchFamily="2" charset="-122"/>
                    <a:cs typeface="Times New Roman" panose="02020603050405020304" charset="0"/>
                  </a:rPr>
                  <a:t>的衰减函（温度的更新）</a:t>
                </a:r>
              </a:p>
              <a:p>
                <a:pPr marL="0" indent="0">
                  <a:buNone/>
                </a:pP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不同退火方法的温度下降速度是不同的，其中指降温是最常</a:t>
                </a:r>
              </a:p>
              <a:p>
                <a:pPr marL="0" indent="0">
                  <a:buNone/>
                </a:pP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用的一种退火策略</a:t>
                </a:r>
                <a:endParaRPr lang="en-US" altLang="zh-CN" sz="1800" dirty="0">
                  <a:solidFill>
                    <a:schemeClr val="tx1"/>
                  </a:solidFill>
                  <a:latin typeface="Times New Roman" panose="02020603050405020304" charset="0"/>
                  <a:ea typeface="宋体" panose="02010600030101010101" pitchFamily="2" charset="-122"/>
                  <a:cs typeface="Times New Roman" panose="02020603050405020304" charset="0"/>
                </a:endParaRPr>
              </a:p>
              <a:p>
                <a:pPr marL="0" indent="0">
                  <a:buNone/>
                </a:pPr>
                <a:endPar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endParaRPr>
              </a:p>
              <a:p>
                <a:pPr marL="0" indent="0">
                  <a:buNone/>
                </a:pP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衰减函数：</a:t>
                </a:r>
                <a14:m>
                  <m:oMath xmlns:m="http://schemas.openxmlformats.org/officeDocument/2006/math">
                    <m:sSub>
                      <m:sSubPr>
                        <m:ctrlPr>
                          <a:rPr lang="en-US" altLang="zh-CN" sz="1800" b="0" i="1" smtClean="0">
                            <a:solidFill>
                              <a:schemeClr val="tx1"/>
                            </a:solidFill>
                            <a:latin typeface="Cambria Math" panose="02040503050406030204" pitchFamily="18" charset="0"/>
                            <a:ea typeface="宋体" panose="02010600030101010101" pitchFamily="2" charset="-122"/>
                            <a:cs typeface="Times New Roman" panose="02020603050405020304" charset="0"/>
                          </a:rPr>
                        </m:ctrlPr>
                      </m:sSubPr>
                      <m:e>
                        <m:r>
                          <a:rPr lang="en-US" altLang="zh-CN" sz="1800" b="0" i="1" smtClean="0">
                            <a:solidFill>
                              <a:schemeClr val="tx1"/>
                            </a:solidFill>
                            <a:latin typeface="Cambria Math" panose="02040503050406030204" pitchFamily="18" charset="0"/>
                            <a:ea typeface="宋体" panose="02010600030101010101" pitchFamily="2" charset="-122"/>
                            <a:cs typeface="Times New Roman" panose="02020603050405020304" charset="0"/>
                          </a:rPr>
                          <m:t>𝑇</m:t>
                        </m:r>
                      </m:e>
                      <m:sub>
                        <m:r>
                          <a:rPr lang="en-US" altLang="zh-CN" sz="1800" b="0" i="1" smtClean="0">
                            <a:solidFill>
                              <a:schemeClr val="tx1"/>
                            </a:solidFill>
                            <a:latin typeface="Cambria Math" panose="02040503050406030204" pitchFamily="18" charset="0"/>
                            <a:ea typeface="宋体" panose="02010600030101010101" pitchFamily="2" charset="-122"/>
                            <a:cs typeface="Times New Roman" panose="02020603050405020304" charset="0"/>
                          </a:rPr>
                          <m:t>𝑘</m:t>
                        </m:r>
                        <m:r>
                          <a:rPr lang="en-US" altLang="zh-CN" sz="1800" b="0" i="1" smtClean="0">
                            <a:solidFill>
                              <a:schemeClr val="tx1"/>
                            </a:solidFill>
                            <a:latin typeface="Cambria Math" panose="02040503050406030204" pitchFamily="18" charset="0"/>
                            <a:ea typeface="宋体" panose="02010600030101010101" pitchFamily="2" charset="-122"/>
                            <a:cs typeface="Times New Roman" panose="02020603050405020304" charset="0"/>
                          </a:rPr>
                          <m:t>+1</m:t>
                        </m:r>
                      </m:sub>
                    </m:sSub>
                    <m:r>
                      <a:rPr lang="en-US" altLang="zh-CN" sz="1800" b="0" i="1" smtClean="0">
                        <a:solidFill>
                          <a:schemeClr val="tx1"/>
                        </a:solidFill>
                        <a:latin typeface="Cambria Math" panose="02040503050406030204" pitchFamily="18" charset="0"/>
                        <a:ea typeface="宋体" panose="02010600030101010101" pitchFamily="2" charset="-122"/>
                        <a:cs typeface="Times New Roman" panose="02020603050405020304" charset="0"/>
                      </a:rPr>
                      <m:t>=</m:t>
                    </m:r>
                    <m:r>
                      <a:rPr lang="en-US" altLang="zh-CN" sz="1800" b="0" i="1" smtClean="0">
                        <a:solidFill>
                          <a:schemeClr val="tx1"/>
                        </a:solidFill>
                        <a:latin typeface="Cambria Math" panose="02040503050406030204" pitchFamily="18" charset="0"/>
                        <a:ea typeface="宋体" panose="02010600030101010101" pitchFamily="2" charset="-122"/>
                        <a:cs typeface="Times New Roman" panose="02020603050405020304" charset="0"/>
                      </a:rPr>
                      <m:t>𝑎</m:t>
                    </m:r>
                    <m:sSub>
                      <m:sSubPr>
                        <m:ctrlPr>
                          <a:rPr lang="en-US" altLang="zh-CN" sz="1800" i="1">
                            <a:solidFill>
                              <a:schemeClr val="tx1"/>
                            </a:solidFill>
                            <a:latin typeface="Cambria Math" panose="02040503050406030204" pitchFamily="18" charset="0"/>
                            <a:ea typeface="宋体" panose="02010600030101010101" pitchFamily="2" charset="-122"/>
                            <a:cs typeface="Times New Roman" panose="02020603050405020304" charset="0"/>
                          </a:rPr>
                        </m:ctrlPr>
                      </m:sSubPr>
                      <m:e>
                        <m:r>
                          <a:rPr lang="en-US" altLang="zh-CN" sz="1800" i="1">
                            <a:solidFill>
                              <a:schemeClr val="tx1"/>
                            </a:solidFill>
                            <a:latin typeface="Cambria Math" panose="02040503050406030204" pitchFamily="18" charset="0"/>
                            <a:ea typeface="宋体" panose="02010600030101010101" pitchFamily="2" charset="-122"/>
                            <a:cs typeface="Times New Roman" panose="02020603050405020304" charset="0"/>
                          </a:rPr>
                          <m:t>𝑇</m:t>
                        </m:r>
                      </m:e>
                      <m:sub>
                        <m:r>
                          <a:rPr lang="en-US" altLang="zh-CN" sz="1800" i="1">
                            <a:solidFill>
                              <a:schemeClr val="tx1"/>
                            </a:solidFill>
                            <a:latin typeface="Cambria Math" panose="02040503050406030204" pitchFamily="18" charset="0"/>
                            <a:ea typeface="宋体" panose="02010600030101010101" pitchFamily="2" charset="-122"/>
                            <a:cs typeface="Times New Roman" panose="02020603050405020304" charset="0"/>
                          </a:rPr>
                          <m:t>𝑘</m:t>
                        </m:r>
                      </m:sub>
                    </m:sSub>
                  </m:oMath>
                </a14:m>
                <a:r>
                  <a:rPr lang="en-US" altLang="zh-CN" sz="1800" dirty="0">
                    <a:solidFill>
                      <a:schemeClr val="tx1"/>
                    </a:solidFill>
                    <a:latin typeface="Times New Roman" panose="02020603050405020304" charset="0"/>
                    <a:ea typeface="宋体" panose="02010600030101010101" pitchFamily="2" charset="-122"/>
                    <a:cs typeface="Times New Roman" panose="02020603050405020304" charset="0"/>
                  </a:rPr>
                  <a:t>,k=0</a:t>
                </a: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a:t>
                </a:r>
                <a:r>
                  <a:rPr lang="en-US" altLang="zh-CN" sz="1800" dirty="0">
                    <a:solidFill>
                      <a:schemeClr val="tx1"/>
                    </a:solidFill>
                    <a:latin typeface="Times New Roman" panose="02020603050405020304" charset="0"/>
                    <a:ea typeface="宋体" panose="02010600030101010101" pitchFamily="2" charset="-122"/>
                    <a:cs typeface="Times New Roman" panose="02020603050405020304" charset="0"/>
                  </a:rPr>
                  <a:t>1</a:t>
                </a: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a:t>
                </a:r>
                <a:r>
                  <a:rPr lang="en-US" altLang="zh-CN" sz="1800" dirty="0">
                    <a:solidFill>
                      <a:schemeClr val="tx1"/>
                    </a:solidFill>
                    <a:latin typeface="Times New Roman" panose="02020603050405020304" charset="0"/>
                    <a:ea typeface="宋体" panose="02010600030101010101" pitchFamily="2" charset="-122"/>
                    <a:cs typeface="Times New Roman" panose="02020603050405020304" charset="0"/>
                  </a:rPr>
                  <a:t>2……</a:t>
                </a:r>
                <a:endPar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endParaRPr>
              </a:p>
              <a:p>
                <a:pPr marL="0" indent="0">
                  <a:buNone/>
                </a:pP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其中</a:t>
                </a:r>
                <a14:m>
                  <m:oMath xmlns:m="http://schemas.openxmlformats.org/officeDocument/2006/math">
                    <m:r>
                      <a:rPr lang="en-US" altLang="zh-CN" sz="1800" b="0" i="1" smtClean="0">
                        <a:solidFill>
                          <a:schemeClr val="tx1"/>
                        </a:solidFill>
                        <a:latin typeface="Cambria Math" panose="02040503050406030204" pitchFamily="18" charset="0"/>
                        <a:ea typeface="宋体" panose="02010600030101010101" pitchFamily="2" charset="-122"/>
                        <a:cs typeface="Times New Roman" panose="02020603050405020304" charset="0"/>
                      </a:rPr>
                      <m:t>𝑎</m:t>
                    </m:r>
                  </m:oMath>
                </a14:m>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是一个接近</a:t>
                </a:r>
                <a:r>
                  <a:rPr lang="en-US" altLang="zh-CN" sz="1800" dirty="0">
                    <a:solidFill>
                      <a:schemeClr val="tx1"/>
                    </a:solidFill>
                    <a:latin typeface="Times New Roman" panose="02020603050405020304" charset="0"/>
                    <a:ea typeface="宋体" panose="02010600030101010101" pitchFamily="2" charset="-122"/>
                    <a:cs typeface="Times New Roman" panose="02020603050405020304" charset="0"/>
                  </a:rPr>
                  <a:t>1 </a:t>
                </a: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的常数，一般取</a:t>
                </a:r>
                <a:r>
                  <a:rPr lang="en-US" altLang="zh-CN" sz="1800" dirty="0">
                    <a:solidFill>
                      <a:schemeClr val="tx1"/>
                    </a:solidFill>
                    <a:latin typeface="Times New Roman" panose="02020603050405020304" charset="0"/>
                    <a:ea typeface="宋体" panose="02010600030101010101" pitchFamily="2" charset="-122"/>
                    <a:cs typeface="Times New Roman" panose="02020603050405020304" charset="0"/>
                  </a:rPr>
                  <a:t>0.5-0.99</a:t>
                </a:r>
              </a:p>
              <a:p>
                <a:pPr marL="0" indent="0">
                  <a:buNone/>
                </a:pP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该衰减函数对控制参数的衰减量是随算法进程递减的</a:t>
                </a:r>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49AE70B2-8BF9-45C0-BB95-33D1B9D3A854}" type="slidenum">
              <a:rPr lang="zh-CN" altLang="en-US" smtClean="0"/>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lang="zh-CN" altLang="en-US" sz="2800" dirty="0">
                <a:latin typeface="+mn-lt"/>
              </a:rPr>
              <a:t>伪代码</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13</a:t>
            </a:fld>
            <a:endParaRPr lang="zh-CN" altLang="en-US"/>
          </a:p>
        </p:txBody>
      </p:sp>
      <p:sp>
        <p:nvSpPr>
          <p:cNvPr id="9" name="文本框 8"/>
          <p:cNvSpPr txBox="1"/>
          <p:nvPr/>
        </p:nvSpPr>
        <p:spPr>
          <a:xfrm>
            <a:off x="610590" y="682089"/>
            <a:ext cx="6483926" cy="5632311"/>
          </a:xfrm>
          <a:prstGeom prst="rect">
            <a:avLst/>
          </a:prstGeom>
          <a:noFill/>
        </p:spPr>
        <p:txBody>
          <a:bodyPr wrap="square">
            <a:spAutoFit/>
          </a:bodyPr>
          <a:lstStyle/>
          <a:p>
            <a:r>
              <a:rPr lang="zh-CN" altLang="en-US" dirty="0"/>
              <a:t>求函数</a:t>
            </a:r>
            <a:r>
              <a:rPr lang="en-US" altLang="zh-CN" dirty="0"/>
              <a:t>f</a:t>
            </a:r>
            <a:r>
              <a:rPr lang="zh-CN" altLang="en-US" dirty="0"/>
              <a:t>（</a:t>
            </a:r>
            <a:r>
              <a:rPr lang="en-US" altLang="zh-CN" dirty="0"/>
              <a:t>x</a:t>
            </a:r>
            <a:r>
              <a:rPr lang="zh-CN" altLang="en-US" dirty="0"/>
              <a:t>）的最小值</a:t>
            </a:r>
          </a:p>
          <a:p>
            <a:r>
              <a:rPr lang="en-US" altLang="zh-CN" dirty="0"/>
              <a:t>T0:         </a:t>
            </a:r>
            <a:r>
              <a:rPr lang="zh-CN" altLang="en-US" dirty="0"/>
              <a:t>系统的初始温度（高温状态）</a:t>
            </a:r>
          </a:p>
          <a:p>
            <a:r>
              <a:rPr lang="en-US" altLang="zh-CN" dirty="0" err="1"/>
              <a:t>Tf</a:t>
            </a:r>
            <a:r>
              <a:rPr lang="en-US" altLang="zh-CN" dirty="0"/>
              <a:t>:      </a:t>
            </a:r>
            <a:r>
              <a:rPr lang="zh-CN" altLang="en-US" dirty="0"/>
              <a:t>温度的下限</a:t>
            </a:r>
          </a:p>
          <a:p>
            <a:r>
              <a:rPr lang="en-US" altLang="zh-CN" dirty="0"/>
              <a:t>rate:       </a:t>
            </a:r>
            <a:r>
              <a:rPr lang="zh-CN" altLang="en-US" dirty="0"/>
              <a:t>控制降温的速率</a:t>
            </a:r>
          </a:p>
          <a:p>
            <a:r>
              <a:rPr lang="en-US" altLang="zh-CN" dirty="0"/>
              <a:t>f(now)</a:t>
            </a:r>
            <a:r>
              <a:rPr lang="zh-CN" altLang="en-US" dirty="0"/>
              <a:t>：　　　   系统当前状态的评价函数值</a:t>
            </a:r>
          </a:p>
          <a:p>
            <a:r>
              <a:rPr lang="en-US" altLang="zh-CN" dirty="0"/>
              <a:t>f(new):</a:t>
            </a:r>
            <a:r>
              <a:rPr lang="zh-CN" altLang="en-US" dirty="0"/>
              <a:t>　 　　系统新状态的评价函数值</a:t>
            </a:r>
          </a:p>
          <a:p>
            <a:r>
              <a:rPr lang="zh-CN" altLang="en-US" dirty="0"/>
              <a:t> </a:t>
            </a:r>
          </a:p>
          <a:p>
            <a:r>
              <a:rPr lang="en-US" altLang="zh-CN" dirty="0"/>
              <a:t>while (T0 &gt; </a:t>
            </a:r>
            <a:r>
              <a:rPr lang="en-US" altLang="zh-CN" dirty="0" err="1"/>
              <a:t>Tf</a:t>
            </a:r>
            <a:r>
              <a:rPr lang="en-US" altLang="zh-CN" dirty="0"/>
              <a:t>)</a:t>
            </a:r>
          </a:p>
          <a:p>
            <a:r>
              <a:rPr lang="en-US" altLang="zh-CN" dirty="0"/>
              <a:t>{</a:t>
            </a:r>
          </a:p>
          <a:p>
            <a:r>
              <a:rPr lang="en-US" altLang="zh-CN" dirty="0"/>
              <a:t>    if f(new) - f(now) &lt; 0</a:t>
            </a:r>
          </a:p>
          <a:p>
            <a:r>
              <a:rPr lang="en-US" altLang="zh-CN" dirty="0"/>
              <a:t>    </a:t>
            </a:r>
            <a:r>
              <a:rPr lang="zh-CN" altLang="en-US" dirty="0"/>
              <a:t>　　</a:t>
            </a:r>
            <a:r>
              <a:rPr lang="en-US" altLang="zh-CN" dirty="0"/>
              <a:t>f(now) = f(new)</a:t>
            </a:r>
          </a:p>
          <a:p>
            <a:r>
              <a:rPr lang="en-US" altLang="zh-CN" dirty="0"/>
              <a:t>    else if (exp(f(new) - f(now) / T0) &gt; random(0,1))</a:t>
            </a:r>
          </a:p>
          <a:p>
            <a:r>
              <a:rPr lang="en-US" altLang="zh-CN" dirty="0"/>
              <a:t>    </a:t>
            </a:r>
            <a:r>
              <a:rPr lang="zh-CN" altLang="en-US" dirty="0"/>
              <a:t>　　</a:t>
            </a:r>
            <a:r>
              <a:rPr lang="en-US" altLang="zh-CN" dirty="0"/>
              <a:t>f(now) = f(new)</a:t>
            </a:r>
          </a:p>
          <a:p>
            <a:r>
              <a:rPr lang="en-US" altLang="zh-CN" dirty="0"/>
              <a:t>    else</a:t>
            </a:r>
          </a:p>
          <a:p>
            <a:r>
              <a:rPr lang="en-US" altLang="zh-CN" dirty="0"/>
              <a:t>    </a:t>
            </a:r>
            <a:r>
              <a:rPr lang="zh-CN" altLang="en-US" dirty="0"/>
              <a:t>　　不更新</a:t>
            </a:r>
            <a:r>
              <a:rPr lang="en-US" altLang="zh-CN" dirty="0"/>
              <a:t>f(now)</a:t>
            </a:r>
          </a:p>
          <a:p>
            <a:r>
              <a:rPr lang="en-US" altLang="zh-CN" dirty="0"/>
              <a:t>    T0 = T0 * rate;</a:t>
            </a:r>
          </a:p>
          <a:p>
            <a:r>
              <a:rPr lang="en-US" altLang="zh-CN" dirty="0"/>
              <a:t>    </a:t>
            </a:r>
            <a:r>
              <a:rPr lang="zh-CN" altLang="en-US" dirty="0"/>
              <a:t>更新状态</a:t>
            </a:r>
            <a:r>
              <a:rPr lang="en-US" altLang="zh-CN" dirty="0"/>
              <a:t>new        </a:t>
            </a:r>
            <a:r>
              <a:rPr lang="zh-CN" altLang="en-US" dirty="0"/>
              <a:t>　　　　　　　　</a:t>
            </a:r>
          </a:p>
          <a:p>
            <a:r>
              <a:rPr lang="en-US" altLang="zh-CN" dirty="0"/>
              <a:t>}</a:t>
            </a:r>
          </a:p>
          <a:p>
            <a:endParaRPr lang="en-US" altLang="zh-CN" dirty="0"/>
          </a:p>
          <a:p>
            <a:r>
              <a:rPr lang="zh-CN" altLang="en-US" dirty="0"/>
              <a:t>循环结束，得到模拟退火求得的最小值</a:t>
            </a:r>
            <a:r>
              <a:rPr lang="en-US" altLang="zh-CN" dirty="0"/>
              <a:t>f(now)</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lang="zh-CN" altLang="en-US" sz="2800" dirty="0">
                <a:latin typeface="+mn-lt"/>
              </a:rPr>
              <a:t>最值求解</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14</a:t>
            </a:fld>
            <a:endParaRPr lang="zh-CN" altLang="en-US"/>
          </a:p>
        </p:txBody>
      </p:sp>
      <p:pic>
        <p:nvPicPr>
          <p:cNvPr id="5" name="图片 4"/>
          <p:cNvPicPr>
            <a:picLocks noChangeAspect="1"/>
          </p:cNvPicPr>
          <p:nvPr/>
        </p:nvPicPr>
        <p:blipFill>
          <a:blip r:embed="rId3"/>
          <a:stretch>
            <a:fillRect/>
          </a:stretch>
        </p:blipFill>
        <p:spPr>
          <a:xfrm>
            <a:off x="681470" y="1078489"/>
            <a:ext cx="3028950" cy="447675"/>
          </a:xfrm>
          <a:prstGeom prst="rect">
            <a:avLst/>
          </a:prstGeom>
        </p:spPr>
      </p:pic>
      <p:graphicFrame>
        <p:nvGraphicFramePr>
          <p:cNvPr id="8" name="对象 7"/>
          <p:cNvGraphicFramePr>
            <a:graphicFrameLocks noChangeAspect="1"/>
          </p:cNvGraphicFramePr>
          <p:nvPr/>
        </p:nvGraphicFramePr>
        <p:xfrm>
          <a:off x="734867" y="1787958"/>
          <a:ext cx="799297" cy="345642"/>
        </p:xfrm>
        <a:graphic>
          <a:graphicData uri="http://schemas.openxmlformats.org/presentationml/2006/ole">
            <mc:AlternateContent xmlns:mc="http://schemas.openxmlformats.org/markup-compatibility/2006">
              <mc:Choice xmlns:v="urn:schemas-microsoft-com:vml" Requires="v">
                <p:oleObj name="Equation" r:id="rId4" imgW="11277600" imgH="4876800" progId="Equation.DSMT4">
                  <p:embed/>
                </p:oleObj>
              </mc:Choice>
              <mc:Fallback>
                <p:oleObj name="Equation" r:id="rId4" imgW="11277600" imgH="4876800" progId="Equation.DSMT4">
                  <p:embed/>
                  <p:pic>
                    <p:nvPicPr>
                      <p:cNvPr id="0" name="图片 2"/>
                      <p:cNvPicPr/>
                      <p:nvPr/>
                    </p:nvPicPr>
                    <p:blipFill>
                      <a:blip r:embed="rId5"/>
                      <a:stretch>
                        <a:fillRect/>
                      </a:stretch>
                    </p:blipFill>
                    <p:spPr>
                      <a:xfrm>
                        <a:off x="734867" y="1787958"/>
                        <a:ext cx="799297" cy="345642"/>
                      </a:xfrm>
                      <a:prstGeom prst="rect">
                        <a:avLst/>
                      </a:prstGeom>
                    </p:spPr>
                  </p:pic>
                </p:oleObj>
              </mc:Fallback>
            </mc:AlternateContent>
          </a:graphicData>
        </a:graphic>
      </p:graphicFrame>
      <p:pic>
        <p:nvPicPr>
          <p:cNvPr id="12" name="图片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5064" y="2258291"/>
            <a:ext cx="5264726" cy="3948544"/>
          </a:xfrm>
          <a:prstGeom prst="rect">
            <a:avLst/>
          </a:prstGeom>
        </p:spPr>
      </p:pic>
      <p:sp>
        <p:nvSpPr>
          <p:cNvPr id="14" name="文本框 13"/>
          <p:cNvSpPr txBox="1"/>
          <p:nvPr/>
        </p:nvSpPr>
        <p:spPr>
          <a:xfrm>
            <a:off x="5303682" y="651165"/>
            <a:ext cx="6483926" cy="5631180"/>
          </a:xfrm>
          <a:prstGeom prst="rect">
            <a:avLst/>
          </a:prstGeom>
          <a:noFill/>
        </p:spPr>
        <p:txBody>
          <a:bodyPr wrap="square">
            <a:spAutoFit/>
          </a:bodyPr>
          <a:lstStyle/>
          <a:p>
            <a:r>
              <a:rPr lang="en-US" altLang="zh-CN"/>
              <a:t>from __future__ import division</a:t>
            </a:r>
          </a:p>
          <a:p>
            <a:r>
              <a:rPr lang="en-US" altLang="zh-CN"/>
              <a:t>import numpy as np</a:t>
            </a:r>
          </a:p>
          <a:p>
            <a:r>
              <a:rPr lang="en-US" altLang="zh-CN"/>
              <a:t>import matplotlib.pyplot as plt</a:t>
            </a:r>
          </a:p>
          <a:p>
            <a:r>
              <a:rPr lang="en-US" altLang="zh-CN"/>
              <a:t>import math</a:t>
            </a:r>
          </a:p>
          <a:p>
            <a:endParaRPr lang="en-US" altLang="zh-CN"/>
          </a:p>
          <a:p>
            <a:r>
              <a:rPr lang="en-US" altLang="zh-CN"/>
              <a:t>def objective_func(x):</a:t>
            </a:r>
          </a:p>
          <a:p>
            <a:r>
              <a:rPr lang="en-US" altLang="zh-CN"/>
              <a:t>    """目标函数：y = x³ - 60x² -4x +6"""</a:t>
            </a:r>
          </a:p>
          <a:p>
            <a:r>
              <a:rPr lang="en-US" altLang="zh-CN"/>
              <a:t>    return x**3 - 60*x**2 - 4*x + 6</a:t>
            </a:r>
          </a:p>
          <a:p>
            <a:r>
              <a:rPr lang="en-US" altLang="zh-CN"/>
              <a:t># 参数设置</a:t>
            </a:r>
          </a:p>
          <a:p>
            <a:r>
              <a:rPr lang="en-US" altLang="zh-CN"/>
              <a:t>INIT_TEMP = 1000    # 初始温度</a:t>
            </a:r>
          </a:p>
          <a:p>
            <a:r>
              <a:rPr lang="en-US" altLang="zh-CN"/>
              <a:t>MIN_TEMP = 10       # 终止温度</a:t>
            </a:r>
          </a:p>
          <a:p>
            <a:r>
              <a:rPr lang="en-US" altLang="zh-CN"/>
              <a:t>COOL_RATE = 1       # 降温速率控制参数(原代码的降温函数参数)</a:t>
            </a:r>
          </a:p>
          <a:p>
            <a:r>
              <a:rPr lang="en-US" altLang="zh-CN"/>
              <a:t>NUM_ITER = 50       # 每个温度下的迭代次数</a:t>
            </a:r>
          </a:p>
          <a:p>
            <a:r>
              <a:rPr lang="en-US" altLang="zh-CN"/>
              <a:t>SEARCH_SPACE = (0, 100)  # 搜索空间</a:t>
            </a:r>
          </a:p>
          <a:p>
            <a:r>
              <a:rPr lang="en-US" altLang="zh-CN"/>
              <a:t># 可视化目标函数</a:t>
            </a:r>
          </a:p>
          <a:p>
            <a:r>
              <a:rPr lang="en-US" altLang="zh-CN"/>
              <a:t>x_vals = np.linspace(SEARCH_SPACE[0], SEARCH_SPACE[1], 1000)</a:t>
            </a:r>
          </a:p>
          <a:p>
            <a:r>
              <a:rPr lang="en-US" altLang="zh-CN"/>
              <a:t>y_vals = objective_func(x_vals)</a:t>
            </a:r>
          </a:p>
          <a:p>
            <a:r>
              <a:rPr lang="en-US" altLang="zh-CN"/>
              <a:t>plt.plot(x_vals, y_vals, label='Objective Function')</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lang="zh-CN" altLang="en-US" sz="2800" dirty="0">
                <a:latin typeface="+mn-lt"/>
              </a:rPr>
              <a:t>最值求解</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15</a:t>
            </a:fld>
            <a:endParaRPr lang="zh-CN" altLang="en-US"/>
          </a:p>
        </p:txBody>
      </p:sp>
      <p:sp>
        <p:nvSpPr>
          <p:cNvPr id="11" name="文本框 10"/>
          <p:cNvSpPr txBox="1"/>
          <p:nvPr/>
        </p:nvSpPr>
        <p:spPr>
          <a:xfrm>
            <a:off x="328295" y="723265"/>
            <a:ext cx="5880100" cy="5908040"/>
          </a:xfrm>
          <a:prstGeom prst="rect">
            <a:avLst/>
          </a:prstGeom>
          <a:noFill/>
        </p:spPr>
        <p:txBody>
          <a:bodyPr wrap="square">
            <a:spAutoFit/>
          </a:bodyPr>
          <a:lstStyle/>
          <a:p>
            <a:r>
              <a:rPr lang="en-US" altLang="zh-CN"/>
              <a:t>def simulated_annealing():</a:t>
            </a:r>
          </a:p>
          <a:p>
            <a:r>
              <a:rPr lang="en-US" altLang="zh-CN"/>
              <a:t>    """模拟退火算法实现"""</a:t>
            </a:r>
          </a:p>
          <a:p>
            <a:r>
              <a:rPr lang="en-US" altLang="zh-CN"/>
              <a:t>    # 初始化</a:t>
            </a:r>
          </a:p>
          <a:p>
            <a:r>
              <a:rPr lang="en-US" altLang="zh-CN"/>
              <a:t>    current_temp = INIT_TEMP</a:t>
            </a:r>
          </a:p>
          <a:p>
            <a:r>
              <a:rPr lang="en-US" altLang="zh-CN"/>
              <a:t>    current_x = np.random.uniform(*SEARCH_SPACE)  # 初始解</a:t>
            </a:r>
          </a:p>
          <a:p>
            <a:r>
              <a:rPr lang="en-US" altLang="zh-CN"/>
              <a:t>    best_x = current_x</a:t>
            </a:r>
          </a:p>
          <a:p>
            <a:r>
              <a:rPr lang="en-US" altLang="zh-CN"/>
              <a:t>    best_y = objective_func(best_x)</a:t>
            </a:r>
          </a:p>
          <a:p>
            <a:r>
              <a:rPr lang="en-US" altLang="zh-CN"/>
              <a:t>    history = []  # 记录优化过程</a:t>
            </a:r>
          </a:p>
          <a:p>
            <a:r>
              <a:rPr lang="en-US" altLang="zh-CN">
                <a:sym typeface="+mn-ea"/>
              </a:rPr>
              <a:t>    while current_temp &gt;= MIN_TEMP:</a:t>
            </a:r>
            <a:endParaRPr lang="en-US" altLang="zh-CN"/>
          </a:p>
          <a:p>
            <a:r>
              <a:rPr lang="en-US" altLang="zh-CN">
                <a:sym typeface="+mn-ea"/>
              </a:rPr>
              <a:t>        for _ in range(NUM_ITER):</a:t>
            </a:r>
            <a:endParaRPr lang="en-US" altLang="zh-CN"/>
          </a:p>
          <a:p>
            <a:r>
              <a:rPr lang="en-US" altLang="zh-CN">
                <a:sym typeface="+mn-ea"/>
              </a:rPr>
              <a:t>            # 生成邻域解</a:t>
            </a:r>
            <a:endParaRPr lang="en-US" altLang="zh-CN"/>
          </a:p>
          <a:p>
            <a:r>
              <a:rPr lang="en-US" altLang="zh-CN">
                <a:sym typeface="+mn-ea"/>
              </a:rPr>
              <a:t>            delta = np.random.uniform(-0.055, 0.055) * current_temp</a:t>
            </a:r>
            <a:endParaRPr lang="en-US" altLang="zh-CN"/>
          </a:p>
          <a:p>
            <a:r>
              <a:rPr lang="en-US" altLang="zh-CN">
                <a:sym typeface="+mn-ea"/>
              </a:rPr>
              <a:t>            new_x = current_x + delta    </a:t>
            </a:r>
            <a:endParaRPr lang="en-US" altLang="zh-CN"/>
          </a:p>
          <a:p>
            <a:r>
              <a:rPr lang="en-US" altLang="zh-CN">
                <a:sym typeface="+mn-ea"/>
              </a:rPr>
              <a:t>            # 边界处理</a:t>
            </a:r>
            <a:endParaRPr lang="en-US" altLang="zh-CN"/>
          </a:p>
          <a:p>
            <a:r>
              <a:rPr lang="en-US" altLang="zh-CN">
                <a:sym typeface="+mn-ea"/>
              </a:rPr>
              <a:t>            new_x = np.clip(new_x, *SEARCH_SPACE)</a:t>
            </a:r>
            <a:endParaRPr lang="en-US" altLang="zh-CN"/>
          </a:p>
          <a:p>
            <a:r>
              <a:rPr lang="en-US" altLang="zh-CN">
                <a:sym typeface="+mn-ea"/>
              </a:rPr>
              <a:t>            new_y = objective_func(new_x)</a:t>
            </a:r>
            <a:endParaRPr lang="en-US" altLang="zh-CN"/>
          </a:p>
          <a:p>
            <a:r>
              <a:rPr lang="en-US" altLang="zh-CN">
                <a:sym typeface="+mn-ea"/>
              </a:rPr>
              <a:t>            # 计算能量差</a:t>
            </a:r>
            <a:endParaRPr lang="en-US" altLang="zh-CN"/>
          </a:p>
          <a:p>
            <a:r>
              <a:rPr lang="en-US" altLang="zh-CN">
                <a:sym typeface="+mn-ea"/>
              </a:rPr>
              <a:t>            delta_energy = new_y - objective_func(current_x)</a:t>
            </a:r>
            <a:endParaRPr lang="en-US" altLang="zh-CN"/>
          </a:p>
          <a:p>
            <a:endParaRPr lang="en-US" altLang="zh-CN"/>
          </a:p>
        </p:txBody>
      </p:sp>
      <p:sp>
        <p:nvSpPr>
          <p:cNvPr id="13" name="文本框 12"/>
          <p:cNvSpPr txBox="1"/>
          <p:nvPr/>
        </p:nvSpPr>
        <p:spPr>
          <a:xfrm>
            <a:off x="6064250" y="705485"/>
            <a:ext cx="6323330" cy="5631180"/>
          </a:xfrm>
          <a:prstGeom prst="rect">
            <a:avLst/>
          </a:prstGeom>
          <a:noFill/>
        </p:spPr>
        <p:txBody>
          <a:bodyPr wrap="square">
            <a:spAutoFit/>
          </a:bodyPr>
          <a:lstStyle/>
          <a:p>
            <a:endParaRPr lang="en-US" altLang="zh-CN"/>
          </a:p>
          <a:p>
            <a:r>
              <a:rPr lang="en-US" altLang="zh-CN"/>
              <a:t>            # Metropolis准则</a:t>
            </a:r>
          </a:p>
          <a:p>
            <a:r>
              <a:rPr lang="en-US" altLang="zh-CN"/>
              <a:t>            if delta_energy &lt; 0 or \</a:t>
            </a:r>
          </a:p>
          <a:p>
            <a:r>
              <a:rPr lang="en-US" altLang="zh-CN"/>
              <a:t>               np.random.rand() &lt; math.exp(-delta_energy/current_temp):</a:t>
            </a:r>
          </a:p>
          <a:p>
            <a:r>
              <a:rPr lang="en-US" altLang="zh-CN"/>
              <a:t>                current_x = new_x</a:t>
            </a:r>
          </a:p>
          <a:p>
            <a:r>
              <a:rPr lang="en-US" altLang="zh-CN"/>
              <a:t>                </a:t>
            </a:r>
          </a:p>
          <a:p>
            <a:r>
              <a:rPr lang="en-US" altLang="zh-CN"/>
              <a:t>                # 更新历史最佳解</a:t>
            </a:r>
          </a:p>
          <a:p>
            <a:r>
              <a:rPr lang="en-US" altLang="zh-CN"/>
              <a:t>                if new_y &lt; best_y:</a:t>
            </a:r>
          </a:p>
          <a:p>
            <a:r>
              <a:rPr lang="en-US" altLang="zh-CN"/>
              <a:t>                    best_x = new_x</a:t>
            </a:r>
          </a:p>
          <a:p>
            <a:r>
              <a:rPr lang="en-US" altLang="zh-CN"/>
              <a:t>                    best_y = new_y</a:t>
            </a:r>
          </a:p>
          <a:p>
            <a:endParaRPr lang="en-US" altLang="zh-CN"/>
          </a:p>
          <a:p>
            <a:r>
              <a:rPr lang="en-US" altLang="zh-CN"/>
              <a:t>        # 记录当前状态</a:t>
            </a:r>
          </a:p>
          <a:p>
            <a:r>
              <a:rPr lang="en-US" altLang="zh-CN"/>
              <a:t>        history.append((current_temp, best_x, best_y))</a:t>
            </a:r>
          </a:p>
          <a:p>
            <a:r>
              <a:rPr lang="en-US" altLang="zh-CN"/>
              <a:t>        </a:t>
            </a:r>
          </a:p>
          <a:p>
            <a:r>
              <a:rPr lang="en-US" altLang="zh-CN"/>
              <a:t>        # 降温过程</a:t>
            </a:r>
          </a:p>
          <a:p>
            <a:r>
              <a:rPr lang="en-US" altLang="zh-CN"/>
              <a:t>        current_temp = INIT_TEMP / (1 + COOL_RATE*len(history))</a:t>
            </a:r>
          </a:p>
          <a:p>
            <a:r>
              <a:rPr lang="en-US" altLang="zh-CN"/>
              <a:t>        </a:t>
            </a:r>
          </a:p>
          <a:p>
            <a:r>
              <a:rPr lang="en-US" altLang="zh-CN"/>
              <a:t>    return best_x, best_y, history</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lang="zh-CN" altLang="en-US" sz="2800" dirty="0">
                <a:latin typeface="+mn-lt"/>
              </a:rPr>
              <a:t>最值求解</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16</a:t>
            </a:fld>
            <a:endParaRPr lang="zh-CN" altLang="en-US"/>
          </a:p>
        </p:txBody>
      </p:sp>
      <p:pic>
        <p:nvPicPr>
          <p:cNvPr id="5" name="图片 4"/>
          <p:cNvPicPr>
            <a:picLocks noChangeAspect="1"/>
          </p:cNvPicPr>
          <p:nvPr/>
        </p:nvPicPr>
        <p:blipFill>
          <a:blip r:embed="rId3"/>
          <a:stretch>
            <a:fillRect/>
          </a:stretch>
        </p:blipFill>
        <p:spPr>
          <a:xfrm>
            <a:off x="8039850" y="976254"/>
            <a:ext cx="3028950" cy="447675"/>
          </a:xfrm>
          <a:prstGeom prst="rect">
            <a:avLst/>
          </a:prstGeom>
        </p:spPr>
      </p:pic>
      <p:pic>
        <p:nvPicPr>
          <p:cNvPr id="9" name="图片 8"/>
          <p:cNvPicPr>
            <a:picLocks noChangeAspect="1"/>
          </p:cNvPicPr>
          <p:nvPr/>
        </p:nvPicPr>
        <p:blipFill>
          <a:blip r:embed="rId4"/>
          <a:stretch>
            <a:fillRect/>
          </a:stretch>
        </p:blipFill>
        <p:spPr>
          <a:xfrm>
            <a:off x="7174230" y="1818640"/>
            <a:ext cx="4759960" cy="3629025"/>
          </a:xfrm>
          <a:prstGeom prst="rect">
            <a:avLst/>
          </a:prstGeom>
        </p:spPr>
      </p:pic>
      <p:sp>
        <p:nvSpPr>
          <p:cNvPr id="11" name="文本框 10"/>
          <p:cNvSpPr txBox="1"/>
          <p:nvPr/>
        </p:nvSpPr>
        <p:spPr>
          <a:xfrm>
            <a:off x="551342" y="705775"/>
            <a:ext cx="6483926" cy="5631180"/>
          </a:xfrm>
          <a:prstGeom prst="rect">
            <a:avLst/>
          </a:prstGeom>
          <a:noFill/>
        </p:spPr>
        <p:txBody>
          <a:bodyPr wrap="square">
            <a:spAutoFit/>
          </a:bodyPr>
          <a:lstStyle/>
          <a:p>
            <a:r>
              <a:rPr lang="en-US" altLang="zh-CN"/>
              <a:t>f# 运行算法</a:t>
            </a:r>
          </a:p>
          <a:p>
            <a:r>
              <a:rPr lang="en-US" altLang="zh-CN"/>
              <a:t>optimal_x, optimal_y, process = simulated_annealing()</a:t>
            </a:r>
          </a:p>
          <a:p>
            <a:endParaRPr lang="en-US" altLang="zh-CN"/>
          </a:p>
          <a:p>
            <a:r>
              <a:rPr lang="en-US" altLang="zh-CN"/>
              <a:t># 可视化结果</a:t>
            </a:r>
          </a:p>
          <a:p>
            <a:r>
              <a:rPr lang="en-US" altLang="zh-CN"/>
              <a:t>plt.scatter(optimal_x, optimal_y, c='red', s=100, </a:t>
            </a:r>
          </a:p>
          <a:p>
            <a:r>
              <a:rPr lang="en-US" altLang="zh-CN"/>
              <a:t>           label=f'Optimal (x={optimal_x:.2f}, y={optimal_y:.2f})')</a:t>
            </a:r>
          </a:p>
          <a:p>
            <a:r>
              <a:rPr lang="en-US" altLang="zh-CN"/>
              <a:t>plt.xlabel('x')</a:t>
            </a:r>
          </a:p>
          <a:p>
            <a:r>
              <a:rPr lang="en-US" altLang="zh-CN"/>
              <a:t>plt.ylabel('y')</a:t>
            </a:r>
          </a:p>
          <a:p>
            <a:r>
              <a:rPr lang="en-US" altLang="zh-CN"/>
              <a:t>plt.title('Simulated Annealing Optimization')</a:t>
            </a:r>
          </a:p>
          <a:p>
            <a:r>
              <a:rPr lang="en-US" altLang="zh-CN"/>
              <a:t>plt.legend()</a:t>
            </a:r>
          </a:p>
          <a:p>
            <a:r>
              <a:rPr lang="en-US" altLang="zh-CN"/>
              <a:t>plt.grid(True)</a:t>
            </a:r>
          </a:p>
          <a:p>
            <a:r>
              <a:rPr lang="en-US" altLang="zh-CN"/>
              <a:t>plt.show()</a:t>
            </a:r>
          </a:p>
          <a:p>
            <a:endParaRPr lang="en-US" altLang="zh-CN"/>
          </a:p>
          <a:p>
            <a:r>
              <a:rPr lang="en-US" altLang="zh-CN"/>
              <a:t># 输出最终结果</a:t>
            </a:r>
          </a:p>
          <a:p>
            <a:r>
              <a:rPr lang="en-US" altLang="zh-CN"/>
              <a:t>print(f"全局最优解: x = {optimal_x:.4f}, y = {optimal_y:.4f}")</a:t>
            </a:r>
          </a:p>
          <a:p>
            <a:endParaRPr lang="en-US" altLang="zh-CN"/>
          </a:p>
          <a:p>
            <a:r>
              <a:rPr lang="en-US" altLang="zh-CN"/>
              <a:t># 打印优化过程（可选）</a:t>
            </a:r>
          </a:p>
          <a:p>
            <a:r>
              <a:rPr lang="en-US" altLang="zh-CN"/>
              <a:t>print("\n优化过程记录:")</a:t>
            </a:r>
          </a:p>
          <a:p>
            <a:r>
              <a:rPr lang="en-US" altLang="zh-CN"/>
              <a:t>for temp, x, y in process[-5:]:  # 显示最后5次迭代</a:t>
            </a:r>
          </a:p>
          <a:p>
            <a:r>
              <a:rPr lang="en-US" altLang="zh-CN"/>
              <a:t>    print(f"Temp: {temp:.2f}  x: {x:.2f}  y: {y:.2f}")</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总结</a:t>
            </a:r>
          </a:p>
        </p:txBody>
      </p:sp>
      <p:sp>
        <p:nvSpPr>
          <p:cNvPr id="3" name="内容占位符 2"/>
          <p:cNvSpPr>
            <a:spLocks noGrp="1"/>
          </p:cNvSpPr>
          <p:nvPr>
            <p:ph idx="1"/>
          </p:nvPr>
        </p:nvSpPr>
        <p:spPr>
          <a:xfrm>
            <a:off x="608330" y="858520"/>
            <a:ext cx="10972800" cy="4810125"/>
          </a:xfrm>
        </p:spPr>
        <p:txBody>
          <a:bodyPr>
            <a:normAutofit lnSpcReduction="10000"/>
          </a:bodyPr>
          <a:lstStyle/>
          <a:p>
            <a:pPr marL="0" indent="0">
              <a:buNone/>
            </a:pPr>
            <a:r>
              <a:rPr lang="zh-CN" altLang="en-US" b="1" dirty="0">
                <a:solidFill>
                  <a:srgbClr val="FF0000"/>
                </a:solidFill>
                <a:latin typeface="宋体" panose="02010600030101010101" pitchFamily="2" charset="-122"/>
                <a:ea typeface="宋体" panose="02010600030101010101" pitchFamily="2" charset="-122"/>
              </a:rPr>
              <a:t>补充</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0" indent="0">
              <a:buNone/>
            </a:pP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模拟退火算法与初始值无关，算法求得的解与初始解状态</a:t>
            </a:r>
            <a:r>
              <a:rPr lang="en-US" altLang="zh-CN" sz="1800" dirty="0">
                <a:solidFill>
                  <a:schemeClr val="tx1"/>
                </a:solidFill>
                <a:latin typeface="Times New Roman" panose="02020603050405020304" charset="0"/>
                <a:ea typeface="宋体" panose="02010600030101010101" pitchFamily="2" charset="-122"/>
                <a:cs typeface="Times New Roman" panose="02020603050405020304" charset="0"/>
              </a:rPr>
              <a:t>S(</a:t>
            </a: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是算法迭代的起点</a:t>
            </a:r>
            <a:r>
              <a:rPr lang="en-US" altLang="zh-CN" sz="1800" dirty="0">
                <a:solidFill>
                  <a:schemeClr val="tx1"/>
                </a:solidFill>
                <a:latin typeface="Times New Roman" panose="02020603050405020304" charset="0"/>
                <a:ea typeface="宋体" panose="02010600030101010101" pitchFamily="2" charset="-122"/>
                <a:cs typeface="Times New Roman" panose="02020603050405020304" charset="0"/>
              </a:rPr>
              <a:t>)</a:t>
            </a: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无关，也就是说，即使从一个较差的初始点出发，仍能通过退火过程逐渐收敛到全局最优解。</a:t>
            </a:r>
          </a:p>
          <a:p>
            <a:pPr marL="0" indent="0">
              <a:buNone/>
            </a:pP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严格成立需要满足无限慢降温：</a:t>
            </a:r>
          </a:p>
          <a:p>
            <a:pPr marL="0" indent="0">
              <a:buNone/>
            </a:pP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其中，C 表示能量差的最大值​（或目标函数变化的量级），即：</a:t>
            </a:r>
          </a:p>
          <a:p>
            <a:pPr marL="0" indent="0">
              <a:buNone/>
            </a:pPr>
            <a:r>
              <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rPr>
              <a:t>S 是解空间</a:t>
            </a:r>
          </a:p>
          <a:p>
            <a:pPr marL="0" indent="0">
              <a:buNone/>
            </a:pPr>
            <a:endPar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17</a:t>
            </a:fld>
            <a:endParaRPr lang="zh-CN" altLang="en-US"/>
          </a:p>
        </p:txBody>
      </p:sp>
      <p:pic>
        <p:nvPicPr>
          <p:cNvPr id="9" name="图片 8"/>
          <p:cNvPicPr>
            <a:picLocks noChangeAspect="1"/>
          </p:cNvPicPr>
          <p:nvPr/>
        </p:nvPicPr>
        <p:blipFill>
          <a:blip r:embed="rId2"/>
          <a:stretch>
            <a:fillRect/>
          </a:stretch>
        </p:blipFill>
        <p:spPr>
          <a:xfrm>
            <a:off x="4114800" y="2158365"/>
            <a:ext cx="2583815" cy="496570"/>
          </a:xfrm>
          <a:prstGeom prst="rect">
            <a:avLst/>
          </a:prstGeom>
        </p:spPr>
      </p:pic>
      <p:pic>
        <p:nvPicPr>
          <p:cNvPr id="10" name="图片 9"/>
          <p:cNvPicPr>
            <a:picLocks noChangeAspect="1"/>
          </p:cNvPicPr>
          <p:nvPr/>
        </p:nvPicPr>
        <p:blipFill>
          <a:blip r:embed="rId3"/>
          <a:stretch>
            <a:fillRect/>
          </a:stretch>
        </p:blipFill>
        <p:spPr>
          <a:xfrm>
            <a:off x="7526020" y="2488565"/>
            <a:ext cx="2626995" cy="885190"/>
          </a:xfrm>
          <a:prstGeom prst="rect">
            <a:avLst/>
          </a:prstGeom>
        </p:spPr>
      </p:pic>
      <p:pic>
        <p:nvPicPr>
          <p:cNvPr id="11" name="图片 10"/>
          <p:cNvPicPr>
            <a:picLocks noChangeAspect="1"/>
          </p:cNvPicPr>
          <p:nvPr/>
        </p:nvPicPr>
        <p:blipFill>
          <a:blip r:embed="rId4"/>
          <a:stretch>
            <a:fillRect/>
          </a:stretch>
        </p:blipFill>
        <p:spPr>
          <a:xfrm>
            <a:off x="679450" y="3545205"/>
            <a:ext cx="3735705" cy="5486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总结</a:t>
            </a:r>
          </a:p>
        </p:txBody>
      </p:sp>
      <p:sp>
        <p:nvSpPr>
          <p:cNvPr id="3" name="内容占位符 2"/>
          <p:cNvSpPr>
            <a:spLocks noGrp="1"/>
          </p:cNvSpPr>
          <p:nvPr>
            <p:ph idx="1"/>
          </p:nvPr>
        </p:nvSpPr>
        <p:spPr>
          <a:xfrm>
            <a:off x="608330" y="858520"/>
            <a:ext cx="10972800" cy="2263140"/>
          </a:xfrm>
        </p:spPr>
        <p:txBody>
          <a:bodyPr/>
          <a:lstStyle/>
          <a:p>
            <a:pPr marL="0" indent="0">
              <a:buNone/>
            </a:pPr>
            <a:r>
              <a:rPr lang="zh-CN" altLang="en-US" b="1" dirty="0">
                <a:solidFill>
                  <a:srgbClr val="FF0000"/>
                </a:solidFill>
                <a:latin typeface="宋体" panose="02010600030101010101" pitchFamily="2" charset="-122"/>
                <a:ea typeface="宋体" panose="02010600030101010101" pitchFamily="2" charset="-122"/>
              </a:rPr>
              <a:t>补充</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0" indent="0">
              <a:buNone/>
            </a:pPr>
            <a:r>
              <a:rPr sz="1800" dirty="0">
                <a:solidFill>
                  <a:schemeClr val="tx1"/>
                </a:solidFill>
                <a:latin typeface="Times New Roman" panose="02020603050405020304" charset="0"/>
                <a:ea typeface="宋体" panose="02010600030101010101" pitchFamily="2" charset="-122"/>
                <a:cs typeface="Times New Roman" panose="02020603050405020304" charset="0"/>
              </a:rPr>
              <a:t>当退火计划满足一定条件时，模拟退火算法能以概率1收敛到全局最优解，即：</a:t>
            </a:r>
            <a:endParaRPr lang="zh-CN" altLang="en-US" sz="1800" dirty="0">
              <a:solidFill>
                <a:schemeClr val="tx1"/>
              </a:solidFill>
              <a:latin typeface="Times New Roman" panose="02020603050405020304" charset="0"/>
              <a:ea typeface="宋体" panose="02010600030101010101" pitchFamily="2" charset="-122"/>
              <a:cs typeface="Times New Roman" panose="02020603050405020304" charset="0"/>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18</a:t>
            </a:fld>
            <a:endParaRPr lang="zh-CN" altLang="en-US"/>
          </a:p>
        </p:txBody>
      </p:sp>
      <p:sp>
        <p:nvSpPr>
          <p:cNvPr id="6" name="内容占位符 2"/>
          <p:cNvSpPr>
            <a:spLocks noGrp="1"/>
          </p:cNvSpPr>
          <p:nvPr/>
        </p:nvSpPr>
        <p:spPr>
          <a:xfrm>
            <a:off x="612140" y="3121660"/>
            <a:ext cx="10972800" cy="226314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2400" u="none" strike="noStrike" kern="1200" cap="none" spc="150" normalizeH="0" baseline="0">
                <a:solidFill>
                  <a:srgbClr val="002060"/>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2000" u="none" strike="noStrike" kern="1200" cap="none" spc="150" normalizeH="0" baseline="0">
                <a:solidFill>
                  <a:srgbClr val="002060"/>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2000" u="none" strike="noStrike" kern="1200" cap="none" spc="150" normalizeH="0" baseline="0">
                <a:solidFill>
                  <a:srgbClr val="002060"/>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800" u="none" strike="noStrike" kern="1200" cap="none" spc="150" normalizeH="0" baseline="0">
                <a:solidFill>
                  <a:srgbClr val="002060"/>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800" u="none" strike="noStrike" kern="1200" cap="none" spc="150" normalizeH="0" baseline="0">
                <a:solidFill>
                  <a:srgbClr val="002060"/>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sz="1800" dirty="0">
                <a:solidFill>
                  <a:schemeClr val="tx1"/>
                </a:solidFill>
                <a:latin typeface="Times New Roman" panose="02020603050405020304" charset="0"/>
                <a:ea typeface="宋体" panose="02010600030101010101" pitchFamily="2" charset="-122"/>
                <a:cs typeface="Times New Roman" panose="02020603050405020304" charset="0"/>
              </a:rPr>
              <a:t>条件为：</a:t>
            </a:r>
            <a:endParaRPr lang="en-US" altLang="zh-CN" sz="1800" dirty="0">
              <a:solidFill>
                <a:schemeClr val="tx1"/>
              </a:solidFill>
              <a:latin typeface="Times New Roman" panose="02020603050405020304" charset="0"/>
              <a:ea typeface="宋体" panose="02010600030101010101" pitchFamily="2" charset="-122"/>
              <a:cs typeface="Times New Roman" panose="02020603050405020304" charset="0"/>
            </a:endParaRPr>
          </a:p>
        </p:txBody>
      </p:sp>
      <p:pic>
        <p:nvPicPr>
          <p:cNvPr id="5" name="图片 4"/>
          <p:cNvPicPr>
            <a:picLocks noChangeAspect="1"/>
          </p:cNvPicPr>
          <p:nvPr/>
        </p:nvPicPr>
        <p:blipFill>
          <a:blip r:embed="rId2"/>
          <a:stretch>
            <a:fillRect/>
          </a:stretch>
        </p:blipFill>
        <p:spPr>
          <a:xfrm>
            <a:off x="3973195" y="2167255"/>
            <a:ext cx="3564255" cy="718185"/>
          </a:xfrm>
          <a:prstGeom prst="rect">
            <a:avLst/>
          </a:prstGeom>
        </p:spPr>
      </p:pic>
      <p:pic>
        <p:nvPicPr>
          <p:cNvPr id="10" name="图片 9"/>
          <p:cNvPicPr>
            <a:picLocks noChangeAspect="1"/>
          </p:cNvPicPr>
          <p:nvPr/>
        </p:nvPicPr>
        <p:blipFill>
          <a:blip r:embed="rId3"/>
          <a:stretch>
            <a:fillRect/>
          </a:stretch>
        </p:blipFill>
        <p:spPr>
          <a:xfrm>
            <a:off x="1703070" y="3121660"/>
            <a:ext cx="2339340" cy="5918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应用</a:t>
            </a:r>
          </a:p>
        </p:txBody>
      </p:sp>
      <p:sp>
        <p:nvSpPr>
          <p:cNvPr id="3" name="内容占位符 2"/>
          <p:cNvSpPr>
            <a:spLocks noGrp="1"/>
          </p:cNvSpPr>
          <p:nvPr>
            <p:ph idx="1"/>
          </p:nvPr>
        </p:nvSpPr>
        <p:spPr/>
        <p:txBody>
          <a:bodyPr/>
          <a:lstStyle/>
          <a:p>
            <a:pPr marL="0" indent="0">
              <a:buNone/>
            </a:pPr>
            <a:r>
              <a:rPr lang="zh-CN" altLang="en-US" dirty="0">
                <a:ln/>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余弦退火</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19</a:t>
            </a:fld>
            <a:endParaRPr lang="zh-CN" altLang="en-US"/>
          </a:p>
        </p:txBody>
      </p:sp>
      <p:sp>
        <p:nvSpPr>
          <p:cNvPr id="6" name="文本框 5"/>
          <p:cNvSpPr txBox="1"/>
          <p:nvPr/>
        </p:nvSpPr>
        <p:spPr>
          <a:xfrm>
            <a:off x="366395" y="1518103"/>
            <a:ext cx="10968990" cy="1014730"/>
          </a:xfrm>
          <a:prstGeom prst="rect">
            <a:avLst/>
          </a:prstGeom>
          <a:noFill/>
        </p:spPr>
        <p:txBody>
          <a:bodyPr wrap="square">
            <a:spAutoFit/>
          </a:bodyPr>
          <a:lstStyle/>
          <a:p>
            <a:r>
              <a:rPr sz="2000" dirty="0">
                <a:ea typeface="宋体" panose="02010600030101010101" pitchFamily="2" charset="-122"/>
              </a:rPr>
              <a:t>余弦退火是一种结合了周期性重启和余弦函数衰减的学习率调度策略，广泛应用于深度学习模型的训练优化。其核心思想是通过周期性的学习率大幅波动，帮助模型跳出局部极小值，同时保持收敛稳定性。</a:t>
            </a:r>
          </a:p>
        </p:txBody>
      </p:sp>
      <p:pic>
        <p:nvPicPr>
          <p:cNvPr id="5" name="图片 4"/>
          <p:cNvPicPr>
            <a:picLocks noChangeAspect="1"/>
          </p:cNvPicPr>
          <p:nvPr/>
        </p:nvPicPr>
        <p:blipFill>
          <a:blip r:embed="rId2"/>
          <a:stretch>
            <a:fillRect/>
          </a:stretch>
        </p:blipFill>
        <p:spPr>
          <a:xfrm>
            <a:off x="904240" y="2449195"/>
            <a:ext cx="8514080" cy="1417320"/>
          </a:xfrm>
          <a:prstGeom prst="rect">
            <a:avLst/>
          </a:prstGeom>
        </p:spPr>
      </p:pic>
      <p:sp>
        <p:nvSpPr>
          <p:cNvPr id="7" name="文本框 6"/>
          <p:cNvSpPr txBox="1"/>
          <p:nvPr/>
        </p:nvSpPr>
        <p:spPr>
          <a:xfrm>
            <a:off x="288290" y="3793308"/>
            <a:ext cx="10968990" cy="706755"/>
          </a:xfrm>
          <a:prstGeom prst="rect">
            <a:avLst/>
          </a:prstGeom>
          <a:noFill/>
        </p:spPr>
        <p:txBody>
          <a:bodyPr wrap="square">
            <a:spAutoFit/>
          </a:bodyPr>
          <a:lstStyle/>
          <a:p>
            <a:r>
              <a:rPr lang="zh-CN" sz="2000" dirty="0">
                <a:ea typeface="宋体" panose="02010600030101010101" pitchFamily="2" charset="-122"/>
              </a:rPr>
              <a:t>如要使用​带重启的余弦退火，</a:t>
            </a:r>
            <a:r>
              <a:rPr sz="2000" dirty="0">
                <a:ea typeface="宋体" panose="02010600030101010101" pitchFamily="2" charset="-122"/>
              </a:rPr>
              <a:t>每完成一个周期</a:t>
            </a:r>
            <a:r>
              <a:rPr lang="zh-CN" sz="2000" dirty="0">
                <a:ea typeface="宋体" panose="02010600030101010101" pitchFamily="2" charset="-122"/>
              </a:rPr>
              <a:t>，学习率从 η min突然跳回 η max，开启新周期。重启机制通过强制学习率突变，帮助模型跳出当前局部最优，探索新区域。</a:t>
            </a:r>
          </a:p>
        </p:txBody>
      </p:sp>
      <p:pic>
        <p:nvPicPr>
          <p:cNvPr id="9" name="图片 8"/>
          <p:cNvPicPr>
            <a:picLocks noChangeAspect="1"/>
          </p:cNvPicPr>
          <p:nvPr/>
        </p:nvPicPr>
        <p:blipFill>
          <a:blip r:embed="rId3"/>
          <a:stretch>
            <a:fillRect/>
          </a:stretch>
        </p:blipFill>
        <p:spPr>
          <a:xfrm>
            <a:off x="1361440" y="4404995"/>
            <a:ext cx="8307070" cy="1831975"/>
          </a:xfrm>
          <a:prstGeom prst="rect">
            <a:avLst/>
          </a:prstGeom>
        </p:spPr>
      </p:pic>
      <p:sp>
        <p:nvSpPr>
          <p:cNvPr id="10" name="文本框 9"/>
          <p:cNvSpPr txBox="1"/>
          <p:nvPr/>
        </p:nvSpPr>
        <p:spPr>
          <a:xfrm>
            <a:off x="9418320" y="5760403"/>
            <a:ext cx="5080000" cy="337185"/>
          </a:xfrm>
          <a:prstGeom prst="rect">
            <a:avLst/>
          </a:prstGeom>
        </p:spPr>
        <p:txBody>
          <a:bodyPr>
            <a:spAutoFit/>
          </a:bodyPr>
          <a:lstStyle/>
          <a:p>
            <a:pPr marL="0" indent="0"/>
            <a:r>
              <a:rPr lang="en-US" altLang="zh-CN" sz="1600" b="0" i="0">
                <a:solidFill>
                  <a:srgbClr val="006C45"/>
                </a:solidFill>
                <a:latin typeface="PingFang SC"/>
                <a:ea typeface="PingFang SC"/>
              </a:rPr>
              <a:t>SGDR</a:t>
            </a:r>
            <a:r>
              <a:rPr lang="zh-CN" altLang="en-US" sz="1600" b="0" i="0">
                <a:solidFill>
                  <a:srgbClr val="006C45"/>
                </a:solidFill>
                <a:latin typeface="PingFang SC"/>
                <a:ea typeface="宋体" panose="02010600030101010101" pitchFamily="2" charset="-122"/>
              </a:rPr>
              <a:t>实验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应用</a:t>
            </a:r>
          </a:p>
        </p:txBody>
      </p:sp>
      <p:sp>
        <p:nvSpPr>
          <p:cNvPr id="3" name="内容占位符 2"/>
          <p:cNvSpPr>
            <a:spLocks noGrp="1"/>
          </p:cNvSpPr>
          <p:nvPr>
            <p:ph idx="1"/>
          </p:nvPr>
        </p:nvSpPr>
        <p:spPr/>
        <p:txBody>
          <a:bodyPr/>
          <a:lstStyle/>
          <a:p>
            <a:pPr marL="0" indent="0">
              <a:buNone/>
            </a:pPr>
            <a:r>
              <a:rPr lang="zh-CN" altLang="en-US"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超参数搜索</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20</a:t>
            </a:fld>
            <a:endParaRPr lang="zh-CN" altLang="en-US"/>
          </a:p>
        </p:txBody>
      </p:sp>
      <p:sp>
        <p:nvSpPr>
          <p:cNvPr id="6" name="文本框 5"/>
          <p:cNvSpPr txBox="1"/>
          <p:nvPr/>
        </p:nvSpPr>
        <p:spPr>
          <a:xfrm>
            <a:off x="366395" y="1518103"/>
            <a:ext cx="10968990" cy="706755"/>
          </a:xfrm>
          <a:prstGeom prst="rect">
            <a:avLst/>
          </a:prstGeom>
          <a:noFill/>
        </p:spPr>
        <p:txBody>
          <a:bodyPr wrap="square">
            <a:spAutoFit/>
          </a:bodyPr>
          <a:lstStyle/>
          <a:p>
            <a:r>
              <a:rPr sz="2000" dirty="0">
                <a:ea typeface="宋体" panose="02010600030101010101" pitchFamily="2" charset="-122"/>
              </a:rPr>
              <a:t>超参数搜索是机器学习模型优化中的关键步骤，而退火算法（尤其是模拟退火和贝叶斯优化结合退火策略）因其全局搜索能力和高效性，成为自动化超参数调优的重要工具。</a:t>
            </a:r>
          </a:p>
        </p:txBody>
      </p:sp>
      <p:sp>
        <p:nvSpPr>
          <p:cNvPr id="7" name="文本框 6"/>
          <p:cNvSpPr txBox="1"/>
          <p:nvPr/>
        </p:nvSpPr>
        <p:spPr>
          <a:xfrm>
            <a:off x="366395" y="2295978"/>
            <a:ext cx="10968990" cy="3476625"/>
          </a:xfrm>
          <a:prstGeom prst="rect">
            <a:avLst/>
          </a:prstGeom>
          <a:noFill/>
        </p:spPr>
        <p:txBody>
          <a:bodyPr wrap="square">
            <a:spAutoFit/>
          </a:bodyPr>
          <a:lstStyle/>
          <a:p>
            <a:r>
              <a:rPr sz="2000" dirty="0">
                <a:ea typeface="宋体" panose="02010600030101010101" pitchFamily="2" charset="-122"/>
              </a:rPr>
              <a:t>搜索空间：超参数组合构成高维空间（连续/离散/混合型）</a:t>
            </a:r>
          </a:p>
          <a:p>
            <a:r>
              <a:rPr sz="2000" dirty="0">
                <a:ea typeface="宋体" panose="02010600030101010101" pitchFamily="2" charset="-122"/>
              </a:rPr>
              <a:t>目标函数：验证集上的模型性能（如准确率、F1分数），需最大化或最小化。</a:t>
            </a:r>
          </a:p>
          <a:p>
            <a:r>
              <a:rPr sz="2000" dirty="0">
                <a:ea typeface="宋体" panose="02010600030101010101" pitchFamily="2" charset="-122"/>
              </a:rPr>
              <a:t>1. ​混合退火与贝叶斯优化</a:t>
            </a:r>
          </a:p>
          <a:p>
            <a:r>
              <a:rPr sz="2000" dirty="0">
                <a:ea typeface="宋体" panose="02010600030101010101" pitchFamily="2" charset="-122"/>
              </a:rPr>
              <a:t>​方法：用贝叶斯优化构建代理模型指导退火的扰动方向。</a:t>
            </a:r>
          </a:p>
          <a:p>
            <a:r>
              <a:rPr sz="2000" dirty="0">
                <a:ea typeface="宋体" panose="02010600030101010101" pitchFamily="2" charset="-122"/>
              </a:rPr>
              <a:t>​效果：在AutoML任务中，混合策略比纯贝叶斯优化快2倍 。</a:t>
            </a:r>
          </a:p>
          <a:p>
            <a:r>
              <a:rPr sz="2000" dirty="0">
                <a:ea typeface="宋体" panose="02010600030101010101" pitchFamily="2" charset="-122"/>
              </a:rPr>
              <a:t>2. ​并行化退火搜索</a:t>
            </a:r>
          </a:p>
          <a:p>
            <a:r>
              <a:rPr sz="2000" dirty="0">
                <a:ea typeface="宋体" panose="02010600030101010101" pitchFamily="2" charset="-122"/>
              </a:rPr>
              <a:t>​方法：多个退火链并行运行，定期交换最优参数。</a:t>
            </a:r>
          </a:p>
          <a:p>
            <a:r>
              <a:rPr sz="2000" dirty="0">
                <a:ea typeface="宋体" panose="02010600030101010101" pitchFamily="2" charset="-122"/>
              </a:rPr>
              <a:t>​案例：在GPU集群上优化Transformer超参数，48小时内完成1000组实验 。</a:t>
            </a:r>
          </a:p>
          <a:p>
            <a:r>
              <a:rPr sz="2000" dirty="0">
                <a:ea typeface="宋体" panose="02010600030101010101" pitchFamily="2" charset="-122"/>
              </a:rPr>
              <a:t>3. ​自适应退火计划</a:t>
            </a:r>
          </a:p>
          <a:p>
            <a:r>
              <a:rPr sz="2000" dirty="0">
                <a:ea typeface="宋体" panose="02010600030101010101" pitchFamily="2" charset="-122"/>
              </a:rPr>
              <a:t>​动态温度：根据历史性能调整降温速率（如性能提升快则慢降温）。</a:t>
            </a:r>
          </a:p>
          <a:p>
            <a:r>
              <a:rPr sz="2000" dirty="0">
                <a:ea typeface="宋体" panose="02010600030101010101" pitchFamily="2" charset="-122"/>
              </a:rPr>
              <a:t>​公式</a:t>
            </a:r>
          </a:p>
        </p:txBody>
      </p:sp>
      <p:pic>
        <p:nvPicPr>
          <p:cNvPr id="9" name="图片 8"/>
          <p:cNvPicPr>
            <a:picLocks noChangeAspect="1"/>
          </p:cNvPicPr>
          <p:nvPr/>
        </p:nvPicPr>
        <p:blipFill>
          <a:blip r:embed="rId2"/>
          <a:stretch>
            <a:fillRect/>
          </a:stretch>
        </p:blipFill>
        <p:spPr>
          <a:xfrm>
            <a:off x="1120140" y="5403215"/>
            <a:ext cx="4625340" cy="3632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案例</a:t>
            </a:r>
          </a:p>
        </p:txBody>
      </p:sp>
      <p:sp>
        <p:nvSpPr>
          <p:cNvPr id="3" name="内容占位符 2"/>
          <p:cNvSpPr>
            <a:spLocks noGrp="1"/>
          </p:cNvSpPr>
          <p:nvPr>
            <p:ph idx="1"/>
          </p:nvPr>
        </p:nvSpPr>
        <p:spPr/>
        <p:txBody>
          <a:bodyPr/>
          <a:lstStyle/>
          <a:p>
            <a:pPr marL="0" indent="0">
              <a:buNone/>
            </a:pPr>
            <a:r>
              <a:rPr lang="zh-CN" altLang="en-US"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Hybrid Algorithm Based on Simulated Annealing and Bacterial Foraging Optimization for Mining Imbalanced Data</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21</a:t>
            </a:fld>
            <a:endParaRPr lang="zh-CN" altLang="en-US"/>
          </a:p>
        </p:txBody>
      </p:sp>
      <p:sp>
        <p:nvSpPr>
          <p:cNvPr id="7" name="文本框 6"/>
          <p:cNvSpPr txBox="1"/>
          <p:nvPr/>
        </p:nvSpPr>
        <p:spPr>
          <a:xfrm>
            <a:off x="459740" y="1933393"/>
            <a:ext cx="10968990" cy="4092575"/>
          </a:xfrm>
          <a:prstGeom prst="rect">
            <a:avLst/>
          </a:prstGeom>
          <a:noFill/>
        </p:spPr>
        <p:txBody>
          <a:bodyPr wrap="square">
            <a:spAutoFit/>
          </a:bodyPr>
          <a:lstStyle/>
          <a:p>
            <a:r>
              <a:rPr sz="2000" dirty="0">
                <a:latin typeface="+mn-ea"/>
                <a:cs typeface="+mn-ea"/>
              </a:rPr>
              <a:t>在</a:t>
            </a:r>
            <a:r>
              <a:rPr lang="zh-CN" sz="2000" dirty="0">
                <a:latin typeface="+mn-ea"/>
                <a:cs typeface="+mn-ea"/>
              </a:rPr>
              <a:t>本文</a:t>
            </a:r>
            <a:r>
              <a:rPr sz="2000" dirty="0">
                <a:latin typeface="+mn-ea"/>
                <a:cs typeface="+mn-ea"/>
              </a:rPr>
              <a:t>所提出的算法中，SA通过采用跳跃过程找到最优解，从而解决BFO趋化过程中反转方向的不确定性，并避免陷入局部最优。通过所提出的算法，四个多变量不平衡数据集得到了有效分类，并且其性能与其他算法进行了比较。实验结果表明，对于不同的多变量不平衡数据集，所提出的算法在各种性能指标上均优于原始的BFO算法。</a:t>
            </a:r>
          </a:p>
          <a:p>
            <a:r>
              <a:rPr lang="zh-CN" sz="2000" dirty="0">
                <a:latin typeface="+mn-ea"/>
                <a:cs typeface="+mn-ea"/>
              </a:rPr>
              <a:t>本文中</a:t>
            </a:r>
            <a:r>
              <a:rPr sz="2000" dirty="0">
                <a:latin typeface="+mn-ea"/>
                <a:cs typeface="+mn-ea"/>
              </a:rPr>
              <a:t>SA算法从四个参数开始：Miter、T0、Tf 和 λ。Miter 表示最大迭代次数，T0 表示初始温度，Tf 是随着温度下降算法停止时的最终温度，λ 是控制冷却速率的系数。当前温度 T 被设置为与 T0 相同。解表示为数据集中的特征，并以 θi 的形式展示。</a:t>
            </a:r>
          </a:p>
          <a:p>
            <a:r>
              <a:rPr sz="2000" dirty="0">
                <a:latin typeface="+mn-ea"/>
                <a:cs typeface="+mn-ea"/>
              </a:rPr>
              <a:t>对于每一代，通过随机交换特征并在当前解中随机生成 θi 来从 τ 生成下一个解 η。令 obj(τ) 表示 τ 的测试分类准确率，Δ 表示 obj(τ) 和 obj(η) 之间的差异。即 Δ = obj(τ) − obj(η)。如果 Δ ≤ 0，则用 η 替换 τ 的概率为1，其中 τ 是当前解，η 是下一个解。同时，如果 Δ &gt; 0，则用 η 替换 τ 的概率为 e</a:t>
            </a:r>
            <a:r>
              <a:rPr lang="en-US" sz="2000" dirty="0">
                <a:latin typeface="+mn-ea"/>
                <a:cs typeface="+mn-ea"/>
              </a:rPr>
              <a:t>^(</a:t>
            </a:r>
            <a:r>
              <a:rPr sz="2000" dirty="0">
                <a:latin typeface="+mn-ea"/>
                <a:cs typeface="+mn-ea"/>
              </a:rPr>
              <a:t>−Δ/T</a:t>
            </a:r>
            <a:r>
              <a:rPr lang="en-US" sz="2000" dirty="0">
                <a:latin typeface="+mn-ea"/>
                <a:cs typeface="+mn-ea"/>
              </a:rPr>
              <a:t>)</a:t>
            </a:r>
            <a:r>
              <a:rPr sz="2000" dirty="0">
                <a:latin typeface="+mn-ea"/>
                <a:cs typeface="+mn-ea"/>
              </a:rPr>
              <a:t>。这是通过生成一个随机数 rrand ∈ [0, 1] 并在 e−Δ/T &gt; rrand 时将解 τ 替换为 η 来实现的。混合算法重复进行，直到 T 低于 Tf。之后，SA 在趋化过程中获得最佳解。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案例</a:t>
            </a:r>
          </a:p>
        </p:txBody>
      </p:sp>
      <p:sp>
        <p:nvSpPr>
          <p:cNvPr id="3" name="内容占位符 2"/>
          <p:cNvSpPr>
            <a:spLocks noGrp="1"/>
          </p:cNvSpPr>
          <p:nvPr>
            <p:ph idx="1"/>
          </p:nvPr>
        </p:nvSpPr>
        <p:spPr/>
        <p:txBody>
          <a:bodyPr/>
          <a:lstStyle/>
          <a:p>
            <a:pPr marL="0" indent="0">
              <a:buNone/>
            </a:pPr>
            <a:r>
              <a:rPr lang="zh-CN" altLang="en-US"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Hybrid SimulatedAnnealing-EvaporationRate-BasedWaterCycle</a:t>
            </a:r>
          </a:p>
          <a:p>
            <a:pPr marL="0" indent="0">
              <a:buNone/>
            </a:pPr>
            <a:r>
              <a:rPr lang="zh-CN" altLang="en-US"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Algorithm Application for Medical Image Enhancement</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22</a:t>
            </a:fld>
            <a:endParaRPr lang="zh-CN" altLang="en-US"/>
          </a:p>
        </p:txBody>
      </p:sp>
      <p:sp>
        <p:nvSpPr>
          <p:cNvPr id="7" name="文本框 6"/>
          <p:cNvSpPr txBox="1"/>
          <p:nvPr/>
        </p:nvSpPr>
        <p:spPr>
          <a:xfrm>
            <a:off x="366395" y="2295978"/>
            <a:ext cx="10968990" cy="2245360"/>
          </a:xfrm>
          <a:prstGeom prst="rect">
            <a:avLst/>
          </a:prstGeom>
          <a:noFill/>
        </p:spPr>
        <p:txBody>
          <a:bodyPr wrap="square">
            <a:spAutoFit/>
          </a:bodyPr>
          <a:lstStyle/>
          <a:p>
            <a:r>
              <a:rPr sz="2000" dirty="0">
                <a:latin typeface="+mn-ea"/>
                <a:cs typeface="+mn-ea"/>
              </a:rPr>
              <a:t>本研究提出了一种基于混合模拟退火-蒸发率水循环算法（SA-ERWCA）的医学图像增强（MIE）方法。ERWCA通过根据适应度函数找到最佳转换参数来改善失真的医学图像。适应度函数包括三个目标测量指标，即熵、边缘数量和边缘强度之和。由于其在寻找全局最优解方面具有巨大潜力，SA仅用于确定ERWCA的优化初始种群，从而增强其收敛特性。简而言之，SA的主要目标是避免ERWCA过早收敛。因此，将SA与ERWCA结合可以产生更高质量的医学图像。</a:t>
            </a:r>
          </a:p>
          <a:p>
            <a:r>
              <a:rPr lang="zh-CN" sz="2000" dirty="0">
                <a:latin typeface="+mn-ea"/>
                <a:cs typeface="+mn-ea"/>
              </a:rPr>
              <a:t>本文设计的</a:t>
            </a:r>
            <a:r>
              <a:rPr lang="en-US" altLang="zh-CN" sz="2000" dirty="0">
                <a:latin typeface="+mn-ea"/>
                <a:cs typeface="+mn-ea"/>
              </a:rPr>
              <a:t>SA-PC</a:t>
            </a:r>
            <a:r>
              <a:rPr lang="zh-CN" altLang="en-US" sz="2000" dirty="0">
                <a:latin typeface="+mn-ea"/>
                <a:cs typeface="+mn-ea"/>
              </a:rPr>
              <a:t>算法如下：</a:t>
            </a:r>
            <a:endParaRPr sz="2000" dirty="0">
              <a:latin typeface="+mn-ea"/>
              <a:cs typeface="+mn-ea"/>
            </a:endParaRPr>
          </a:p>
          <a:p>
            <a:endParaRPr sz="2000" dirty="0">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案例</a:t>
            </a:r>
          </a:p>
        </p:txBody>
      </p:sp>
      <p:sp>
        <p:nvSpPr>
          <p:cNvPr id="3" name="内容占位符 2"/>
          <p:cNvSpPr>
            <a:spLocks noGrp="1"/>
          </p:cNvSpPr>
          <p:nvPr>
            <p:ph idx="1"/>
          </p:nvPr>
        </p:nvSpPr>
        <p:spPr/>
        <p:txBody>
          <a:bodyPr/>
          <a:lstStyle/>
          <a:p>
            <a:pPr marL="0" indent="0">
              <a:buNone/>
            </a:pPr>
            <a:r>
              <a:rPr lang="zh-CN" altLang="en-US"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Hybrid SimulatedAnnealing-EvaporationRate-BasedWaterCycle</a:t>
            </a:r>
          </a:p>
          <a:p>
            <a:pPr marL="0" indent="0">
              <a:buNone/>
            </a:pPr>
            <a:r>
              <a:rPr lang="zh-CN" altLang="en-US"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Algorithm Application for Medical Image Enhancement</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23</a:t>
            </a:fld>
            <a:endParaRPr lang="zh-CN" altLang="en-US"/>
          </a:p>
        </p:txBody>
      </p:sp>
      <p:pic>
        <p:nvPicPr>
          <p:cNvPr id="5" name="图片 4"/>
          <p:cNvPicPr>
            <a:picLocks noChangeAspect="1"/>
          </p:cNvPicPr>
          <p:nvPr/>
        </p:nvPicPr>
        <p:blipFill>
          <a:blip r:embed="rId2"/>
          <a:stretch>
            <a:fillRect/>
          </a:stretch>
        </p:blipFill>
        <p:spPr>
          <a:xfrm>
            <a:off x="608330" y="2040255"/>
            <a:ext cx="7658100" cy="3587750"/>
          </a:xfrm>
          <a:prstGeom prst="rect">
            <a:avLst/>
          </a:prstGeom>
        </p:spPr>
      </p:pic>
      <p:sp>
        <p:nvSpPr>
          <p:cNvPr id="6" name="文本框 5"/>
          <p:cNvSpPr txBox="1"/>
          <p:nvPr/>
        </p:nvSpPr>
        <p:spPr>
          <a:xfrm>
            <a:off x="8266430" y="2035175"/>
            <a:ext cx="3373755" cy="4070350"/>
          </a:xfrm>
          <a:prstGeom prst="rect">
            <a:avLst/>
          </a:prstGeom>
        </p:spPr>
        <p:txBody>
          <a:bodyPr>
            <a:noAutofit/>
          </a:bodyPr>
          <a:lstStyle/>
          <a:p>
            <a:pPr marL="0" indent="0">
              <a:spcBef>
                <a:spcPct val="0"/>
              </a:spcBef>
              <a:spcAft>
                <a:spcPct val="0"/>
              </a:spcAft>
            </a:pPr>
            <a:r>
              <a:rPr lang="zh-CN" altLang="en-US">
                <a:latin typeface="+mn-ea"/>
                <a:cs typeface="+mn-ea"/>
              </a:rPr>
              <a:t>通过这种方式，</a:t>
            </a:r>
            <a:r>
              <a:rPr lang="en-US" altLang="zh-CN">
                <a:latin typeface="+mn-ea"/>
                <a:cs typeface="+mn-ea"/>
              </a:rPr>
              <a:t>SA</a:t>
            </a:r>
            <a:r>
              <a:rPr lang="zh-CN" altLang="en-US">
                <a:latin typeface="+mn-ea"/>
                <a:cs typeface="+mn-ea"/>
              </a:rPr>
              <a:t>确保</a:t>
            </a:r>
            <a:r>
              <a:rPr lang="en-US" altLang="zh-CN">
                <a:latin typeface="+mn-ea"/>
                <a:cs typeface="+mn-ea"/>
              </a:rPr>
              <a:t>PSO</a:t>
            </a:r>
            <a:r>
              <a:rPr lang="zh-CN" altLang="en-US">
                <a:latin typeface="+mn-ea"/>
                <a:cs typeface="+mn-ea"/>
              </a:rPr>
              <a:t>跳出局部最优，并在最终进化阶段提高</a:t>
            </a:r>
            <a:r>
              <a:rPr lang="en-US" altLang="zh-CN">
                <a:latin typeface="+mn-ea"/>
                <a:cs typeface="+mn-ea"/>
              </a:rPr>
              <a:t>PSO</a:t>
            </a:r>
            <a:r>
              <a:rPr lang="zh-CN" altLang="en-US">
                <a:latin typeface="+mn-ea"/>
                <a:cs typeface="+mn-ea"/>
              </a:rPr>
              <a:t>的探索潜力和搜索精度。在本文中，模拟退火（</a:t>
            </a:r>
            <a:r>
              <a:rPr lang="en-US" altLang="zh-CN">
                <a:latin typeface="+mn-ea"/>
                <a:cs typeface="+mn-ea"/>
              </a:rPr>
              <a:t>SA</a:t>
            </a:r>
            <a:r>
              <a:rPr lang="zh-CN" altLang="en-US">
                <a:latin typeface="+mn-ea"/>
                <a:cs typeface="+mn-ea"/>
              </a:rPr>
              <a:t>）与遗传算法（</a:t>
            </a:r>
            <a:r>
              <a:rPr lang="en-US" altLang="zh-CN">
                <a:latin typeface="+mn-ea"/>
                <a:cs typeface="+mn-ea"/>
              </a:rPr>
              <a:t>GA</a:t>
            </a:r>
            <a:r>
              <a:rPr lang="zh-CN" altLang="en-US">
                <a:latin typeface="+mn-ea"/>
                <a:cs typeface="+mn-ea"/>
              </a:rPr>
              <a:t>）和蚁群优化（</a:t>
            </a:r>
            <a:r>
              <a:rPr lang="en-US" altLang="zh-CN">
                <a:latin typeface="+mn-ea"/>
                <a:cs typeface="+mn-ea"/>
              </a:rPr>
              <a:t>ACO</a:t>
            </a:r>
            <a:r>
              <a:rPr lang="zh-CN" altLang="en-US">
                <a:latin typeface="+mn-ea"/>
                <a:cs typeface="+mn-ea"/>
              </a:rPr>
              <a:t>）相结合用于图像对比度增强。</a:t>
            </a:r>
            <a:r>
              <a:rPr lang="en-US" altLang="zh-CN">
                <a:latin typeface="+mn-ea"/>
                <a:cs typeface="+mn-ea"/>
              </a:rPr>
              <a:t>ACO</a:t>
            </a:r>
            <a:r>
              <a:rPr lang="zh-CN" altLang="en-US">
                <a:latin typeface="+mn-ea"/>
                <a:cs typeface="+mn-ea"/>
              </a:rPr>
              <a:t>用于生成将输入强度映射到输出强度的转移函数。而</a:t>
            </a:r>
            <a:r>
              <a:rPr lang="en-US" altLang="zh-CN">
                <a:latin typeface="+mn-ea"/>
                <a:cs typeface="+mn-ea"/>
              </a:rPr>
              <a:t>GA</a:t>
            </a:r>
            <a:r>
              <a:rPr lang="zh-CN" altLang="en-US">
                <a:latin typeface="+mn-ea"/>
                <a:cs typeface="+mn-ea"/>
              </a:rPr>
              <a:t>负责蚂蚁特征的进化过程，作为局部搜索方法的</a:t>
            </a:r>
            <a:r>
              <a:rPr lang="en-US" altLang="zh-CN">
                <a:latin typeface="+mn-ea"/>
                <a:cs typeface="+mn-ea"/>
              </a:rPr>
              <a:t>SA</a:t>
            </a:r>
            <a:r>
              <a:rPr lang="zh-CN" altLang="en-US">
                <a:latin typeface="+mn-ea"/>
                <a:cs typeface="+mn-ea"/>
              </a:rPr>
              <a:t>则用于调整由</a:t>
            </a:r>
            <a:r>
              <a:rPr lang="en-US" altLang="zh-CN">
                <a:latin typeface="+mn-ea"/>
                <a:cs typeface="+mn-ea"/>
              </a:rPr>
              <a:t>ACO</a:t>
            </a:r>
            <a:r>
              <a:rPr lang="zh-CN" altLang="en-US">
                <a:latin typeface="+mn-ea"/>
                <a:cs typeface="+mn-ea"/>
              </a:rPr>
              <a:t>创建的转移函数。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案例</a:t>
            </a:r>
          </a:p>
        </p:txBody>
      </p:sp>
      <p:sp>
        <p:nvSpPr>
          <p:cNvPr id="3" name="内容占位符 2"/>
          <p:cNvSpPr>
            <a:spLocks noGrp="1"/>
          </p:cNvSpPr>
          <p:nvPr>
            <p:ph idx="1"/>
          </p:nvPr>
        </p:nvSpPr>
        <p:spPr/>
        <p:txBody>
          <a:bodyPr/>
          <a:lstStyle/>
          <a:p>
            <a:pPr marL="0" indent="0">
              <a:buNone/>
            </a:pPr>
            <a:r>
              <a:rPr lang="zh-CN" altLang="en-US"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Matching Biomedical Ontologies Through Compact Evolutionary Simulated Annealing Algorithm</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24</a:t>
            </a:fld>
            <a:endParaRPr lang="zh-CN" altLang="en-US"/>
          </a:p>
        </p:txBody>
      </p:sp>
      <p:sp>
        <p:nvSpPr>
          <p:cNvPr id="7" name="文本框 6"/>
          <p:cNvSpPr txBox="1"/>
          <p:nvPr/>
        </p:nvSpPr>
        <p:spPr>
          <a:xfrm>
            <a:off x="431800" y="1970223"/>
            <a:ext cx="10968990" cy="2245360"/>
          </a:xfrm>
          <a:prstGeom prst="rect">
            <a:avLst/>
          </a:prstGeom>
          <a:noFill/>
        </p:spPr>
        <p:txBody>
          <a:bodyPr wrap="square">
            <a:spAutoFit/>
          </a:bodyPr>
          <a:lstStyle/>
          <a:p>
            <a:r>
              <a:rPr lang="zh-CN" sz="2000" dirty="0">
                <a:latin typeface="+mn-ea"/>
                <a:cs typeface="+mn-ea"/>
              </a:rPr>
              <a:t>在本文中</a:t>
            </a:r>
            <a:r>
              <a:rPr sz="2000" dirty="0">
                <a:latin typeface="+mn-ea"/>
                <a:cs typeface="+mn-ea"/>
              </a:rPr>
              <a:t>，作者提出了一种结合紧凑进化算法（Compact Evolutionary Algorithm, CEA）和模拟退火（Simulated Annealing, SA）的混合优化方法，用于解决生物医学本体匹配问题。</a:t>
            </a:r>
          </a:p>
          <a:p>
            <a:r>
              <a:rPr lang="zh-CN" sz="2000" dirty="0">
                <a:latin typeface="+mn-ea"/>
                <a:cs typeface="+mn-ea"/>
              </a:rPr>
              <a:t>该问题是希望对齐两个生物医学本体 O</a:t>
            </a:r>
            <a:r>
              <a:rPr lang="en-US" altLang="zh-CN" sz="2000" dirty="0">
                <a:latin typeface="+mn-ea"/>
                <a:cs typeface="+mn-ea"/>
              </a:rPr>
              <a:t>1</a:t>
            </a:r>
            <a:r>
              <a:rPr lang="zh-CN" altLang="en-US" sz="2000" dirty="0">
                <a:latin typeface="+mn-ea"/>
                <a:cs typeface="+mn-ea"/>
              </a:rPr>
              <a:t>和</a:t>
            </a:r>
            <a:r>
              <a:rPr lang="en-US" altLang="zh-CN" sz="2000" dirty="0">
                <a:latin typeface="+mn-ea"/>
                <a:cs typeface="+mn-ea"/>
              </a:rPr>
              <a:t>O2</a:t>
            </a:r>
            <a:r>
              <a:rPr lang="zh-CN" sz="2000" dirty="0">
                <a:latin typeface="+mn-ea"/>
                <a:cs typeface="+mn-ea"/>
              </a:rPr>
              <a:t> ，找到实体间的最优匹配集合 M。</a:t>
            </a:r>
          </a:p>
          <a:p>
            <a:endParaRPr lang="zh-CN" sz="2000" dirty="0">
              <a:latin typeface="+mn-ea"/>
              <a:cs typeface="+mn-ea"/>
            </a:endParaRPr>
          </a:p>
          <a:p>
            <a:r>
              <a:rPr lang="zh-CN" sz="2000" dirty="0">
                <a:latin typeface="+mn-ea"/>
                <a:cs typeface="+mn-ea"/>
              </a:rPr>
              <a:t>最大化综合相似度：</a:t>
            </a:r>
          </a:p>
          <a:p>
            <a:endParaRPr lang="zh-CN" sz="2000" dirty="0">
              <a:latin typeface="+mn-ea"/>
              <a:cs typeface="+mn-ea"/>
            </a:endParaRPr>
          </a:p>
          <a:p>
            <a:endParaRPr lang="zh-CN" sz="2000" dirty="0">
              <a:latin typeface="+mn-ea"/>
              <a:cs typeface="+mn-ea"/>
            </a:endParaRPr>
          </a:p>
        </p:txBody>
      </p:sp>
      <p:pic>
        <p:nvPicPr>
          <p:cNvPr id="5" name="图片 4"/>
          <p:cNvPicPr>
            <a:picLocks noChangeAspect="1"/>
          </p:cNvPicPr>
          <p:nvPr/>
        </p:nvPicPr>
        <p:blipFill>
          <a:blip r:embed="rId2"/>
          <a:stretch>
            <a:fillRect/>
          </a:stretch>
        </p:blipFill>
        <p:spPr>
          <a:xfrm>
            <a:off x="2834640" y="2954020"/>
            <a:ext cx="6874510" cy="9499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案例</a:t>
            </a:r>
          </a:p>
        </p:txBody>
      </p:sp>
      <p:sp>
        <p:nvSpPr>
          <p:cNvPr id="3" name="内容占位符 2"/>
          <p:cNvSpPr>
            <a:spLocks noGrp="1"/>
          </p:cNvSpPr>
          <p:nvPr>
            <p:ph idx="1"/>
          </p:nvPr>
        </p:nvSpPr>
        <p:spPr/>
        <p:txBody>
          <a:bodyPr/>
          <a:lstStyle/>
          <a:p>
            <a:pPr marL="0" indent="0">
              <a:buNone/>
            </a:pPr>
            <a:r>
              <a:rPr lang="zh-CN" altLang="en-US"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Matching Biomedical Ontologies Through Compact Evolutionary Simulated Annealing Algorithm</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25</a:t>
            </a:fld>
            <a:endParaRPr lang="zh-CN" altLang="en-US"/>
          </a:p>
        </p:txBody>
      </p:sp>
      <p:sp>
        <p:nvSpPr>
          <p:cNvPr id="7" name="文本框 6"/>
          <p:cNvSpPr txBox="1"/>
          <p:nvPr/>
        </p:nvSpPr>
        <p:spPr>
          <a:xfrm>
            <a:off x="431800" y="1970223"/>
            <a:ext cx="10968990" cy="1014730"/>
          </a:xfrm>
          <a:prstGeom prst="rect">
            <a:avLst/>
          </a:prstGeom>
          <a:noFill/>
        </p:spPr>
        <p:txBody>
          <a:bodyPr wrap="square">
            <a:spAutoFit/>
          </a:bodyPr>
          <a:lstStyle/>
          <a:p>
            <a:r>
              <a:rPr lang="en-US" altLang="zh-CN" sz="2000" dirty="0">
                <a:latin typeface="+mn-ea"/>
                <a:cs typeface="+mn-ea"/>
              </a:rPr>
              <a:t>CESA</a:t>
            </a:r>
            <a:r>
              <a:rPr lang="zh-CN" altLang="en-US" sz="2000" dirty="0">
                <a:latin typeface="+mn-ea"/>
                <a:cs typeface="+mn-ea"/>
              </a:rPr>
              <a:t>算法如下：</a:t>
            </a:r>
            <a:endParaRPr lang="zh-CN" sz="2000" dirty="0">
              <a:latin typeface="+mn-ea"/>
              <a:cs typeface="+mn-ea"/>
            </a:endParaRPr>
          </a:p>
          <a:p>
            <a:r>
              <a:rPr lang="zh-CN" sz="2000" dirty="0">
                <a:latin typeface="+mn-ea"/>
                <a:cs typeface="+mn-ea"/>
              </a:rPr>
              <a:t>概率向量 P：每个元素 p i表示实体对 (e i,e j) 被选入匹配集合 M 的概率。</a:t>
            </a:r>
          </a:p>
          <a:p>
            <a:endParaRPr lang="zh-CN" sz="2000" dirty="0">
              <a:latin typeface="+mn-ea"/>
              <a:cs typeface="+mn-ea"/>
            </a:endParaRPr>
          </a:p>
        </p:txBody>
      </p:sp>
      <p:pic>
        <p:nvPicPr>
          <p:cNvPr id="6" name="图片 5"/>
          <p:cNvPicPr>
            <a:picLocks noChangeAspect="1"/>
          </p:cNvPicPr>
          <p:nvPr/>
        </p:nvPicPr>
        <p:blipFill>
          <a:blip r:embed="rId2"/>
          <a:stretch>
            <a:fillRect/>
          </a:stretch>
        </p:blipFill>
        <p:spPr>
          <a:xfrm>
            <a:off x="612140" y="2804160"/>
            <a:ext cx="2482850" cy="895350"/>
          </a:xfrm>
          <a:prstGeom prst="rect">
            <a:avLst/>
          </a:prstGeom>
        </p:spPr>
      </p:pic>
      <p:pic>
        <p:nvPicPr>
          <p:cNvPr id="8" name="图片 7"/>
          <p:cNvPicPr>
            <a:picLocks noChangeAspect="1"/>
          </p:cNvPicPr>
          <p:nvPr/>
        </p:nvPicPr>
        <p:blipFill>
          <a:blip r:embed="rId3"/>
          <a:stretch>
            <a:fillRect/>
          </a:stretch>
        </p:blipFill>
        <p:spPr>
          <a:xfrm>
            <a:off x="3418205" y="2985135"/>
            <a:ext cx="2381250" cy="495300"/>
          </a:xfrm>
          <a:prstGeom prst="rect">
            <a:avLst/>
          </a:prstGeom>
        </p:spPr>
      </p:pic>
      <p:pic>
        <p:nvPicPr>
          <p:cNvPr id="9" name="图片 8"/>
          <p:cNvPicPr>
            <a:picLocks noChangeAspect="1"/>
          </p:cNvPicPr>
          <p:nvPr/>
        </p:nvPicPr>
        <p:blipFill>
          <a:blip r:embed="rId4"/>
          <a:stretch>
            <a:fillRect/>
          </a:stretch>
        </p:blipFill>
        <p:spPr>
          <a:xfrm>
            <a:off x="6122035" y="2683510"/>
            <a:ext cx="3663950" cy="1016000"/>
          </a:xfrm>
          <a:prstGeom prst="rect">
            <a:avLst/>
          </a:prstGeom>
        </p:spPr>
      </p:pic>
      <p:sp>
        <p:nvSpPr>
          <p:cNvPr id="11" name="文本框 10"/>
          <p:cNvSpPr txBox="1"/>
          <p:nvPr/>
        </p:nvSpPr>
        <p:spPr>
          <a:xfrm>
            <a:off x="608330" y="3780608"/>
            <a:ext cx="10968990" cy="1322070"/>
          </a:xfrm>
          <a:prstGeom prst="rect">
            <a:avLst/>
          </a:prstGeom>
          <a:noFill/>
        </p:spPr>
        <p:txBody>
          <a:bodyPr wrap="square">
            <a:spAutoFit/>
          </a:bodyPr>
          <a:lstStyle/>
          <a:p>
            <a:r>
              <a:rPr sz="2000" dirty="0">
                <a:latin typeface="+mn-ea"/>
                <a:cs typeface="+mn-ea"/>
              </a:rPr>
              <a:t>其中 Xi=1 表示选择第 i 个匹配对。</a:t>
            </a:r>
          </a:p>
          <a:p>
            <a:endParaRPr sz="2000" dirty="0">
              <a:latin typeface="+mn-ea"/>
              <a:cs typeface="+mn-ea"/>
            </a:endParaRPr>
          </a:p>
          <a:p>
            <a:r>
              <a:rPr lang="zh-CN" sz="2000" dirty="0">
                <a:latin typeface="+mn-ea"/>
                <a:cs typeface="+mn-ea"/>
              </a:rPr>
              <a:t>如</a:t>
            </a:r>
            <a:r>
              <a:rPr lang="en-US" altLang="zh-CN" sz="2000" dirty="0">
                <a:latin typeface="+mn-ea"/>
                <a:cs typeface="+mn-ea"/>
              </a:rPr>
              <a:t>X’</a:t>
            </a:r>
            <a:r>
              <a:rPr lang="zh-CN" altLang="en-US" sz="2000" dirty="0">
                <a:latin typeface="+mn-ea"/>
                <a:cs typeface="+mn-ea"/>
              </a:rPr>
              <a:t>被接受，则更新概率向量：</a:t>
            </a:r>
          </a:p>
          <a:p>
            <a:endParaRPr lang="zh-CN" sz="2000" dirty="0">
              <a:latin typeface="+mn-ea"/>
              <a:cs typeface="+mn-ea"/>
            </a:endParaRPr>
          </a:p>
        </p:txBody>
      </p:sp>
      <p:pic>
        <p:nvPicPr>
          <p:cNvPr id="12" name="图片 11"/>
          <p:cNvPicPr>
            <a:picLocks noChangeAspect="1"/>
          </p:cNvPicPr>
          <p:nvPr/>
        </p:nvPicPr>
        <p:blipFill>
          <a:blip r:embed="rId5"/>
          <a:stretch>
            <a:fillRect/>
          </a:stretch>
        </p:blipFill>
        <p:spPr>
          <a:xfrm>
            <a:off x="4231640" y="4250055"/>
            <a:ext cx="4204970" cy="8528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思考</a:t>
            </a:r>
          </a:p>
        </p:txBody>
      </p:sp>
      <p:sp>
        <p:nvSpPr>
          <p:cNvPr id="3" name="内容占位符 2"/>
          <p:cNvSpPr>
            <a:spLocks noGrp="1"/>
          </p:cNvSpPr>
          <p:nvPr>
            <p:ph idx="1"/>
          </p:nvPr>
        </p:nvSpPr>
        <p:spPr/>
        <p:txBody>
          <a:bodyPr/>
          <a:lstStyle/>
          <a:p>
            <a:pPr marL="0" indent="0">
              <a:buNone/>
            </a:pPr>
            <a:r>
              <a:rPr lang="zh-CN" altLang="en-US" dirty="0">
                <a:solidFill>
                  <a:schemeClr val="tx1"/>
                </a:solidFill>
                <a:latin typeface="宋体" panose="02010600030101010101" pitchFamily="2" charset="-122"/>
                <a:ea typeface="宋体" panose="02010600030101010101" pitchFamily="2" charset="-122"/>
              </a:rPr>
              <a:t>对比</a:t>
            </a:r>
            <a:r>
              <a:rPr lang="zh-CN" altLang="en-US" b="1" dirty="0">
                <a:solidFill>
                  <a:srgbClr val="FF0000"/>
                </a:solidFill>
                <a:latin typeface="宋体" panose="02010600030101010101" pitchFamily="2" charset="-122"/>
                <a:ea typeface="宋体" panose="02010600030101010101" pitchFamily="2" charset="-122"/>
              </a:rPr>
              <a:t>梯度下降</a:t>
            </a:r>
            <a:r>
              <a:rPr lang="zh-CN" altLang="en-US" dirty="0">
                <a:solidFill>
                  <a:schemeClr val="tx1"/>
                </a:solidFill>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爬山算法</a:t>
            </a:r>
            <a:r>
              <a:rPr lang="zh-CN" altLang="en-US" dirty="0">
                <a:solidFill>
                  <a:schemeClr val="tx1"/>
                </a:solidFill>
                <a:latin typeface="宋体" panose="02010600030101010101" pitchFamily="2" charset="-122"/>
                <a:ea typeface="宋体" panose="02010600030101010101" pitchFamily="2" charset="-122"/>
              </a:rPr>
              <a:t>、</a:t>
            </a:r>
            <a:r>
              <a:rPr lang="zh-CN" altLang="en-US" b="1" dirty="0">
                <a:solidFill>
                  <a:srgbClr val="FF0000"/>
                </a:solidFill>
                <a:latin typeface="宋体" panose="02010600030101010101" pitchFamily="2" charset="-122"/>
                <a:ea typeface="宋体" panose="02010600030101010101" pitchFamily="2" charset="-122"/>
              </a:rPr>
              <a:t>模拟退火算法</a:t>
            </a:r>
            <a:r>
              <a:rPr lang="zh-CN" altLang="en-US" dirty="0">
                <a:solidFill>
                  <a:schemeClr val="tx1"/>
                </a:solidFill>
                <a:latin typeface="宋体" panose="02010600030101010101" pitchFamily="2" charset="-122"/>
                <a:ea typeface="宋体" panose="02010600030101010101" pitchFamily="2" charset="-122"/>
              </a:rPr>
              <a:t>，哪一种算法为全局最优？哪一种是局部最优？</a:t>
            </a:r>
            <a:endParaRPr lang="en-US" altLang="zh-CN" dirty="0">
              <a:solidFill>
                <a:schemeClr val="tx1"/>
              </a:solidFill>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26</a:t>
            </a:fld>
            <a:endParaRPr lang="zh-CN" altLang="en-US"/>
          </a:p>
        </p:txBody>
      </p:sp>
      <p:sp>
        <p:nvSpPr>
          <p:cNvPr id="6" name="文本框 5"/>
          <p:cNvSpPr txBox="1"/>
          <p:nvPr/>
        </p:nvSpPr>
        <p:spPr>
          <a:xfrm>
            <a:off x="614680" y="2485843"/>
            <a:ext cx="10968990" cy="1569660"/>
          </a:xfrm>
          <a:prstGeom prst="rect">
            <a:avLst/>
          </a:prstGeom>
          <a:noFill/>
        </p:spPr>
        <p:txBody>
          <a:bodyPr wrap="square">
            <a:spAutoFit/>
          </a:bodyPr>
          <a:lstStyle/>
          <a:p>
            <a:r>
              <a:rPr lang="zh-CN" altLang="en-US" sz="2400" b="1" dirty="0">
                <a:solidFill>
                  <a:srgbClr val="FF0000"/>
                </a:solidFill>
                <a:latin typeface="宋体" panose="02010600030101010101" pitchFamily="2" charset="-122"/>
                <a:ea typeface="宋体" panose="02010600030101010101" pitchFamily="2" charset="-122"/>
              </a:rPr>
              <a:t>全局最优算法</a:t>
            </a:r>
            <a:r>
              <a:rPr lang="zh-CN" altLang="en-US" sz="2400" dirty="0">
                <a:latin typeface="宋体" panose="02010600030101010101" pitchFamily="2" charset="-122"/>
                <a:ea typeface="宋体" panose="02010600030101010101" pitchFamily="2" charset="-122"/>
              </a:rPr>
              <a:t>：遗传算法 、模拟退火算法、禁忌搜索算法、粒子群算法、蚁群算法、</a:t>
            </a:r>
            <a:r>
              <a:rPr lang="en-US" altLang="zh-CN" sz="2400" dirty="0">
                <a:latin typeface="Times New Roman" panose="02020603050405020304" charset="0"/>
                <a:ea typeface="宋体" panose="02010600030101010101" pitchFamily="2" charset="-122"/>
                <a:cs typeface="Times New Roman" panose="02020603050405020304" charset="0"/>
              </a:rPr>
              <a:t>SVM</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a:p>
            <a:r>
              <a:rPr lang="zh-CN" altLang="en-US" sz="2400" b="1" dirty="0">
                <a:solidFill>
                  <a:srgbClr val="FF0000"/>
                </a:solidFill>
                <a:latin typeface="宋体" panose="02010600030101010101" pitchFamily="2" charset="-122"/>
                <a:ea typeface="宋体" panose="02010600030101010101" pitchFamily="2" charset="-122"/>
              </a:rPr>
              <a:t>局部最优算法</a:t>
            </a:r>
            <a:r>
              <a:rPr lang="zh-CN" altLang="en-US" sz="2400" dirty="0">
                <a:latin typeface="宋体" panose="02010600030101010101" pitchFamily="2" charset="-122"/>
                <a:ea typeface="宋体" panose="02010600030101010101" pitchFamily="2" charset="-122"/>
              </a:rPr>
              <a:t>：贪心算法、梯度下降、爬上算法、</a:t>
            </a:r>
            <a:r>
              <a:rPr lang="en-US" altLang="zh-CN" sz="2400" dirty="0">
                <a:latin typeface="Times New Roman" panose="02020603050405020304" charset="0"/>
                <a:ea typeface="宋体" panose="02010600030101010101" pitchFamily="2" charset="-122"/>
                <a:cs typeface="Times New Roman" panose="02020603050405020304" charset="0"/>
              </a:rPr>
              <a:t>K-means</a:t>
            </a:r>
            <a:r>
              <a:rPr lang="zh-CN" altLang="en-US" sz="2400" dirty="0">
                <a:latin typeface="宋体" panose="02010600030101010101" pitchFamily="2" charset="-122"/>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t>实验要求</a:t>
            </a:r>
          </a:p>
        </p:txBody>
      </p:sp>
      <p:sp>
        <p:nvSpPr>
          <p:cNvPr id="3" name="内容占位符 2"/>
          <p:cNvSpPr>
            <a:spLocks noGrp="1"/>
          </p:cNvSpPr>
          <p:nvPr>
            <p:ph idx="1"/>
          </p:nvPr>
        </p:nvSpPr>
        <p:spPr/>
        <p:txBody>
          <a:bodyPr/>
          <a:lstStyle/>
          <a:p>
            <a:r>
              <a:rPr lang="en-US" altLang="zh-CN" dirty="0"/>
              <a:t>1. </a:t>
            </a:r>
            <a:r>
              <a:rPr lang="zh-CN" altLang="en-US" dirty="0"/>
              <a:t>进行合适的冷却参数表初始化。</a:t>
            </a:r>
          </a:p>
          <a:p>
            <a:r>
              <a:rPr lang="en-US" altLang="zh-CN" dirty="0"/>
              <a:t>2.</a:t>
            </a:r>
            <a:r>
              <a:rPr lang="zh-CN" altLang="en-US" dirty="0"/>
              <a:t>编程求得函数最小值 </a:t>
            </a:r>
          </a:p>
          <a:p>
            <a:r>
              <a:rPr lang="en-US" altLang="zh-CN" dirty="0"/>
              <a:t>3.</a:t>
            </a:r>
            <a:r>
              <a:rPr lang="zh-CN" altLang="en-US" dirty="0"/>
              <a:t>总结模拟退火算法优劣</a:t>
            </a:r>
          </a:p>
          <a:p>
            <a:r>
              <a:rPr lang="en-US" altLang="zh-CN" dirty="0"/>
              <a:t>4.</a:t>
            </a:r>
            <a:r>
              <a:rPr lang="zh-CN" altLang="en-US" dirty="0"/>
              <a:t>撰写实验报告</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endParaRPr lang="zh-CN" altLang="en-US" sz="2800" dirty="0">
              <a:latin typeface="+mn-lt"/>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28</a:t>
            </a:fld>
            <a:endParaRPr lang="zh-CN" altLang="en-US"/>
          </a:p>
        </p:txBody>
      </p:sp>
      <p:sp>
        <p:nvSpPr>
          <p:cNvPr id="5" name="矩形 4"/>
          <p:cNvSpPr/>
          <p:nvPr/>
        </p:nvSpPr>
        <p:spPr>
          <a:xfrm>
            <a:off x="3191691" y="2585965"/>
            <a:ext cx="5808617" cy="1446550"/>
          </a:xfrm>
          <a:prstGeom prst="rect">
            <a:avLst/>
          </a:prstGeom>
          <a:noFill/>
        </p:spPr>
        <p:txBody>
          <a:bodyPr wrap="square" lIns="91440" tIns="45720" rIns="91440" bIns="45720">
            <a:spAutoFit/>
          </a:bodyPr>
          <a:lstStyle/>
          <a:p>
            <a:pPr algn="ctr"/>
            <a:r>
              <a:rPr lang="zh-CN" altLang="en-US" sz="8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感谢</a:t>
            </a:r>
            <a:endParaRPr lang="zh-CN" altLang="en-US" sz="8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sz="1800" dirty="0">
                <a:solidFill>
                  <a:schemeClr val="tx1"/>
                </a:solidFill>
                <a:latin typeface="宋体" panose="02010600030101010101" pitchFamily="2" charset="-122"/>
                <a:ea typeface="宋体" panose="02010600030101010101" pitchFamily="2" charset="-122"/>
              </a:rPr>
              <a:t>优点：计算过程简单</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通用</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鲁棒性强</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适用于并行处理</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可用于求解复杂的非线性优化问题。</a:t>
            </a:r>
            <a:endParaRPr lang="en-US" altLang="zh-CN" sz="1800" dirty="0">
              <a:solidFill>
                <a:schemeClr val="tx1"/>
              </a:solidFill>
              <a:latin typeface="宋体" panose="02010600030101010101" pitchFamily="2" charset="-122"/>
              <a:ea typeface="宋体" panose="02010600030101010101" pitchFamily="2" charset="-122"/>
            </a:endParaRPr>
          </a:p>
          <a:p>
            <a:r>
              <a:rPr lang="zh-CN" altLang="en-US" sz="1800" dirty="0">
                <a:solidFill>
                  <a:schemeClr val="tx1"/>
                </a:solidFill>
                <a:latin typeface="宋体" panose="02010600030101010101" pitchFamily="2" charset="-122"/>
                <a:ea typeface="宋体" panose="02010600030101010101" pitchFamily="2" charset="-122"/>
              </a:rPr>
              <a:t>缺点：收敛速度慢</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执行时间长</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算法性能与初始值有关及参数敏感等缺点。如果降温过程足够缓慢</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得到的解性能会比较好</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但与此相对的是收敛速度太慢；如果降温过程过快</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很可能得不到全局最优解。</a:t>
            </a:r>
            <a:endParaRPr lang="en-US" altLang="zh-CN" sz="1800" dirty="0">
              <a:solidFill>
                <a:schemeClr val="tx1"/>
              </a:solidFill>
              <a:latin typeface="宋体" panose="02010600030101010101" pitchFamily="2" charset="-122"/>
              <a:ea typeface="宋体" panose="02010600030101010101" pitchFamily="2" charset="-122"/>
            </a:endParaRPr>
          </a:p>
          <a:p>
            <a:endParaRPr lang="en-US" altLang="zh-CN" sz="1800" dirty="0">
              <a:solidFill>
                <a:schemeClr val="tx1"/>
              </a:solidFill>
              <a:latin typeface="宋体" panose="02010600030101010101" pitchFamily="2" charset="-122"/>
              <a:ea typeface="宋体" panose="02010600030101010101" pitchFamily="2" charset="-122"/>
            </a:endParaRPr>
          </a:p>
          <a:p>
            <a:r>
              <a:rPr lang="en-US" altLang="zh-CN" sz="1800" dirty="0">
                <a:solidFill>
                  <a:schemeClr val="tx1"/>
                </a:solidFill>
                <a:latin typeface="宋体" panose="02010600030101010101" pitchFamily="2" charset="-122"/>
                <a:ea typeface="宋体" panose="02010600030101010101" pitchFamily="2" charset="-122"/>
              </a:rPr>
              <a:t>(1)</a:t>
            </a:r>
            <a:r>
              <a:rPr lang="zh-CN" altLang="en-US" sz="1800" dirty="0">
                <a:solidFill>
                  <a:schemeClr val="tx1"/>
                </a:solidFill>
                <a:latin typeface="宋体" panose="02010600030101010101" pitchFamily="2" charset="-122"/>
                <a:ea typeface="宋体" panose="02010600030101010101" pitchFamily="2" charset="-122"/>
              </a:rPr>
              <a:t>设计合适的状态产生函数</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使其根据搜索进程的需要表现出状态的全空间分散性或局部区域性。</a:t>
            </a:r>
            <a:endParaRPr lang="en-US" altLang="zh-CN" sz="1800" dirty="0">
              <a:solidFill>
                <a:schemeClr val="tx1"/>
              </a:solidFill>
              <a:latin typeface="宋体" panose="02010600030101010101" pitchFamily="2" charset="-122"/>
              <a:ea typeface="宋体" panose="02010600030101010101" pitchFamily="2" charset="-122"/>
            </a:endParaRPr>
          </a:p>
          <a:p>
            <a:r>
              <a:rPr lang="en-US" altLang="zh-CN" sz="1800" dirty="0">
                <a:solidFill>
                  <a:schemeClr val="tx1"/>
                </a:solidFill>
                <a:latin typeface="宋体" panose="02010600030101010101" pitchFamily="2" charset="-122"/>
                <a:ea typeface="宋体" panose="02010600030101010101" pitchFamily="2" charset="-122"/>
              </a:rPr>
              <a:t>(2)</a:t>
            </a:r>
            <a:r>
              <a:rPr lang="zh-CN" altLang="en-US" sz="1800" dirty="0">
                <a:solidFill>
                  <a:schemeClr val="tx1"/>
                </a:solidFill>
                <a:latin typeface="宋体" panose="02010600030101010101" pitchFamily="2" charset="-122"/>
                <a:ea typeface="宋体" panose="02010600030101010101" pitchFamily="2" charset="-122"/>
              </a:rPr>
              <a:t>设计高效的退火策略。</a:t>
            </a:r>
            <a:endParaRPr lang="en-US" altLang="zh-CN" sz="1800" dirty="0">
              <a:solidFill>
                <a:schemeClr val="tx1"/>
              </a:solidFill>
              <a:latin typeface="宋体" panose="02010600030101010101" pitchFamily="2" charset="-122"/>
              <a:ea typeface="宋体" panose="02010600030101010101" pitchFamily="2" charset="-122"/>
            </a:endParaRPr>
          </a:p>
          <a:p>
            <a:r>
              <a:rPr lang="en-US" altLang="zh-CN" sz="1800" dirty="0">
                <a:solidFill>
                  <a:schemeClr val="tx1"/>
                </a:solidFill>
                <a:latin typeface="宋体" panose="02010600030101010101" pitchFamily="2" charset="-122"/>
                <a:ea typeface="宋体" panose="02010600030101010101" pitchFamily="2" charset="-122"/>
              </a:rPr>
              <a:t>(3)</a:t>
            </a:r>
            <a:r>
              <a:rPr lang="zh-CN" altLang="en-US" sz="1800" dirty="0">
                <a:solidFill>
                  <a:schemeClr val="tx1"/>
                </a:solidFill>
                <a:latin typeface="宋体" panose="02010600030101010101" pitchFamily="2" charset="-122"/>
                <a:ea typeface="宋体" panose="02010600030101010101" pitchFamily="2" charset="-122"/>
              </a:rPr>
              <a:t>避免状态的迂回搜索。</a:t>
            </a:r>
            <a:endParaRPr lang="en-US" altLang="zh-CN" sz="1800" dirty="0">
              <a:solidFill>
                <a:schemeClr val="tx1"/>
              </a:solidFill>
              <a:latin typeface="宋体" panose="02010600030101010101" pitchFamily="2" charset="-122"/>
              <a:ea typeface="宋体" panose="02010600030101010101" pitchFamily="2" charset="-122"/>
            </a:endParaRPr>
          </a:p>
          <a:p>
            <a:r>
              <a:rPr lang="en-US" altLang="zh-CN" sz="1800" dirty="0">
                <a:solidFill>
                  <a:schemeClr val="tx1"/>
                </a:solidFill>
                <a:latin typeface="宋体" panose="02010600030101010101" pitchFamily="2" charset="-122"/>
                <a:ea typeface="宋体" panose="02010600030101010101" pitchFamily="2" charset="-122"/>
              </a:rPr>
              <a:t>(4)</a:t>
            </a:r>
            <a:r>
              <a:rPr lang="zh-CN" altLang="en-US" sz="1800" dirty="0">
                <a:solidFill>
                  <a:schemeClr val="tx1"/>
                </a:solidFill>
                <a:latin typeface="宋体" panose="02010600030101010101" pitchFamily="2" charset="-122"/>
                <a:ea typeface="宋体" panose="02010600030101010101" pitchFamily="2" charset="-122"/>
              </a:rPr>
              <a:t>采用并行搜索结构。</a:t>
            </a:r>
            <a:endParaRPr lang="en-US" altLang="zh-CN" sz="1800" dirty="0">
              <a:solidFill>
                <a:schemeClr val="tx1"/>
              </a:solidFill>
              <a:latin typeface="宋体" panose="02010600030101010101" pitchFamily="2" charset="-122"/>
              <a:ea typeface="宋体" panose="02010600030101010101" pitchFamily="2" charset="-122"/>
            </a:endParaRPr>
          </a:p>
          <a:p>
            <a:r>
              <a:rPr lang="en-US" altLang="zh-CN" sz="1800" dirty="0">
                <a:solidFill>
                  <a:schemeClr val="tx1"/>
                </a:solidFill>
                <a:latin typeface="宋体" panose="02010600030101010101" pitchFamily="2" charset="-122"/>
                <a:ea typeface="宋体" panose="02010600030101010101" pitchFamily="2" charset="-122"/>
              </a:rPr>
              <a:t>(5)</a:t>
            </a:r>
            <a:r>
              <a:rPr lang="zh-CN" altLang="en-US" sz="1800" dirty="0">
                <a:solidFill>
                  <a:schemeClr val="tx1"/>
                </a:solidFill>
                <a:latin typeface="宋体" panose="02010600030101010101" pitchFamily="2" charset="-122"/>
                <a:ea typeface="宋体" panose="02010600030101010101" pitchFamily="2" charset="-122"/>
              </a:rPr>
              <a:t>为避免陷入局部极小</a:t>
            </a:r>
            <a:r>
              <a:rPr lang="en-US" altLang="zh-CN" sz="1800" dirty="0">
                <a:solidFill>
                  <a:schemeClr val="tx1"/>
                </a:solidFill>
                <a:latin typeface="宋体" panose="02010600030101010101" pitchFamily="2" charset="-122"/>
                <a:ea typeface="宋体" panose="02010600030101010101" pitchFamily="2" charset="-122"/>
              </a:rPr>
              <a:t>,</a:t>
            </a:r>
            <a:r>
              <a:rPr lang="zh-CN" altLang="en-US" sz="1800" dirty="0">
                <a:solidFill>
                  <a:schemeClr val="tx1"/>
                </a:solidFill>
                <a:latin typeface="宋体" panose="02010600030101010101" pitchFamily="2" charset="-122"/>
                <a:ea typeface="宋体" panose="02010600030101010101" pitchFamily="2" charset="-122"/>
              </a:rPr>
              <a:t>改进对温度的控制方式。</a:t>
            </a:r>
            <a:endParaRPr lang="en-US" altLang="zh-CN" sz="1800" dirty="0">
              <a:solidFill>
                <a:schemeClr val="tx1"/>
              </a:solidFill>
              <a:latin typeface="宋体" panose="02010600030101010101" pitchFamily="2" charset="-122"/>
              <a:ea typeface="宋体" panose="02010600030101010101" pitchFamily="2" charset="-122"/>
            </a:endParaRPr>
          </a:p>
          <a:p>
            <a:r>
              <a:rPr lang="en-US" altLang="zh-CN" sz="1800" dirty="0">
                <a:solidFill>
                  <a:schemeClr val="tx1"/>
                </a:solidFill>
                <a:latin typeface="宋体" panose="02010600030101010101" pitchFamily="2" charset="-122"/>
                <a:ea typeface="宋体" panose="02010600030101010101" pitchFamily="2" charset="-122"/>
              </a:rPr>
              <a:t>(6)</a:t>
            </a:r>
            <a:r>
              <a:rPr lang="zh-CN" altLang="en-US" sz="1800" dirty="0">
                <a:solidFill>
                  <a:schemeClr val="tx1"/>
                </a:solidFill>
                <a:latin typeface="宋体" panose="02010600030101010101" pitchFamily="2" charset="-122"/>
                <a:ea typeface="宋体" panose="02010600030101010101" pitchFamily="2" charset="-122"/>
              </a:rPr>
              <a:t>选择合适的初始状态。</a:t>
            </a:r>
            <a:endParaRPr lang="en-US" altLang="zh-CN" sz="1800" dirty="0">
              <a:solidFill>
                <a:schemeClr val="tx1"/>
              </a:solidFill>
              <a:latin typeface="宋体" panose="02010600030101010101" pitchFamily="2" charset="-122"/>
              <a:ea typeface="宋体" panose="02010600030101010101" pitchFamily="2" charset="-122"/>
            </a:endParaRPr>
          </a:p>
          <a:p>
            <a:r>
              <a:rPr lang="en-US" altLang="zh-CN" sz="1800" dirty="0">
                <a:solidFill>
                  <a:schemeClr val="tx1"/>
                </a:solidFill>
                <a:latin typeface="宋体" panose="02010600030101010101" pitchFamily="2" charset="-122"/>
                <a:ea typeface="宋体" panose="02010600030101010101" pitchFamily="2" charset="-122"/>
              </a:rPr>
              <a:t>(7)</a:t>
            </a:r>
            <a:r>
              <a:rPr lang="zh-CN" altLang="en-US" sz="1800" dirty="0">
                <a:solidFill>
                  <a:schemeClr val="tx1"/>
                </a:solidFill>
                <a:latin typeface="宋体" panose="02010600030101010101" pitchFamily="2" charset="-122"/>
                <a:ea typeface="宋体" panose="02010600030101010101" pitchFamily="2" charset="-122"/>
              </a:rPr>
              <a:t>设计合适的算法终止准则。</a:t>
            </a:r>
            <a:endParaRPr lang="en-US" altLang="zh-CN" sz="1800" dirty="0">
              <a:solidFill>
                <a:schemeClr val="tx1"/>
              </a:solidFill>
              <a:latin typeface="宋体" panose="02010600030101010101" pitchFamily="2" charset="-122"/>
              <a:ea typeface="宋体" panose="02010600030101010101" pitchFamily="2" charset="-122"/>
            </a:endParaRPr>
          </a:p>
          <a:p>
            <a:r>
              <a:rPr lang="zh-CN" altLang="en-US" sz="1800" dirty="0">
                <a:solidFill>
                  <a:schemeClr val="tx1"/>
                </a:solidFill>
                <a:latin typeface="宋体" panose="02010600030101010101" pitchFamily="2" charset="-122"/>
                <a:ea typeface="宋体" panose="02010600030101010101" pitchFamily="2" charset="-122"/>
              </a:rPr>
              <a:t>也可通过增加某些环节而实现对模拟退火算法的改进</a:t>
            </a:r>
            <a:r>
              <a:rPr lang="en-US" altLang="zh-CN" sz="1800" dirty="0">
                <a:solidFill>
                  <a:schemeClr val="tx1"/>
                </a:solidFill>
                <a:latin typeface="宋体" panose="02010600030101010101" pitchFamily="2" charset="-122"/>
                <a:ea typeface="宋体" panose="02010600030101010101" pitchFamily="2" charset="-122"/>
              </a:rPr>
              <a:t>.</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29</a:t>
            </a:fld>
            <a:endParaRPr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Y2ZTFhMGUxN2IwMGM5NzFiNTIxN2I3NDY3MjAyNTE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2696</Words>
  <Application>Microsoft Office PowerPoint</Application>
  <PresentationFormat>宽屏</PresentationFormat>
  <Paragraphs>281</Paragraphs>
  <Slides>29</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39" baseType="lpstr">
      <vt:lpstr>PingFang SC</vt:lpstr>
      <vt:lpstr>楷体</vt:lpstr>
      <vt:lpstr>宋体</vt:lpstr>
      <vt:lpstr>Arial</vt:lpstr>
      <vt:lpstr>Calibri</vt:lpstr>
      <vt:lpstr>Cambria Math</vt:lpstr>
      <vt:lpstr>Times New Roman</vt:lpstr>
      <vt:lpstr>Wingdings</vt:lpstr>
      <vt:lpstr>Office 主题​​</vt:lpstr>
      <vt:lpstr>Equation</vt:lpstr>
      <vt:lpstr>模拟退火算法</vt:lpstr>
      <vt:lpstr>目录</vt:lpstr>
      <vt:lpstr>算法简介</vt:lpstr>
      <vt:lpstr>算法简介</vt:lpstr>
      <vt:lpstr>算法简介</vt:lpstr>
      <vt:lpstr>算法简介</vt:lpstr>
      <vt:lpstr>算法简介</vt:lpstr>
      <vt:lpstr>算法流程</vt:lpstr>
      <vt:lpstr>参数分析</vt:lpstr>
      <vt:lpstr>参数分析</vt:lpstr>
      <vt:lpstr>参数分析</vt:lpstr>
      <vt:lpstr>参数分析</vt:lpstr>
      <vt:lpstr>伪代码</vt:lpstr>
      <vt:lpstr>最值求解</vt:lpstr>
      <vt:lpstr>最值求解</vt:lpstr>
      <vt:lpstr>最值求解</vt:lpstr>
      <vt:lpstr>总结</vt:lpstr>
      <vt:lpstr>总结</vt:lpstr>
      <vt:lpstr>应用</vt:lpstr>
      <vt:lpstr>应用</vt:lpstr>
      <vt:lpstr>案例</vt:lpstr>
      <vt:lpstr>案例</vt:lpstr>
      <vt:lpstr>案例</vt:lpstr>
      <vt:lpstr>案例</vt:lpstr>
      <vt:lpstr>案例</vt:lpstr>
      <vt:lpstr>思考</vt:lpstr>
      <vt:lpstr>实验要求</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子健 林</cp:lastModifiedBy>
  <cp:revision>409</cp:revision>
  <dcterms:created xsi:type="dcterms:W3CDTF">2019-06-19T02:08:00Z</dcterms:created>
  <dcterms:modified xsi:type="dcterms:W3CDTF">2026-03-11T04:01:46Z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D1021E4400E144E4AE462FB2B5B0D7BA_12</vt:lpwstr>
  </property>
</Properties>
</file>