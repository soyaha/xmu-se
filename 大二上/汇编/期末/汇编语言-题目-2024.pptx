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2" r:id="rId3"/>
    <p:sldId id="257" r:id="rId4"/>
    <p:sldId id="258" r:id="rId5"/>
    <p:sldId id="260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8" r:id="rId15"/>
    <p:sldId id="274" r:id="rId16"/>
    <p:sldId id="275" r:id="rId17"/>
    <p:sldId id="276" r:id="rId18"/>
    <p:sldId id="277" r:id="rId19"/>
    <p:sldId id="273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42"/>
    <p:restoredTop sz="95673" autoAdjust="0"/>
  </p:normalViewPr>
  <p:slideViewPr>
    <p:cSldViewPr>
      <p:cViewPr varScale="1">
        <p:scale>
          <a:sx n="131" d="100"/>
          <a:sy n="131" d="100"/>
        </p:scale>
        <p:origin x="1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00ED8-7523-44B6-826C-09742728A27E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7BB97-BF33-419D-BB54-D9F16CDB868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5786" y="1357298"/>
            <a:ext cx="7772400" cy="1470025"/>
          </a:xfr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汇编语言</a:t>
            </a:r>
            <a:r>
              <a:rPr lang="en-US" altLang="zh-CN" dirty="0"/>
              <a:t>》</a:t>
            </a:r>
            <a:r>
              <a:rPr lang="zh-CN" altLang="en-US" dirty="0"/>
              <a:t>随堂练习题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7290" y="2786058"/>
            <a:ext cx="6400800" cy="2928958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姓名 </a:t>
            </a:r>
            <a:r>
              <a:rPr lang="en-US" altLang="zh-CN" dirty="0"/>
              <a:t>+ </a:t>
            </a:r>
            <a:r>
              <a:rPr lang="zh-CN" altLang="en-US" dirty="0"/>
              <a:t>学号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课题测试</a:t>
            </a:r>
            <a:endParaRPr lang="en-US" altLang="zh-CN" dirty="0"/>
          </a:p>
          <a:p>
            <a:r>
              <a:rPr lang="en-US" altLang="zh-CN" dirty="0"/>
              <a:t>2024-11-06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当运算结果为</a:t>
            </a:r>
            <a:r>
              <a:rPr lang="en-US" altLang="zh-CN" dirty="0"/>
              <a:t>10011001</a:t>
            </a:r>
            <a:r>
              <a:rPr lang="zh-CN" altLang="en-US" dirty="0"/>
              <a:t>，</a:t>
            </a:r>
            <a:r>
              <a:rPr lang="en-US" altLang="zh-CN" dirty="0"/>
              <a:t>SF= __</a:t>
            </a:r>
            <a:r>
              <a:rPr lang="zh-CN" altLang="en-US" dirty="0"/>
              <a:t>，</a:t>
            </a:r>
            <a:r>
              <a:rPr lang="en-US" altLang="zh-CN" dirty="0"/>
              <a:t>ZF=__</a:t>
            </a:r>
            <a:r>
              <a:rPr lang="zh-CN" altLang="en-US" dirty="0"/>
              <a:t>，</a:t>
            </a:r>
            <a:r>
              <a:rPr lang="en-US" altLang="zh-CN" dirty="0"/>
              <a:t>PF=____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47</a:t>
            </a:r>
            <a:r>
              <a:rPr lang="zh-CN" altLang="en-US" dirty="0"/>
              <a:t>的十六进制数是</a:t>
            </a:r>
            <a:r>
              <a:rPr lang="en-US" altLang="zh-CN" dirty="0"/>
              <a:t>___</a:t>
            </a:r>
            <a:r>
              <a:rPr lang="zh-CN" altLang="en-US" dirty="0"/>
              <a:t>，二进制数是</a:t>
            </a:r>
            <a:r>
              <a:rPr lang="en-US" altLang="zh-CN" dirty="0"/>
              <a:t>___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AL = 45H</a:t>
            </a:r>
            <a:r>
              <a:rPr lang="zh-CN" altLang="en-US" dirty="0"/>
              <a:t>，执行“</a:t>
            </a:r>
            <a:r>
              <a:rPr lang="en-US" altLang="zh-CN" dirty="0"/>
              <a:t>AND   AL</a:t>
            </a:r>
            <a:r>
              <a:rPr lang="zh-CN" altLang="en-US" dirty="0"/>
              <a:t>，</a:t>
            </a:r>
            <a:r>
              <a:rPr lang="en-US" altLang="zh-CN" dirty="0"/>
              <a:t>0B8H</a:t>
            </a:r>
            <a:r>
              <a:rPr lang="zh-CN" altLang="en-US" dirty="0"/>
              <a:t>”后，</a:t>
            </a:r>
            <a:r>
              <a:rPr lang="en-US" altLang="zh-CN" dirty="0"/>
              <a:t>AL=____</a:t>
            </a:r>
            <a:r>
              <a:rPr lang="zh-CN" altLang="en-US" dirty="0"/>
              <a:t>，</a:t>
            </a:r>
            <a:r>
              <a:rPr lang="en-US" altLang="zh-CN" dirty="0"/>
              <a:t>CF=_____</a:t>
            </a:r>
            <a:r>
              <a:rPr lang="zh-CN" altLang="en-US" dirty="0"/>
              <a:t>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42910" y="357166"/>
            <a:ext cx="7429552" cy="785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填空题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500042"/>
            <a:ext cx="8229600" cy="5857916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4"/>
            </a:pPr>
            <a:r>
              <a:rPr lang="zh-CN" altLang="en-US" dirty="0"/>
              <a:t>存储器中存放的数据如下图所示，请写出</a:t>
            </a:r>
            <a:r>
              <a:rPr lang="en-US" altLang="zh-CN" dirty="0"/>
              <a:t>05421H</a:t>
            </a:r>
            <a:r>
              <a:rPr lang="zh-CN" altLang="en-US" dirty="0"/>
              <a:t>和</a:t>
            </a:r>
            <a:r>
              <a:rPr lang="en-US" altLang="zh-CN" dirty="0"/>
              <a:t>05422H</a:t>
            </a:r>
            <a:r>
              <a:rPr lang="zh-CN" altLang="en-US" dirty="0"/>
              <a:t>字单元的内容。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/>
              <a:t>若</a:t>
            </a:r>
            <a:r>
              <a:rPr lang="en-US" altLang="zh-CN" dirty="0"/>
              <a:t>AL=8AH, BL=4BH.</a:t>
            </a:r>
          </a:p>
          <a:p>
            <a:pPr lvl="1">
              <a:buNone/>
            </a:pPr>
            <a:r>
              <a:rPr lang="en-US" altLang="zh-CN" dirty="0"/>
              <a:t>		ADD   AL, BL</a:t>
            </a:r>
          </a:p>
          <a:p>
            <a:pPr lvl="1">
              <a:buNone/>
            </a:pPr>
            <a:r>
              <a:rPr lang="en-US" altLang="zh-CN" dirty="0"/>
              <a:t>		JC       NEXT</a:t>
            </a:r>
          </a:p>
          <a:p>
            <a:pPr lvl="2">
              <a:buNone/>
            </a:pPr>
            <a:r>
              <a:rPr lang="en-US" altLang="zh-CN" sz="2800" dirty="0"/>
              <a:t>OR     AL, 47H</a:t>
            </a:r>
          </a:p>
          <a:p>
            <a:pPr>
              <a:buNone/>
            </a:pPr>
            <a:r>
              <a:rPr lang="en-US" altLang="zh-CN" sz="2800" dirty="0"/>
              <a:t>     		HLT</a:t>
            </a:r>
          </a:p>
          <a:p>
            <a:pPr>
              <a:buNone/>
            </a:pPr>
            <a:r>
              <a:rPr lang="en-US" altLang="zh-CN" sz="2800" dirty="0"/>
              <a:t>NEXT:	ADC   AL, 0</a:t>
            </a:r>
          </a:p>
          <a:p>
            <a:pPr lvl="1">
              <a:buNone/>
            </a:pPr>
            <a:r>
              <a:rPr lang="en-US" altLang="zh-CN" dirty="0"/>
              <a:t>		HLT</a:t>
            </a:r>
          </a:p>
          <a:p>
            <a:pPr>
              <a:buNone/>
            </a:pPr>
            <a:r>
              <a:rPr lang="zh-CN" altLang="en-US" dirty="0"/>
              <a:t>程序执行后： </a:t>
            </a:r>
            <a:r>
              <a:rPr lang="en-US" altLang="zh-CN" dirty="0"/>
              <a:t>AL =  ________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1000108"/>
            <a:ext cx="2652680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64" y="357166"/>
            <a:ext cx="8715436" cy="1571636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/>
              <a:t>6. </a:t>
            </a:r>
            <a:r>
              <a:rPr lang="zh-CN" altLang="en-US" sz="3200" dirty="0"/>
              <a:t>从</a:t>
            </a:r>
            <a:r>
              <a:rPr lang="en-US" sz="3200" dirty="0"/>
              <a:t>2000H</a:t>
            </a:r>
            <a:r>
              <a:rPr lang="zh-CN" altLang="en-US" sz="3200" dirty="0"/>
              <a:t>单元开始，存放着</a:t>
            </a:r>
            <a:r>
              <a:rPr lang="en-US" sz="3200" dirty="0"/>
              <a:t>14H</a:t>
            </a:r>
            <a:r>
              <a:rPr lang="zh-CN" altLang="en-US" sz="3200" dirty="0"/>
              <a:t>个数据，找出最大一个，并将其存在</a:t>
            </a:r>
            <a:r>
              <a:rPr lang="en-US" sz="3200" dirty="0"/>
              <a:t>2000H</a:t>
            </a:r>
            <a:r>
              <a:rPr lang="zh-CN" altLang="en-US" sz="3200" dirty="0"/>
              <a:t>中。请在方框中各填一条指令。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57430"/>
            <a:ext cx="8229600" cy="435771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GATMAX</a:t>
            </a:r>
            <a:r>
              <a:rPr lang="zh-CN" altLang="en-US" dirty="0"/>
              <a:t>：</a:t>
            </a:r>
            <a:r>
              <a:rPr lang="en-US" altLang="zh-CN" dirty="0"/>
              <a:t>	</a:t>
            </a:r>
            <a:r>
              <a:rPr lang="en-US" dirty="0"/>
              <a:t>MOV  BX</a:t>
            </a:r>
            <a:r>
              <a:rPr lang="zh-CN" altLang="en-US" dirty="0"/>
              <a:t>，</a:t>
            </a:r>
            <a:r>
              <a:rPr lang="en-US" dirty="0"/>
              <a:t>2000H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CX</a:t>
            </a:r>
            <a:r>
              <a:rPr lang="zh-CN" altLang="en-US" dirty="0"/>
              <a:t>，</a:t>
            </a:r>
            <a:r>
              <a:rPr lang="en-US" dirty="0"/>
              <a:t>14H</a:t>
            </a:r>
            <a:endParaRPr lang="zh-CN" altLang="en-US" dirty="0"/>
          </a:p>
          <a:p>
            <a:pPr>
              <a:buNone/>
            </a:pPr>
            <a:r>
              <a:rPr lang="en-US" dirty="0"/>
              <a:t>	      P1</a:t>
            </a:r>
            <a:r>
              <a:rPr lang="zh-CN" altLang="en-US" dirty="0"/>
              <a:t>： </a:t>
            </a:r>
            <a:r>
              <a:rPr lang="en-US" altLang="zh-CN" dirty="0"/>
              <a:t>	</a:t>
            </a:r>
            <a:r>
              <a:rPr lang="en-US" altLang="zh-CN" u="sng" dirty="0"/>
              <a:t>___</a:t>
            </a:r>
            <a:r>
              <a:rPr lang="zh-CN" altLang="en-US" u="sng" dirty="0"/>
              <a:t> ① </a:t>
            </a:r>
            <a:r>
              <a:rPr lang="en-US" altLang="zh-CN" u="sng" dirty="0"/>
              <a:t>______</a:t>
            </a:r>
            <a:r>
              <a:rPr lang="zh-CN" altLang="en-US" u="sng" dirty="0"/>
              <a:t> </a:t>
            </a:r>
            <a:r>
              <a:rPr lang="en-US" altLang="zh-CN" u="sng" dirty="0"/>
              <a:t>INC</a:t>
            </a:r>
            <a:r>
              <a:rPr lang="zh-CN" altLang="en-US" u="sng" dirty="0"/>
              <a:t> </a:t>
            </a:r>
            <a:r>
              <a:rPr lang="en-US" altLang="zh-CN" u="sng" dirty="0"/>
              <a:t>BX</a:t>
            </a:r>
            <a:endParaRPr lang="zh-CN" altLang="en-US" u="sng" dirty="0"/>
          </a:p>
          <a:p>
            <a:pPr>
              <a:buNone/>
            </a:pPr>
            <a:r>
              <a:rPr lang="en-US" dirty="0"/>
              <a:t>			CMP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  <a:endParaRPr lang="zh-CN" altLang="en-US" dirty="0"/>
          </a:p>
          <a:p>
            <a:pPr>
              <a:buNone/>
            </a:pPr>
            <a:r>
              <a:rPr lang="en-US" dirty="0"/>
              <a:t>			JAE  P2 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</a:p>
          <a:p>
            <a:pPr>
              <a:buNone/>
            </a:pPr>
            <a:r>
              <a:rPr lang="en-US" dirty="0"/>
              <a:t>	      P2</a:t>
            </a:r>
            <a:r>
              <a:rPr lang="zh-CN" altLang="en-US" dirty="0"/>
              <a:t>： </a:t>
            </a:r>
            <a:r>
              <a:rPr lang="en-US" altLang="zh-CN" dirty="0"/>
              <a:t>	</a:t>
            </a:r>
            <a:r>
              <a:rPr lang="en-US" altLang="zh-CN" u="sng" dirty="0"/>
              <a:t>___</a:t>
            </a:r>
            <a:r>
              <a:rPr lang="zh-CN" altLang="en-US" u="sng" dirty="0"/>
              <a:t> </a:t>
            </a:r>
            <a:r>
              <a:rPr lang="zh-CN" altLang="en-US" dirty="0"/>
              <a:t>②</a:t>
            </a:r>
            <a:r>
              <a:rPr lang="zh-CN" altLang="en-US" u="sng" dirty="0"/>
              <a:t> </a:t>
            </a:r>
            <a:r>
              <a:rPr lang="en-US" altLang="zh-CN" u="sng" dirty="0"/>
              <a:t>_______DEC</a:t>
            </a:r>
            <a:r>
              <a:rPr lang="zh-CN" altLang="en-US" u="sng" dirty="0"/>
              <a:t> </a:t>
            </a:r>
            <a:r>
              <a:rPr lang="en-US" altLang="zh-CN" u="sng" dirty="0"/>
              <a:t>CX</a:t>
            </a:r>
            <a:endParaRPr lang="zh-CN" altLang="en-US" dirty="0"/>
          </a:p>
          <a:p>
            <a:pPr>
              <a:buNone/>
            </a:pPr>
            <a:r>
              <a:rPr lang="en-US" dirty="0"/>
              <a:t>			JNZ  P1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BX</a:t>
            </a:r>
            <a:r>
              <a:rPr lang="zh-CN" altLang="en-US" dirty="0"/>
              <a:t>，</a:t>
            </a:r>
            <a:r>
              <a:rPr lang="en-US" dirty="0"/>
              <a:t>2000H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[BX]</a:t>
            </a:r>
            <a:r>
              <a:rPr lang="zh-CN" altLang="en-US" dirty="0"/>
              <a:t>，</a:t>
            </a:r>
            <a:r>
              <a:rPr lang="en-US" dirty="0"/>
              <a:t>AL</a:t>
            </a:r>
            <a:endParaRPr lang="zh-CN" altLang="en-US" dirty="0"/>
          </a:p>
          <a:p>
            <a:pPr>
              <a:buNone/>
            </a:pPr>
            <a:r>
              <a:rPr lang="en-US" dirty="0"/>
              <a:t>			HLT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285720" y="2071678"/>
            <a:ext cx="83582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64" y="357166"/>
            <a:ext cx="8715436" cy="2786082"/>
          </a:xfrm>
        </p:spPr>
        <p:txBody>
          <a:bodyPr>
            <a:noAutofit/>
          </a:bodyPr>
          <a:lstStyle/>
          <a:p>
            <a:pPr algn="l"/>
            <a:r>
              <a:rPr lang="en-US" altLang="zh-CN" sz="2400" dirty="0"/>
              <a:t>7. </a:t>
            </a:r>
            <a:r>
              <a:rPr lang="zh-CN" altLang="en-US" sz="2400" dirty="0"/>
              <a:t>设已定义数据段如下：</a:t>
            </a:r>
            <a:br>
              <a:rPr lang="en-US" altLang="zh-CN" sz="2400" dirty="0"/>
            </a:br>
            <a:r>
              <a:rPr lang="en-US" altLang="zh-CN" sz="2400" dirty="0"/>
              <a:t>	DATA SEGEMENT </a:t>
            </a:r>
            <a:br>
              <a:rPr lang="en-US" altLang="zh-CN" sz="2400" dirty="0"/>
            </a:br>
            <a:r>
              <a:rPr lang="en-US" altLang="zh-CN" sz="2400" dirty="0"/>
              <a:t>	DAX   DB   XXH</a:t>
            </a:r>
            <a:br>
              <a:rPr lang="en-US" altLang="zh-CN" sz="2400" dirty="0"/>
            </a:br>
            <a:r>
              <a:rPr lang="en-US" altLang="zh-CN" sz="2400" dirty="0"/>
              <a:t>	DAY    DB  ?</a:t>
            </a:r>
            <a:br>
              <a:rPr lang="en-US" altLang="zh-CN" sz="2400" dirty="0"/>
            </a:br>
            <a:r>
              <a:rPr lang="en-US" altLang="zh-CN" sz="2400" dirty="0"/>
              <a:t>	DATA ENDS</a:t>
            </a:r>
            <a:br>
              <a:rPr lang="en-US" altLang="zh-CN" sz="2400" dirty="0"/>
            </a:br>
            <a:r>
              <a:rPr lang="zh-CN" altLang="en-US" sz="2400" dirty="0"/>
              <a:t>下列程序段完成功能：判断变量</a:t>
            </a:r>
            <a:r>
              <a:rPr lang="en-US" altLang="zh-CN" sz="2400" dirty="0"/>
              <a:t>DAX</a:t>
            </a:r>
            <a:r>
              <a:rPr lang="zh-CN" altLang="en-US" sz="2400" dirty="0"/>
              <a:t>的值是否大于等于</a:t>
            </a:r>
            <a:r>
              <a:rPr lang="en-US" altLang="zh-CN" sz="2400" dirty="0"/>
              <a:t>0</a:t>
            </a:r>
            <a:r>
              <a:rPr lang="zh-CN" altLang="en-US" sz="2400" dirty="0"/>
              <a:t>。若大于等于</a:t>
            </a:r>
            <a:r>
              <a:rPr lang="en-US" altLang="zh-CN" sz="2400" dirty="0"/>
              <a:t>0</a:t>
            </a:r>
            <a:r>
              <a:rPr lang="zh-CN" altLang="en-US" sz="2400" dirty="0"/>
              <a:t>，则将</a:t>
            </a:r>
            <a:r>
              <a:rPr lang="en-US" altLang="zh-CN" sz="2400" dirty="0"/>
              <a:t>DAY</a:t>
            </a:r>
            <a:r>
              <a:rPr lang="zh-CN" altLang="en-US" sz="2400" dirty="0"/>
              <a:t>单元置为</a:t>
            </a:r>
            <a:r>
              <a:rPr lang="en-US" altLang="zh-CN" sz="2400" dirty="0"/>
              <a:t>0FFH</a:t>
            </a:r>
            <a:r>
              <a:rPr lang="zh-CN" altLang="en-US" sz="2400" dirty="0"/>
              <a:t>；否则将</a:t>
            </a:r>
            <a:r>
              <a:rPr lang="en-US" altLang="zh-CN" sz="2400" dirty="0"/>
              <a:t>DAY</a:t>
            </a:r>
            <a:r>
              <a:rPr lang="zh-CN" altLang="en-US" sz="2400" dirty="0"/>
              <a:t>单元的值置为</a:t>
            </a:r>
            <a:r>
              <a:rPr lang="en-US" altLang="zh-CN" sz="2400" dirty="0"/>
              <a:t>00H</a:t>
            </a:r>
            <a:r>
              <a:rPr lang="zh-CN" altLang="en-US" sz="2400" dirty="0"/>
              <a:t>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3571876"/>
            <a:ext cx="8229600" cy="2714644"/>
          </a:xfrm>
        </p:spPr>
        <p:txBody>
          <a:bodyPr>
            <a:normAutofit fontScale="77500" lnSpcReduction="20000"/>
          </a:bodyPr>
          <a:lstStyle/>
          <a:p>
            <a:pPr marL="342900" lvl="2" indent="-342900">
              <a:buNone/>
            </a:pPr>
            <a:r>
              <a:rPr lang="en-US" dirty="0"/>
              <a:t>		</a:t>
            </a:r>
            <a:r>
              <a:rPr lang="en-US" sz="3300" dirty="0"/>
              <a:t>MOV  </a:t>
            </a:r>
            <a:r>
              <a:rPr lang="en-US" altLang="zh-CN" sz="3300" dirty="0"/>
              <a:t>AL,   DAX</a:t>
            </a:r>
            <a:endParaRPr lang="zh-CN" altLang="en-US" sz="3300" dirty="0"/>
          </a:p>
          <a:p>
            <a:pPr>
              <a:buNone/>
            </a:pPr>
            <a:r>
              <a:rPr lang="en-US" dirty="0"/>
              <a:t>		CMP   AL</a:t>
            </a:r>
            <a:r>
              <a:rPr lang="zh-CN" altLang="en-US" dirty="0"/>
              <a:t>，</a:t>
            </a:r>
            <a:r>
              <a:rPr lang="en-US" dirty="0">
                <a:solidFill>
                  <a:srgbClr val="FF0000"/>
                </a:solidFill>
              </a:rPr>
              <a:t>[BX]</a:t>
            </a:r>
            <a:endParaRPr lang="zh-CN" alt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		 </a:t>
            </a:r>
            <a:r>
              <a:rPr lang="en-US" altLang="zh-CN" u="sng" dirty="0"/>
              <a:t>___</a:t>
            </a:r>
            <a:r>
              <a:rPr lang="zh-CN" altLang="en-US" u="sng" dirty="0"/>
              <a:t> ① </a:t>
            </a:r>
            <a:r>
              <a:rPr lang="en-US" altLang="zh-CN" u="sng" dirty="0"/>
              <a:t>_______</a:t>
            </a:r>
            <a:endParaRPr lang="zh-CN" altLang="en-US" u="sng" dirty="0"/>
          </a:p>
          <a:p>
            <a:pPr>
              <a:buNone/>
            </a:pPr>
            <a:r>
              <a:rPr lang="en-US" dirty="0"/>
              <a:t>		MOV  AL</a:t>
            </a:r>
            <a:r>
              <a:rPr lang="zh-CN" altLang="en-US" dirty="0"/>
              <a:t>，</a:t>
            </a:r>
            <a:r>
              <a:rPr lang="en-US" dirty="0"/>
              <a:t>0</a:t>
            </a:r>
            <a:endParaRPr lang="zh-CN" altLang="en-US" dirty="0"/>
          </a:p>
          <a:p>
            <a:pPr>
              <a:buNone/>
            </a:pPr>
            <a:r>
              <a:rPr lang="en-US" dirty="0"/>
              <a:t>		</a:t>
            </a:r>
            <a:r>
              <a:rPr lang="en-US" altLang="zh-CN" u="sng" dirty="0"/>
              <a:t> ___</a:t>
            </a:r>
            <a:r>
              <a:rPr lang="zh-CN" altLang="en-US" u="sng" dirty="0"/>
              <a:t> </a:t>
            </a:r>
            <a:r>
              <a:rPr lang="zh-CN" altLang="en-US" dirty="0"/>
              <a:t>②</a:t>
            </a:r>
            <a:r>
              <a:rPr lang="zh-CN" altLang="en-US" u="sng" dirty="0"/>
              <a:t> </a:t>
            </a:r>
            <a:r>
              <a:rPr lang="en-US" altLang="zh-CN" u="sng" dirty="0"/>
              <a:t>_______ </a:t>
            </a:r>
          </a:p>
          <a:p>
            <a:pPr>
              <a:buNone/>
            </a:pPr>
            <a:r>
              <a:rPr lang="en-US" dirty="0"/>
              <a:t>GRE: 	MOV  AL</a:t>
            </a:r>
            <a:r>
              <a:rPr lang="zh-CN" altLang="en-US" dirty="0"/>
              <a:t>，</a:t>
            </a:r>
            <a:r>
              <a:rPr lang="en-US" dirty="0"/>
              <a:t>0FFH</a:t>
            </a:r>
          </a:p>
          <a:p>
            <a:pPr>
              <a:buNone/>
            </a:pPr>
            <a:r>
              <a:rPr lang="en-US" dirty="0"/>
              <a:t>LEE: 	MOV  DAY,  AL</a:t>
            </a:r>
            <a:r>
              <a:rPr lang="en-US" altLang="zh-CN" dirty="0"/>
              <a:t>	</a:t>
            </a:r>
            <a:r>
              <a:rPr lang="en-US" dirty="0"/>
              <a:t>	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57158" y="3286124"/>
            <a:ext cx="83582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F8F18-B3C6-7046-B40F-F465D148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88840"/>
            <a:ext cx="8229600" cy="1143000"/>
          </a:xfrm>
        </p:spPr>
        <p:txBody>
          <a:bodyPr/>
          <a:lstStyle/>
          <a:p>
            <a:r>
              <a:rPr kumimoji="1" lang="zh-CN" altLang="en-US" dirty="0"/>
              <a:t>考试模拟题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CA080E-6568-7DF5-2763-5A8710798F3A}"/>
              </a:ext>
            </a:extLst>
          </p:cNvPr>
          <p:cNvSpPr txBox="1">
            <a:spLocks/>
          </p:cNvSpPr>
          <p:nvPr/>
        </p:nvSpPr>
        <p:spPr>
          <a:xfrm>
            <a:off x="1357290" y="3501008"/>
            <a:ext cx="64008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/>
              <a:t>2024-11-13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7381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3110B39-0BAF-3442-8201-7857805E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030"/>
            <a:ext cx="9144000" cy="619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1E72F0-0C1E-5D49-8E4A-3D1E7587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431538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C6C06D-34C8-AF4E-AAC0-12E5E87B0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731910"/>
            <a:ext cx="7416378" cy="179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5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A73FF5A-DAEE-FD4E-B968-4EE7EEB7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642"/>
            <a:ext cx="9144000" cy="62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18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CB6D06-E41F-E944-BF96-280D76E6C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44000" cy="52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00A86FA-7C88-5A46-AA5F-CA1F17C7E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749"/>
            <a:ext cx="9144000" cy="471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74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3F49C4A-6959-4D46-91B7-30E643FE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1717"/>
            <a:ext cx="9144000" cy="357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24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092BD57-7D89-2E42-956F-671FA1C1D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294"/>
            <a:ext cx="9144000" cy="43834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DC7DCF-D984-86DE-72BC-9EB1F2B78B54}"/>
              </a:ext>
            </a:extLst>
          </p:cNvPr>
          <p:cNvSpPr txBox="1"/>
          <p:nvPr/>
        </p:nvSpPr>
        <p:spPr>
          <a:xfrm>
            <a:off x="3780692" y="1318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6282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0DC7DCF-D984-86DE-72BC-9EB1F2B78B54}"/>
              </a:ext>
            </a:extLst>
          </p:cNvPr>
          <p:cNvSpPr txBox="1"/>
          <p:nvPr/>
        </p:nvSpPr>
        <p:spPr>
          <a:xfrm>
            <a:off x="3780692" y="1318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C2EC8B-403A-7C8C-3385-3559CE22B77E}"/>
              </a:ext>
            </a:extLst>
          </p:cNvPr>
          <p:cNvSpPr txBox="1"/>
          <p:nvPr/>
        </p:nvSpPr>
        <p:spPr>
          <a:xfrm>
            <a:off x="3280621" y="2636912"/>
            <a:ext cx="25827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dirty="0"/>
              <a:t>答 案 讲 解</a:t>
            </a:r>
          </a:p>
        </p:txBody>
      </p:sp>
    </p:spTree>
    <p:extLst>
      <p:ext uri="{BB962C8B-B14F-4D97-AF65-F5344CB8AC3E}">
        <p14:creationId xmlns:p14="http://schemas.microsoft.com/office/powerpoint/2010/main" val="3028940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3110B39-0BAF-3442-8201-7857805E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030"/>
            <a:ext cx="9144000" cy="619794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CB22BD6-E8DD-5541-BB59-F3EBC121D3F8}"/>
              </a:ext>
            </a:extLst>
          </p:cNvPr>
          <p:cNvSpPr txBox="1"/>
          <p:nvPr/>
        </p:nvSpPr>
        <p:spPr>
          <a:xfrm>
            <a:off x="2411760" y="2606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3AE061-B304-3D48-9BD4-5814930E3E82}"/>
              </a:ext>
            </a:extLst>
          </p:cNvPr>
          <p:cNvSpPr txBox="1"/>
          <p:nvPr/>
        </p:nvSpPr>
        <p:spPr>
          <a:xfrm>
            <a:off x="5004048" y="16288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D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CFB626-CD38-DD4B-BC91-07DB97C4CAF9}"/>
              </a:ext>
            </a:extLst>
          </p:cNvPr>
          <p:cNvSpPr txBox="1"/>
          <p:nvPr/>
        </p:nvSpPr>
        <p:spPr>
          <a:xfrm>
            <a:off x="5334588" y="227687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B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2AD2A9-A4C3-EC49-9D85-D688E92973BA}"/>
              </a:ext>
            </a:extLst>
          </p:cNvPr>
          <p:cNvSpPr txBox="1"/>
          <p:nvPr/>
        </p:nvSpPr>
        <p:spPr>
          <a:xfrm>
            <a:off x="8532440" y="33477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D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780C01-1E02-BA4A-BE22-53D0F2EC3651}"/>
              </a:ext>
            </a:extLst>
          </p:cNvPr>
          <p:cNvSpPr txBox="1"/>
          <p:nvPr/>
        </p:nvSpPr>
        <p:spPr>
          <a:xfrm>
            <a:off x="5334588" y="3999429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A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4D3561-EE1E-BD4A-9F82-469191FDD071}"/>
              </a:ext>
            </a:extLst>
          </p:cNvPr>
          <p:cNvSpPr txBox="1"/>
          <p:nvPr/>
        </p:nvSpPr>
        <p:spPr>
          <a:xfrm>
            <a:off x="899592" y="501317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915B76-7E29-EB44-8D19-3DC6325929D7}"/>
              </a:ext>
            </a:extLst>
          </p:cNvPr>
          <p:cNvSpPr txBox="1"/>
          <p:nvPr/>
        </p:nvSpPr>
        <p:spPr>
          <a:xfrm>
            <a:off x="5483828" y="5721986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A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081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1E72F0-0C1E-5D49-8E4A-3D1E7587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431538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C6C06D-34C8-AF4E-AAC0-12E5E87B0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731910"/>
            <a:ext cx="7416378" cy="17934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F2639E-9479-B544-9B53-348CDA0470AB}"/>
              </a:ext>
            </a:extLst>
          </p:cNvPr>
          <p:cNvSpPr txBox="1"/>
          <p:nvPr/>
        </p:nvSpPr>
        <p:spPr>
          <a:xfrm>
            <a:off x="4499992" y="170080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D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F88E38-42E6-4D45-8A63-A274B32A22DC}"/>
              </a:ext>
            </a:extLst>
          </p:cNvPr>
          <p:cNvSpPr txBox="1"/>
          <p:nvPr/>
        </p:nvSpPr>
        <p:spPr>
          <a:xfrm>
            <a:off x="7137364" y="98072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B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1DA607-7BA8-B546-A1E6-EBFBE4F5624E}"/>
              </a:ext>
            </a:extLst>
          </p:cNvPr>
          <p:cNvSpPr txBox="1"/>
          <p:nvPr/>
        </p:nvSpPr>
        <p:spPr>
          <a:xfrm>
            <a:off x="8532440" y="24878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B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A6901-473A-254E-871F-4DD7061B8ED4}"/>
              </a:ext>
            </a:extLst>
          </p:cNvPr>
          <p:cNvSpPr txBox="1"/>
          <p:nvPr/>
        </p:nvSpPr>
        <p:spPr>
          <a:xfrm>
            <a:off x="3995936" y="278092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E85BBF-DFC9-2540-8D36-2AD90966F2C0}"/>
              </a:ext>
            </a:extLst>
          </p:cNvPr>
          <p:cNvSpPr txBox="1"/>
          <p:nvPr/>
        </p:nvSpPr>
        <p:spPr>
          <a:xfrm>
            <a:off x="5292080" y="378904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D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57C3CC-697A-4D41-928D-54B7695F6542}"/>
              </a:ext>
            </a:extLst>
          </p:cNvPr>
          <p:cNvSpPr txBox="1"/>
          <p:nvPr/>
        </p:nvSpPr>
        <p:spPr>
          <a:xfrm>
            <a:off x="6012160" y="562862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D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27799B-F697-634F-AB4E-CE872A4CE8D2}"/>
              </a:ext>
            </a:extLst>
          </p:cNvPr>
          <p:cNvSpPr txBox="1"/>
          <p:nvPr/>
        </p:nvSpPr>
        <p:spPr>
          <a:xfrm>
            <a:off x="3689442" y="463914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247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A73FF5A-DAEE-FD4E-B968-4EE7EEB7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642"/>
            <a:ext cx="9144000" cy="62387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9F5B2D1-07E8-D043-8897-14D2481BF8B2}"/>
              </a:ext>
            </a:extLst>
          </p:cNvPr>
          <p:cNvSpPr txBox="1"/>
          <p:nvPr/>
        </p:nvSpPr>
        <p:spPr>
          <a:xfrm>
            <a:off x="5148064" y="28865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D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811761-1E31-1648-A262-3B98C8550A90}"/>
              </a:ext>
            </a:extLst>
          </p:cNvPr>
          <p:cNvSpPr txBox="1"/>
          <p:nvPr/>
        </p:nvSpPr>
        <p:spPr>
          <a:xfrm>
            <a:off x="5006840" y="263691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FA0494-B2A4-DF4D-846D-4F82E968CC39}"/>
              </a:ext>
            </a:extLst>
          </p:cNvPr>
          <p:cNvSpPr txBox="1"/>
          <p:nvPr/>
        </p:nvSpPr>
        <p:spPr>
          <a:xfrm>
            <a:off x="3275856" y="335699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829EC2-F31A-9241-8762-7F13847E94ED}"/>
              </a:ext>
            </a:extLst>
          </p:cNvPr>
          <p:cNvSpPr txBox="1"/>
          <p:nvPr/>
        </p:nvSpPr>
        <p:spPr>
          <a:xfrm>
            <a:off x="5325357" y="40050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D3A7A6-22FD-944C-8F49-7A0E89EDAEE8}"/>
              </a:ext>
            </a:extLst>
          </p:cNvPr>
          <p:cNvSpPr txBox="1"/>
          <p:nvPr/>
        </p:nvSpPr>
        <p:spPr>
          <a:xfrm>
            <a:off x="3779912" y="90872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A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4C8289-D42D-1441-9CB5-EF0F91E8926A}"/>
              </a:ext>
            </a:extLst>
          </p:cNvPr>
          <p:cNvSpPr txBox="1"/>
          <p:nvPr/>
        </p:nvSpPr>
        <p:spPr>
          <a:xfrm>
            <a:off x="827584" y="19888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B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59F5D3-DA21-274D-99A9-AE5F37A0DDDC}"/>
              </a:ext>
            </a:extLst>
          </p:cNvPr>
          <p:cNvSpPr txBox="1"/>
          <p:nvPr/>
        </p:nvSpPr>
        <p:spPr>
          <a:xfrm>
            <a:off x="3797546" y="472514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A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763821-F006-F348-9E57-DF1221F5E686}"/>
              </a:ext>
            </a:extLst>
          </p:cNvPr>
          <p:cNvSpPr txBox="1"/>
          <p:nvPr/>
        </p:nvSpPr>
        <p:spPr>
          <a:xfrm>
            <a:off x="7092280" y="537321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A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72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CB6D06-E41F-E944-BF96-280D76E6C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44000" cy="52633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82C545F-9901-2545-A01B-8E217E8FFB2A}"/>
              </a:ext>
            </a:extLst>
          </p:cNvPr>
          <p:cNvSpPr txBox="1"/>
          <p:nvPr/>
        </p:nvSpPr>
        <p:spPr>
          <a:xfrm>
            <a:off x="3689442" y="65204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6BC2D2-429B-AA49-BE20-F1AD9C096B0D}"/>
              </a:ext>
            </a:extLst>
          </p:cNvPr>
          <p:cNvSpPr txBox="1"/>
          <p:nvPr/>
        </p:nvSpPr>
        <p:spPr>
          <a:xfrm>
            <a:off x="2483768" y="400506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D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AD0029-3E7F-5B40-B9B4-5C2119DB0FEA}"/>
              </a:ext>
            </a:extLst>
          </p:cNvPr>
          <p:cNvSpPr txBox="1"/>
          <p:nvPr/>
        </p:nvSpPr>
        <p:spPr>
          <a:xfrm>
            <a:off x="8143100" y="473368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B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751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5ABD1B-0A87-474B-A616-ADD1ACE9C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47" y="1498898"/>
            <a:ext cx="8420100" cy="1231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953D38-A3D6-7545-999B-6E1C4C2D1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47" y="3267075"/>
            <a:ext cx="5080000" cy="4699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6D60A6-D06C-E545-805D-6BA962848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47" y="4273252"/>
            <a:ext cx="7188200" cy="185420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9FEC65D4-CD48-CA4F-BE9F-2227F165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78073"/>
            <a:ext cx="8229600" cy="1143000"/>
          </a:xfrm>
        </p:spPr>
        <p:txBody>
          <a:bodyPr/>
          <a:lstStyle/>
          <a:p>
            <a:r>
              <a:rPr kumimoji="1" lang="zh-CN" altLang="en-US" dirty="0"/>
              <a:t>参考答案</a:t>
            </a:r>
          </a:p>
        </p:txBody>
      </p:sp>
    </p:spTree>
    <p:extLst>
      <p:ext uri="{BB962C8B-B14F-4D97-AF65-F5344CB8AC3E}">
        <p14:creationId xmlns:p14="http://schemas.microsoft.com/office/powerpoint/2010/main" val="3072578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417</Words>
  <Application>Microsoft Macintosh PowerPoint</Application>
  <PresentationFormat>全屏显示(4:3)</PresentationFormat>
  <Paragraphs>85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主题</vt:lpstr>
      <vt:lpstr>《汇编语言》随堂练习题</vt:lpstr>
      <vt:lpstr>PowerPoint 演示文稿</vt:lpstr>
      <vt:lpstr>PowerPoint 演示文稿</vt:lpstr>
      <vt:lpstr>6. 从2000H单元开始，存放着14H个数据，找出最大一个，并将其存在2000H中。请在方框中各填一条指令。</vt:lpstr>
      <vt:lpstr>7. 设已定义数据段如下：  DATA SEGEMENT   DAX   DB   XXH  DAY    DB  ?  DATA ENDS 下列程序段完成功能：判断变量DAX的值是否大于等于0。若大于等于0，则将DAY单元置为0FFH；否则将DAY单元的值置为00H。</vt:lpstr>
      <vt:lpstr>考试模拟题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参考答案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《汇编语言》</dc:title>
  <dc:creator>BoMao</dc:creator>
  <cp:lastModifiedBy>Bo Mao</cp:lastModifiedBy>
  <cp:revision>26</cp:revision>
  <cp:lastPrinted>2022-12-15T23:57:57Z</cp:lastPrinted>
  <dcterms:created xsi:type="dcterms:W3CDTF">2016-11-20T09:37:26Z</dcterms:created>
  <dcterms:modified xsi:type="dcterms:W3CDTF">2024-11-12T13:08:08Z</dcterms:modified>
</cp:coreProperties>
</file>