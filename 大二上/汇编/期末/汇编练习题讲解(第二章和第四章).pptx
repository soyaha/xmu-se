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257" r:id="rId4"/>
    <p:sldId id="258" r:id="rId5"/>
    <p:sldId id="259" r:id="rId7"/>
    <p:sldId id="260" r:id="rId8"/>
    <p:sldId id="261" r:id="rId9"/>
    <p:sldId id="262" r:id="rId10"/>
    <p:sldId id="263" r:id="rId11"/>
    <p:sldId id="264" r:id="rId12"/>
    <p:sldId id="265" r:id="rId13"/>
    <p:sldId id="267" r:id="rId14"/>
    <p:sldId id="268" r:id="rId15"/>
    <p:sldId id="269" r:id="rId16"/>
    <p:sldId id="270" r:id="rId17"/>
    <p:sldId id="271"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8" d="100"/>
          <a:sy n="118" d="100"/>
        </p:scale>
        <p:origin x="61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662046-B145-48F9-9531-C4BB9772315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949836-E4F1-4A18-B97D-054E27D9944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949836-E4F1-4A18-B97D-054E27D9944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949836-E4F1-4A18-B97D-054E27D9944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949836-E4F1-4A18-B97D-054E27D9944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949836-E4F1-4A18-B97D-054E27D9944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949836-E4F1-4A18-B97D-054E27D9944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949836-E4F1-4A18-B97D-054E27D9944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949836-E4F1-4A18-B97D-054E27D9944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949836-E4F1-4A18-B97D-054E27D9944E}"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949836-E4F1-4A18-B97D-054E27D9944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949836-E4F1-4A18-B97D-054E27D9944E}"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949836-E4F1-4A18-B97D-054E27D9944E}"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949836-E4F1-4A18-B97D-054E27D9944E}"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949836-E4F1-4A18-B97D-054E27D9944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A5B018BE-5A98-4498-8CFF-A028E33204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76AC7F-8586-4551-9A9C-688167C0C9A5}"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5B018BE-5A98-4498-8CFF-A028E33204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76AC7F-8586-4551-9A9C-688167C0C9A5}"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A5B018BE-5A98-4498-8CFF-A028E33204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76AC7F-8586-4551-9A9C-688167C0C9A5}"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A5B018BE-5A98-4498-8CFF-A028E332047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76AC7F-8586-4551-9A9C-688167C0C9A5}"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A5B018BE-5A98-4498-8CFF-A028E3320471}"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A76AC7F-8586-4551-9A9C-688167C0C9A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A5B018BE-5A98-4498-8CFF-A028E3320471}"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A76AC7F-8586-4551-9A9C-688167C0C9A5}"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5B018BE-5A98-4498-8CFF-A028E332047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A76AC7F-8586-4551-9A9C-688167C0C9A5}"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5B018BE-5A98-4498-8CFF-A028E332047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76AC7F-8586-4551-9A9C-688167C0C9A5}"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5B018BE-5A98-4498-8CFF-A028E332047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76AC7F-8586-4551-9A9C-688167C0C9A5}"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5B018BE-5A98-4498-8CFF-A028E33204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76AC7F-8586-4551-9A9C-688167C0C9A5}"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5B018BE-5A98-4498-8CFF-A028E33204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76AC7F-8586-4551-9A9C-688167C0C9A5}"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B018BE-5A98-4498-8CFF-A028E332047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76AC7F-8586-4551-9A9C-688167C0C9A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a:stretch>
            <a:fillRect/>
          </a:stretch>
        </p:blipFill>
        <p:spPr>
          <a:xfrm>
            <a:off x="650249" y="0"/>
            <a:ext cx="10072255" cy="3557319"/>
          </a:xfrm>
          <a:prstGeom prst="rect">
            <a:avLst/>
          </a:prstGeom>
        </p:spPr>
      </p:pic>
      <p:sp>
        <p:nvSpPr>
          <p:cNvPr id="12" name="文本框 11"/>
          <p:cNvSpPr txBox="1"/>
          <p:nvPr/>
        </p:nvSpPr>
        <p:spPr>
          <a:xfrm>
            <a:off x="247159" y="3655419"/>
            <a:ext cx="11173691" cy="3139321"/>
          </a:xfrm>
          <a:prstGeom prst="rect">
            <a:avLst/>
          </a:prstGeom>
          <a:noFill/>
        </p:spPr>
        <p:txBody>
          <a:bodyPr wrap="square" rtlCol="0">
            <a:spAutoFit/>
          </a:bodyPr>
          <a:lstStyle/>
          <a:p>
            <a:pPr marL="285750" indent="-285750">
              <a:buFont typeface="Arial" panose="020B0604020202020204" pitchFamily="34" charset="0"/>
              <a:buChar char="•"/>
            </a:pPr>
            <a:r>
              <a:rPr lang="en-US" altLang="zh-CN" b="1" dirty="0"/>
              <a:t>8086CPU</a:t>
            </a:r>
            <a:r>
              <a:rPr lang="zh-CN" altLang="en-US" b="1" dirty="0"/>
              <a:t>有</a:t>
            </a:r>
            <a:r>
              <a:rPr lang="en-US" altLang="zh-CN" b="1" dirty="0"/>
              <a:t>16</a:t>
            </a:r>
            <a:r>
              <a:rPr lang="zh-CN" altLang="en-US" b="1" dirty="0"/>
              <a:t>根数据线和</a:t>
            </a:r>
            <a:r>
              <a:rPr lang="en-US" altLang="zh-CN" b="1" dirty="0"/>
              <a:t>20</a:t>
            </a:r>
            <a:r>
              <a:rPr lang="zh-CN" altLang="en-US" b="1" dirty="0"/>
              <a:t>根地址线，既能处理</a:t>
            </a:r>
            <a:r>
              <a:rPr lang="en-US" altLang="zh-CN" b="1" dirty="0"/>
              <a:t>16</a:t>
            </a:r>
            <a:r>
              <a:rPr lang="zh-CN" altLang="en-US" b="1" dirty="0"/>
              <a:t>位数据，也能处理</a:t>
            </a:r>
            <a:r>
              <a:rPr lang="en-US" altLang="zh-CN" b="1" dirty="0"/>
              <a:t>8</a:t>
            </a:r>
            <a:r>
              <a:rPr lang="zh-CN" altLang="en-US" b="1" dirty="0"/>
              <a:t>位数据，可寻址的地址空间为</a:t>
            </a:r>
            <a:r>
              <a:rPr lang="en-US" altLang="zh-CN" b="1" dirty="0"/>
              <a:t>1MB</a:t>
            </a:r>
            <a:r>
              <a:rPr lang="zh-CN" altLang="en-US" b="1" dirty="0"/>
              <a:t>；</a:t>
            </a:r>
            <a:endParaRPr lang="en-US" altLang="zh-CN" b="1" dirty="0"/>
          </a:p>
          <a:p>
            <a:r>
              <a:rPr lang="zh-CN" altLang="en-US" b="1" dirty="0"/>
              <a:t>所以地址有</a:t>
            </a:r>
            <a:r>
              <a:rPr lang="en-US" altLang="zh-CN" b="1" dirty="0"/>
              <a:t>20bit</a:t>
            </a:r>
            <a:r>
              <a:rPr lang="zh-CN" altLang="en-US" b="1" dirty="0"/>
              <a:t>，地址每四位为一组，用</a:t>
            </a:r>
            <a:r>
              <a:rPr lang="en-US" altLang="zh-CN" b="1" dirty="0"/>
              <a:t>BCD</a:t>
            </a:r>
            <a:r>
              <a:rPr lang="zh-CN" altLang="en-US" b="1" dirty="0"/>
              <a:t>码表示（</a:t>
            </a:r>
            <a:r>
              <a:rPr lang="en-US" altLang="zh-CN" b="1" i="0" dirty="0">
                <a:solidFill>
                  <a:srgbClr val="111111"/>
                </a:solidFill>
                <a:effectLst/>
                <a:latin typeface="Arial" panose="020B0604020202020204" pitchFamily="34" charset="0"/>
              </a:rPr>
              <a:t>00000~FFFFFH</a:t>
            </a:r>
            <a:r>
              <a:rPr lang="zh-CN" altLang="en-US" b="1" dirty="0"/>
              <a:t>），所以地址有</a:t>
            </a:r>
            <a:r>
              <a:rPr lang="en-US" altLang="zh-CN" b="1" dirty="0"/>
              <a:t>5</a:t>
            </a:r>
            <a:r>
              <a:rPr lang="zh-CN" altLang="en-US" b="1" dirty="0"/>
              <a:t>位（</a:t>
            </a:r>
            <a:r>
              <a:rPr lang="en-US" altLang="zh-CN" b="1" dirty="0"/>
              <a:t>[20100H]</a:t>
            </a:r>
            <a:r>
              <a:rPr lang="zh-CN" altLang="en-US" b="1" dirty="0"/>
              <a:t>）。</a:t>
            </a:r>
            <a:endParaRPr lang="en-US" altLang="zh-CN" b="1" dirty="0"/>
          </a:p>
          <a:p>
            <a:pPr marL="285750" indent="-285750">
              <a:buFont typeface="Arial" panose="020B0604020202020204" pitchFamily="34" charset="0"/>
              <a:buChar char="•"/>
            </a:pPr>
            <a:r>
              <a:rPr lang="zh-CN" altLang="en-US" b="1" dirty="0"/>
              <a:t>计算方法为：实际物理地址 </a:t>
            </a:r>
            <a:r>
              <a:rPr lang="en-US" altLang="zh-CN" b="1" dirty="0"/>
              <a:t>= </a:t>
            </a:r>
            <a:r>
              <a:rPr lang="zh-CN" altLang="en-US" b="1" dirty="0"/>
              <a:t>段地址 * </a:t>
            </a:r>
            <a:r>
              <a:rPr lang="en-US" altLang="zh-CN" b="1" dirty="0"/>
              <a:t>16 + </a:t>
            </a:r>
            <a:r>
              <a:rPr lang="zh-CN" altLang="en-US" b="1" dirty="0"/>
              <a:t>偏移量；</a:t>
            </a:r>
            <a:endParaRPr lang="en-US" altLang="zh-CN" b="1" dirty="0"/>
          </a:p>
          <a:p>
            <a:pPr marL="285750" indent="-285750">
              <a:buFont typeface="Arial" panose="020B0604020202020204" pitchFamily="34" charset="0"/>
              <a:buChar char="•"/>
            </a:pPr>
            <a:r>
              <a:rPr lang="zh-CN" altLang="en-US" b="1" dirty="0"/>
              <a:t>内存和寄存器中的数据都是直接存储数据的</a:t>
            </a:r>
            <a:r>
              <a:rPr lang="en-US" altLang="zh-CN" b="1" dirty="0"/>
              <a:t>16</a:t>
            </a:r>
            <a:r>
              <a:rPr lang="zh-CN" altLang="en-US" b="1" dirty="0"/>
              <a:t>进制形式（</a:t>
            </a:r>
            <a:r>
              <a:rPr lang="en-US" altLang="zh-CN" b="1" dirty="0"/>
              <a:t>1200H-&gt;1200, 20-&gt;0014</a:t>
            </a:r>
            <a:r>
              <a:rPr lang="zh-CN" altLang="en-US" b="1" dirty="0"/>
              <a:t>）</a:t>
            </a:r>
            <a:endParaRPr lang="en-US" altLang="zh-CN" b="1" dirty="0"/>
          </a:p>
          <a:p>
            <a:pPr marL="285750" indent="-285750">
              <a:buFont typeface="Arial" panose="020B0604020202020204" pitchFamily="34" charset="0"/>
              <a:buChar char="•"/>
            </a:pPr>
            <a:r>
              <a:rPr lang="en-US" altLang="zh-CN" b="1" dirty="0"/>
              <a:t>DS</a:t>
            </a:r>
            <a:r>
              <a:rPr lang="zh-CN" altLang="en-US" b="1" dirty="0"/>
              <a:t>寄存器中存储的是段地址，所以在计算实际物理地址的时候用寄存器的值乘以</a:t>
            </a:r>
            <a:r>
              <a:rPr lang="en-US" altLang="zh-CN" b="1" dirty="0"/>
              <a:t>16</a:t>
            </a:r>
            <a:r>
              <a:rPr lang="zh-CN" altLang="en-US" b="1" dirty="0"/>
              <a:t>，因为寄存器里面存储的是数的</a:t>
            </a:r>
            <a:r>
              <a:rPr lang="en-US" altLang="zh-CN" b="1" dirty="0"/>
              <a:t>16</a:t>
            </a:r>
            <a:r>
              <a:rPr lang="zh-CN" altLang="en-US" b="1" dirty="0"/>
              <a:t>进制，所以乘以</a:t>
            </a:r>
            <a:r>
              <a:rPr lang="en-US" altLang="zh-CN" b="1" dirty="0"/>
              <a:t>16</a:t>
            </a:r>
            <a:r>
              <a:rPr lang="zh-CN" altLang="en-US" b="1" dirty="0"/>
              <a:t>相当于将寄存器里面原先的值左移一位。</a:t>
            </a:r>
            <a:endParaRPr lang="en-US" altLang="zh-CN" b="1" dirty="0"/>
          </a:p>
          <a:p>
            <a:pPr marL="285750" indent="-285750">
              <a:buFont typeface="Arial" panose="020B0604020202020204" pitchFamily="34" charset="0"/>
              <a:buChar char="•"/>
            </a:pPr>
            <a:r>
              <a:rPr lang="zh-CN" altLang="en-US" b="1" dirty="0"/>
              <a:t>内存</a:t>
            </a:r>
            <a:r>
              <a:rPr lang="en-US" altLang="zh-CN" b="1" dirty="0"/>
              <a:t>-&gt;</a:t>
            </a:r>
            <a:r>
              <a:rPr lang="zh-CN" altLang="en-US" b="1" dirty="0"/>
              <a:t>寄存器：高对高，低对低</a:t>
            </a:r>
            <a:endParaRPr lang="en-US" altLang="zh-CN" b="1" dirty="0"/>
          </a:p>
          <a:p>
            <a:pPr marL="285750" indent="-285750">
              <a:buFont typeface="Arial" panose="020B0604020202020204" pitchFamily="34" charset="0"/>
              <a:buChar char="•"/>
            </a:pPr>
            <a:r>
              <a:rPr lang="zh-CN" altLang="en-US" b="1" dirty="0"/>
              <a:t>数据位宽要对齐</a:t>
            </a:r>
            <a:endParaRPr lang="en-US" altLang="zh-CN" b="1" dirty="0"/>
          </a:p>
          <a:p>
            <a:r>
              <a:rPr lang="zh-CN" altLang="en-US" b="1" dirty="0"/>
              <a:t>（</a:t>
            </a:r>
            <a:r>
              <a:rPr lang="en-US" altLang="zh-CN" b="1" dirty="0"/>
              <a:t>1</a:t>
            </a:r>
            <a:r>
              <a:rPr lang="zh-CN" altLang="en-US" b="1" dirty="0"/>
              <a:t>）</a:t>
            </a:r>
            <a:r>
              <a:rPr lang="en-US" altLang="zh-CN" b="1" dirty="0"/>
              <a:t>1200H</a:t>
            </a:r>
            <a:endParaRPr lang="en-US" altLang="zh-CN" b="1" dirty="0"/>
          </a:p>
          <a:p>
            <a:r>
              <a:rPr lang="zh-CN" altLang="en-US" b="1" dirty="0"/>
              <a:t>（</a:t>
            </a:r>
            <a:r>
              <a:rPr lang="en-US" altLang="zh-CN" b="1" dirty="0"/>
              <a:t>2</a:t>
            </a:r>
            <a:r>
              <a:rPr lang="zh-CN" altLang="en-US" b="1" dirty="0"/>
              <a:t>）</a:t>
            </a:r>
            <a:r>
              <a:rPr lang="en-US" altLang="zh-CN" b="1" dirty="0"/>
              <a:t>0100H</a:t>
            </a:r>
            <a:endParaRPr lang="en-US" altLang="zh-CN" b="1" dirty="0"/>
          </a:p>
          <a:p>
            <a:r>
              <a:rPr lang="zh-CN" altLang="en-US" b="1" dirty="0"/>
              <a:t>（</a:t>
            </a:r>
            <a:r>
              <a:rPr lang="en-US" altLang="zh-CN" b="1" dirty="0"/>
              <a:t>3</a:t>
            </a:r>
            <a:r>
              <a:rPr lang="zh-CN" altLang="en-US" b="1" dirty="0"/>
              <a:t>）</a:t>
            </a:r>
            <a:r>
              <a:rPr lang="en-US" altLang="zh-CN" b="1" dirty="0"/>
              <a:t>4C2AH</a:t>
            </a:r>
            <a:r>
              <a:rPr lang="zh-CN" altLang="en-US" b="1" dirty="0"/>
              <a:t>（实际物理地址：</a:t>
            </a:r>
            <a:r>
              <a:rPr lang="en-US" altLang="zh-CN" b="1" dirty="0"/>
              <a:t>2000H*16+1200H=20000H+1200H=21200H</a:t>
            </a:r>
            <a:r>
              <a:rPr lang="zh-CN" altLang="en-US" b="1" dirty="0"/>
              <a:t>）</a:t>
            </a:r>
            <a:endParaRPr lang="zh-CN" alt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a:stretch>
            <a:fillRect/>
          </a:stretch>
        </p:blipFill>
        <p:spPr>
          <a:xfrm>
            <a:off x="650249" y="0"/>
            <a:ext cx="10072255" cy="3557319"/>
          </a:xfrm>
          <a:prstGeom prst="rect">
            <a:avLst/>
          </a:prstGeom>
        </p:spPr>
      </p:pic>
      <p:sp>
        <p:nvSpPr>
          <p:cNvPr id="12" name="文本框 11"/>
          <p:cNvSpPr txBox="1"/>
          <p:nvPr/>
        </p:nvSpPr>
        <p:spPr>
          <a:xfrm>
            <a:off x="247159" y="3655419"/>
            <a:ext cx="12071362" cy="1200329"/>
          </a:xfrm>
          <a:prstGeom prst="rect">
            <a:avLst/>
          </a:prstGeom>
          <a:noFill/>
        </p:spPr>
        <p:txBody>
          <a:bodyPr wrap="square" rtlCol="0">
            <a:spAutoFit/>
          </a:bodyPr>
          <a:lstStyle/>
          <a:p>
            <a:r>
              <a:rPr lang="zh-CN" altLang="en-US" b="1" dirty="0"/>
              <a:t>（</a:t>
            </a:r>
            <a:r>
              <a:rPr lang="en-US" altLang="zh-CN" b="1" dirty="0"/>
              <a:t>4</a:t>
            </a:r>
            <a:r>
              <a:rPr lang="zh-CN" altLang="en-US" b="1" dirty="0"/>
              <a:t>）</a:t>
            </a:r>
            <a:r>
              <a:rPr lang="en-US" altLang="zh-CN" b="1" dirty="0"/>
              <a:t>3412H</a:t>
            </a:r>
            <a:r>
              <a:rPr lang="zh-CN" altLang="en-US" b="1" dirty="0"/>
              <a:t>（实际物理地址：</a:t>
            </a:r>
            <a:r>
              <a:rPr lang="en-US" altLang="zh-CN" b="1" dirty="0"/>
              <a:t>2000H*16+0100H=20000H+0100H=20100H </a:t>
            </a:r>
            <a:r>
              <a:rPr lang="zh-CN" altLang="en-US" b="1" dirty="0"/>
              <a:t>）</a:t>
            </a:r>
            <a:endParaRPr lang="en-US" altLang="zh-CN" b="1" dirty="0"/>
          </a:p>
          <a:p>
            <a:r>
              <a:rPr lang="zh-CN" altLang="en-US" b="1" dirty="0"/>
              <a:t>（</a:t>
            </a:r>
            <a:r>
              <a:rPr lang="en-US" altLang="zh-CN" b="1" dirty="0"/>
              <a:t>5</a:t>
            </a:r>
            <a:r>
              <a:rPr lang="zh-CN" altLang="en-US" b="1" dirty="0"/>
              <a:t>）</a:t>
            </a:r>
            <a:r>
              <a:rPr lang="en-US" altLang="zh-CN" b="1" dirty="0"/>
              <a:t>4C2AH</a:t>
            </a:r>
            <a:r>
              <a:rPr lang="zh-CN" altLang="en-US" b="1" dirty="0"/>
              <a:t>（实际物理地址：</a:t>
            </a:r>
            <a:r>
              <a:rPr lang="en-US" altLang="zh-CN" b="1" dirty="0"/>
              <a:t>2000H*16+(0100H+1100H)=20000H+1200H=21200H</a:t>
            </a:r>
            <a:r>
              <a:rPr lang="zh-CN" altLang="en-US" b="1" dirty="0"/>
              <a:t>）</a:t>
            </a:r>
            <a:r>
              <a:rPr lang="en-US" altLang="zh-CN" b="1" dirty="0"/>
              <a:t> </a:t>
            </a:r>
            <a:endParaRPr lang="en-US" altLang="zh-CN" b="1" dirty="0"/>
          </a:p>
          <a:p>
            <a:r>
              <a:rPr lang="zh-CN" altLang="en-US" b="1" dirty="0"/>
              <a:t>（</a:t>
            </a:r>
            <a:r>
              <a:rPr lang="en-US" altLang="zh-CN" b="1" dirty="0"/>
              <a:t>6</a:t>
            </a:r>
            <a:r>
              <a:rPr lang="zh-CN" altLang="en-US" b="1" dirty="0"/>
              <a:t>）</a:t>
            </a:r>
            <a:r>
              <a:rPr lang="en-US" altLang="zh-CN" b="1" dirty="0"/>
              <a:t>7856H</a:t>
            </a:r>
            <a:r>
              <a:rPr lang="zh-CN" altLang="en-US" b="1" dirty="0"/>
              <a:t>（实际物理地址：</a:t>
            </a:r>
            <a:r>
              <a:rPr lang="en-US" altLang="zh-CN" b="1" dirty="0"/>
              <a:t>2000H*16+(0100H+0002H)=20000H+0102H=20102H</a:t>
            </a:r>
            <a:r>
              <a:rPr lang="zh-CN" altLang="en-US" b="1" dirty="0"/>
              <a:t>）</a:t>
            </a:r>
            <a:endParaRPr lang="en-US" altLang="zh-CN" b="1" dirty="0"/>
          </a:p>
          <a:p>
            <a:r>
              <a:rPr lang="zh-CN" altLang="en-US" b="1" dirty="0"/>
              <a:t>（</a:t>
            </a:r>
            <a:r>
              <a:rPr lang="en-US" altLang="zh-CN" b="1" dirty="0"/>
              <a:t>7</a:t>
            </a:r>
            <a:r>
              <a:rPr lang="zh-CN" altLang="en-US" b="1" dirty="0"/>
              <a:t>）</a:t>
            </a:r>
            <a:r>
              <a:rPr lang="en-US" altLang="zh-CN" b="1" dirty="0"/>
              <a:t>65B7H</a:t>
            </a:r>
            <a:r>
              <a:rPr lang="zh-CN" altLang="en-US" b="1" dirty="0"/>
              <a:t>（实际物理地址：</a:t>
            </a:r>
            <a:r>
              <a:rPr lang="en-US" altLang="zh-CN" b="1" dirty="0"/>
              <a:t>2000H*16+(0100H+0002H+1100H)=20000H+0102H=21202H</a:t>
            </a:r>
            <a:r>
              <a:rPr lang="zh-CN" altLang="en-US" b="1" dirty="0"/>
              <a:t>）</a:t>
            </a:r>
            <a:r>
              <a:rPr lang="zh-CN" altLang="en-US" sz="1400" b="1" dirty="0"/>
              <a:t>用两个寄存器存储偏移量</a:t>
            </a:r>
            <a:endParaRPr lang="en-US" altLang="zh-CN" sz="14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53042" y="225297"/>
            <a:ext cx="11427125" cy="453573"/>
          </a:xfrm>
          <a:prstGeom prst="rect">
            <a:avLst/>
          </a:prstGeom>
        </p:spPr>
      </p:pic>
      <p:sp>
        <p:nvSpPr>
          <p:cNvPr id="4" name="文本框 3"/>
          <p:cNvSpPr txBox="1"/>
          <p:nvPr/>
        </p:nvSpPr>
        <p:spPr>
          <a:xfrm>
            <a:off x="299049" y="1012166"/>
            <a:ext cx="11427125" cy="646331"/>
          </a:xfrm>
          <a:prstGeom prst="rect">
            <a:avLst/>
          </a:prstGeom>
          <a:noFill/>
        </p:spPr>
        <p:txBody>
          <a:bodyPr wrap="square" rtlCol="0">
            <a:spAutoFit/>
          </a:bodyPr>
          <a:lstStyle/>
          <a:p>
            <a:r>
              <a:rPr lang="zh-CN" altLang="en-US" b="1" dirty="0"/>
              <a:t>解析：堆栈是一种按“先进后出”原则存取数据的存储区域，位于堆栈段中，使用</a:t>
            </a:r>
            <a:r>
              <a:rPr lang="en-US" altLang="zh-CN" b="1" dirty="0"/>
              <a:t>SS</a:t>
            </a:r>
            <a:r>
              <a:rPr lang="zh-CN" altLang="en-US" b="1" dirty="0"/>
              <a:t>段寄存器记录其段地址；它的</a:t>
            </a:r>
            <a:endParaRPr lang="zh-CN" altLang="en-US" b="1" dirty="0"/>
          </a:p>
          <a:p>
            <a:r>
              <a:rPr lang="zh-CN" altLang="en-US" b="1" dirty="0"/>
              <a:t>工作原则是先进后出；堆栈的两种基本操作是压栈和出栈，对应的指令是</a:t>
            </a:r>
            <a:r>
              <a:rPr lang="en-US" altLang="zh-CN" b="1" dirty="0"/>
              <a:t>PUSH</a:t>
            </a:r>
            <a:r>
              <a:rPr lang="zh-CN" altLang="en-US" b="1" dirty="0"/>
              <a:t>和</a:t>
            </a:r>
            <a:r>
              <a:rPr lang="en-US" altLang="zh-CN" b="1" dirty="0"/>
              <a:t>POP</a:t>
            </a:r>
            <a:r>
              <a:rPr lang="zh-CN" altLang="en-US" b="1" dirty="0"/>
              <a:t>。</a:t>
            </a:r>
            <a:endParaRPr lang="zh-CN" altLang="en-US" b="1" dirty="0"/>
          </a:p>
        </p:txBody>
      </p:sp>
      <p:pic>
        <p:nvPicPr>
          <p:cNvPr id="6" name="图片 5"/>
          <p:cNvPicPr>
            <a:picLocks noChangeAspect="1"/>
          </p:cNvPicPr>
          <p:nvPr/>
        </p:nvPicPr>
        <p:blipFill>
          <a:blip r:embed="rId2"/>
          <a:stretch>
            <a:fillRect/>
          </a:stretch>
        </p:blipFill>
        <p:spPr>
          <a:xfrm>
            <a:off x="207033" y="1892201"/>
            <a:ext cx="11634158" cy="2856133"/>
          </a:xfrm>
          <a:prstGeom prst="rect">
            <a:avLst/>
          </a:prstGeom>
        </p:spPr>
      </p:pic>
      <p:sp>
        <p:nvSpPr>
          <p:cNvPr id="8" name="文本框 7"/>
          <p:cNvSpPr txBox="1"/>
          <p:nvPr/>
        </p:nvSpPr>
        <p:spPr>
          <a:xfrm>
            <a:off x="43130" y="4946002"/>
            <a:ext cx="12229381" cy="2031325"/>
          </a:xfrm>
          <a:prstGeom prst="rect">
            <a:avLst/>
          </a:prstGeom>
          <a:noFill/>
        </p:spPr>
        <p:txBody>
          <a:bodyPr wrap="square" rtlCol="0">
            <a:spAutoFit/>
          </a:bodyPr>
          <a:lstStyle/>
          <a:p>
            <a:pPr marL="285750" indent="-285750">
              <a:buFont typeface="Arial" panose="020B0604020202020204" pitchFamily="34" charset="0"/>
              <a:buChar char="•"/>
            </a:pPr>
            <a:r>
              <a:rPr lang="en-US" altLang="zh-CN" b="1" i="0" dirty="0">
                <a:effectLst/>
                <a:latin typeface="-apple-system"/>
              </a:rPr>
              <a:t>CF</a:t>
            </a:r>
            <a:r>
              <a:rPr lang="zh-CN" altLang="en-US" b="1" i="0" dirty="0">
                <a:effectLst/>
                <a:latin typeface="-apple-system"/>
              </a:rPr>
              <a:t>：在进行</a:t>
            </a:r>
            <a:r>
              <a:rPr lang="zh-CN" altLang="en-US" b="1" i="0" dirty="0">
                <a:solidFill>
                  <a:srgbClr val="FF0000"/>
                </a:solidFill>
                <a:effectLst/>
                <a:latin typeface="-apple-system"/>
              </a:rPr>
              <a:t>无符号</a:t>
            </a:r>
            <a:r>
              <a:rPr lang="zh-CN" altLang="en-US" b="1" i="0" dirty="0">
                <a:effectLst/>
                <a:latin typeface="-apple-system"/>
              </a:rPr>
              <a:t>运算的时候，它纪录了运算结果的</a:t>
            </a:r>
            <a:r>
              <a:rPr lang="zh-CN" altLang="en-US" b="1" i="0" dirty="0">
                <a:solidFill>
                  <a:srgbClr val="FF0000"/>
                </a:solidFill>
                <a:effectLst/>
                <a:latin typeface="-apple-system"/>
              </a:rPr>
              <a:t>最高有效位向更高位的进位值，或从更高位的借位值</a:t>
            </a:r>
            <a:r>
              <a:rPr lang="zh-CN" altLang="en-US" b="1" i="0" dirty="0">
                <a:effectLst/>
                <a:latin typeface="-apple-system"/>
              </a:rPr>
              <a:t>。</a:t>
            </a:r>
            <a:r>
              <a:rPr lang="en-US" altLang="zh-CN" b="1" i="0" dirty="0">
                <a:effectLst/>
                <a:latin typeface="-apple-system"/>
              </a:rPr>
              <a:t>CF</a:t>
            </a:r>
            <a:r>
              <a:rPr lang="zh-CN" altLang="en-US" b="1" i="0" dirty="0">
                <a:effectLst/>
                <a:latin typeface="-apple-system"/>
              </a:rPr>
              <a:t>只针对无符号数（将寄存器中的操作数看成无符号数），</a:t>
            </a:r>
            <a:r>
              <a:rPr lang="en-US" altLang="zh-CN" b="1" i="0" dirty="0">
                <a:effectLst/>
                <a:latin typeface="-apple-system"/>
              </a:rPr>
              <a:t>CF=1</a:t>
            </a:r>
            <a:r>
              <a:rPr lang="zh-CN" altLang="en-US" b="1" i="0" dirty="0">
                <a:effectLst/>
                <a:latin typeface="-apple-system"/>
              </a:rPr>
              <a:t>表示有进位或者借位。</a:t>
            </a:r>
            <a:endParaRPr lang="en-US" altLang="zh-CN" b="1" i="0" dirty="0">
              <a:effectLst/>
              <a:latin typeface="-apple-system"/>
            </a:endParaRPr>
          </a:p>
          <a:p>
            <a:pPr marL="285750" indent="-285750">
              <a:buFont typeface="Arial" panose="020B0604020202020204" pitchFamily="34" charset="0"/>
              <a:buChar char="•"/>
            </a:pPr>
            <a:r>
              <a:rPr lang="en-US" altLang="zh-CN" b="1" i="0" dirty="0">
                <a:effectLst/>
                <a:latin typeface="-apple-system"/>
              </a:rPr>
              <a:t>ZF</a:t>
            </a:r>
            <a:r>
              <a:rPr lang="zh-CN" altLang="en-US" b="1" i="0" dirty="0">
                <a:effectLst/>
                <a:latin typeface="-apple-system"/>
              </a:rPr>
              <a:t>：指令执行后，其</a:t>
            </a:r>
            <a:r>
              <a:rPr lang="zh-CN" altLang="en-US" b="1" i="0" dirty="0">
                <a:solidFill>
                  <a:srgbClr val="FF0000"/>
                </a:solidFill>
                <a:effectLst/>
                <a:latin typeface="-apple-system"/>
              </a:rPr>
              <a:t>结果是否为</a:t>
            </a:r>
            <a:r>
              <a:rPr lang="en-US" altLang="zh-CN" b="1" i="0" dirty="0">
                <a:solidFill>
                  <a:srgbClr val="FF0000"/>
                </a:solidFill>
                <a:effectLst/>
                <a:latin typeface="-apple-system"/>
              </a:rPr>
              <a:t>0</a:t>
            </a:r>
            <a:r>
              <a:rPr lang="zh-CN" altLang="en-US" b="1" i="0" dirty="0">
                <a:effectLst/>
                <a:latin typeface="-apple-system"/>
              </a:rPr>
              <a:t>，若结果为</a:t>
            </a:r>
            <a:r>
              <a:rPr lang="en-US" altLang="zh-CN" b="1" i="0" dirty="0">
                <a:effectLst/>
                <a:latin typeface="-apple-system"/>
              </a:rPr>
              <a:t>0</a:t>
            </a:r>
            <a:r>
              <a:rPr lang="zh-CN" altLang="en-US" b="1" i="0" dirty="0">
                <a:effectLst/>
                <a:latin typeface="-apple-system"/>
              </a:rPr>
              <a:t>，那么</a:t>
            </a:r>
            <a:r>
              <a:rPr lang="en-US" altLang="zh-CN" b="1" i="0" dirty="0">
                <a:effectLst/>
                <a:latin typeface="-apple-system"/>
              </a:rPr>
              <a:t>ZF=1</a:t>
            </a:r>
            <a:r>
              <a:rPr lang="zh-CN" altLang="en-US" b="1" i="0" dirty="0">
                <a:effectLst/>
                <a:latin typeface="-apple-system"/>
              </a:rPr>
              <a:t>；如果不为</a:t>
            </a:r>
            <a:r>
              <a:rPr lang="en-US" altLang="zh-CN" b="1" i="0" dirty="0">
                <a:effectLst/>
                <a:latin typeface="-apple-system"/>
              </a:rPr>
              <a:t>0</a:t>
            </a:r>
            <a:r>
              <a:rPr lang="zh-CN" altLang="en-US" b="1" i="0" dirty="0">
                <a:effectLst/>
                <a:latin typeface="-apple-system"/>
              </a:rPr>
              <a:t>，那么</a:t>
            </a:r>
            <a:r>
              <a:rPr lang="en-US" altLang="zh-CN" b="1" i="0" dirty="0">
                <a:effectLst/>
                <a:latin typeface="-apple-system"/>
              </a:rPr>
              <a:t>ZF=0</a:t>
            </a:r>
            <a:r>
              <a:rPr lang="zh-CN" altLang="en-US" b="1" i="0" dirty="0">
                <a:effectLst/>
                <a:latin typeface="-apple-system"/>
              </a:rPr>
              <a:t>。</a:t>
            </a:r>
            <a:endParaRPr lang="en-US" altLang="zh-CN" b="1" i="0" dirty="0">
              <a:effectLst/>
              <a:latin typeface="-apple-system"/>
            </a:endParaRPr>
          </a:p>
          <a:p>
            <a:pPr marL="285750" indent="-285750">
              <a:buFont typeface="Arial" panose="020B0604020202020204" pitchFamily="34" charset="0"/>
              <a:buChar char="•"/>
            </a:pPr>
            <a:r>
              <a:rPr lang="en-US" altLang="zh-CN" b="1" dirty="0">
                <a:latin typeface="-apple-system"/>
              </a:rPr>
              <a:t>SF</a:t>
            </a:r>
            <a:r>
              <a:rPr lang="zh-CN" altLang="en-US" b="1" dirty="0">
                <a:latin typeface="-apple-system"/>
              </a:rPr>
              <a:t>：有符号运算，指令执行后，其</a:t>
            </a:r>
            <a:r>
              <a:rPr lang="zh-CN" altLang="en-US" b="1" dirty="0">
                <a:solidFill>
                  <a:srgbClr val="FF0000"/>
                </a:solidFill>
                <a:latin typeface="-apple-system"/>
              </a:rPr>
              <a:t>结果是否为负</a:t>
            </a:r>
            <a:r>
              <a:rPr lang="zh-CN" altLang="en-US" b="1" dirty="0">
                <a:latin typeface="-apple-system"/>
              </a:rPr>
              <a:t>。若结果为负，</a:t>
            </a:r>
            <a:r>
              <a:rPr lang="en-US" altLang="zh-CN" b="1" dirty="0">
                <a:latin typeface="-apple-system"/>
              </a:rPr>
              <a:t>SF=1</a:t>
            </a:r>
            <a:r>
              <a:rPr lang="zh-CN" altLang="en-US" b="1" dirty="0">
                <a:latin typeface="-apple-system"/>
              </a:rPr>
              <a:t>；如果非负，</a:t>
            </a:r>
            <a:r>
              <a:rPr lang="en-US" altLang="zh-CN" b="1" dirty="0">
                <a:latin typeface="-apple-system"/>
              </a:rPr>
              <a:t>SF=0</a:t>
            </a:r>
            <a:r>
              <a:rPr lang="zh-CN" altLang="en-US" b="1" dirty="0">
                <a:latin typeface="-apple-system"/>
              </a:rPr>
              <a:t>。两个数相加，结果转换成二进制，</a:t>
            </a:r>
            <a:r>
              <a:rPr lang="zh-CN" altLang="en-US" b="1" dirty="0">
                <a:solidFill>
                  <a:srgbClr val="FF0000"/>
                </a:solidFill>
                <a:latin typeface="-apple-system"/>
              </a:rPr>
              <a:t>看最高位</a:t>
            </a:r>
            <a:r>
              <a:rPr lang="zh-CN" altLang="en-US" b="1" dirty="0">
                <a:latin typeface="-apple-system"/>
              </a:rPr>
              <a:t>，若为</a:t>
            </a:r>
            <a:r>
              <a:rPr lang="en-US" altLang="zh-CN" b="1" dirty="0">
                <a:latin typeface="-apple-system"/>
              </a:rPr>
              <a:t>1</a:t>
            </a:r>
            <a:r>
              <a:rPr lang="zh-CN" altLang="en-US" b="1" dirty="0">
                <a:latin typeface="-apple-system"/>
              </a:rPr>
              <a:t>，</a:t>
            </a:r>
            <a:r>
              <a:rPr lang="en-US" altLang="zh-CN" b="1" dirty="0">
                <a:latin typeface="-apple-system"/>
              </a:rPr>
              <a:t>SF=1</a:t>
            </a:r>
            <a:r>
              <a:rPr lang="zh-CN" altLang="en-US" b="1" dirty="0">
                <a:latin typeface="-apple-system"/>
              </a:rPr>
              <a:t>（即结果是负数），若为</a:t>
            </a:r>
            <a:r>
              <a:rPr lang="en-US" altLang="zh-CN" b="1" dirty="0">
                <a:latin typeface="-apple-system"/>
              </a:rPr>
              <a:t>0</a:t>
            </a:r>
            <a:r>
              <a:rPr lang="zh-CN" altLang="en-US" b="1" dirty="0">
                <a:latin typeface="-apple-system"/>
              </a:rPr>
              <a:t>，</a:t>
            </a:r>
            <a:r>
              <a:rPr lang="en-US" altLang="zh-CN" b="1" dirty="0">
                <a:latin typeface="-apple-system"/>
              </a:rPr>
              <a:t>SF=0</a:t>
            </a:r>
            <a:r>
              <a:rPr lang="zh-CN" altLang="en-US" b="1" dirty="0">
                <a:latin typeface="-apple-system"/>
              </a:rPr>
              <a:t>（补码表示法）。</a:t>
            </a:r>
            <a:endParaRPr lang="en-US" altLang="zh-CN" b="1" dirty="0">
              <a:latin typeface="-apple-system"/>
            </a:endParaRPr>
          </a:p>
          <a:p>
            <a:pPr marL="285750" indent="-285750">
              <a:buFont typeface="Arial" panose="020B0604020202020204" pitchFamily="34" charset="0"/>
              <a:buChar char="•"/>
            </a:pPr>
            <a:endParaRPr lang="zh-CN" altLang="en-US" b="1" dirty="0">
              <a:latin typeface="-apple-system"/>
            </a:endParaRPr>
          </a:p>
          <a:p>
            <a:pPr marL="285750" indent="-285750">
              <a:buFont typeface="Arial" panose="020B0604020202020204" pitchFamily="34" charset="0"/>
              <a:buChar char="•"/>
            </a:pPr>
            <a:endParaRPr lang="zh-CN" altLang="en-US"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37380" y="0"/>
            <a:ext cx="11634158" cy="2856133"/>
          </a:xfrm>
          <a:prstGeom prst="rect">
            <a:avLst/>
          </a:prstGeom>
        </p:spPr>
      </p:pic>
      <p:sp>
        <p:nvSpPr>
          <p:cNvPr id="8" name="文本框 7"/>
          <p:cNvSpPr txBox="1"/>
          <p:nvPr/>
        </p:nvSpPr>
        <p:spPr>
          <a:xfrm>
            <a:off x="-94892" y="2938732"/>
            <a:ext cx="12286892" cy="4799965"/>
          </a:xfrm>
          <a:prstGeom prst="rect">
            <a:avLst/>
          </a:prstGeom>
          <a:noFill/>
        </p:spPr>
        <p:txBody>
          <a:bodyPr wrap="square" rtlCol="0">
            <a:spAutoFit/>
          </a:bodyPr>
          <a:lstStyle/>
          <a:p>
            <a:pPr marL="285750" indent="-285750">
              <a:buFont typeface="Arial" panose="020B0604020202020204" pitchFamily="34" charset="0"/>
              <a:buChar char="•"/>
            </a:pPr>
            <a:r>
              <a:rPr lang="en-US" altLang="zh-CN" b="1" dirty="0">
                <a:latin typeface="-apple-system"/>
              </a:rPr>
              <a:t>OF</a:t>
            </a:r>
            <a:r>
              <a:rPr lang="zh-CN" altLang="en-US" b="1" dirty="0">
                <a:latin typeface="-apple-system"/>
              </a:rPr>
              <a:t>：</a:t>
            </a:r>
            <a:r>
              <a:rPr lang="zh-CN" altLang="en-US" b="1" dirty="0">
                <a:solidFill>
                  <a:srgbClr val="FF0000"/>
                </a:solidFill>
                <a:latin typeface="-apple-system"/>
              </a:rPr>
              <a:t>有符号运算</a:t>
            </a:r>
            <a:r>
              <a:rPr lang="zh-CN" altLang="en-US" b="1" dirty="0">
                <a:latin typeface="-apple-system"/>
              </a:rPr>
              <a:t>，在进行有符号运算的时候，如</a:t>
            </a:r>
            <a:r>
              <a:rPr lang="zh-CN" altLang="en-US" b="1" dirty="0">
                <a:solidFill>
                  <a:srgbClr val="FF0000"/>
                </a:solidFill>
                <a:latin typeface="-apple-system"/>
              </a:rPr>
              <a:t>结果超过了机器所能表示的范围</a:t>
            </a:r>
            <a:r>
              <a:rPr lang="zh-CN" altLang="en-US" b="1" dirty="0">
                <a:latin typeface="-apple-system"/>
              </a:rPr>
              <a:t>称为溢出。</a:t>
            </a:r>
            <a:r>
              <a:rPr lang="en-US" altLang="zh-CN" b="1" dirty="0">
                <a:latin typeface="-apple-system"/>
              </a:rPr>
              <a:t>OF</a:t>
            </a:r>
            <a:r>
              <a:rPr lang="zh-CN" altLang="en-US" b="1" dirty="0">
                <a:latin typeface="-apple-system"/>
              </a:rPr>
              <a:t>针对有符号数（将寄存器中的操作数看成有符号数）判断</a:t>
            </a:r>
            <a:r>
              <a:rPr lang="en-US" altLang="zh-CN" b="1" dirty="0">
                <a:latin typeface="-apple-system"/>
              </a:rPr>
              <a:t>OF</a:t>
            </a:r>
            <a:r>
              <a:rPr lang="zh-CN" altLang="en-US" b="1" dirty="0">
                <a:latin typeface="-apple-system"/>
              </a:rPr>
              <a:t>时，默认为有符号运算，先把数值换成</a:t>
            </a:r>
            <a:r>
              <a:rPr lang="zh-CN" altLang="en-US" b="1" dirty="0">
                <a:solidFill>
                  <a:srgbClr val="FF0000"/>
                </a:solidFill>
                <a:latin typeface="-apple-system"/>
              </a:rPr>
              <a:t>补码形式</a:t>
            </a:r>
            <a:r>
              <a:rPr lang="zh-CN" altLang="en-US" b="1" dirty="0">
                <a:latin typeface="-apple-system"/>
              </a:rPr>
              <a:t>，看补码的数值是否在</a:t>
            </a:r>
            <a:r>
              <a:rPr lang="en-US" altLang="zh-CN" b="1" dirty="0">
                <a:solidFill>
                  <a:srgbClr val="FF0000"/>
                </a:solidFill>
                <a:latin typeface="-apple-system"/>
              </a:rPr>
              <a:t>[-128,+127]</a:t>
            </a:r>
            <a:r>
              <a:rPr lang="zh-CN" altLang="en-US" b="1" dirty="0">
                <a:latin typeface="-apple-system"/>
              </a:rPr>
              <a:t>范围之内，如果数值不在这个范围（表示溢出），</a:t>
            </a:r>
            <a:r>
              <a:rPr lang="en-US" altLang="zh-CN" b="1" dirty="0">
                <a:latin typeface="-apple-system"/>
              </a:rPr>
              <a:t>OF=1</a:t>
            </a:r>
            <a:r>
              <a:rPr lang="zh-CN" altLang="en-US" b="1" dirty="0">
                <a:latin typeface="-apple-system"/>
              </a:rPr>
              <a:t>。</a:t>
            </a:r>
            <a:endParaRPr lang="en-US" altLang="zh-CN" b="1" dirty="0">
              <a:latin typeface="-apple-system"/>
            </a:endParaRPr>
          </a:p>
          <a:p>
            <a:pPr marL="285750" indent="-285750">
              <a:buFont typeface="Arial" panose="020B0604020202020204" pitchFamily="34" charset="0"/>
              <a:buChar char="•"/>
            </a:pPr>
            <a:r>
              <a:rPr lang="en-US" altLang="zh-CN" b="1" dirty="0">
                <a:latin typeface="-apple-system"/>
              </a:rPr>
              <a:t>PF</a:t>
            </a:r>
            <a:r>
              <a:rPr lang="zh-CN" altLang="en-US" b="1" dirty="0">
                <a:latin typeface="-apple-system"/>
              </a:rPr>
              <a:t>：指令执行后，其结果的二进制表示中</a:t>
            </a:r>
            <a:r>
              <a:rPr lang="en-US" altLang="zh-CN" b="1" dirty="0">
                <a:solidFill>
                  <a:srgbClr val="FF0000"/>
                </a:solidFill>
                <a:latin typeface="-apple-system"/>
              </a:rPr>
              <a:t>1</a:t>
            </a:r>
            <a:r>
              <a:rPr lang="zh-CN" altLang="en-US" b="1" dirty="0">
                <a:solidFill>
                  <a:srgbClr val="FF0000"/>
                </a:solidFill>
                <a:latin typeface="-apple-system"/>
              </a:rPr>
              <a:t>的个数是否为偶数</a:t>
            </a:r>
            <a:r>
              <a:rPr lang="zh-CN" altLang="en-US" b="1" dirty="0">
                <a:latin typeface="-apple-system"/>
              </a:rPr>
              <a:t>，若</a:t>
            </a:r>
            <a:r>
              <a:rPr lang="en-US" altLang="zh-CN" b="1" dirty="0">
                <a:latin typeface="-apple-system"/>
              </a:rPr>
              <a:t>1</a:t>
            </a:r>
            <a:r>
              <a:rPr lang="zh-CN" altLang="en-US" b="1" dirty="0">
                <a:latin typeface="-apple-system"/>
              </a:rPr>
              <a:t>的个数为偶数，</a:t>
            </a:r>
            <a:r>
              <a:rPr lang="en-US" altLang="zh-CN" b="1" dirty="0">
                <a:latin typeface="-apple-system"/>
              </a:rPr>
              <a:t>PF=1</a:t>
            </a:r>
            <a:r>
              <a:rPr lang="zh-CN" altLang="en-US" b="1" dirty="0">
                <a:latin typeface="-apple-system"/>
              </a:rPr>
              <a:t>；若</a:t>
            </a:r>
            <a:r>
              <a:rPr lang="en-US" altLang="zh-CN" b="1" dirty="0">
                <a:latin typeface="-apple-system"/>
              </a:rPr>
              <a:t>1</a:t>
            </a:r>
            <a:r>
              <a:rPr lang="zh-CN" altLang="en-US" b="1" dirty="0">
                <a:latin typeface="-apple-system"/>
              </a:rPr>
              <a:t>的个数为奇数，</a:t>
            </a:r>
            <a:r>
              <a:rPr lang="en-US" altLang="zh-CN" b="1" dirty="0">
                <a:latin typeface="-apple-system"/>
              </a:rPr>
              <a:t>PF=0</a:t>
            </a:r>
            <a:r>
              <a:rPr lang="zh-CN" altLang="en-US" b="1" dirty="0">
                <a:latin typeface="-apple-system"/>
              </a:rPr>
              <a:t>。</a:t>
            </a:r>
            <a:endParaRPr lang="en-US" altLang="zh-CN" b="1" dirty="0">
              <a:latin typeface="-apple-system"/>
            </a:endParaRPr>
          </a:p>
          <a:p>
            <a:pPr marL="285750" indent="-285750">
              <a:buFont typeface="Arial" panose="020B0604020202020204" pitchFamily="34" charset="0"/>
              <a:buChar char="•"/>
            </a:pPr>
            <a:r>
              <a:rPr lang="zh-CN" altLang="en-US" b="1" dirty="0">
                <a:latin typeface="-apple-system"/>
              </a:rPr>
              <a:t>判断方法总结：判断</a:t>
            </a:r>
            <a:r>
              <a:rPr lang="en-US" altLang="zh-CN" b="1" dirty="0">
                <a:latin typeface="-apple-system"/>
              </a:rPr>
              <a:t>CF</a:t>
            </a:r>
            <a:r>
              <a:rPr lang="zh-CN" altLang="en-US" b="1" dirty="0">
                <a:latin typeface="-apple-system"/>
              </a:rPr>
              <a:t>时，可以直接用二进制加减法进行直接加减，看是否有向更高位进位或者借位（</a:t>
            </a:r>
            <a:r>
              <a:rPr lang="zh-CN" altLang="en-US" b="1" dirty="0">
                <a:solidFill>
                  <a:srgbClr val="FF0000"/>
                </a:solidFill>
                <a:latin typeface="-apple-system"/>
              </a:rPr>
              <a:t>注意</a:t>
            </a:r>
            <a:r>
              <a:rPr lang="en-US" altLang="zh-CN" b="1" dirty="0">
                <a:solidFill>
                  <a:srgbClr val="FF0000"/>
                </a:solidFill>
                <a:latin typeface="-apple-system"/>
              </a:rPr>
              <a:t>INC</a:t>
            </a:r>
            <a:r>
              <a:rPr lang="zh-CN" altLang="en-US" b="1" dirty="0">
                <a:solidFill>
                  <a:srgbClr val="FF0000"/>
                </a:solidFill>
                <a:latin typeface="-apple-system"/>
              </a:rPr>
              <a:t>和</a:t>
            </a:r>
            <a:r>
              <a:rPr lang="en-US" altLang="zh-CN" b="1" dirty="0">
                <a:solidFill>
                  <a:srgbClr val="FF0000"/>
                </a:solidFill>
                <a:latin typeface="-apple-system"/>
              </a:rPr>
              <a:t>DEC</a:t>
            </a:r>
            <a:r>
              <a:rPr lang="zh-CN" altLang="en-US" b="1" dirty="0">
                <a:solidFill>
                  <a:srgbClr val="FF0000"/>
                </a:solidFill>
                <a:latin typeface="-apple-system"/>
              </a:rPr>
              <a:t>指令不影响</a:t>
            </a:r>
            <a:r>
              <a:rPr lang="en-US" altLang="zh-CN" b="1" dirty="0">
                <a:solidFill>
                  <a:srgbClr val="FF0000"/>
                </a:solidFill>
                <a:latin typeface="-apple-system"/>
              </a:rPr>
              <a:t>CF</a:t>
            </a:r>
            <a:r>
              <a:rPr lang="zh-CN" altLang="en-US" b="1" dirty="0">
                <a:solidFill>
                  <a:srgbClr val="FF0000"/>
                </a:solidFill>
                <a:latin typeface="-apple-system"/>
              </a:rPr>
              <a:t>标志位</a:t>
            </a:r>
            <a:r>
              <a:rPr lang="zh-CN" altLang="en-US" b="1" dirty="0">
                <a:latin typeface="-apple-system"/>
              </a:rPr>
              <a:t>）；判断</a:t>
            </a:r>
            <a:r>
              <a:rPr lang="en-US" altLang="zh-CN" b="1" dirty="0">
                <a:latin typeface="-apple-system"/>
              </a:rPr>
              <a:t>ZF</a:t>
            </a:r>
            <a:r>
              <a:rPr lang="zh-CN" altLang="en-US" b="1" dirty="0">
                <a:latin typeface="-apple-system"/>
              </a:rPr>
              <a:t>时，直接看最后结果是否为</a:t>
            </a:r>
            <a:r>
              <a:rPr lang="en-US" altLang="zh-CN" b="1" dirty="0">
                <a:latin typeface="-apple-system"/>
              </a:rPr>
              <a:t>0</a:t>
            </a:r>
            <a:r>
              <a:rPr lang="zh-CN" altLang="en-US" b="1" dirty="0">
                <a:latin typeface="-apple-system"/>
              </a:rPr>
              <a:t>；判断</a:t>
            </a:r>
            <a:r>
              <a:rPr lang="en-US" altLang="zh-CN" b="1" dirty="0">
                <a:latin typeface="-apple-system"/>
              </a:rPr>
              <a:t>SF</a:t>
            </a:r>
            <a:r>
              <a:rPr lang="zh-CN" altLang="en-US" b="1" dirty="0">
                <a:latin typeface="-apple-system"/>
              </a:rPr>
              <a:t>时，直接看结果的最高位；判断</a:t>
            </a:r>
            <a:r>
              <a:rPr lang="en-US" altLang="zh-CN" b="1" dirty="0">
                <a:latin typeface="-apple-system"/>
              </a:rPr>
              <a:t>OF</a:t>
            </a:r>
            <a:r>
              <a:rPr lang="zh-CN" altLang="en-US" b="1" dirty="0">
                <a:latin typeface="-apple-system"/>
              </a:rPr>
              <a:t>时，若是</a:t>
            </a:r>
            <a:r>
              <a:rPr lang="en-US" altLang="zh-CN" b="1" dirty="0">
                <a:latin typeface="-apple-system"/>
              </a:rPr>
              <a:t>A+B</a:t>
            </a:r>
            <a:r>
              <a:rPr lang="zh-CN" altLang="en-US" b="1" dirty="0">
                <a:latin typeface="-apple-system"/>
              </a:rPr>
              <a:t>可以直接</a:t>
            </a:r>
            <a:r>
              <a:rPr lang="en-US" altLang="zh-CN" b="1" dirty="0">
                <a:latin typeface="-apple-system"/>
              </a:rPr>
              <a:t>[A]</a:t>
            </a:r>
            <a:r>
              <a:rPr lang="zh-CN" altLang="en-US" b="1" dirty="0">
                <a:latin typeface="-apple-system"/>
              </a:rPr>
              <a:t>补</a:t>
            </a:r>
            <a:r>
              <a:rPr lang="en-US" altLang="zh-CN" b="1" dirty="0">
                <a:latin typeface="-apple-system"/>
              </a:rPr>
              <a:t>+[B]</a:t>
            </a:r>
            <a:r>
              <a:rPr lang="zh-CN" altLang="en-US" b="1" dirty="0">
                <a:latin typeface="-apple-system"/>
              </a:rPr>
              <a:t>补，若是</a:t>
            </a:r>
            <a:r>
              <a:rPr lang="en-US" altLang="zh-CN" b="1" dirty="0">
                <a:latin typeface="-apple-system"/>
              </a:rPr>
              <a:t>A-B</a:t>
            </a:r>
            <a:r>
              <a:rPr lang="zh-CN" altLang="en-US" b="1" dirty="0">
                <a:latin typeface="-apple-system"/>
              </a:rPr>
              <a:t>，可以转化为</a:t>
            </a:r>
            <a:r>
              <a:rPr lang="en-US" altLang="zh-CN" b="1" dirty="0">
                <a:latin typeface="-apple-system"/>
              </a:rPr>
              <a:t>[A]</a:t>
            </a:r>
            <a:r>
              <a:rPr lang="zh-CN" altLang="en-US" b="1" dirty="0">
                <a:latin typeface="-apple-system"/>
              </a:rPr>
              <a:t>补</a:t>
            </a:r>
            <a:r>
              <a:rPr lang="en-US" altLang="zh-CN" b="1" dirty="0">
                <a:latin typeface="-apple-system"/>
              </a:rPr>
              <a:t>+[-B]</a:t>
            </a:r>
            <a:r>
              <a:rPr lang="zh-CN" altLang="en-US" b="1" dirty="0">
                <a:latin typeface="-apple-system"/>
              </a:rPr>
              <a:t>补，再看两个数相加时，数据位高位和符号位高位的进位</a:t>
            </a:r>
            <a:r>
              <a:rPr lang="zh-CN" altLang="en-US" b="1" dirty="0">
                <a:latin typeface="-apple-system"/>
              </a:rPr>
              <a:t>情况是否一致；判断</a:t>
            </a:r>
            <a:r>
              <a:rPr lang="en-US" altLang="zh-CN" b="1" dirty="0">
                <a:latin typeface="-apple-system"/>
              </a:rPr>
              <a:t>PF</a:t>
            </a:r>
            <a:r>
              <a:rPr lang="zh-CN" altLang="en-US" b="1" dirty="0">
                <a:latin typeface="-apple-system"/>
              </a:rPr>
              <a:t>时，直接数结果中</a:t>
            </a:r>
            <a:r>
              <a:rPr lang="en-US" altLang="zh-CN" b="1" dirty="0">
                <a:latin typeface="-apple-system"/>
              </a:rPr>
              <a:t>1</a:t>
            </a:r>
            <a:r>
              <a:rPr lang="zh-CN" altLang="en-US" b="1" dirty="0">
                <a:latin typeface="-apple-system"/>
              </a:rPr>
              <a:t>的个数。</a:t>
            </a:r>
            <a:endParaRPr lang="en-US" altLang="zh-CN" b="1" dirty="0">
              <a:latin typeface="-apple-system"/>
            </a:endParaRPr>
          </a:p>
          <a:p>
            <a:endParaRPr lang="zh-CN" altLang="en-US" b="1" dirty="0">
              <a:latin typeface="-apple-system"/>
            </a:endParaRPr>
          </a:p>
          <a:p>
            <a:pPr lvl="1" algn="just"/>
            <a:r>
              <a:rPr lang="en-US" altLang="zh-CN" kern="100" dirty="0">
                <a:effectLst/>
                <a:latin typeface="Times New Roman" panose="02020603050405020304" pitchFamily="18" charset="0"/>
                <a:ea typeface="宋体" panose="02010600030101010101" pitchFamily="2" charset="-122"/>
              </a:rPr>
              <a:t>mov al,89h           ; AL=89h   CF  ZF  SF  OF  PF</a:t>
            </a:r>
            <a:endParaRPr lang="zh-CN" altLang="zh-CN" kern="100" dirty="0">
              <a:effectLst/>
              <a:latin typeface="Times New Roman" panose="02020603050405020304" pitchFamily="18" charset="0"/>
              <a:ea typeface="宋体" panose="02010600030101010101" pitchFamily="2" charset="-122"/>
            </a:endParaRPr>
          </a:p>
          <a:p>
            <a:pPr lvl="1" algn="just"/>
            <a:r>
              <a:rPr lang="pt-BR" altLang="zh-CN" kern="100" dirty="0">
                <a:effectLst/>
                <a:latin typeface="Times New Roman" panose="02020603050405020304" pitchFamily="18" charset="0"/>
                <a:ea typeface="宋体" panose="02010600030101010101" pitchFamily="2" charset="-122"/>
              </a:rPr>
              <a:t>add al,al               ; AL=12h    1    0     0     1    1</a:t>
            </a:r>
            <a:endParaRPr lang="zh-CN" altLang="zh-CN" kern="100" dirty="0">
              <a:effectLst/>
              <a:latin typeface="Times New Roman" panose="02020603050405020304" pitchFamily="18" charset="0"/>
              <a:ea typeface="宋体" panose="02010600030101010101" pitchFamily="2" charset="-122"/>
            </a:endParaRPr>
          </a:p>
          <a:p>
            <a:pPr lvl="1" algn="just"/>
            <a:r>
              <a:rPr lang="en-US" altLang="zh-CN" kern="100" dirty="0">
                <a:effectLst/>
                <a:latin typeface="Times New Roman" panose="02020603050405020304" pitchFamily="18" charset="0"/>
                <a:ea typeface="宋体" panose="02010600030101010101" pitchFamily="2" charset="-122"/>
              </a:rPr>
              <a:t>; 1000 1001</a:t>
            </a:r>
            <a:endParaRPr lang="zh-CN" altLang="zh-CN" kern="100" dirty="0">
              <a:effectLst/>
              <a:latin typeface="Times New Roman" panose="02020603050405020304" pitchFamily="18" charset="0"/>
              <a:ea typeface="宋体" panose="02010600030101010101" pitchFamily="2" charset="-122"/>
            </a:endParaRPr>
          </a:p>
          <a:p>
            <a:pPr lvl="1" algn="just"/>
            <a:r>
              <a:rPr lang="en-US" altLang="zh-CN" kern="100" dirty="0">
                <a:effectLst/>
                <a:latin typeface="Times New Roman" panose="02020603050405020304" pitchFamily="18" charset="0"/>
                <a:ea typeface="宋体" panose="02010600030101010101" pitchFamily="2" charset="-122"/>
              </a:rPr>
              <a:t>+1000 1001 </a:t>
            </a:r>
            <a:endParaRPr lang="zh-CN" altLang="zh-CN" kern="100" dirty="0">
              <a:effectLst/>
              <a:latin typeface="Times New Roman" panose="02020603050405020304" pitchFamily="18" charset="0"/>
              <a:ea typeface="宋体" panose="02010600030101010101" pitchFamily="2" charset="-122"/>
            </a:endParaRPr>
          </a:p>
          <a:p>
            <a:pPr lvl="1" algn="just"/>
            <a:r>
              <a:rPr lang="en-US" altLang="zh-CN" kern="100" dirty="0">
                <a:effectLst/>
                <a:latin typeface="Times New Roman" panose="02020603050405020304" pitchFamily="18" charset="0"/>
                <a:ea typeface="宋体" panose="02010600030101010101" pitchFamily="2" charset="-122"/>
              </a:rPr>
              <a:t>10001 0010 </a:t>
            </a:r>
            <a:endParaRPr lang="zh-CN" altLang="zh-CN"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Times New Roman" panose="02020603050405020304" pitchFamily="18" charset="0"/>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endParaRPr>
          </a:p>
          <a:p>
            <a:endParaRPr lang="zh-CN" altLang="en-US"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58150" y="86264"/>
            <a:ext cx="12286892" cy="6740307"/>
          </a:xfrm>
          <a:prstGeom prst="rect">
            <a:avLst/>
          </a:prstGeom>
          <a:noFill/>
        </p:spPr>
        <p:txBody>
          <a:bodyPr wrap="square" rtlCol="0">
            <a:spAutoFit/>
          </a:bodyPr>
          <a:lstStyle/>
          <a:p>
            <a:pPr lvl="1" algn="just"/>
            <a:r>
              <a:rPr lang="en-US" altLang="zh-CN" kern="100" dirty="0">
                <a:effectLst/>
                <a:latin typeface="Times New Roman" panose="02020603050405020304" pitchFamily="18" charset="0"/>
                <a:ea typeface="宋体" panose="02010600030101010101" pitchFamily="2" charset="-122"/>
              </a:rPr>
              <a:t>                                                CF  ZF  SF  OF  PF</a:t>
            </a:r>
            <a:endParaRPr lang="en-US" altLang="zh-CN" kern="100" dirty="0">
              <a:effectLst/>
              <a:latin typeface="Times New Roman" panose="02020603050405020304" pitchFamily="18" charset="0"/>
              <a:ea typeface="宋体" panose="02010600030101010101" pitchFamily="2" charset="-122"/>
            </a:endParaRPr>
          </a:p>
          <a:p>
            <a:pPr lvl="1" algn="just"/>
            <a:r>
              <a:rPr lang="en-US" altLang="zh-CN" kern="100" dirty="0">
                <a:effectLst/>
                <a:latin typeface="Times New Roman" panose="02020603050405020304" pitchFamily="18" charset="0"/>
                <a:ea typeface="宋体" panose="02010600030101010101" pitchFamily="2" charset="-122"/>
              </a:rPr>
              <a:t>add al,9dh             ; AL=0afh    0     0    1     0     1</a:t>
            </a:r>
            <a:endParaRPr lang="zh-CN" altLang="zh-CN" kern="100" dirty="0">
              <a:effectLst/>
              <a:latin typeface="Times New Roman" panose="02020603050405020304" pitchFamily="18" charset="0"/>
              <a:ea typeface="宋体" panose="02010600030101010101" pitchFamily="2" charset="-122"/>
            </a:endParaRPr>
          </a:p>
          <a:p>
            <a:pPr lvl="1" algn="just"/>
            <a:r>
              <a:rPr lang="en-US" altLang="zh-CN" kern="100" dirty="0">
                <a:effectLst/>
                <a:latin typeface="Times New Roman" panose="02020603050405020304" pitchFamily="18" charset="0"/>
                <a:ea typeface="宋体" panose="02010600030101010101" pitchFamily="2" charset="-122"/>
              </a:rPr>
              <a:t>;  0001 0010</a:t>
            </a:r>
            <a:endParaRPr lang="zh-CN" altLang="zh-CN" kern="100" dirty="0">
              <a:effectLst/>
              <a:latin typeface="Times New Roman" panose="02020603050405020304" pitchFamily="18" charset="0"/>
              <a:ea typeface="宋体" panose="02010600030101010101" pitchFamily="2" charset="-122"/>
            </a:endParaRPr>
          </a:p>
          <a:p>
            <a:pPr lvl="1" algn="just"/>
            <a:r>
              <a:rPr lang="en-US" altLang="zh-CN" kern="100" dirty="0">
                <a:effectLst/>
                <a:latin typeface="Times New Roman" panose="02020603050405020304" pitchFamily="18" charset="0"/>
                <a:ea typeface="宋体" panose="02010600030101010101" pitchFamily="2" charset="-122"/>
              </a:rPr>
              <a:t>+ 1001 1101</a:t>
            </a:r>
            <a:endParaRPr lang="zh-CN" altLang="zh-CN" kern="100" dirty="0">
              <a:effectLst/>
              <a:latin typeface="Times New Roman" panose="02020603050405020304" pitchFamily="18" charset="0"/>
              <a:ea typeface="宋体" panose="02010600030101010101" pitchFamily="2" charset="-122"/>
            </a:endParaRPr>
          </a:p>
          <a:p>
            <a:pPr lvl="1" algn="just"/>
            <a:r>
              <a:rPr lang="en-US" altLang="zh-CN" kern="100" dirty="0">
                <a:effectLst/>
                <a:latin typeface="Times New Roman" panose="02020603050405020304" pitchFamily="18" charset="0"/>
                <a:ea typeface="宋体" panose="02010600030101010101" pitchFamily="2" charset="-122"/>
              </a:rPr>
              <a:t>  1010 1111 </a:t>
            </a:r>
            <a:endParaRPr lang="zh-CN" altLang="zh-CN" kern="100" dirty="0">
              <a:effectLst/>
              <a:latin typeface="Times New Roman" panose="02020603050405020304" pitchFamily="18" charset="0"/>
              <a:ea typeface="宋体" panose="02010600030101010101" pitchFamily="2" charset="-122"/>
            </a:endParaRPr>
          </a:p>
          <a:p>
            <a:pPr lvl="1" algn="just"/>
            <a:r>
              <a:rPr lang="en-US" altLang="zh-CN" kern="100" dirty="0">
                <a:effectLst/>
                <a:latin typeface="Times New Roman" panose="02020603050405020304" pitchFamily="18" charset="0"/>
                <a:ea typeface="宋体" panose="02010600030101010101" pitchFamily="2" charset="-122"/>
              </a:rPr>
              <a:t> </a:t>
            </a:r>
            <a:endParaRPr lang="zh-CN" altLang="zh-CN" kern="100" dirty="0">
              <a:effectLst/>
              <a:latin typeface="Times New Roman" panose="02020603050405020304" pitchFamily="18" charset="0"/>
              <a:ea typeface="宋体" panose="02010600030101010101" pitchFamily="2" charset="-122"/>
            </a:endParaRPr>
          </a:p>
          <a:p>
            <a:pPr lvl="1" algn="just"/>
            <a:r>
              <a:rPr lang="en-US" altLang="zh-CN" kern="100" dirty="0" err="1">
                <a:effectLst/>
                <a:latin typeface="Times New Roman" panose="02020603050405020304" pitchFamily="18" charset="0"/>
                <a:ea typeface="宋体" panose="02010600030101010101" pitchFamily="2" charset="-122"/>
              </a:rPr>
              <a:t>cmp</a:t>
            </a:r>
            <a:r>
              <a:rPr lang="en-US" altLang="zh-CN" kern="100" dirty="0">
                <a:effectLst/>
                <a:latin typeface="Times New Roman" panose="02020603050405020304" pitchFamily="18" charset="0"/>
                <a:ea typeface="宋体" panose="02010600030101010101" pitchFamily="2" charset="-122"/>
              </a:rPr>
              <a:t> al,0bch          ; AL=0afh   1     0    1    0     1</a:t>
            </a:r>
            <a:endParaRPr lang="zh-CN" altLang="zh-CN" kern="100" dirty="0">
              <a:effectLst/>
              <a:latin typeface="Times New Roman" panose="02020603050405020304" pitchFamily="18" charset="0"/>
              <a:ea typeface="宋体" panose="02010600030101010101" pitchFamily="2" charset="-122"/>
            </a:endParaRPr>
          </a:p>
          <a:p>
            <a:pPr lvl="1" algn="just"/>
            <a:r>
              <a:rPr lang="pt-BR" altLang="zh-CN" kern="100" dirty="0">
                <a:effectLst/>
                <a:latin typeface="Times New Roman" panose="02020603050405020304" pitchFamily="18" charset="0"/>
                <a:ea typeface="宋体" panose="02010600030101010101" pitchFamily="2" charset="-122"/>
              </a:rPr>
              <a:t>; 1010 1111</a:t>
            </a:r>
            <a:endParaRPr lang="zh-CN" altLang="zh-CN" kern="100" dirty="0">
              <a:effectLst/>
              <a:latin typeface="Times New Roman" panose="02020603050405020304" pitchFamily="18" charset="0"/>
              <a:ea typeface="宋体" panose="02010600030101010101" pitchFamily="2" charset="-122"/>
            </a:endParaRPr>
          </a:p>
          <a:p>
            <a:pPr lvl="1" algn="just"/>
            <a:r>
              <a:rPr lang="pt-BR" altLang="zh-CN" kern="100" dirty="0">
                <a:effectLst/>
                <a:latin typeface="Times New Roman" panose="02020603050405020304" pitchFamily="18" charset="0"/>
                <a:ea typeface="宋体" panose="02010600030101010101" pitchFamily="2" charset="-122"/>
              </a:rPr>
              <a:t>-1011 1100</a:t>
            </a:r>
            <a:endParaRPr lang="zh-CN" altLang="zh-CN" kern="100" dirty="0">
              <a:effectLst/>
              <a:latin typeface="Times New Roman" panose="02020603050405020304" pitchFamily="18" charset="0"/>
              <a:ea typeface="宋体" panose="02010600030101010101" pitchFamily="2" charset="-122"/>
            </a:endParaRPr>
          </a:p>
          <a:p>
            <a:pPr lvl="1" algn="just"/>
            <a:r>
              <a:rPr lang="pt-BR" altLang="zh-CN" kern="100" dirty="0">
                <a:effectLst/>
                <a:latin typeface="Times New Roman" panose="02020603050405020304" pitchFamily="18" charset="0"/>
                <a:ea typeface="宋体" panose="02010600030101010101" pitchFamily="2" charset="-122"/>
              </a:rPr>
              <a:t>* </a:t>
            </a:r>
            <a:r>
              <a:rPr lang="pt-BR" altLang="zh-CN" kern="100" dirty="0">
                <a:latin typeface="Times New Roman" panose="02020603050405020304" pitchFamily="18" charset="0"/>
                <a:ea typeface="宋体" panose="02010600030101010101" pitchFamily="2" charset="-122"/>
              </a:rPr>
              <a:t>1111</a:t>
            </a:r>
            <a:r>
              <a:rPr lang="pt-BR" altLang="zh-CN" kern="100" dirty="0">
                <a:effectLst/>
                <a:latin typeface="Times New Roman" panose="02020603050405020304" pitchFamily="18" charset="0"/>
                <a:ea typeface="宋体" panose="02010600030101010101" pitchFamily="2" charset="-122"/>
              </a:rPr>
              <a:t> 0011</a:t>
            </a:r>
            <a:endParaRPr lang="zh-CN" altLang="zh-CN" kern="100" dirty="0">
              <a:effectLst/>
              <a:latin typeface="Times New Roman" panose="02020603050405020304" pitchFamily="18" charset="0"/>
              <a:ea typeface="宋体" panose="02010600030101010101" pitchFamily="2" charset="-122"/>
            </a:endParaRPr>
          </a:p>
          <a:p>
            <a:pPr lvl="1" algn="just"/>
            <a:r>
              <a:rPr lang="pt-BR" altLang="zh-CN" kern="100" dirty="0">
                <a:effectLst/>
                <a:latin typeface="Times New Roman" panose="02020603050405020304" pitchFamily="18" charset="0"/>
                <a:ea typeface="宋体" panose="02010600030101010101" pitchFamily="2" charset="-122"/>
              </a:rPr>
              <a:t> </a:t>
            </a:r>
            <a:endParaRPr lang="zh-CN" altLang="zh-CN" kern="100" dirty="0">
              <a:effectLst/>
              <a:latin typeface="Times New Roman" panose="02020603050405020304" pitchFamily="18" charset="0"/>
              <a:ea typeface="宋体" panose="02010600030101010101" pitchFamily="2" charset="-122"/>
            </a:endParaRPr>
          </a:p>
          <a:p>
            <a:pPr lvl="1" algn="just"/>
            <a:r>
              <a:rPr lang="pt-BR" altLang="zh-CN" kern="100" dirty="0">
                <a:effectLst/>
                <a:latin typeface="Times New Roman" panose="02020603050405020304" pitchFamily="18" charset="0"/>
                <a:ea typeface="宋体" panose="02010600030101010101" pitchFamily="2" charset="-122"/>
              </a:rPr>
              <a:t>sub al,al               ; AL=00h    0     1    0    0     1</a:t>
            </a:r>
            <a:endParaRPr lang="zh-CN" altLang="zh-CN" kern="100" dirty="0">
              <a:effectLst/>
              <a:latin typeface="Times New Roman" panose="02020603050405020304" pitchFamily="18" charset="0"/>
              <a:ea typeface="宋体" panose="02010600030101010101" pitchFamily="2" charset="-122"/>
            </a:endParaRPr>
          </a:p>
          <a:p>
            <a:pPr lvl="1" algn="just"/>
            <a:r>
              <a:rPr lang="pt-BR" altLang="zh-CN" kern="100" dirty="0">
                <a:effectLst/>
                <a:latin typeface="Times New Roman" panose="02020603050405020304" pitchFamily="18" charset="0"/>
                <a:ea typeface="宋体" panose="02010600030101010101" pitchFamily="2" charset="-122"/>
              </a:rPr>
              <a:t> </a:t>
            </a:r>
            <a:endParaRPr lang="zh-CN" altLang="zh-CN" kern="100" dirty="0">
              <a:effectLst/>
              <a:latin typeface="Times New Roman" panose="02020603050405020304" pitchFamily="18" charset="0"/>
              <a:ea typeface="宋体" panose="02010600030101010101" pitchFamily="2" charset="-122"/>
            </a:endParaRPr>
          </a:p>
          <a:p>
            <a:pPr lvl="1" algn="just"/>
            <a:r>
              <a:rPr lang="pt-BR" altLang="zh-CN" kern="100" dirty="0">
                <a:effectLst/>
                <a:latin typeface="Times New Roman" panose="02020603050405020304" pitchFamily="18" charset="0"/>
                <a:ea typeface="宋体" panose="02010600030101010101" pitchFamily="2" charset="-122"/>
              </a:rPr>
              <a:t>dec al                   ; AL=0ffh     0     0    1    0     1</a:t>
            </a:r>
            <a:endParaRPr lang="zh-CN" altLang="zh-CN" kern="100" dirty="0">
              <a:effectLst/>
              <a:latin typeface="Times New Roman" panose="02020603050405020304" pitchFamily="18" charset="0"/>
              <a:ea typeface="宋体" panose="02010600030101010101" pitchFamily="2" charset="-122"/>
            </a:endParaRPr>
          </a:p>
          <a:p>
            <a:pPr lvl="1" algn="just"/>
            <a:r>
              <a:rPr lang="pt-BR" altLang="zh-CN" kern="100" dirty="0">
                <a:effectLst/>
                <a:latin typeface="Times New Roman" panose="02020603050405020304" pitchFamily="18" charset="0"/>
                <a:ea typeface="宋体" panose="02010600030101010101" pitchFamily="2" charset="-122"/>
              </a:rPr>
              <a:t>; 0000 0000</a:t>
            </a:r>
            <a:endParaRPr lang="zh-CN" altLang="zh-CN" kern="100" dirty="0">
              <a:effectLst/>
              <a:latin typeface="Times New Roman" panose="02020603050405020304" pitchFamily="18" charset="0"/>
              <a:ea typeface="宋体" panose="02010600030101010101" pitchFamily="2" charset="-122"/>
            </a:endParaRPr>
          </a:p>
          <a:p>
            <a:pPr lvl="1" algn="just"/>
            <a:r>
              <a:rPr lang="pt-BR" altLang="zh-CN" kern="100" dirty="0">
                <a:effectLst/>
                <a:latin typeface="Times New Roman" panose="02020603050405020304" pitchFamily="18" charset="0"/>
                <a:ea typeface="宋体" panose="02010600030101010101" pitchFamily="2" charset="-122"/>
              </a:rPr>
              <a:t>- 0000 0001</a:t>
            </a:r>
            <a:endParaRPr lang="zh-CN" altLang="zh-CN" kern="100" dirty="0">
              <a:effectLst/>
              <a:latin typeface="Times New Roman" panose="02020603050405020304" pitchFamily="18" charset="0"/>
              <a:ea typeface="宋体" panose="02010600030101010101" pitchFamily="2" charset="-122"/>
            </a:endParaRPr>
          </a:p>
          <a:p>
            <a:pPr lvl="1" algn="just"/>
            <a:r>
              <a:rPr lang="pt-BR" altLang="zh-CN" kern="100" dirty="0">
                <a:effectLst/>
                <a:latin typeface="Times New Roman" panose="02020603050405020304" pitchFamily="18" charset="0"/>
                <a:ea typeface="宋体" panose="02010600030101010101" pitchFamily="2" charset="-122"/>
              </a:rPr>
              <a:t> *1111 1111</a:t>
            </a:r>
            <a:endParaRPr lang="zh-CN" altLang="zh-CN" kern="100" dirty="0">
              <a:effectLst/>
              <a:latin typeface="Times New Roman" panose="02020603050405020304" pitchFamily="18" charset="0"/>
              <a:ea typeface="宋体" panose="02010600030101010101" pitchFamily="2" charset="-122"/>
            </a:endParaRPr>
          </a:p>
          <a:p>
            <a:pPr lvl="1" algn="just"/>
            <a:r>
              <a:rPr lang="pt-BR" altLang="zh-CN" kern="100" dirty="0">
                <a:effectLst/>
                <a:latin typeface="Times New Roman" panose="02020603050405020304" pitchFamily="18" charset="0"/>
                <a:ea typeface="宋体" panose="02010600030101010101" pitchFamily="2" charset="-122"/>
              </a:rPr>
              <a:t> </a:t>
            </a:r>
            <a:endParaRPr lang="zh-CN" altLang="zh-CN" kern="100" dirty="0">
              <a:effectLst/>
              <a:latin typeface="Times New Roman" panose="02020603050405020304" pitchFamily="18" charset="0"/>
              <a:ea typeface="宋体" panose="02010600030101010101" pitchFamily="2" charset="-122"/>
            </a:endParaRPr>
          </a:p>
          <a:p>
            <a:pPr lvl="1" algn="just"/>
            <a:r>
              <a:rPr lang="pt-BR" altLang="zh-CN" kern="100" dirty="0">
                <a:effectLst/>
                <a:latin typeface="Times New Roman" panose="02020603050405020304" pitchFamily="18" charset="0"/>
                <a:ea typeface="宋体" panose="02010600030101010101" pitchFamily="2" charset="-122"/>
              </a:rPr>
              <a:t>inc al                    ; AL=00h   0     1    0    0      1</a:t>
            </a:r>
            <a:endParaRPr lang="zh-CN" altLang="zh-CN" kern="100" dirty="0">
              <a:effectLst/>
              <a:latin typeface="Times New Roman" panose="02020603050405020304" pitchFamily="18" charset="0"/>
              <a:ea typeface="宋体" panose="02010600030101010101" pitchFamily="2" charset="-122"/>
            </a:endParaRPr>
          </a:p>
          <a:p>
            <a:pPr lvl="1" algn="just"/>
            <a:r>
              <a:rPr lang="en-US" altLang="zh-CN" kern="100" dirty="0">
                <a:effectLst/>
                <a:latin typeface="Times New Roman" panose="02020603050405020304" pitchFamily="18" charset="0"/>
                <a:ea typeface="宋体" panose="02010600030101010101" pitchFamily="2" charset="-122"/>
              </a:rPr>
              <a:t>; 1111 1111</a:t>
            </a:r>
            <a:endParaRPr lang="zh-CN" altLang="zh-CN" kern="100" dirty="0">
              <a:effectLst/>
              <a:latin typeface="Times New Roman" panose="02020603050405020304" pitchFamily="18" charset="0"/>
              <a:ea typeface="宋体" panose="02010600030101010101" pitchFamily="2" charset="-122"/>
            </a:endParaRPr>
          </a:p>
          <a:p>
            <a:pPr lvl="1" algn="just"/>
            <a:r>
              <a:rPr lang="en-US" altLang="zh-CN" kern="100" dirty="0">
                <a:effectLst/>
                <a:latin typeface="Times New Roman" panose="02020603050405020304" pitchFamily="18" charset="0"/>
                <a:ea typeface="宋体" panose="02010600030101010101" pitchFamily="2" charset="-122"/>
              </a:rPr>
              <a:t>+0000 0001</a:t>
            </a:r>
            <a:endParaRPr lang="zh-CN" altLang="zh-CN" kern="100" dirty="0">
              <a:effectLst/>
              <a:latin typeface="Times New Roman" panose="02020603050405020304" pitchFamily="18" charset="0"/>
              <a:ea typeface="宋体" panose="02010600030101010101" pitchFamily="2" charset="-122"/>
            </a:endParaRPr>
          </a:p>
          <a:p>
            <a:pPr lvl="1" algn="just"/>
            <a:r>
              <a:rPr lang="en-US" altLang="zh-CN" kern="100" dirty="0">
                <a:effectLst/>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0000 0000</a:t>
            </a:r>
            <a:endParaRPr lang="zh-CN" altLang="zh-CN" kern="100" dirty="0">
              <a:effectLst/>
              <a:latin typeface="Times New Roman" panose="02020603050405020304" pitchFamily="18" charset="0"/>
              <a:ea typeface="宋体" panose="02010600030101010101" pitchFamily="2" charset="-122"/>
            </a:endParaRPr>
          </a:p>
          <a:p>
            <a:pPr marL="285750" indent="-285750">
              <a:buFont typeface="Arial" panose="020B0604020202020204" pitchFamily="34" charset="0"/>
              <a:buChar char="•"/>
            </a:pPr>
            <a:endParaRPr lang="zh-CN" altLang="en-US" b="1" dirty="0">
              <a:latin typeface="-apple-system"/>
            </a:endParaRPr>
          </a:p>
          <a:p>
            <a:pPr marL="285750" indent="-285750">
              <a:buFont typeface="Arial" panose="020B0604020202020204" pitchFamily="34" charset="0"/>
              <a:buChar char="•"/>
            </a:pPr>
            <a:endParaRPr lang="zh-CN" altLang="en-US"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1173193" y="0"/>
            <a:ext cx="9328030" cy="2996037"/>
          </a:xfrm>
          <a:prstGeom prst="rect">
            <a:avLst/>
          </a:prstGeom>
        </p:spPr>
      </p:pic>
      <p:sp>
        <p:nvSpPr>
          <p:cNvPr id="6" name="文本框 5"/>
          <p:cNvSpPr txBox="1"/>
          <p:nvPr/>
        </p:nvSpPr>
        <p:spPr>
          <a:xfrm>
            <a:off x="644105" y="4129182"/>
            <a:ext cx="11041812" cy="3416061"/>
          </a:xfrm>
          <a:prstGeom prst="rect">
            <a:avLst/>
          </a:prstGeom>
          <a:noFill/>
        </p:spPr>
        <p:txBody>
          <a:bodyPr wrap="square" rtlCol="0">
            <a:spAutoFit/>
          </a:bodyPr>
          <a:lstStyle/>
          <a:p>
            <a:endParaRPr lang="zh-CN" altLang="en-US" dirty="0"/>
          </a:p>
        </p:txBody>
      </p:sp>
      <p:sp>
        <p:nvSpPr>
          <p:cNvPr id="9" name="Rectangle 2"/>
          <p:cNvSpPr>
            <a:spLocks noChangeArrowheads="1"/>
          </p:cNvSpPr>
          <p:nvPr/>
        </p:nvSpPr>
        <p:spPr bwMode="auto">
          <a:xfrm>
            <a:off x="1466491" y="3250112"/>
            <a:ext cx="1029749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ADD DX,BX</a:t>
            </a:r>
            <a:endParaRPr kumimoji="0" lang="en-US"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zh-CN"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pt-BR"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pt-BR"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ADD AL,[BX+SI]</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这里的地址偏移量由</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BX</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SI</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相加得到，因为这里要求</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字节，位宽对齐</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a:t>
            </a:r>
            <a:endParaRPr kumimoji="0" lang="pt-BR"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pt-BR" altLang="zh-CN"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pt-BR"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zh-CN" altLang="pt-BR"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ADD [BX+0B2H],CX</a:t>
            </a:r>
            <a:endParaRPr kumimoji="0" lang="pt-BR"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pt-BR" altLang="zh-CN"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pt-BR"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0" lang="zh-CN" altLang="pt-BR"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ADD WORD PTR [0520H],3412H</a:t>
            </a:r>
            <a:r>
              <a:rPr kumimoji="0" lang="en-US"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因为后面常数</a:t>
            </a:r>
            <a:r>
              <a:rPr kumimoji="0" lang="en-US"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a:t>
            </a:r>
            <a:r>
              <a:rPr kumimoji="0" lang="zh-CN" altLang="en-US"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2 </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字节）</a:t>
            </a:r>
            <a:r>
              <a:rPr kumimoji="0" lang="zh-CN" altLang="en-US"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，所以这里使用</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WORD PTR</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表示目标操作数是一个 </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16 </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位（</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2 </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字节）数据，指示要操作存储器中</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字节的数据。</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a:t>
            </a:r>
            <a:endParaRPr lang="pt-BR" altLang="zh-CN" b="1" dirty="0">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pt-BR" altLang="zh-CN"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pt-BR"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0" lang="zh-CN" altLang="pt-BR"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ADD AL,0A0H</a:t>
            </a:r>
            <a:endParaRPr kumimoji="0" lang="pt-BR" altLang="zh-CN" b="1"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93906" y="2828091"/>
            <a:ext cx="11134928" cy="3416320"/>
          </a:xfrm>
          <a:prstGeom prst="rect">
            <a:avLst/>
          </a:prstGeom>
          <a:noFill/>
        </p:spPr>
        <p:txBody>
          <a:bodyPr wrap="square" rtlCol="0">
            <a:spAutoFit/>
          </a:bodyPr>
          <a:lstStyle/>
          <a:p>
            <a:r>
              <a:rPr lang="zh-CN" altLang="en-US" b="1" dirty="0"/>
              <a:t>解析：</a:t>
            </a:r>
            <a:endParaRPr lang="en-US" altLang="zh-CN" b="1" dirty="0"/>
          </a:p>
          <a:p>
            <a:r>
              <a:rPr lang="zh-CN" altLang="en-US" b="1" dirty="0"/>
              <a:t>（</a:t>
            </a:r>
            <a:r>
              <a:rPr lang="en-US" altLang="zh-CN" b="1" dirty="0"/>
              <a:t>1</a:t>
            </a:r>
            <a:r>
              <a:rPr lang="zh-CN" altLang="en-US" b="1" dirty="0"/>
              <a:t>）</a:t>
            </a:r>
            <a:r>
              <a:rPr lang="en-US" altLang="zh-CN" b="1" dirty="0"/>
              <a:t>JMP BX</a:t>
            </a:r>
            <a:r>
              <a:rPr lang="zh-CN" altLang="en-US" b="1" dirty="0"/>
              <a:t>，目标地址的偏移量在</a:t>
            </a:r>
            <a:r>
              <a:rPr lang="en-US" altLang="zh-CN" b="1" dirty="0"/>
              <a:t>BX</a:t>
            </a:r>
            <a:r>
              <a:rPr lang="zh-CN" altLang="en-US" b="1" dirty="0"/>
              <a:t>寄存器中，所以转移的目的地址是</a:t>
            </a:r>
            <a:r>
              <a:rPr lang="en-US" altLang="zh-CN" b="1" dirty="0"/>
              <a:t>CS:[BX]=CS:1256H(</a:t>
            </a:r>
            <a:r>
              <a:rPr lang="zh-CN" altLang="en-US" b="1" dirty="0"/>
              <a:t>这里直接写成有效地址</a:t>
            </a:r>
            <a:r>
              <a:rPr lang="en-US" altLang="zh-CN" b="1" dirty="0"/>
              <a:t>IP = 1256H</a:t>
            </a:r>
            <a:r>
              <a:rPr lang="zh-CN" altLang="en-US" b="1" dirty="0"/>
              <a:t>，</a:t>
            </a:r>
            <a:r>
              <a:rPr lang="en-US" altLang="zh-CN" b="1" dirty="0"/>
              <a:t>IP</a:t>
            </a:r>
            <a:r>
              <a:rPr lang="zh-CN" altLang="en-US" b="1" dirty="0"/>
              <a:t>寄存器用于指向正在执行的代码的下一个指令的偏移量。它是专门用于代码段（</a:t>
            </a:r>
            <a:r>
              <a:rPr lang="en-US" altLang="zh-CN" b="1" dirty="0"/>
              <a:t>CS</a:t>
            </a:r>
            <a:r>
              <a:rPr lang="zh-CN" altLang="en-US" b="1" dirty="0"/>
              <a:t>）的寄存器。</a:t>
            </a:r>
            <a:r>
              <a:rPr lang="en-US" altLang="zh-CN" b="1" dirty="0"/>
              <a:t>IP = 1256H</a:t>
            </a:r>
            <a:r>
              <a:rPr lang="zh-CN" altLang="en-US" b="1" dirty="0"/>
              <a:t>表示当前代码段（</a:t>
            </a:r>
            <a:r>
              <a:rPr lang="en-US" altLang="zh-CN" b="1" dirty="0"/>
              <a:t>CS</a:t>
            </a:r>
            <a:r>
              <a:rPr lang="zh-CN" altLang="en-US" b="1" dirty="0"/>
              <a:t>） 内的偏移量为 </a:t>
            </a:r>
            <a:r>
              <a:rPr lang="en-US" altLang="zh-CN" b="1" dirty="0"/>
              <a:t>1256H</a:t>
            </a:r>
            <a:r>
              <a:rPr lang="zh-CN" altLang="en-US" b="1" dirty="0"/>
              <a:t>，即程序计数器指向的下一条将要执行的指令的位置</a:t>
            </a:r>
            <a:r>
              <a:rPr lang="en-US" altLang="zh-CN" b="1" dirty="0"/>
              <a:t>)</a:t>
            </a:r>
            <a:endParaRPr lang="en-US" altLang="zh-CN" b="1" dirty="0"/>
          </a:p>
          <a:p>
            <a:r>
              <a:rPr lang="zh-CN" altLang="en-US" b="1" dirty="0"/>
              <a:t>（</a:t>
            </a:r>
            <a:r>
              <a:rPr lang="en-US" altLang="zh-CN" b="1" dirty="0"/>
              <a:t>2</a:t>
            </a:r>
            <a:r>
              <a:rPr lang="zh-CN" altLang="en-US" b="1" dirty="0"/>
              <a:t>）</a:t>
            </a:r>
            <a:r>
              <a:rPr lang="en-US" altLang="zh-CN" b="1" dirty="0"/>
              <a:t>JMP TABLE[BX]</a:t>
            </a:r>
            <a:r>
              <a:rPr lang="zh-CN" altLang="en-US" b="1" dirty="0"/>
              <a:t>，目标地址的偏移量在存储器单元中，该存储器单元有效地址为</a:t>
            </a:r>
            <a:r>
              <a:rPr lang="en-US" altLang="zh-CN" b="1" dirty="0"/>
              <a:t>[BX]+TABLE</a:t>
            </a:r>
            <a:r>
              <a:rPr lang="zh-CN" altLang="en-US" b="1" dirty="0"/>
              <a:t>，</a:t>
            </a:r>
            <a:r>
              <a:rPr lang="zh-CN" altLang="en-US" b="1" dirty="0">
                <a:solidFill>
                  <a:srgbClr val="FF0000"/>
                </a:solidFill>
              </a:rPr>
              <a:t>实际物理地址 </a:t>
            </a:r>
            <a:r>
              <a:rPr lang="en-US" altLang="zh-CN" b="1" dirty="0">
                <a:solidFill>
                  <a:srgbClr val="FF0000"/>
                </a:solidFill>
              </a:rPr>
              <a:t>= </a:t>
            </a:r>
            <a:r>
              <a:rPr lang="zh-CN" altLang="en-US" b="1" dirty="0">
                <a:solidFill>
                  <a:srgbClr val="FF0000"/>
                </a:solidFill>
              </a:rPr>
              <a:t>段地址 * </a:t>
            </a:r>
            <a:r>
              <a:rPr lang="en-US" altLang="zh-CN" b="1" dirty="0">
                <a:solidFill>
                  <a:srgbClr val="FF0000"/>
                </a:solidFill>
              </a:rPr>
              <a:t>16 + </a:t>
            </a:r>
            <a:r>
              <a:rPr lang="zh-CN" altLang="en-US" b="1" dirty="0">
                <a:solidFill>
                  <a:srgbClr val="FF0000"/>
                </a:solidFill>
              </a:rPr>
              <a:t>偏移量，</a:t>
            </a:r>
            <a:r>
              <a:rPr lang="zh-CN" altLang="en-US" b="1" dirty="0"/>
              <a:t>所对应的物理地址</a:t>
            </a:r>
            <a:r>
              <a:rPr lang="en-US" altLang="zh-CN" b="1" dirty="0"/>
              <a:t>=DS*16+[BX]+TABLE=20000H+1256H+20A1H=232F7H</a:t>
            </a:r>
            <a:r>
              <a:rPr lang="zh-CN" altLang="en-US" b="1" dirty="0"/>
              <a:t>，该单元存放的内容为</a:t>
            </a:r>
            <a:r>
              <a:rPr lang="en-US" altLang="zh-CN" b="1" dirty="0"/>
              <a:t>3280H</a:t>
            </a:r>
            <a:r>
              <a:rPr lang="zh-CN" altLang="en-US" b="1" dirty="0"/>
              <a:t>，所以转移的目的地址是</a:t>
            </a:r>
            <a:r>
              <a:rPr lang="en-US" altLang="zh-CN" b="1" dirty="0"/>
              <a:t>CS:3280H(IP=3280H)</a:t>
            </a:r>
            <a:endParaRPr lang="en-US" altLang="zh-CN" b="1" dirty="0"/>
          </a:p>
          <a:p>
            <a:r>
              <a:rPr lang="zh-CN" altLang="en-US" b="1" dirty="0"/>
              <a:t>（</a:t>
            </a:r>
            <a:r>
              <a:rPr lang="en-US" altLang="zh-CN" b="1" dirty="0"/>
              <a:t>3</a:t>
            </a:r>
            <a:r>
              <a:rPr lang="zh-CN" altLang="en-US" b="1" dirty="0"/>
              <a:t>）</a:t>
            </a:r>
            <a:r>
              <a:rPr lang="en-US" altLang="zh-CN" b="1" dirty="0"/>
              <a:t>JMP [BX][SI]</a:t>
            </a:r>
            <a:r>
              <a:rPr lang="zh-CN" altLang="en-US" b="1" dirty="0"/>
              <a:t>，目标地址的偏移量在存储器单元中，该存储器单元有效地址为</a:t>
            </a:r>
            <a:r>
              <a:rPr lang="en-US" altLang="zh-CN" b="1" dirty="0"/>
              <a:t>[BX]+[SI]</a:t>
            </a:r>
            <a:r>
              <a:rPr lang="zh-CN" altLang="en-US" b="1" dirty="0"/>
              <a:t>，所对应的物理地址</a:t>
            </a:r>
            <a:r>
              <a:rPr lang="en-US" altLang="zh-CN" b="1" dirty="0"/>
              <a:t>=DS*16+[BX]+[SI]=20000H+1256H+528FH=264E5H,</a:t>
            </a:r>
            <a:r>
              <a:rPr lang="zh-CN" altLang="en-US" b="1" dirty="0"/>
              <a:t>该单元存放的内容为</a:t>
            </a:r>
            <a:r>
              <a:rPr lang="en-US" altLang="zh-CN" b="1" dirty="0"/>
              <a:t>2450H</a:t>
            </a:r>
            <a:r>
              <a:rPr lang="zh-CN" altLang="en-US" b="1" dirty="0"/>
              <a:t>，所以转移的目的地址是</a:t>
            </a:r>
            <a:r>
              <a:rPr lang="en-US" altLang="zh-CN" b="1" dirty="0"/>
              <a:t>CS:2450H</a:t>
            </a:r>
            <a:r>
              <a:rPr lang="zh-CN" altLang="en-US" b="1" dirty="0"/>
              <a:t>（</a:t>
            </a:r>
            <a:r>
              <a:rPr lang="en-US" altLang="zh-CN" b="1" dirty="0"/>
              <a:t>IP=2450H</a:t>
            </a:r>
            <a:r>
              <a:rPr lang="zh-CN" altLang="en-US" b="1" dirty="0"/>
              <a:t>）</a:t>
            </a:r>
            <a:endParaRPr lang="zh-CN" altLang="en-US" b="1" dirty="0"/>
          </a:p>
          <a:p>
            <a:endParaRPr lang="zh-CN" altLang="en-US" b="1" dirty="0"/>
          </a:p>
        </p:txBody>
      </p:sp>
      <p:pic>
        <p:nvPicPr>
          <p:cNvPr id="3" name="图片 2"/>
          <p:cNvPicPr>
            <a:picLocks noChangeAspect="1"/>
          </p:cNvPicPr>
          <p:nvPr/>
        </p:nvPicPr>
        <p:blipFill>
          <a:blip r:embed="rId1"/>
          <a:stretch>
            <a:fillRect/>
          </a:stretch>
        </p:blipFill>
        <p:spPr>
          <a:xfrm>
            <a:off x="363166" y="49246"/>
            <a:ext cx="11134928" cy="1304874"/>
          </a:xfrm>
          <a:prstGeom prst="rect">
            <a:avLst/>
          </a:prstGeom>
        </p:spPr>
      </p:pic>
      <p:sp>
        <p:nvSpPr>
          <p:cNvPr id="8" name="文本框 7"/>
          <p:cNvSpPr txBox="1"/>
          <p:nvPr/>
        </p:nvSpPr>
        <p:spPr>
          <a:xfrm>
            <a:off x="434502" y="1627762"/>
            <a:ext cx="11063592" cy="1200329"/>
          </a:xfrm>
          <a:prstGeom prst="rect">
            <a:avLst/>
          </a:prstGeom>
          <a:noFill/>
        </p:spPr>
        <p:txBody>
          <a:bodyPr wrap="square" rtlCol="0">
            <a:spAutoFit/>
          </a:bodyPr>
          <a:lstStyle/>
          <a:p>
            <a:pPr marL="0" marR="0" algn="just">
              <a:spcBef>
                <a:spcPts val="0"/>
              </a:spcBef>
              <a:spcAft>
                <a:spcPts val="0"/>
              </a:spcAft>
            </a:pPr>
            <a:r>
              <a:rPr lang="zh-CN" altLang="en-US" sz="1800" b="1" kern="100" dirty="0">
                <a:effectLst/>
                <a:latin typeface="宋体" panose="02010600030101010101" pitchFamily="2" charset="-122"/>
                <a:ea typeface="宋体" panose="02010600030101010101" pitchFamily="2" charset="-122"/>
              </a:rPr>
              <a:t>（</a:t>
            </a:r>
            <a:r>
              <a:rPr lang="en-US" altLang="zh-CN" sz="1800" b="1" kern="100" dirty="0">
                <a:effectLst/>
                <a:latin typeface="Times New Roman" panose="02020603050405020304" pitchFamily="18" charset="0"/>
                <a:ea typeface="宋体" panose="02010600030101010101" pitchFamily="2" charset="-122"/>
              </a:rPr>
              <a:t>1</a:t>
            </a:r>
            <a:r>
              <a:rPr lang="zh-CN" altLang="en-US" sz="1800" b="1" kern="100" dirty="0">
                <a:effectLst/>
                <a:latin typeface="宋体" panose="02010600030101010101" pitchFamily="2" charset="-122"/>
                <a:ea typeface="宋体" panose="02010600030101010101" pitchFamily="2" charset="-122"/>
              </a:rPr>
              <a:t>）转移的有效地址</a:t>
            </a:r>
            <a:r>
              <a:rPr lang="en-US" altLang="zh-CN" sz="1800" b="1" kern="100" dirty="0">
                <a:effectLst/>
                <a:latin typeface="Times New Roman" panose="02020603050405020304" pitchFamily="18" charset="0"/>
                <a:ea typeface="宋体" panose="02010600030101010101" pitchFamily="2" charset="-122"/>
              </a:rPr>
              <a:t>EA= BX=1256H</a:t>
            </a:r>
            <a:endParaRPr lang="en-US" altLang="zh-CN" sz="1800" b="1"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b="1" kern="100" dirty="0">
                <a:effectLst/>
                <a:latin typeface="宋体" panose="02010600030101010101" pitchFamily="2" charset="-122"/>
                <a:ea typeface="宋体" panose="02010600030101010101" pitchFamily="2" charset="-122"/>
              </a:rPr>
              <a:t>（</a:t>
            </a:r>
            <a:r>
              <a:rPr lang="en-US" altLang="zh-CN" sz="1800" b="1" kern="100" dirty="0">
                <a:effectLst/>
                <a:latin typeface="Times New Roman" panose="02020603050405020304" pitchFamily="18" charset="0"/>
                <a:ea typeface="宋体" panose="02010600030101010101" pitchFamily="2" charset="-122"/>
              </a:rPr>
              <a:t>2</a:t>
            </a:r>
            <a:r>
              <a:rPr lang="zh-CN" altLang="en-US" sz="1800" b="1" kern="100" dirty="0">
                <a:effectLst/>
                <a:latin typeface="宋体" panose="02010600030101010101" pitchFamily="2" charset="-122"/>
                <a:ea typeface="宋体" panose="02010600030101010101" pitchFamily="2" charset="-122"/>
              </a:rPr>
              <a:t>）转移的有效地址</a:t>
            </a:r>
            <a:r>
              <a:rPr lang="en-US" altLang="zh-CN" sz="1800" b="1" kern="100" dirty="0">
                <a:effectLst/>
                <a:latin typeface="Times New Roman" panose="02020603050405020304" pitchFamily="18" charset="0"/>
                <a:ea typeface="宋体" panose="02010600030101010101" pitchFamily="2" charset="-122"/>
              </a:rPr>
              <a:t>EA= [DS*16+TABLE:20A1H+BX:1256H]=[232F7H]=3280H</a:t>
            </a:r>
            <a:endParaRPr lang="en-US" altLang="zh-CN" sz="1800" b="1"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b="1" kern="100" dirty="0">
                <a:effectLst/>
                <a:latin typeface="宋体" panose="02010600030101010101" pitchFamily="2" charset="-122"/>
                <a:ea typeface="宋体" panose="02010600030101010101" pitchFamily="2" charset="-122"/>
              </a:rPr>
              <a:t>（</a:t>
            </a:r>
            <a:r>
              <a:rPr lang="en-US" altLang="zh-CN" sz="1800" b="1" kern="100" dirty="0">
                <a:effectLst/>
                <a:latin typeface="Times New Roman" panose="02020603050405020304" pitchFamily="18" charset="0"/>
                <a:ea typeface="宋体" panose="02010600030101010101" pitchFamily="2" charset="-122"/>
              </a:rPr>
              <a:t>3</a:t>
            </a:r>
            <a:r>
              <a:rPr lang="zh-CN" altLang="en-US" sz="1800" b="1" kern="100" dirty="0">
                <a:effectLst/>
                <a:latin typeface="宋体" panose="02010600030101010101" pitchFamily="2" charset="-122"/>
                <a:ea typeface="宋体" panose="02010600030101010101" pitchFamily="2" charset="-122"/>
              </a:rPr>
              <a:t>）转移的有效地址</a:t>
            </a:r>
            <a:r>
              <a:rPr lang="en-US" altLang="zh-CN" sz="1800" b="1" kern="100" dirty="0">
                <a:effectLst/>
                <a:latin typeface="Times New Roman" panose="02020603050405020304" pitchFamily="18" charset="0"/>
                <a:ea typeface="宋体" panose="02010600030101010101" pitchFamily="2" charset="-122"/>
              </a:rPr>
              <a:t>EA= </a:t>
            </a:r>
            <a:r>
              <a:rPr lang="en-US" altLang="zh-CN" sz="1800" b="1" kern="100">
                <a:effectLst/>
                <a:latin typeface="Times New Roman" panose="02020603050405020304" pitchFamily="18" charset="0"/>
                <a:ea typeface="宋体" panose="02010600030101010101" pitchFamily="2" charset="-122"/>
              </a:rPr>
              <a:t>[DS*16+BX:1256H+SI:528FH]=[264E5H]=</a:t>
            </a:r>
            <a:r>
              <a:rPr lang="en-US" altLang="zh-CN" sz="1800" b="1" kern="100" dirty="0">
                <a:effectLst/>
                <a:latin typeface="Times New Roman" panose="02020603050405020304" pitchFamily="18" charset="0"/>
                <a:ea typeface="宋体" panose="02010600030101010101" pitchFamily="2" charset="-122"/>
              </a:rPr>
              <a:t>2450H</a:t>
            </a:r>
            <a:endParaRPr lang="en-US" altLang="zh-CN" sz="1800" b="1" kern="100" dirty="0">
              <a:effectLst/>
              <a:latin typeface="Times New Roman" panose="02020603050405020304" pitchFamily="18" charset="0"/>
              <a:ea typeface="宋体" panose="02010600030101010101" pitchFamily="2" charset="-122"/>
            </a:endParaRPr>
          </a:p>
          <a:p>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088180" y="0"/>
            <a:ext cx="9172575" cy="1304925"/>
          </a:xfrm>
          <a:prstGeom prst="rect">
            <a:avLst/>
          </a:prstGeom>
        </p:spPr>
      </p:pic>
      <p:sp>
        <p:nvSpPr>
          <p:cNvPr id="5" name="文本框 4"/>
          <p:cNvSpPr txBox="1"/>
          <p:nvPr/>
        </p:nvSpPr>
        <p:spPr>
          <a:xfrm>
            <a:off x="181583" y="1640732"/>
            <a:ext cx="11647251" cy="4801314"/>
          </a:xfrm>
          <a:prstGeom prst="rect">
            <a:avLst/>
          </a:prstGeom>
          <a:noFill/>
        </p:spPr>
        <p:txBody>
          <a:bodyPr wrap="square" rtlCol="0">
            <a:spAutoFit/>
          </a:bodyPr>
          <a:lstStyle/>
          <a:p>
            <a:r>
              <a:rPr lang="zh-CN" altLang="en-US" b="1" dirty="0"/>
              <a:t>（</a:t>
            </a:r>
            <a:r>
              <a:rPr lang="en-US" altLang="zh-CN" b="1" dirty="0"/>
              <a:t>1</a:t>
            </a:r>
            <a:r>
              <a:rPr lang="zh-CN" altLang="en-US" b="1" dirty="0"/>
              <a:t>）内部中断：内部中断是由处理器在执行程序的过程中，由程序运行中的特定事件或异常条件自动触发的中断。</a:t>
            </a:r>
            <a:r>
              <a:rPr lang="zh-CN" altLang="en-US" b="1" dirty="0">
                <a:solidFill>
                  <a:srgbClr val="FF0000"/>
                </a:solidFill>
              </a:rPr>
              <a:t>是由于</a:t>
            </a:r>
            <a:r>
              <a:rPr lang="en-US" altLang="zh-CN" b="1" dirty="0">
                <a:solidFill>
                  <a:srgbClr val="FF0000"/>
                </a:solidFill>
              </a:rPr>
              <a:t>8086CPU</a:t>
            </a:r>
            <a:r>
              <a:rPr lang="zh-CN" altLang="en-US" b="1" dirty="0">
                <a:solidFill>
                  <a:srgbClr val="FF0000"/>
                </a:solidFill>
              </a:rPr>
              <a:t>内部执行程序引起的程序中断，</a:t>
            </a:r>
            <a:r>
              <a:rPr lang="zh-CN" altLang="en-US" b="1" dirty="0"/>
              <a:t>例如，算术运算中的错误（除</a:t>
            </a:r>
            <a:r>
              <a:rPr lang="en-US" altLang="zh-CN" b="1" dirty="0"/>
              <a:t>0</a:t>
            </a:r>
            <a:r>
              <a:rPr lang="zh-CN" altLang="en-US" b="1" dirty="0"/>
              <a:t>错误）、非法指令、系统调用等。</a:t>
            </a:r>
            <a:endParaRPr lang="en-US" altLang="zh-CN" b="1" dirty="0"/>
          </a:p>
          <a:p>
            <a:r>
              <a:rPr lang="zh-CN" altLang="en-US" b="1" dirty="0"/>
              <a:t>外部中断：外部中断是由处理器外部的硬件设备或系统环境触发的中断。</a:t>
            </a:r>
            <a:r>
              <a:rPr lang="zh-CN" altLang="en-US" b="1" dirty="0">
                <a:solidFill>
                  <a:srgbClr val="FF0000"/>
                </a:solidFill>
              </a:rPr>
              <a:t>是来自</a:t>
            </a:r>
            <a:r>
              <a:rPr lang="en-US" altLang="zh-CN" b="1" dirty="0">
                <a:solidFill>
                  <a:srgbClr val="FF0000"/>
                </a:solidFill>
              </a:rPr>
              <a:t>8086CPU</a:t>
            </a:r>
            <a:r>
              <a:rPr lang="zh-CN" altLang="en-US" b="1" dirty="0">
                <a:solidFill>
                  <a:srgbClr val="FF0000"/>
                </a:solidFill>
              </a:rPr>
              <a:t>之外的原因引起的程序中断，</a:t>
            </a:r>
            <a:r>
              <a:rPr lang="zh-CN" altLang="en-US" b="1" dirty="0"/>
              <a:t>例如，键盘输入、定时器信号、</a:t>
            </a:r>
            <a:r>
              <a:rPr lang="en-US" altLang="zh-CN" b="1" dirty="0"/>
              <a:t>I/O</a:t>
            </a:r>
            <a:r>
              <a:rPr lang="zh-CN" altLang="en-US" b="1" dirty="0"/>
              <a:t>设备完成任务时发出的中断信号。</a:t>
            </a:r>
            <a:endParaRPr lang="en-US" altLang="zh-CN" b="1" dirty="0"/>
          </a:p>
          <a:p>
            <a:r>
              <a:rPr lang="zh-CN" altLang="en-US" b="1" dirty="0"/>
              <a:t>这两个中断的主要区别在于触发来源，一个是来自处理器内部，一个是来自外部硬件或环境。</a:t>
            </a:r>
            <a:endParaRPr lang="en-US" altLang="zh-CN" b="1" dirty="0"/>
          </a:p>
          <a:p>
            <a:endParaRPr lang="en-US" altLang="zh-CN" b="1" dirty="0"/>
          </a:p>
          <a:p>
            <a:r>
              <a:rPr lang="zh-CN" altLang="en-US" b="1" dirty="0"/>
              <a:t>（</a:t>
            </a:r>
            <a:r>
              <a:rPr lang="en-US" altLang="zh-CN" b="1" dirty="0"/>
              <a:t>2</a:t>
            </a:r>
            <a:r>
              <a:rPr lang="zh-CN" altLang="en-US" b="1" dirty="0"/>
              <a:t>）单步中断：单步中断是一种由处理器内部调试机制触发的中断，通常在启用调试模式时，每执行一条指令后自动触发中断。这种中断使程序暂停运行，允许开发人员检查寄存器、内存和程序状态，用于逐条指令地调试代码。</a:t>
            </a:r>
            <a:r>
              <a:rPr lang="zh-CN" altLang="en-US" b="1" dirty="0">
                <a:solidFill>
                  <a:srgbClr val="FF0000"/>
                </a:solidFill>
              </a:rPr>
              <a:t>若单步标志</a:t>
            </a:r>
            <a:r>
              <a:rPr lang="en-US" altLang="zh-CN" b="1" dirty="0">
                <a:solidFill>
                  <a:srgbClr val="FF0000"/>
                </a:solidFill>
              </a:rPr>
              <a:t>TF</a:t>
            </a:r>
            <a:r>
              <a:rPr lang="zh-CN" altLang="en-US" b="1" dirty="0">
                <a:solidFill>
                  <a:srgbClr val="FF0000"/>
                </a:solidFill>
              </a:rPr>
              <a:t>为</a:t>
            </a:r>
            <a:r>
              <a:rPr lang="en-US" altLang="zh-CN" b="1" dirty="0">
                <a:solidFill>
                  <a:srgbClr val="FF0000"/>
                </a:solidFill>
              </a:rPr>
              <a:t>1</a:t>
            </a:r>
            <a:r>
              <a:rPr lang="zh-CN" altLang="en-US" b="1" dirty="0">
                <a:solidFill>
                  <a:srgbClr val="FF0000"/>
                </a:solidFill>
              </a:rPr>
              <a:t>，则在每条指令执行结束后产生的中断。</a:t>
            </a:r>
            <a:endParaRPr lang="en-US" altLang="zh-CN" b="1" dirty="0">
              <a:solidFill>
                <a:srgbClr val="FF0000"/>
              </a:solidFill>
            </a:endParaRPr>
          </a:p>
          <a:p>
            <a:r>
              <a:rPr lang="zh-CN" altLang="en-US" b="1" dirty="0"/>
              <a:t>断点中断：断点中断是一种通过在程序中特定位置（断点）插入指令或中断触发条件而引发的中断。当程序运行到断点时，处理器暂停执行当前程序并触发中断。</a:t>
            </a:r>
            <a:r>
              <a:rPr lang="zh-CN" altLang="en-US" b="1" dirty="0">
                <a:solidFill>
                  <a:srgbClr val="FF0000"/>
                </a:solidFill>
              </a:rPr>
              <a:t>是供调试程序使用的，它的中断类型号为</a:t>
            </a:r>
            <a:r>
              <a:rPr lang="en-US" altLang="zh-CN" b="1" dirty="0">
                <a:solidFill>
                  <a:srgbClr val="FF0000"/>
                </a:solidFill>
              </a:rPr>
              <a:t>3</a:t>
            </a:r>
            <a:r>
              <a:rPr lang="zh-CN" altLang="en-US" b="1" dirty="0">
                <a:solidFill>
                  <a:srgbClr val="FF0000"/>
                </a:solidFill>
              </a:rPr>
              <a:t>，通常调试程序时，把程序按程序的任务分成几段，然后，每段设一个段点；</a:t>
            </a:r>
            <a:endParaRPr lang="en-US" altLang="zh-CN" b="1" dirty="0">
              <a:solidFill>
                <a:srgbClr val="FF0000"/>
              </a:solidFill>
            </a:endParaRPr>
          </a:p>
          <a:p>
            <a:r>
              <a:rPr lang="zh-CN" altLang="en-US" b="1" dirty="0"/>
              <a:t>两者都是调试过程中常用的工具，单步中断适用于详细检查指令执行过程，断点中断则用于快速定位和检查关键代码块。</a:t>
            </a:r>
            <a:endParaRPr lang="en-US" altLang="zh-CN" b="1" dirty="0"/>
          </a:p>
          <a:p>
            <a:endParaRPr lang="en-US" altLang="zh-CN" b="1" dirty="0"/>
          </a:p>
          <a:p>
            <a:r>
              <a:rPr lang="zh-CN" altLang="en-US" b="1" dirty="0"/>
              <a:t>（</a:t>
            </a:r>
            <a:r>
              <a:rPr lang="en-US" altLang="zh-CN" b="1" dirty="0"/>
              <a:t>3</a:t>
            </a:r>
            <a:r>
              <a:rPr lang="zh-CN" altLang="en-US" b="1" dirty="0"/>
              <a:t>）除法错中断：当程序执行除法指令时，如果发生以下错误之一，处理器会触发除法错中断</a:t>
            </a:r>
            <a:r>
              <a:rPr lang="zh-CN" altLang="en-US" b="1" dirty="0">
                <a:sym typeface="Wingdings" panose="05000000000000000000" pitchFamily="2" charset="2"/>
              </a:rPr>
              <a:t>：①</a:t>
            </a:r>
            <a:r>
              <a:rPr lang="zh-CN" altLang="en-US" b="1" dirty="0">
                <a:solidFill>
                  <a:srgbClr val="FF0000"/>
                </a:solidFill>
              </a:rPr>
              <a:t>除数为零</a:t>
            </a:r>
            <a:r>
              <a:rPr lang="zh-CN" altLang="en-US" b="1" dirty="0"/>
              <a:t>（即试图进行非法的除法操作）。②</a:t>
            </a:r>
            <a:r>
              <a:rPr lang="zh-CN" altLang="en-US" b="1" dirty="0">
                <a:solidFill>
                  <a:srgbClr val="FF0000"/>
                </a:solidFill>
              </a:rPr>
              <a:t>商超过了目标寄存器所能表达的范围</a:t>
            </a:r>
            <a:r>
              <a:rPr lang="zh-CN" altLang="en-US" b="1" dirty="0"/>
              <a:t>（如整数除法的商太大，无法用寄存器存储）。</a:t>
            </a:r>
            <a:endParaRPr lang="en-US" altLang="zh-CN"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088180" y="0"/>
            <a:ext cx="9172575" cy="1304925"/>
          </a:xfrm>
          <a:prstGeom prst="rect">
            <a:avLst/>
          </a:prstGeom>
        </p:spPr>
      </p:pic>
      <p:sp>
        <p:nvSpPr>
          <p:cNvPr id="5" name="文本框 4"/>
          <p:cNvSpPr txBox="1"/>
          <p:nvPr/>
        </p:nvSpPr>
        <p:spPr>
          <a:xfrm>
            <a:off x="181583" y="1640732"/>
            <a:ext cx="11647251" cy="3139321"/>
          </a:xfrm>
          <a:prstGeom prst="rect">
            <a:avLst/>
          </a:prstGeom>
          <a:noFill/>
        </p:spPr>
        <p:txBody>
          <a:bodyPr wrap="square" rtlCol="0">
            <a:spAutoFit/>
          </a:bodyPr>
          <a:lstStyle/>
          <a:p>
            <a:r>
              <a:rPr lang="zh-CN" altLang="en-US" b="1" dirty="0"/>
              <a:t>溢出中断：当程序执行某些运算（如加法、乘法）时，结果超过了目标寄存器或存储单元所能表示的范围，会触发溢出中断。</a:t>
            </a:r>
            <a:r>
              <a:rPr lang="zh-CN" altLang="en-US" b="1" dirty="0">
                <a:solidFill>
                  <a:srgbClr val="FF0000"/>
                </a:solidFill>
              </a:rPr>
              <a:t>是在执行溢出中断指令</a:t>
            </a:r>
            <a:r>
              <a:rPr lang="en-US" altLang="zh-CN" b="1" dirty="0">
                <a:solidFill>
                  <a:srgbClr val="FF0000"/>
                </a:solidFill>
              </a:rPr>
              <a:t>INTO</a:t>
            </a:r>
            <a:r>
              <a:rPr lang="zh-CN" altLang="en-US" b="1" dirty="0">
                <a:solidFill>
                  <a:srgbClr val="FF0000"/>
                </a:solidFill>
              </a:rPr>
              <a:t>时，若溢出标志</a:t>
            </a:r>
            <a:r>
              <a:rPr lang="en-US" altLang="zh-CN" b="1" dirty="0">
                <a:solidFill>
                  <a:srgbClr val="FF0000"/>
                </a:solidFill>
              </a:rPr>
              <a:t>OF</a:t>
            </a:r>
            <a:r>
              <a:rPr lang="zh-CN" altLang="en-US" b="1" dirty="0">
                <a:solidFill>
                  <a:srgbClr val="FF0000"/>
                </a:solidFill>
              </a:rPr>
              <a:t>为</a:t>
            </a:r>
            <a:r>
              <a:rPr lang="en-US" altLang="zh-CN" b="1" dirty="0">
                <a:solidFill>
                  <a:srgbClr val="FF0000"/>
                </a:solidFill>
              </a:rPr>
              <a:t>1</a:t>
            </a:r>
            <a:r>
              <a:rPr lang="zh-CN" altLang="en-US" b="1" dirty="0">
                <a:solidFill>
                  <a:srgbClr val="FF0000"/>
                </a:solidFill>
              </a:rPr>
              <a:t>时产生的中断，</a:t>
            </a:r>
            <a:r>
              <a:rPr lang="zh-CN" altLang="en-US" b="1" dirty="0"/>
              <a:t>例如：在有符号整数运算中，结果超出了最大正数或最小负数范围。（</a:t>
            </a:r>
            <a:r>
              <a:rPr lang="en-US" altLang="zh-CN" b="1" dirty="0"/>
              <a:t>INTO</a:t>
            </a:r>
            <a:r>
              <a:rPr lang="zh-CN" altLang="en-US" b="1" dirty="0"/>
              <a:t>指令会检查溢出标志位（</a:t>
            </a:r>
            <a:r>
              <a:rPr lang="en-US" altLang="zh-CN" b="1" dirty="0"/>
              <a:t>OF, Overflow Flag</a:t>
            </a:r>
            <a:r>
              <a:rPr lang="zh-CN" altLang="en-US" b="1" dirty="0"/>
              <a:t>）的状态，如果溢出标志为</a:t>
            </a:r>
            <a:r>
              <a:rPr lang="en-US" altLang="zh-CN" b="1" dirty="0"/>
              <a:t>1</a:t>
            </a:r>
            <a:r>
              <a:rPr lang="zh-CN" altLang="en-US" b="1" dirty="0"/>
              <a:t>，则调用中断向量号为</a:t>
            </a:r>
            <a:r>
              <a:rPr lang="en-US" altLang="zh-CN" b="1" dirty="0"/>
              <a:t>4</a:t>
            </a:r>
            <a:r>
              <a:rPr lang="zh-CN" altLang="en-US" b="1" dirty="0"/>
              <a:t>的中断服务程序。）</a:t>
            </a:r>
            <a:endParaRPr lang="en-US" altLang="zh-CN" b="1" dirty="0"/>
          </a:p>
          <a:p>
            <a:r>
              <a:rPr lang="zh-CN" altLang="en-US" b="1" dirty="0"/>
              <a:t>两者都是内部中断，是处理器用来保证运算安全性的重要机制。</a:t>
            </a:r>
            <a:endParaRPr lang="zh-CN" altLang="en-US" b="1" dirty="0"/>
          </a:p>
          <a:p>
            <a:endParaRPr lang="en-US" altLang="zh-CN" b="1" dirty="0"/>
          </a:p>
          <a:p>
            <a:r>
              <a:rPr lang="zh-CN" altLang="en-US" b="1" dirty="0"/>
              <a:t>（</a:t>
            </a:r>
            <a:r>
              <a:rPr lang="en-US" altLang="zh-CN" b="1" dirty="0"/>
              <a:t>4</a:t>
            </a:r>
            <a:r>
              <a:rPr lang="zh-CN" altLang="en-US" b="1" dirty="0"/>
              <a:t>）中断向量号：中断向量号是用于</a:t>
            </a:r>
            <a:r>
              <a:rPr lang="zh-CN" altLang="en-US" b="1" dirty="0">
                <a:solidFill>
                  <a:srgbClr val="FF0000"/>
                </a:solidFill>
              </a:rPr>
              <a:t>标识中断类型</a:t>
            </a:r>
            <a:r>
              <a:rPr lang="zh-CN" altLang="en-US" b="1" dirty="0"/>
              <a:t>的一个编号，用作索引，指向中断向量表中的对应条目，当中断发生时，处理器根据中断向量号查找对应的中断服务程序地址。</a:t>
            </a:r>
            <a:endParaRPr lang="en-US" altLang="zh-CN" b="1" dirty="0"/>
          </a:p>
          <a:p>
            <a:r>
              <a:rPr lang="zh-CN" altLang="en-US" b="1" dirty="0"/>
              <a:t>中断向量表：中断向量表是</a:t>
            </a:r>
            <a:r>
              <a:rPr lang="zh-CN" altLang="en-US" b="1" dirty="0">
                <a:solidFill>
                  <a:srgbClr val="FF0000"/>
                </a:solidFill>
              </a:rPr>
              <a:t>中断向量号与它所对应的中断服务程序起始地址的转换表</a:t>
            </a:r>
            <a:r>
              <a:rPr lang="zh-CN" altLang="en-US" b="1" dirty="0"/>
              <a:t>。表中每个条目对应一个中断向量号，每个条目存储的是该中断类型对应的服务程序入口地址。当中断发生时，处理器通过中断向量号在该表中查找对应的服务程序地址，然后跳转到该地址处理中断。</a:t>
            </a:r>
            <a:endParaRPr lang="zh-CN" altLang="en-US"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561671" y="162127"/>
            <a:ext cx="10887075" cy="581025"/>
          </a:xfrm>
          <a:prstGeom prst="rect">
            <a:avLst/>
          </a:prstGeom>
        </p:spPr>
      </p:pic>
      <p:sp>
        <p:nvSpPr>
          <p:cNvPr id="6" name="文本框 5"/>
          <p:cNvSpPr txBox="1"/>
          <p:nvPr/>
        </p:nvSpPr>
        <p:spPr>
          <a:xfrm>
            <a:off x="561671" y="901430"/>
            <a:ext cx="10887075" cy="4247317"/>
          </a:xfrm>
          <a:prstGeom prst="rect">
            <a:avLst/>
          </a:prstGeom>
          <a:noFill/>
        </p:spPr>
        <p:txBody>
          <a:bodyPr wrap="square" rtlCol="0">
            <a:spAutoFit/>
          </a:bodyPr>
          <a:lstStyle/>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关键代码：</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err="1">
                <a:effectLst/>
                <a:latin typeface="Times New Roman" panose="02020603050405020304" pitchFamily="18" charset="0"/>
                <a:ea typeface="宋体" panose="02010600030101010101" pitchFamily="2" charset="-122"/>
              </a:rPr>
              <a:t>getkey</a:t>
            </a:r>
            <a:r>
              <a:rPr lang="en-US" altLang="zh-CN" sz="1800" kern="100" dirty="0">
                <a:effectLst/>
                <a:latin typeface="Times New Roman" panose="02020603050405020304" pitchFamily="18" charset="0"/>
                <a:ea typeface="宋体" panose="02010600030101010101" pitchFamily="2" charset="-122"/>
              </a:rPr>
              <a:t>:     </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kern="100" dirty="0">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mov ah, 01h     ;</a:t>
            </a:r>
            <a:r>
              <a:rPr lang="zh-CN" altLang="en-US" sz="1800" kern="100" dirty="0">
                <a:effectLst/>
                <a:latin typeface="宋体" panose="02010600030101010101" pitchFamily="2" charset="-122"/>
                <a:ea typeface="宋体" panose="02010600030101010101" pitchFamily="2" charset="-122"/>
              </a:rPr>
              <a:t>从键盘输入字母，存在</a:t>
            </a:r>
            <a:r>
              <a:rPr lang="en-US" altLang="zh-CN" sz="1800" kern="100" dirty="0">
                <a:effectLst/>
                <a:latin typeface="宋体" panose="02010600030101010101" pitchFamily="2" charset="-122"/>
                <a:ea typeface="宋体" panose="02010600030101010101" pitchFamily="2" charset="-122"/>
              </a:rPr>
              <a:t>AL</a:t>
            </a:r>
            <a:r>
              <a:rPr lang="zh-CN" altLang="en-US" kern="100" dirty="0">
                <a:latin typeface="宋体" panose="02010600030101010101" pitchFamily="2" charset="-122"/>
                <a:ea typeface="宋体" panose="02010600030101010101" pitchFamily="2" charset="-122"/>
              </a:rPr>
              <a:t>寄存器中</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int 21h</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cmp</a:t>
            </a:r>
            <a:r>
              <a:rPr lang="en-US" altLang="zh-CN" sz="1800" kern="100" dirty="0">
                <a:effectLst/>
                <a:latin typeface="Times New Roman" panose="02020603050405020304" pitchFamily="18" charset="0"/>
                <a:ea typeface="宋体" panose="02010600030101010101" pitchFamily="2" charset="-122"/>
              </a:rPr>
              <a:t>  al, ‘a’        ;</a:t>
            </a:r>
            <a:r>
              <a:rPr lang="zh-CN" altLang="en-US" sz="1800" kern="100" dirty="0">
                <a:effectLst/>
                <a:latin typeface="宋体" panose="02010600030101010101" pitchFamily="2" charset="-122"/>
                <a:ea typeface="宋体" panose="02010600030101010101" pitchFamily="2" charset="-122"/>
              </a:rPr>
              <a:t>判键</a:t>
            </a:r>
            <a:r>
              <a:rPr lang="zh-CN" altLang="en-US" kern="100" dirty="0">
                <a:latin typeface="宋体" panose="02010600030101010101" pitchFamily="2" charset="-122"/>
                <a:ea typeface="宋体" panose="02010600030101010101" pitchFamily="2" charset="-122"/>
              </a:rPr>
              <a:t>输入</a:t>
            </a:r>
            <a:r>
              <a:rPr lang="zh-CN" altLang="en-US" sz="1800" kern="100" dirty="0">
                <a:effectLst/>
                <a:latin typeface="宋体" panose="02010600030101010101" pitchFamily="2" charset="-122"/>
                <a:ea typeface="宋体" panose="02010600030101010101" pitchFamily="2" charset="-122"/>
              </a:rPr>
              <a:t>值是小写字母？</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jb</a:t>
            </a: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getkey</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cmp</a:t>
            </a:r>
            <a:r>
              <a:rPr lang="en-US" altLang="zh-CN" sz="1800" kern="100" dirty="0">
                <a:effectLst/>
                <a:latin typeface="Times New Roman" panose="02020603050405020304" pitchFamily="18" charset="0"/>
                <a:ea typeface="宋体" panose="02010600030101010101" pitchFamily="2" charset="-122"/>
              </a:rPr>
              <a:t>  al, 'z'</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ja  </a:t>
            </a:r>
            <a:r>
              <a:rPr lang="en-US" altLang="zh-CN" sz="1800" kern="100" dirty="0" err="1">
                <a:effectLst/>
                <a:latin typeface="Times New Roman" panose="02020603050405020304" pitchFamily="18" charset="0"/>
                <a:ea typeface="宋体" panose="02010600030101010101" pitchFamily="2" charset="-122"/>
              </a:rPr>
              <a:t>getkey</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sub al,20h        </a:t>
            </a:r>
            <a:r>
              <a:rPr lang="en-US" altLang="zh-CN" kern="100" dirty="0">
                <a:latin typeface="Times New Roman" panose="02020603050405020304" pitchFamily="18" charset="0"/>
                <a:ea typeface="宋体" panose="02010600030101010101" pitchFamily="2" charset="-122"/>
              </a:rPr>
              <a:t>;</a:t>
            </a:r>
            <a:r>
              <a:rPr lang="zh-CN" altLang="en-US" sz="1800" kern="100" dirty="0">
                <a:effectLst/>
                <a:latin typeface="宋体" panose="02010600030101010101" pitchFamily="2" charset="-122"/>
                <a:ea typeface="宋体" panose="02010600030101010101" pitchFamily="2" charset="-122"/>
              </a:rPr>
              <a:t>是小写字母就转换为大写字母</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mov </a:t>
            </a:r>
            <a:r>
              <a:rPr lang="en-US" altLang="zh-CN" sz="1800" kern="100" dirty="0" err="1">
                <a:effectLst/>
                <a:latin typeface="Times New Roman" panose="02020603050405020304" pitchFamily="18" charset="0"/>
                <a:ea typeface="宋体" panose="02010600030101010101" pitchFamily="2" charset="-122"/>
              </a:rPr>
              <a:t>dl,al</a:t>
            </a:r>
            <a:r>
              <a:rPr lang="en-US" altLang="zh-CN" sz="1800" kern="100" dirty="0">
                <a:effectLst/>
                <a:latin typeface="Times New Roman" panose="02020603050405020304" pitchFamily="18" charset="0"/>
                <a:ea typeface="宋体" panose="02010600030101010101" pitchFamily="2" charset="-122"/>
              </a:rPr>
              <a:t>          ;</a:t>
            </a:r>
            <a:r>
              <a:rPr lang="zh-CN" altLang="en-US" sz="1800" kern="100" dirty="0">
                <a:effectLst/>
                <a:latin typeface="Times New Roman" panose="02020603050405020304" pitchFamily="18" charset="0"/>
                <a:ea typeface="宋体" panose="02010600030101010101" pitchFamily="2" charset="-122"/>
              </a:rPr>
              <a:t>因为</a:t>
            </a:r>
            <a:r>
              <a:rPr lang="en-US" altLang="zh-CN" sz="1800" kern="100" dirty="0">
                <a:effectLst/>
                <a:latin typeface="Times New Roman" panose="02020603050405020304" pitchFamily="18" charset="0"/>
                <a:ea typeface="宋体" panose="02010600030101010101" pitchFamily="2" charset="-122"/>
              </a:rPr>
              <a:t>02h</a:t>
            </a:r>
            <a:r>
              <a:rPr lang="zh-CN" altLang="en-US" sz="1800" kern="100" dirty="0">
                <a:effectLst/>
                <a:latin typeface="Times New Roman" panose="02020603050405020304" pitchFamily="18" charset="0"/>
                <a:ea typeface="宋体" panose="02010600030101010101" pitchFamily="2" charset="-122"/>
              </a:rPr>
              <a:t>中断显示的</a:t>
            </a:r>
            <a:r>
              <a:rPr lang="en-US" altLang="zh-CN" sz="1800" kern="100" dirty="0">
                <a:effectLst/>
                <a:latin typeface="Times New Roman" panose="02020603050405020304" pitchFamily="18" charset="0"/>
                <a:ea typeface="宋体" panose="02010600030101010101" pitchFamily="2" charset="-122"/>
              </a:rPr>
              <a:t>DL</a:t>
            </a:r>
            <a:r>
              <a:rPr lang="zh-CN" altLang="en-US" sz="1800" kern="100" dirty="0">
                <a:effectLst/>
                <a:latin typeface="Times New Roman" panose="02020603050405020304" pitchFamily="18" charset="0"/>
                <a:ea typeface="宋体" panose="02010600030101010101" pitchFamily="2" charset="-122"/>
              </a:rPr>
              <a:t>寄存器的内容，所以要先将</a:t>
            </a:r>
            <a:r>
              <a:rPr lang="en-US" altLang="zh-CN" kern="100" dirty="0">
                <a:latin typeface="Times New Roman" panose="02020603050405020304" pitchFamily="18" charset="0"/>
                <a:ea typeface="宋体" panose="02010600030101010101" pitchFamily="2" charset="-122"/>
              </a:rPr>
              <a:t>AL</a:t>
            </a:r>
            <a:r>
              <a:rPr lang="zh-CN" altLang="en-US" kern="100" dirty="0">
                <a:latin typeface="Times New Roman" panose="02020603050405020304" pitchFamily="18" charset="0"/>
                <a:ea typeface="宋体" panose="02010600030101010101" pitchFamily="2" charset="-122"/>
              </a:rPr>
              <a:t>寄存器赋值到</a:t>
            </a:r>
            <a:r>
              <a:rPr lang="en-US" altLang="zh-CN" kern="100" dirty="0">
                <a:latin typeface="Times New Roman" panose="02020603050405020304" pitchFamily="18" charset="0"/>
                <a:ea typeface="宋体" panose="02010600030101010101" pitchFamily="2" charset="-122"/>
              </a:rPr>
              <a:t>DL</a:t>
            </a:r>
            <a:r>
              <a:rPr lang="zh-CN" altLang="en-US" kern="100" dirty="0">
                <a:latin typeface="Times New Roman" panose="02020603050405020304" pitchFamily="18" charset="0"/>
                <a:ea typeface="宋体" panose="02010600030101010101" pitchFamily="2" charset="-122"/>
              </a:rPr>
              <a:t>寄存器</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mov ah, 02h     ;</a:t>
            </a:r>
            <a:r>
              <a:rPr lang="zh-CN" altLang="en-US" sz="1800" kern="100" dirty="0">
                <a:effectLst/>
                <a:latin typeface="宋体" panose="02010600030101010101" pitchFamily="2" charset="-122"/>
                <a:ea typeface="宋体" panose="02010600030101010101" pitchFamily="2" charset="-122"/>
              </a:rPr>
              <a:t>显示</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int 21h</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br>
              <a:rPr lang="en-US" altLang="zh-CN" sz="1800" kern="100" dirty="0">
                <a:effectLst/>
                <a:latin typeface="Times New Roman" panose="02020603050405020304" pitchFamily="18" charset="0"/>
                <a:ea typeface="宋体" panose="02010600030101010101" pitchFamily="2" charset="-122"/>
              </a:rPr>
            </a:br>
            <a:endParaRPr lang="en-US" altLang="zh-CN" sz="1800" kern="100" dirty="0">
              <a:effectLst/>
              <a:latin typeface="Times New Roman" panose="02020603050405020304" pitchFamily="18" charset="0"/>
              <a:ea typeface="宋体" panose="02010600030101010101" pitchFamily="2" charset="-122"/>
            </a:endParaRPr>
          </a:p>
          <a:p>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466927" y="139479"/>
            <a:ext cx="10882008" cy="801593"/>
          </a:xfrm>
          <a:prstGeom prst="rect">
            <a:avLst/>
          </a:prstGeom>
        </p:spPr>
      </p:pic>
      <p:sp>
        <p:nvSpPr>
          <p:cNvPr id="7" name="文本框 6"/>
          <p:cNvSpPr txBox="1"/>
          <p:nvPr/>
        </p:nvSpPr>
        <p:spPr>
          <a:xfrm>
            <a:off x="583659" y="941072"/>
            <a:ext cx="8294452" cy="5632311"/>
          </a:xfrm>
          <a:prstGeom prst="rect">
            <a:avLst/>
          </a:prstGeom>
          <a:noFill/>
        </p:spPr>
        <p:txBody>
          <a:bodyPr wrap="square">
            <a:spAutoFit/>
          </a:bodyPr>
          <a:lstStyle/>
          <a:p>
            <a:pPr marL="0" marR="0" algn="just">
              <a:spcBef>
                <a:spcPts val="0"/>
              </a:spcBef>
              <a:spcAft>
                <a:spcPts val="0"/>
              </a:spcAft>
            </a:pPr>
            <a:r>
              <a:rPr lang="zh-CN" altLang="en-US" kern="100" dirty="0">
                <a:latin typeface="Times New Roman" panose="02020603050405020304" pitchFamily="18" charset="0"/>
                <a:ea typeface="宋体" panose="02010600030101010101" pitchFamily="2" charset="-122"/>
              </a:rPr>
              <a:t>关键代码：</a:t>
            </a:r>
            <a:r>
              <a:rPr lang="en-US" altLang="zh-CN" sz="1800" kern="100" dirty="0">
                <a:effectLst/>
                <a:latin typeface="Times New Roman" panose="02020603050405020304" pitchFamily="18" charset="0"/>
                <a:ea typeface="宋体" panose="02010600030101010101" pitchFamily="2" charset="-122"/>
              </a:rPr>
              <a:t> </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.model small</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.stack 256</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.data</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kern="100" dirty="0">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bufx</a:t>
            </a: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db</a:t>
            </a:r>
            <a:r>
              <a:rPr lang="en-US" altLang="zh-CN" sz="1800" kern="100" dirty="0">
                <a:effectLst/>
                <a:latin typeface="Times New Roman" panose="02020603050405020304" pitchFamily="18" charset="0"/>
                <a:ea typeface="宋体" panose="02010600030101010101" pitchFamily="2" charset="-122"/>
              </a:rPr>
              <a:t> ?	</a:t>
            </a:r>
            <a:r>
              <a:rPr lang="en-US" altLang="zh-CN" kern="100" dirty="0">
                <a:latin typeface="Times New Roman" panose="02020603050405020304" pitchFamily="18" charset="0"/>
                <a:ea typeface="宋体" panose="02010600030101010101" pitchFamily="2" charset="-122"/>
              </a:rPr>
              <a:t>;</a:t>
            </a:r>
            <a:r>
              <a:rPr lang="zh-CN" altLang="en-US" kern="100" dirty="0">
                <a:latin typeface="Times New Roman" panose="02020603050405020304" pitchFamily="18" charset="0"/>
                <a:ea typeface="宋体" panose="02010600030101010101" pitchFamily="2" charset="-122"/>
              </a:rPr>
              <a:t>定义</a:t>
            </a:r>
            <a:r>
              <a:rPr lang="en-US" altLang="zh-CN" kern="100" dirty="0">
                <a:latin typeface="Times New Roman" panose="02020603050405020304" pitchFamily="18" charset="0"/>
                <a:ea typeface="宋体" panose="02010600030101010101" pitchFamily="2" charset="-122"/>
              </a:rPr>
              <a:t>8</a:t>
            </a:r>
            <a:r>
              <a:rPr lang="zh-CN" altLang="en-US" kern="100" dirty="0">
                <a:latin typeface="Times New Roman" panose="02020603050405020304" pitchFamily="18" charset="0"/>
                <a:ea typeface="宋体" panose="02010600030101010101" pitchFamily="2" charset="-122"/>
              </a:rPr>
              <a:t>位无符号数</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bufY</a:t>
            </a: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db</a:t>
            </a:r>
            <a:r>
              <a:rPr lang="en-US" altLang="zh-CN" sz="1800" kern="100" dirty="0">
                <a:effectLst/>
                <a:latin typeface="Times New Roman" panose="02020603050405020304" pitchFamily="18" charset="0"/>
                <a:ea typeface="宋体" panose="02010600030101010101" pitchFamily="2" charset="-122"/>
              </a:rPr>
              <a:t> ?</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bufz</a:t>
            </a: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db</a:t>
            </a:r>
            <a:r>
              <a:rPr lang="en-US" altLang="zh-CN" sz="1800" kern="100" dirty="0">
                <a:effectLst/>
                <a:latin typeface="Times New Roman" panose="02020603050405020304" pitchFamily="18" charset="0"/>
                <a:ea typeface="宋体" panose="02010600030101010101" pitchFamily="2" charset="-122"/>
              </a:rPr>
              <a:t> ?</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.code</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.startup</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mov al, </a:t>
            </a:r>
            <a:r>
              <a:rPr lang="en-US" altLang="zh-CN" sz="1800" kern="100" dirty="0" err="1">
                <a:effectLst/>
                <a:latin typeface="Times New Roman" panose="02020603050405020304" pitchFamily="18" charset="0"/>
                <a:ea typeface="宋体" panose="02010600030101010101" pitchFamily="2" charset="-122"/>
              </a:rPr>
              <a:t>bufX</a:t>
            </a:r>
            <a:r>
              <a:rPr lang="en-US" altLang="zh-CN" sz="1800" kern="100" dirty="0">
                <a:effectLst/>
                <a:latin typeface="Times New Roman" panose="02020603050405020304" pitchFamily="18" charset="0"/>
                <a:ea typeface="宋体" panose="02010600030101010101" pitchFamily="2" charset="-122"/>
              </a:rPr>
              <a:t>	;</a:t>
            </a:r>
            <a:r>
              <a:rPr lang="zh-CN" altLang="en-US" sz="1800" kern="100" dirty="0">
                <a:effectLst/>
                <a:latin typeface="Times New Roman" panose="02020603050405020304" pitchFamily="18" charset="0"/>
                <a:ea typeface="宋体" panose="02010600030101010101" pitchFamily="2" charset="-122"/>
              </a:rPr>
              <a:t>不能直接比较内存单元</a:t>
            </a:r>
            <a:r>
              <a:rPr lang="zh-CN" altLang="en-US" kern="100" dirty="0">
                <a:latin typeface="Times New Roman" panose="02020603050405020304" pitchFamily="18" charset="0"/>
                <a:ea typeface="宋体" panose="02010600030101010101" pitchFamily="2" charset="-122"/>
              </a:rPr>
              <a:t>，</a:t>
            </a:r>
            <a:r>
              <a:rPr lang="zh-CN" altLang="en-US" sz="1800" kern="100" dirty="0">
                <a:effectLst/>
                <a:latin typeface="Times New Roman" panose="02020603050405020304" pitchFamily="18" charset="0"/>
                <a:ea typeface="宋体" panose="02010600030101010101" pitchFamily="2" charset="-122"/>
              </a:rPr>
              <a:t>所以要先放到寄存器中</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mov bl, </a:t>
            </a:r>
            <a:r>
              <a:rPr lang="en-US" altLang="zh-CN" sz="1800" kern="100" dirty="0" err="1">
                <a:effectLst/>
                <a:latin typeface="Times New Roman" panose="02020603050405020304" pitchFamily="18" charset="0"/>
                <a:ea typeface="宋体" panose="02010600030101010101" pitchFamily="2" charset="-122"/>
              </a:rPr>
              <a:t>bufY</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cmp</a:t>
            </a: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al,bl</a:t>
            </a:r>
            <a:r>
              <a:rPr lang="en-US" altLang="zh-CN" kern="100" dirty="0">
                <a:latin typeface="Times New Roman" panose="02020603050405020304" pitchFamily="18" charset="0"/>
                <a:ea typeface="宋体" panose="02010600030101010101" pitchFamily="2" charset="-122"/>
              </a:rPr>
              <a:t>		;</a:t>
            </a:r>
            <a:r>
              <a:rPr lang="en-US" altLang="zh-CN" kern="100" dirty="0" err="1">
                <a:latin typeface="Times New Roman" panose="02020603050405020304" pitchFamily="18" charset="0"/>
                <a:ea typeface="宋体" panose="02010600030101010101" pitchFamily="2" charset="-122"/>
              </a:rPr>
              <a:t>bufX</a:t>
            </a:r>
            <a:r>
              <a:rPr lang="en-US" altLang="zh-CN" kern="100" dirty="0">
                <a:latin typeface="Times New Roman" panose="02020603050405020304" pitchFamily="18" charset="0"/>
                <a:ea typeface="宋体" panose="02010600030101010101" pitchFamily="2" charset="-122"/>
              </a:rPr>
              <a:t>&gt;</a:t>
            </a:r>
            <a:r>
              <a:rPr lang="en-US" altLang="zh-CN" kern="100" dirty="0" err="1">
                <a:latin typeface="Times New Roman" panose="02020603050405020304" pitchFamily="18" charset="0"/>
                <a:ea typeface="宋体" panose="02010600030101010101" pitchFamily="2" charset="-122"/>
              </a:rPr>
              <a:t>bufY</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ja next		;ja</a:t>
            </a:r>
            <a:r>
              <a:rPr lang="zh-CN" altLang="en-US" sz="1800" kern="100" dirty="0">
                <a:effectLst/>
                <a:latin typeface="Times New Roman" panose="02020603050405020304" pitchFamily="18" charset="0"/>
                <a:ea typeface="宋体" panose="02010600030101010101" pitchFamily="2" charset="-122"/>
              </a:rPr>
              <a:t>无符号大于则跳转</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mov </a:t>
            </a:r>
            <a:r>
              <a:rPr lang="en-US" altLang="zh-CN" sz="1800" kern="100" dirty="0" err="1">
                <a:effectLst/>
                <a:latin typeface="Times New Roman" panose="02020603050405020304" pitchFamily="18" charset="0"/>
                <a:ea typeface="宋体" panose="02010600030101010101" pitchFamily="2" charset="-122"/>
              </a:rPr>
              <a:t>bufZ</a:t>
            </a:r>
            <a:r>
              <a:rPr lang="en-US" altLang="zh-CN" sz="1800" kern="100" dirty="0">
                <a:effectLst/>
                <a:latin typeface="Times New Roman" panose="02020603050405020304" pitchFamily="18" charset="0"/>
                <a:ea typeface="宋体" panose="02010600030101010101" pitchFamily="2" charset="-122"/>
              </a:rPr>
              <a:t>, bl	;</a:t>
            </a:r>
            <a:r>
              <a:rPr lang="en-US" altLang="zh-CN" sz="1800" kern="100" dirty="0" err="1">
                <a:effectLst/>
                <a:latin typeface="Times New Roman" panose="02020603050405020304" pitchFamily="18" charset="0"/>
                <a:ea typeface="宋体" panose="02010600030101010101" pitchFamily="2" charset="-122"/>
              </a:rPr>
              <a:t>bufX</a:t>
            </a:r>
            <a:r>
              <a:rPr lang="en-US" altLang="zh-CN" kern="100" dirty="0">
                <a:latin typeface="Times New Roman" panose="02020603050405020304" pitchFamily="18" charset="0"/>
                <a:ea typeface="宋体" panose="02010600030101010101" pitchFamily="2" charset="-122"/>
              </a:rPr>
              <a:t>&lt;=</a:t>
            </a:r>
            <a:r>
              <a:rPr lang="en-US" altLang="zh-CN" kern="100" dirty="0" err="1">
                <a:latin typeface="Times New Roman" panose="02020603050405020304" pitchFamily="18" charset="0"/>
                <a:ea typeface="宋体" panose="02010600030101010101" pitchFamily="2" charset="-122"/>
              </a:rPr>
              <a:t>bufY</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jmp</a:t>
            </a:r>
            <a:r>
              <a:rPr lang="en-US" altLang="zh-CN" sz="1800" kern="100" dirty="0">
                <a:effectLst/>
                <a:latin typeface="Times New Roman" panose="02020603050405020304" pitchFamily="18" charset="0"/>
                <a:ea typeface="宋体" panose="02010600030101010101" pitchFamily="2" charset="-122"/>
              </a:rPr>
              <a:t> done</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next:</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mov </a:t>
            </a:r>
            <a:r>
              <a:rPr lang="en-US" altLang="zh-CN" sz="1800" kern="100" dirty="0" err="1">
                <a:effectLst/>
                <a:latin typeface="Times New Roman" panose="02020603050405020304" pitchFamily="18" charset="0"/>
                <a:ea typeface="宋体" panose="02010600030101010101" pitchFamily="2" charset="-122"/>
              </a:rPr>
              <a:t>bufZ</a:t>
            </a:r>
            <a:r>
              <a:rPr lang="en-US" altLang="zh-CN" sz="1800" kern="100" dirty="0">
                <a:effectLst/>
                <a:latin typeface="Times New Roman" panose="02020603050405020304" pitchFamily="18" charset="0"/>
                <a:ea typeface="宋体" panose="02010600030101010101" pitchFamily="2" charset="-122"/>
              </a:rPr>
              <a:t>, al</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kern="100" dirty="0">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done:     </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kern="100" dirty="0">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.exit 0</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end</a:t>
            </a:r>
            <a:endParaRPr lang="zh-CN" altLang="en-US" dirty="0"/>
          </a:p>
        </p:txBody>
      </p:sp>
      <p:pic>
        <p:nvPicPr>
          <p:cNvPr id="9" name="图片 8"/>
          <p:cNvPicPr>
            <a:picLocks noChangeAspect="1"/>
          </p:cNvPicPr>
          <p:nvPr/>
        </p:nvPicPr>
        <p:blipFill>
          <a:blip r:embed="rId2"/>
          <a:stretch>
            <a:fillRect/>
          </a:stretch>
        </p:blipFill>
        <p:spPr>
          <a:xfrm>
            <a:off x="8511437" y="941072"/>
            <a:ext cx="2218083" cy="5916928"/>
          </a:xfrm>
          <a:prstGeom prst="rect">
            <a:avLst/>
          </a:prstGeom>
        </p:spPr>
      </p:pic>
      <p:pic>
        <p:nvPicPr>
          <p:cNvPr id="6" name="图片 5"/>
          <p:cNvPicPr>
            <a:picLocks noChangeAspect="1"/>
          </p:cNvPicPr>
          <p:nvPr/>
        </p:nvPicPr>
        <p:blipFill>
          <a:blip r:embed="rId3"/>
          <a:stretch>
            <a:fillRect/>
          </a:stretch>
        </p:blipFill>
        <p:spPr>
          <a:xfrm>
            <a:off x="9922213" y="941072"/>
            <a:ext cx="2269787" cy="220420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1569599" y="175706"/>
            <a:ext cx="7639050" cy="514350"/>
          </a:xfrm>
          <a:prstGeom prst="rect">
            <a:avLst/>
          </a:prstGeom>
        </p:spPr>
      </p:pic>
      <p:sp>
        <p:nvSpPr>
          <p:cNvPr id="8" name="文本框 7"/>
          <p:cNvSpPr txBox="1"/>
          <p:nvPr/>
        </p:nvSpPr>
        <p:spPr>
          <a:xfrm>
            <a:off x="116732" y="745787"/>
            <a:ext cx="10071369" cy="3416320"/>
          </a:xfrm>
          <a:prstGeom prst="rect">
            <a:avLst/>
          </a:prstGeom>
          <a:noFill/>
        </p:spPr>
        <p:txBody>
          <a:bodyPr wrap="square" rtlCol="0">
            <a:spAutoFit/>
          </a:bodyPr>
          <a:lstStyle/>
          <a:p>
            <a:pPr marL="0" marR="0" algn="just">
              <a:spcBef>
                <a:spcPts val="0"/>
              </a:spcBef>
              <a:spcAft>
                <a:spcPts val="0"/>
              </a:spcAft>
            </a:pPr>
            <a:r>
              <a:rPr lang="zh-CN" altLang="en-US" sz="1800" kern="100" dirty="0">
                <a:effectLst/>
                <a:latin typeface="宋体" panose="02010600030101010101" pitchFamily="2" charset="-122"/>
                <a:ea typeface="宋体" panose="02010600030101010101" pitchFamily="2" charset="-122"/>
              </a:rPr>
              <a:t>参数传递方法：寄存器、共享变量（公共存储单元）、堆栈</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宋体" panose="02010600030101010101" pitchFamily="2" charset="-122"/>
                <a:ea typeface="宋体" panose="02010600030101010101" pitchFamily="2" charset="-122"/>
              </a:rPr>
              <a:t>比较：</a:t>
            </a:r>
            <a:endParaRPr lang="en-US" altLang="zh-CN" sz="1800" kern="100" dirty="0">
              <a:effectLst/>
              <a:latin typeface="宋体" panose="02010600030101010101" pitchFamily="2" charset="-122"/>
              <a:ea typeface="宋体" panose="02010600030101010101" pitchFamily="2" charset="-122"/>
            </a:endParaRPr>
          </a:p>
          <a:p>
            <a:pPr marL="0" marR="0" algn="just">
              <a:spcBef>
                <a:spcPts val="0"/>
              </a:spcBef>
              <a:spcAft>
                <a:spcPts val="0"/>
              </a:spcAft>
            </a:pPr>
            <a:r>
              <a:rPr lang="zh-CN" altLang="en-US" sz="1800" kern="100" dirty="0">
                <a:effectLst/>
                <a:latin typeface="宋体" panose="02010600030101010101" pitchFamily="2" charset="-122"/>
                <a:ea typeface="宋体" panose="02010600030101010101" pitchFamily="2" charset="-122"/>
              </a:rPr>
              <a:t>（</a:t>
            </a:r>
            <a:r>
              <a:rPr lang="en-US" altLang="zh-CN" sz="1800" kern="100" dirty="0">
                <a:effectLst/>
                <a:latin typeface="宋体" panose="02010600030101010101" pitchFamily="2" charset="-122"/>
                <a:ea typeface="宋体" panose="02010600030101010101" pitchFamily="2" charset="-122"/>
              </a:rPr>
              <a:t>1</a:t>
            </a:r>
            <a:r>
              <a:rPr lang="zh-CN" altLang="en-US" sz="1800" kern="100" dirty="0">
                <a:effectLst/>
                <a:latin typeface="宋体" panose="02010600030101010101" pitchFamily="2" charset="-122"/>
                <a:ea typeface="宋体" panose="02010600030101010101" pitchFamily="2" charset="-122"/>
              </a:rPr>
              <a:t>）用寄存器传递参数是把参数存于约定的寄存器中，这种方法简单易行，经常采用；</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宋体" panose="02010600030101010101" pitchFamily="2" charset="-122"/>
                <a:ea typeface="宋体" panose="02010600030101010101" pitchFamily="2" charset="-122"/>
              </a:rPr>
              <a:t>（</a:t>
            </a:r>
            <a:r>
              <a:rPr lang="en-US" altLang="zh-CN" sz="1800" kern="100" dirty="0">
                <a:effectLst/>
                <a:latin typeface="宋体" panose="02010600030101010101" pitchFamily="2" charset="-122"/>
                <a:ea typeface="宋体" panose="02010600030101010101" pitchFamily="2" charset="-122"/>
              </a:rPr>
              <a:t>2</a:t>
            </a:r>
            <a:r>
              <a:rPr lang="zh-CN" altLang="en-US" sz="1800" kern="100" dirty="0">
                <a:effectLst/>
                <a:latin typeface="宋体" panose="02010600030101010101" pitchFamily="2" charset="-122"/>
                <a:ea typeface="宋体" panose="02010600030101010101" pitchFamily="2" charset="-122"/>
              </a:rPr>
              <a:t>）用变量传递参数是主程序与被调用过程直接用同一个变量名访问传递的参数，就是利用变量传递参数。如果调用程序与被调用程序在同一个源程序文件中，只要设置好数据段寄存器</a:t>
            </a:r>
            <a:r>
              <a:rPr lang="en-US" altLang="zh-CN" sz="1800" kern="100" dirty="0">
                <a:effectLst/>
                <a:latin typeface="Times New Roman" panose="02020603050405020304" pitchFamily="18" charset="0"/>
                <a:ea typeface="宋体" panose="02010600030101010101" pitchFamily="2" charset="-122"/>
              </a:rPr>
              <a:t>DS</a:t>
            </a:r>
            <a:r>
              <a:rPr lang="zh-CN" altLang="en-US" sz="1800" kern="100" dirty="0">
                <a:effectLst/>
                <a:latin typeface="宋体" panose="02010600030101010101" pitchFamily="2" charset="-122"/>
                <a:ea typeface="宋体" panose="02010600030101010101" pitchFamily="2" charset="-122"/>
              </a:rPr>
              <a:t>，则子程序与主程序访问变量的形式相同，也就是它们共享数据段的变量，调用程序与被调用程序不在同一个源文件中，必须利用</a:t>
            </a:r>
            <a:r>
              <a:rPr lang="en-US" altLang="zh-CN" sz="1800" kern="100" dirty="0">
                <a:effectLst/>
                <a:latin typeface="Times New Roman" panose="02020603050405020304" pitchFamily="18" charset="0"/>
                <a:ea typeface="宋体" panose="02010600030101010101" pitchFamily="2" charset="-122"/>
              </a:rPr>
              <a:t>public/extern</a:t>
            </a:r>
            <a:r>
              <a:rPr lang="zh-CN" altLang="en-US" sz="1800" kern="100" dirty="0">
                <a:effectLst/>
                <a:latin typeface="宋体" panose="02010600030101010101" pitchFamily="2" charset="-122"/>
                <a:ea typeface="宋体" panose="02010600030101010101" pitchFamily="2" charset="-122"/>
              </a:rPr>
              <a:t>进行声明，才能用变量传递参数，利用变量传递参数，过程的通用性比较差，然而，在多个程序段间，尤其在不同程序的模块间，利用全局变量共享数据也是一种常见的参数传递方法；</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宋体" panose="02010600030101010101" pitchFamily="2" charset="-122"/>
                <a:ea typeface="宋体" panose="02010600030101010101" pitchFamily="2" charset="-122"/>
              </a:rPr>
              <a:t>（</a:t>
            </a:r>
            <a:r>
              <a:rPr lang="en-US" altLang="zh-CN" sz="1800" kern="100" dirty="0">
                <a:effectLst/>
                <a:latin typeface="宋体" panose="02010600030101010101" pitchFamily="2" charset="-122"/>
                <a:ea typeface="宋体" panose="02010600030101010101" pitchFamily="2" charset="-122"/>
              </a:rPr>
              <a:t>3</a:t>
            </a:r>
            <a:r>
              <a:rPr lang="zh-CN" altLang="en-US" sz="1800" kern="100" dirty="0">
                <a:effectLst/>
                <a:latin typeface="宋体" panose="02010600030101010101" pitchFamily="2" charset="-122"/>
                <a:ea typeface="宋体" panose="02010600030101010101" pitchFamily="2" charset="-122"/>
              </a:rPr>
              <a:t>）用堆栈传递参数是主程序将子程序的入口参数压入堆栈，子程序从堆栈中取出参数；子程序将出口压入堆栈，主程序弹出堆栈取得它们。</a:t>
            </a:r>
            <a:endParaRPr lang="zh-CN" altLang="en-US" sz="1800" kern="100" dirty="0">
              <a:effectLst/>
              <a:latin typeface="Times New Roman" panose="02020603050405020304" pitchFamily="18" charset="0"/>
              <a:ea typeface="宋体" panose="02010600030101010101" pitchFamily="2" charset="-122"/>
            </a:endParaRPr>
          </a:p>
          <a:p>
            <a:endParaRPr lang="zh-CN" altLang="en-US" dirty="0"/>
          </a:p>
        </p:txBody>
      </p:sp>
      <p:pic>
        <p:nvPicPr>
          <p:cNvPr id="10" name="图片 9"/>
          <p:cNvPicPr>
            <a:picLocks noChangeAspect="1"/>
          </p:cNvPicPr>
          <p:nvPr/>
        </p:nvPicPr>
        <p:blipFill>
          <a:blip r:embed="rId2"/>
          <a:stretch>
            <a:fillRect/>
          </a:stretch>
        </p:blipFill>
        <p:spPr>
          <a:xfrm>
            <a:off x="1569599" y="4217838"/>
            <a:ext cx="6429375" cy="504825"/>
          </a:xfrm>
          <a:prstGeom prst="rect">
            <a:avLst/>
          </a:prstGeom>
        </p:spPr>
      </p:pic>
      <p:sp>
        <p:nvSpPr>
          <p:cNvPr id="11" name="文本框 10"/>
          <p:cNvSpPr txBox="1"/>
          <p:nvPr/>
        </p:nvSpPr>
        <p:spPr>
          <a:xfrm>
            <a:off x="116732" y="5097294"/>
            <a:ext cx="10071369" cy="1200329"/>
          </a:xfrm>
          <a:prstGeom prst="rect">
            <a:avLst/>
          </a:prstGeom>
          <a:noFill/>
        </p:spPr>
        <p:txBody>
          <a:bodyPr wrap="square" rtlCol="0">
            <a:spAutoFit/>
          </a:bodyPr>
          <a:lstStyle/>
          <a:p>
            <a:pPr marL="0" marR="0" algn="just">
              <a:spcBef>
                <a:spcPts val="0"/>
              </a:spcBef>
              <a:spcAft>
                <a:spcPts val="0"/>
              </a:spcAft>
            </a:pPr>
            <a:r>
              <a:rPr lang="zh-CN" altLang="en-US" sz="1800" kern="100" dirty="0">
                <a:effectLst/>
                <a:latin typeface="宋体" panose="02010600030101010101" pitchFamily="2" charset="-122"/>
                <a:ea typeface="宋体" panose="02010600030101010101" pitchFamily="2" charset="-122"/>
              </a:rPr>
              <a:t>子程序中又调用子程序就形成子程序嵌套。</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宋体" panose="02010600030101010101" pitchFamily="2" charset="-122"/>
                <a:ea typeface="宋体" panose="02010600030101010101" pitchFamily="2" charset="-122"/>
              </a:rPr>
              <a:t>子程序中直接或间接调用该子程序本身就形成子程序递归。</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宋体" panose="02010600030101010101" pitchFamily="2" charset="-122"/>
                <a:ea typeface="宋体" panose="02010600030101010101" pitchFamily="2" charset="-122"/>
              </a:rPr>
              <a:t>子程序的重入是指子程序被中断后又被中断服务程序所调用，能够重入的子程序称为可重入子程序。</a:t>
            </a:r>
            <a:endParaRPr lang="zh-CN" altLang="en-US" sz="1800" kern="100" dirty="0">
              <a:effectLst/>
              <a:latin typeface="Times New Roman" panose="02020603050405020304" pitchFamily="18" charset="0"/>
              <a:ea typeface="宋体" panose="02010600030101010101" pitchFamily="2" charset="-122"/>
            </a:endParaRPr>
          </a:p>
          <a:p>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492868" y="112752"/>
            <a:ext cx="10946860" cy="796135"/>
          </a:xfrm>
          <a:prstGeom prst="rect">
            <a:avLst/>
          </a:prstGeom>
        </p:spPr>
      </p:pic>
      <p:sp>
        <p:nvSpPr>
          <p:cNvPr id="10" name="文本框 9"/>
          <p:cNvSpPr txBox="1"/>
          <p:nvPr/>
        </p:nvSpPr>
        <p:spPr>
          <a:xfrm>
            <a:off x="492868" y="966281"/>
            <a:ext cx="11498094" cy="6186309"/>
          </a:xfrm>
          <a:prstGeom prst="rect">
            <a:avLst/>
          </a:prstGeom>
          <a:noFill/>
        </p:spPr>
        <p:txBody>
          <a:bodyPr wrap="square" rtlCol="0">
            <a:spAutoFit/>
          </a:bodyPr>
          <a:lstStyle/>
          <a:p>
            <a:pPr marL="0" marR="0" algn="just">
              <a:spcBef>
                <a:spcPts val="0"/>
              </a:spcBef>
              <a:spcAft>
                <a:spcPts val="0"/>
              </a:spcAft>
            </a:pPr>
            <a:r>
              <a:rPr lang="zh-CN" altLang="en-US" kern="100" dirty="0">
                <a:latin typeface="Times New Roman" panose="02020603050405020304" pitchFamily="18" charset="0"/>
                <a:ea typeface="宋体" panose="02010600030101010101" pitchFamily="2" charset="-122"/>
              </a:rPr>
              <a:t>关键代码</a:t>
            </a:r>
            <a:r>
              <a:rPr lang="en-US" altLang="zh-CN" kern="100" dirty="0">
                <a:latin typeface="Times New Roman" panose="02020603050405020304" pitchFamily="18" charset="0"/>
                <a:ea typeface="宋体" panose="02010600030101010101" pitchFamily="2" charset="-122"/>
                <a:sym typeface="Wingdings" panose="05000000000000000000" pitchFamily="2" charset="2"/>
              </a:rPr>
              <a:t>(</a:t>
            </a:r>
            <a:r>
              <a:rPr lang="zh-CN" altLang="en-US" kern="100" dirty="0">
                <a:latin typeface="Times New Roman" panose="02020603050405020304" pitchFamily="18" charset="0"/>
                <a:ea typeface="宋体" panose="02010600030101010101" pitchFamily="2" charset="-122"/>
                <a:sym typeface="Wingdings" panose="05000000000000000000" pitchFamily="2" charset="2"/>
              </a:rPr>
              <a:t>用</a:t>
            </a:r>
            <a:r>
              <a:rPr lang="en-US" altLang="zh-CN" kern="100" dirty="0">
                <a:latin typeface="Times New Roman" panose="02020603050405020304" pitchFamily="18" charset="0"/>
                <a:ea typeface="宋体" panose="02010600030101010101" pitchFamily="2" charset="-122"/>
                <a:sym typeface="Wingdings" panose="05000000000000000000" pitchFamily="2" charset="2"/>
              </a:rPr>
              <a:t>AL</a:t>
            </a:r>
            <a:r>
              <a:rPr lang="zh-CN" altLang="en-US" kern="100" dirty="0">
                <a:latin typeface="Times New Roman" panose="02020603050405020304" pitchFamily="18" charset="0"/>
                <a:ea typeface="宋体" panose="02010600030101010101" pitchFamily="2" charset="-122"/>
                <a:sym typeface="Wingdings" panose="05000000000000000000" pitchFamily="2" charset="2"/>
              </a:rPr>
              <a:t>寄存器传递入口参数</a:t>
            </a:r>
            <a:r>
              <a:rPr lang="en-US" altLang="zh-CN" kern="100" dirty="0">
                <a:latin typeface="Times New Roman" panose="02020603050405020304" pitchFamily="18" charset="0"/>
                <a:ea typeface="宋体" panose="02010600030101010101" pitchFamily="2" charset="-122"/>
                <a:sym typeface="Wingdings" panose="05000000000000000000" pitchFamily="2" charset="2"/>
              </a:rPr>
              <a:t>)</a:t>
            </a:r>
            <a:endParaRPr lang="en-US" altLang="zh-CN" kern="100" dirty="0">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kern="100" dirty="0">
                <a:latin typeface="Times New Roman" panose="02020603050405020304" pitchFamily="18" charset="0"/>
                <a:ea typeface="宋体" panose="02010600030101010101" pitchFamily="2" charset="-122"/>
              </a:rPr>
              <a:t>c</a:t>
            </a:r>
            <a:r>
              <a:rPr lang="en-US" altLang="zh-CN" sz="1800" kern="100" dirty="0">
                <a:effectLst/>
                <a:latin typeface="Times New Roman" panose="02020603050405020304" pitchFamily="18" charset="0"/>
                <a:ea typeface="宋体" panose="02010600030101010101" pitchFamily="2" charset="-122"/>
              </a:rPr>
              <a:t>hange   proc</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push  bx                               </a:t>
            </a:r>
            <a:r>
              <a:rPr lang="zh-CN" altLang="en-US" kern="100" dirty="0">
                <a:latin typeface="宋体" panose="02010600030101010101" pitchFamily="2" charset="-122"/>
                <a:ea typeface="宋体" panose="02010600030101010101" pitchFamily="2" charset="-122"/>
              </a:rPr>
              <a:t>；</a:t>
            </a:r>
            <a:r>
              <a:rPr lang="zh-CN" altLang="en-US" sz="1800" kern="100" dirty="0">
                <a:effectLst/>
                <a:latin typeface="宋体" panose="02010600030101010101" pitchFamily="2" charset="-122"/>
                <a:ea typeface="宋体" panose="02010600030101010101" pitchFamily="2" charset="-122"/>
              </a:rPr>
              <a:t>保护</a:t>
            </a:r>
            <a:r>
              <a:rPr lang="en-US" altLang="zh-CN" sz="1800" kern="100" dirty="0">
                <a:effectLst/>
                <a:latin typeface="Times New Roman" panose="02020603050405020304" pitchFamily="18" charset="0"/>
                <a:ea typeface="宋体" panose="02010600030101010101" pitchFamily="2" charset="-122"/>
              </a:rPr>
              <a:t>bx</a:t>
            </a:r>
            <a:r>
              <a:rPr lang="zh-CN" altLang="en-US" sz="1800" kern="100" dirty="0">
                <a:effectLst/>
                <a:latin typeface="Times New Roman" panose="02020603050405020304" pitchFamily="18" charset="0"/>
                <a:ea typeface="宋体" panose="02010600030101010101" pitchFamily="2" charset="-122"/>
              </a:rPr>
              <a:t>，因为该子程序中要使用到</a:t>
            </a:r>
            <a:r>
              <a:rPr lang="en-US" altLang="zh-CN" sz="1800" kern="100" dirty="0">
                <a:effectLst/>
                <a:latin typeface="Times New Roman" panose="02020603050405020304" pitchFamily="18" charset="0"/>
                <a:ea typeface="宋体" panose="02010600030101010101" pitchFamily="2" charset="-122"/>
              </a:rPr>
              <a:t>bx</a:t>
            </a:r>
            <a:r>
              <a:rPr lang="zh-CN" altLang="en-US" sz="1800" kern="100" dirty="0">
                <a:effectLst/>
                <a:latin typeface="Times New Roman" panose="02020603050405020304" pitchFamily="18" charset="0"/>
                <a:ea typeface="宋体" panose="02010600030101010101" pitchFamily="2" charset="-122"/>
              </a:rPr>
              <a:t>寄存器，以免丢失主程序中</a:t>
            </a:r>
            <a:r>
              <a:rPr lang="en-US" altLang="zh-CN" kern="100" dirty="0">
                <a:latin typeface="Times New Roman" panose="02020603050405020304" pitchFamily="18" charset="0"/>
                <a:ea typeface="宋体" panose="02010600030101010101" pitchFamily="2" charset="-122"/>
              </a:rPr>
              <a:t>bx</a:t>
            </a:r>
            <a:r>
              <a:rPr lang="zh-CN" altLang="en-US" sz="1800" kern="100" dirty="0">
                <a:effectLst/>
                <a:latin typeface="Times New Roman" panose="02020603050405020304" pitchFamily="18" charset="0"/>
                <a:ea typeface="宋体" panose="02010600030101010101" pitchFamily="2" charset="-122"/>
              </a:rPr>
              <a:t>的值</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xor</a:t>
            </a:r>
            <a:r>
              <a:rPr lang="en-US" altLang="zh-CN" sz="1800" kern="100" dirty="0">
                <a:effectLst/>
                <a:latin typeface="Times New Roman" panose="02020603050405020304" pitchFamily="18" charset="0"/>
                <a:ea typeface="宋体" panose="02010600030101010101" pitchFamily="2" charset="-122"/>
              </a:rPr>
              <a:t>   bx, bx                          </a:t>
            </a:r>
            <a:r>
              <a:rPr lang="zh-CN" altLang="en-US" sz="1800" kern="100" dirty="0">
                <a:effectLst/>
                <a:latin typeface="宋体" panose="02010600030101010101" pitchFamily="2" charset="-122"/>
                <a:ea typeface="宋体" panose="02010600030101010101" pitchFamily="2" charset="-122"/>
              </a:rPr>
              <a:t>；位移量清零</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cmp</a:t>
            </a:r>
            <a:r>
              <a:rPr lang="en-US" altLang="zh-CN" sz="1800" kern="100" dirty="0">
                <a:effectLst/>
                <a:latin typeface="Times New Roman" panose="02020603050405020304" pitchFamily="18" charset="0"/>
                <a:ea typeface="宋体" panose="02010600030101010101" pitchFamily="2" charset="-122"/>
              </a:rPr>
              <a:t> al,0                               </a:t>
            </a:r>
            <a:r>
              <a:rPr lang="zh-CN" altLang="en-US" sz="1800" kern="100" dirty="0">
                <a:effectLst/>
                <a:latin typeface="宋体" panose="02010600030101010101" pitchFamily="2" charset="-122"/>
                <a:ea typeface="宋体" panose="02010600030101010101" pitchFamily="2" charset="-122"/>
              </a:rPr>
              <a:t>；根据入口参数</a:t>
            </a:r>
            <a:r>
              <a:rPr lang="en-US" altLang="zh-CN" sz="1800" kern="100" dirty="0">
                <a:effectLst/>
                <a:latin typeface="Times New Roman" panose="02020603050405020304" pitchFamily="18" charset="0"/>
                <a:ea typeface="宋体" panose="02010600030101010101" pitchFamily="2" charset="-122"/>
              </a:rPr>
              <a:t>AL=0/1/2</a:t>
            </a:r>
            <a:r>
              <a:rPr lang="zh-CN" altLang="en-US" sz="1800" kern="100" dirty="0">
                <a:effectLst/>
                <a:latin typeface="宋体" panose="02010600030101010101" pitchFamily="2" charset="-122"/>
                <a:ea typeface="宋体" panose="02010600030101010101" pitchFamily="2" charset="-122"/>
              </a:rPr>
              <a:t>，分别处理</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jz</a:t>
            </a:r>
            <a:r>
              <a:rPr lang="en-US" altLang="zh-CN" sz="1800" kern="100" dirty="0">
                <a:effectLst/>
                <a:latin typeface="Times New Roman" panose="02020603050405020304" pitchFamily="18" charset="0"/>
                <a:ea typeface="宋体" panose="02010600030101010101" pitchFamily="2" charset="-122"/>
              </a:rPr>
              <a:t>  chan_0		       </a:t>
            </a:r>
            <a:r>
              <a:rPr lang="zh-CN" altLang="en-US" sz="1800" kern="100" dirty="0">
                <a:effectLst/>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al=0</a:t>
            </a:r>
            <a:r>
              <a:rPr lang="zh-CN" altLang="en-US" kern="100" dirty="0">
                <a:latin typeface="Times New Roman" panose="02020603050405020304" pitchFamily="18" charset="0"/>
                <a:ea typeface="宋体" panose="02010600030101010101" pitchFamily="2" charset="-122"/>
              </a:rPr>
              <a:t>，跳转到第一种情况</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dec al			</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jz</a:t>
            </a:r>
            <a:r>
              <a:rPr lang="en-US" altLang="zh-CN" sz="1800" kern="100" dirty="0">
                <a:effectLst/>
                <a:latin typeface="Times New Roman" panose="02020603050405020304" pitchFamily="18" charset="0"/>
                <a:ea typeface="宋体" panose="02010600030101010101" pitchFamily="2" charset="-122"/>
              </a:rPr>
              <a:t>  chan_1		       </a:t>
            </a:r>
            <a:r>
              <a:rPr lang="zh-CN" altLang="en-US"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al</a:t>
            </a:r>
            <a:r>
              <a:rPr lang="zh-CN" altLang="en-US" sz="1800" kern="100" dirty="0">
                <a:effectLst/>
                <a:latin typeface="Times New Roman" panose="02020603050405020304" pitchFamily="18" charset="0"/>
                <a:ea typeface="宋体" panose="02010600030101010101" pitchFamily="2" charset="-122"/>
              </a:rPr>
              <a:t>减</a:t>
            </a:r>
            <a:r>
              <a:rPr lang="en-US" altLang="zh-CN" sz="1800" kern="100" dirty="0">
                <a:effectLst/>
                <a:latin typeface="Times New Roman" panose="02020603050405020304" pitchFamily="18" charset="0"/>
                <a:ea typeface="宋体" panose="02010600030101010101" pitchFamily="2" charset="-122"/>
              </a:rPr>
              <a:t>1</a:t>
            </a:r>
            <a:r>
              <a:rPr lang="zh-CN" altLang="en-US" sz="1800" kern="100" dirty="0">
                <a:effectLst/>
                <a:latin typeface="Times New Roman" panose="02020603050405020304" pitchFamily="18" charset="0"/>
                <a:ea typeface="宋体" panose="02010600030101010101" pitchFamily="2" charset="-122"/>
              </a:rPr>
              <a:t>后等于</a:t>
            </a:r>
            <a:r>
              <a:rPr lang="en-US" altLang="zh-CN" sz="1800" kern="100" dirty="0">
                <a:effectLst/>
                <a:latin typeface="Times New Roman" panose="02020603050405020304" pitchFamily="18" charset="0"/>
                <a:ea typeface="宋体" panose="02010600030101010101" pitchFamily="2" charset="-122"/>
              </a:rPr>
              <a:t>0</a:t>
            </a:r>
            <a:r>
              <a:rPr lang="zh-CN" altLang="en-US" sz="1800" kern="100" dirty="0">
                <a:effectLst/>
                <a:latin typeface="Times New Roman" panose="02020603050405020304" pitchFamily="18" charset="0"/>
                <a:ea typeface="宋体" panose="02010600030101010101" pitchFamily="2" charset="-122"/>
              </a:rPr>
              <a:t>，说明原本</a:t>
            </a:r>
            <a:r>
              <a:rPr lang="en-US" altLang="zh-CN" sz="1800" kern="100" dirty="0">
                <a:effectLst/>
                <a:latin typeface="Times New Roman" panose="02020603050405020304" pitchFamily="18" charset="0"/>
                <a:ea typeface="宋体" panose="02010600030101010101" pitchFamily="2" charset="-122"/>
              </a:rPr>
              <a:t>al=1	</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dec al</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jz</a:t>
            </a:r>
            <a:r>
              <a:rPr lang="en-US" altLang="zh-CN" sz="1800" kern="100" dirty="0">
                <a:effectLst/>
                <a:latin typeface="Times New Roman" panose="02020603050405020304" pitchFamily="18" charset="0"/>
                <a:ea typeface="宋体" panose="02010600030101010101" pitchFamily="2" charset="-122"/>
              </a:rPr>
              <a:t>  chan_2</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jmp</a:t>
            </a:r>
            <a:r>
              <a:rPr lang="en-US" altLang="zh-CN" sz="1800" kern="100" dirty="0">
                <a:effectLst/>
                <a:latin typeface="Times New Roman" panose="02020603050405020304" pitchFamily="18" charset="0"/>
                <a:ea typeface="宋体" panose="02010600030101010101" pitchFamily="2" charset="-122"/>
              </a:rPr>
              <a:t> done		       </a:t>
            </a:r>
            <a:r>
              <a:rPr lang="zh-CN" altLang="en-US" sz="1800" kern="100" dirty="0">
                <a:effectLst/>
                <a:latin typeface="Times New Roman" panose="02020603050405020304" pitchFamily="18" charset="0"/>
                <a:ea typeface="宋体" panose="02010600030101010101" pitchFamily="2" charset="-122"/>
              </a:rPr>
              <a:t>；说明</a:t>
            </a:r>
            <a:r>
              <a:rPr lang="en-US" altLang="zh-CN" sz="1800" kern="100" dirty="0">
                <a:effectLst/>
                <a:latin typeface="Times New Roman" panose="02020603050405020304" pitchFamily="18" charset="0"/>
                <a:ea typeface="宋体" panose="02010600030101010101" pitchFamily="2" charset="-122"/>
              </a:rPr>
              <a:t>al</a:t>
            </a:r>
            <a:r>
              <a:rPr lang="zh-CN" altLang="en-US" sz="1800" kern="100" dirty="0">
                <a:effectLst/>
                <a:latin typeface="Times New Roman" panose="02020603050405020304" pitchFamily="18" charset="0"/>
                <a:ea typeface="宋体" panose="02010600030101010101" pitchFamily="2" charset="-122"/>
              </a:rPr>
              <a:t>不等于</a:t>
            </a:r>
            <a:r>
              <a:rPr lang="en-US" altLang="zh-CN" sz="1800" kern="100" dirty="0">
                <a:effectLst/>
                <a:latin typeface="Times New Roman" panose="02020603050405020304" pitchFamily="18" charset="0"/>
                <a:ea typeface="宋体" panose="02010600030101010101" pitchFamily="2" charset="-122"/>
              </a:rPr>
              <a:t>0</a:t>
            </a:r>
            <a:r>
              <a:rPr lang="en-US" altLang="zh-CN" kern="100" dirty="0">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a:t>
            </a:r>
            <a:r>
              <a:rPr lang="en-US" altLang="zh-CN" kern="100" dirty="0">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2</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chan_0:    </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mov </a:t>
            </a:r>
            <a:r>
              <a:rPr lang="en-US" altLang="zh-CN" sz="1800" kern="100" dirty="0" err="1">
                <a:effectLst/>
                <a:latin typeface="Times New Roman" panose="02020603050405020304" pitchFamily="18" charset="0"/>
                <a:ea typeface="宋体" panose="02010600030101010101" pitchFamily="2" charset="-122"/>
              </a:rPr>
              <a:t>al,string</a:t>
            </a:r>
            <a:r>
              <a:rPr lang="en-US" altLang="zh-CN" sz="1800" kern="100" dirty="0">
                <a:effectLst/>
                <a:latin typeface="Times New Roman" panose="02020603050405020304" pitchFamily="18" charset="0"/>
                <a:ea typeface="宋体" panose="02010600030101010101" pitchFamily="2" charset="-122"/>
              </a:rPr>
              <a:t>[bx]                 </a:t>
            </a:r>
            <a:r>
              <a:rPr lang="zh-CN" altLang="en-US" sz="1800" kern="100" dirty="0">
                <a:effectLst/>
                <a:latin typeface="宋体" panose="02010600030101010101" pitchFamily="2" charset="-122"/>
                <a:ea typeface="宋体" panose="02010600030101010101" pitchFamily="2" charset="-122"/>
              </a:rPr>
              <a:t>；实现对大写字母转换成小写</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cmp</a:t>
            </a:r>
            <a:r>
              <a:rPr lang="en-US" altLang="zh-CN" sz="1800" kern="100" dirty="0">
                <a:effectLst/>
                <a:latin typeface="Times New Roman" panose="02020603050405020304" pitchFamily="18" charset="0"/>
                <a:ea typeface="宋体" panose="02010600030101010101" pitchFamily="2" charset="-122"/>
              </a:rPr>
              <a:t> al,0</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jz</a:t>
            </a:r>
            <a:r>
              <a:rPr lang="en-US" altLang="zh-CN" sz="1800" kern="100" dirty="0">
                <a:effectLst/>
                <a:latin typeface="Times New Roman" panose="02020603050405020304" pitchFamily="18" charset="0"/>
                <a:ea typeface="宋体" panose="02010600030101010101" pitchFamily="2" charset="-122"/>
              </a:rPr>
              <a:t> done		       </a:t>
            </a:r>
            <a:r>
              <a:rPr lang="zh-CN" altLang="en-US" sz="1800" kern="100" dirty="0">
                <a:effectLst/>
                <a:latin typeface="Times New Roman" panose="02020603050405020304" pitchFamily="18" charset="0"/>
                <a:ea typeface="宋体" panose="02010600030101010101" pitchFamily="2" charset="-122"/>
              </a:rPr>
              <a:t>；判断结束条件</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cmp</a:t>
            </a: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al,’A</a:t>
            </a:r>
            <a:r>
              <a:rPr lang="en-US" altLang="zh-CN" sz="1800" kern="100" dirty="0">
                <a:effectLst/>
                <a:latin typeface="Times New Roman" panose="02020603050405020304" pitchFamily="18" charset="0"/>
                <a:ea typeface="宋体" panose="02010600030101010101" pitchFamily="2" charset="-122"/>
              </a:rPr>
              <a:t>’              	        </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jb</a:t>
            </a:r>
            <a:r>
              <a:rPr lang="en-US" altLang="zh-CN" sz="1800" kern="100" dirty="0">
                <a:effectLst/>
                <a:latin typeface="Times New Roman" panose="02020603050405020304" pitchFamily="18" charset="0"/>
                <a:ea typeface="宋体" panose="02010600030101010101" pitchFamily="2" charset="-122"/>
              </a:rPr>
              <a:t> next0</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cmp</a:t>
            </a: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al,’Z</a:t>
            </a:r>
            <a:r>
              <a:rPr lang="en-US" altLang="zh-CN" sz="1800" kern="100" dirty="0">
                <a:effectLst/>
                <a:latin typeface="Times New Roman" panose="02020603050405020304" pitchFamily="18" charset="0"/>
                <a:ea typeface="宋体" panose="02010600030101010101" pitchFamily="2" charset="-122"/>
              </a:rPr>
              <a:t>’                          </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ja next0</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add  al, 20h          	        </a:t>
            </a:r>
            <a:r>
              <a:rPr lang="zh-CN" altLang="en-US" sz="1800" kern="100" dirty="0">
                <a:effectLst/>
                <a:latin typeface="宋体" panose="02010600030101010101" pitchFamily="2" charset="-122"/>
                <a:ea typeface="宋体" panose="02010600030101010101" pitchFamily="2" charset="-122"/>
              </a:rPr>
              <a:t>；</a:t>
            </a:r>
            <a:r>
              <a:rPr lang="zh-CN" altLang="en-US" kern="100" dirty="0">
                <a:latin typeface="宋体" panose="02010600030101010101" pitchFamily="2" charset="-122"/>
                <a:ea typeface="宋体" panose="02010600030101010101" pitchFamily="2" charset="-122"/>
              </a:rPr>
              <a:t>是大写字母，</a:t>
            </a:r>
            <a:r>
              <a:rPr lang="zh-CN" altLang="en-US" sz="1800" kern="100" dirty="0">
                <a:effectLst/>
                <a:latin typeface="宋体" panose="02010600030101010101" pitchFamily="2" charset="-122"/>
                <a:ea typeface="宋体" panose="02010600030101010101" pitchFamily="2" charset="-122"/>
              </a:rPr>
              <a:t>转换为小写字母</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mov  string[bx], al</a:t>
            </a:r>
            <a:endParaRPr lang="en-US" altLang="zh-CN" sz="1800" kern="100" dirty="0">
              <a:effectLst/>
              <a:latin typeface="Times New Roman" panose="02020603050405020304" pitchFamily="18" charset="0"/>
              <a:ea typeface="宋体" panose="02010600030101010101" pitchFamily="2" charset="-122"/>
            </a:endParaRPr>
          </a:p>
          <a:p>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492868" y="97273"/>
            <a:ext cx="11498094" cy="7017306"/>
          </a:xfrm>
          <a:prstGeom prst="rect">
            <a:avLst/>
          </a:prstGeom>
          <a:noFill/>
        </p:spPr>
        <p:txBody>
          <a:bodyPr wrap="square" rtlCol="0">
            <a:spAutoFit/>
          </a:bodyPr>
          <a:lstStyle/>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next0:   </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kern="100" dirty="0">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inc</a:t>
            </a:r>
            <a:r>
              <a:rPr lang="en-US" altLang="zh-CN" sz="1800" kern="100" dirty="0">
                <a:effectLst/>
                <a:latin typeface="Times New Roman" panose="02020603050405020304" pitchFamily="18" charset="0"/>
                <a:ea typeface="宋体" panose="02010600030101010101" pitchFamily="2" charset="-122"/>
              </a:rPr>
              <a:t>  bx                                 </a:t>
            </a:r>
            <a:r>
              <a:rPr lang="zh-CN" altLang="en-US" sz="1800" kern="100" dirty="0">
                <a:effectLst/>
                <a:latin typeface="宋体" panose="02010600030101010101" pitchFamily="2" charset="-122"/>
                <a:ea typeface="宋体" panose="02010600030101010101" pitchFamily="2" charset="-122"/>
              </a:rPr>
              <a:t>；位移量加</a:t>
            </a:r>
            <a:r>
              <a:rPr lang="en-US" altLang="zh-CN" sz="1800" kern="100" dirty="0">
                <a:effectLst/>
                <a:latin typeface="Times New Roman" panose="02020603050405020304" pitchFamily="18" charset="0"/>
                <a:ea typeface="宋体" panose="02010600030101010101" pitchFamily="2" charset="-122"/>
              </a:rPr>
              <a:t>1</a:t>
            </a:r>
            <a:r>
              <a:rPr lang="zh-CN" altLang="en-US" sz="1800" kern="100" dirty="0">
                <a:effectLst/>
                <a:latin typeface="宋体" panose="02010600030101010101" pitchFamily="2" charset="-122"/>
                <a:ea typeface="宋体" panose="02010600030101010101" pitchFamily="2" charset="-122"/>
              </a:rPr>
              <a:t>，指向下一字母</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jmp</a:t>
            </a:r>
            <a:r>
              <a:rPr lang="en-US" altLang="zh-CN" sz="1800" kern="100" dirty="0">
                <a:effectLst/>
                <a:latin typeface="Times New Roman" panose="02020603050405020304" pitchFamily="18" charset="0"/>
                <a:ea typeface="宋体" panose="02010600030101010101" pitchFamily="2" charset="-122"/>
              </a:rPr>
              <a:t>  chan_0</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chan_1:    </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mov </a:t>
            </a:r>
            <a:r>
              <a:rPr lang="en-US" altLang="zh-CN" sz="1800" kern="100" dirty="0" err="1">
                <a:effectLst/>
                <a:latin typeface="Times New Roman" panose="02020603050405020304" pitchFamily="18" charset="0"/>
                <a:ea typeface="宋体" panose="02010600030101010101" pitchFamily="2" charset="-122"/>
              </a:rPr>
              <a:t>al,string</a:t>
            </a:r>
            <a:r>
              <a:rPr lang="en-US" altLang="zh-CN" sz="1800" kern="100" dirty="0">
                <a:effectLst/>
                <a:latin typeface="Times New Roman" panose="02020603050405020304" pitchFamily="18" charset="0"/>
                <a:ea typeface="宋体" panose="02010600030101010101" pitchFamily="2" charset="-122"/>
              </a:rPr>
              <a:t>[bx]                </a:t>
            </a:r>
            <a:r>
              <a:rPr lang="zh-CN" altLang="en-US" sz="1800" kern="100" dirty="0">
                <a:effectLst/>
                <a:latin typeface="宋体" panose="02010600030101010101" pitchFamily="2" charset="-122"/>
                <a:ea typeface="宋体" panose="02010600030101010101" pitchFamily="2" charset="-122"/>
              </a:rPr>
              <a:t>；实现对小写字母转换成大写</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cmp</a:t>
            </a:r>
            <a:r>
              <a:rPr lang="en-US" altLang="zh-CN" sz="1800" kern="100" dirty="0">
                <a:effectLst/>
                <a:latin typeface="Times New Roman" panose="02020603050405020304" pitchFamily="18" charset="0"/>
                <a:ea typeface="宋体" panose="02010600030101010101" pitchFamily="2" charset="-122"/>
              </a:rPr>
              <a:t> al,0</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jz</a:t>
            </a:r>
            <a:r>
              <a:rPr lang="en-US" altLang="zh-CN" sz="1800" kern="100" dirty="0">
                <a:effectLst/>
                <a:latin typeface="Times New Roman" panose="02020603050405020304" pitchFamily="18" charset="0"/>
                <a:ea typeface="宋体" panose="02010600030101010101" pitchFamily="2" charset="-122"/>
              </a:rPr>
              <a:t> done		       </a:t>
            </a:r>
            <a:r>
              <a:rPr lang="zh-CN" altLang="en-US" sz="1800" kern="100" dirty="0">
                <a:effectLst/>
                <a:latin typeface="Times New Roman" panose="02020603050405020304" pitchFamily="18" charset="0"/>
                <a:ea typeface="宋体" panose="02010600030101010101" pitchFamily="2" charset="-122"/>
              </a:rPr>
              <a:t>；判断结束条件</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cmp</a:t>
            </a: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al,’a</a:t>
            </a:r>
            <a:r>
              <a:rPr lang="en-US" altLang="zh-CN" sz="1800" kern="100" dirty="0">
                <a:effectLst/>
                <a:latin typeface="Times New Roman" panose="02020603050405020304" pitchFamily="18" charset="0"/>
                <a:ea typeface="宋体" panose="02010600030101010101" pitchFamily="2" charset="-122"/>
              </a:rPr>
              <a:t>’         </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jb</a:t>
            </a:r>
            <a:r>
              <a:rPr lang="en-US" altLang="zh-CN" sz="1800" kern="100" dirty="0">
                <a:effectLst/>
                <a:latin typeface="Times New Roman" panose="02020603050405020304" pitchFamily="18" charset="0"/>
                <a:ea typeface="宋体" panose="02010600030101010101" pitchFamily="2" charset="-122"/>
              </a:rPr>
              <a:t> next1</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cmp</a:t>
            </a: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al,’z</a:t>
            </a:r>
            <a:r>
              <a:rPr lang="en-US" altLang="zh-CN" sz="1800" kern="100" dirty="0">
                <a:effectLst/>
                <a:latin typeface="Times New Roman" panose="02020603050405020304" pitchFamily="18" charset="0"/>
                <a:ea typeface="宋体" panose="02010600030101010101" pitchFamily="2" charset="-122"/>
              </a:rPr>
              <a:t>’         </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ja next1</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sub  al, 20h                         </a:t>
            </a:r>
            <a:r>
              <a:rPr lang="zh-CN" altLang="en-US" sz="1800" kern="100" dirty="0">
                <a:effectLst/>
                <a:latin typeface="宋体" panose="02010600030101010101" pitchFamily="2" charset="-122"/>
                <a:ea typeface="宋体" panose="02010600030101010101" pitchFamily="2" charset="-122"/>
              </a:rPr>
              <a:t>；</a:t>
            </a:r>
            <a:r>
              <a:rPr lang="zh-CN" altLang="en-US" kern="100" dirty="0">
                <a:latin typeface="宋体" panose="02010600030101010101" pitchFamily="2" charset="-122"/>
                <a:ea typeface="宋体" panose="02010600030101010101" pitchFamily="2" charset="-122"/>
              </a:rPr>
              <a:t>是小写字母，</a:t>
            </a:r>
            <a:r>
              <a:rPr lang="zh-CN" altLang="en-US" sz="1800" kern="100" dirty="0">
                <a:effectLst/>
                <a:latin typeface="宋体" panose="02010600030101010101" pitchFamily="2" charset="-122"/>
                <a:ea typeface="宋体" panose="02010600030101010101" pitchFamily="2" charset="-122"/>
              </a:rPr>
              <a:t>转换为大写字母</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mov  string[bx], al</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next1:    </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inc</a:t>
            </a:r>
            <a:r>
              <a:rPr lang="en-US" altLang="zh-CN" sz="1800" kern="100" dirty="0">
                <a:effectLst/>
                <a:latin typeface="Times New Roman" panose="02020603050405020304" pitchFamily="18" charset="0"/>
                <a:ea typeface="宋体" panose="02010600030101010101" pitchFamily="2" charset="-122"/>
              </a:rPr>
              <a:t>  bx                                 </a:t>
            </a:r>
            <a:r>
              <a:rPr lang="zh-CN" altLang="en-US" sz="1800" kern="100" dirty="0">
                <a:effectLst/>
                <a:latin typeface="宋体" panose="02010600030101010101" pitchFamily="2" charset="-122"/>
                <a:ea typeface="宋体" panose="02010600030101010101" pitchFamily="2" charset="-122"/>
              </a:rPr>
              <a:t>；位移量加</a:t>
            </a:r>
            <a:r>
              <a:rPr lang="en-US" altLang="zh-CN" sz="1800" kern="100" dirty="0">
                <a:effectLst/>
                <a:latin typeface="Times New Roman" panose="02020603050405020304" pitchFamily="18" charset="0"/>
                <a:ea typeface="宋体" panose="02010600030101010101" pitchFamily="2" charset="-122"/>
              </a:rPr>
              <a:t>1</a:t>
            </a:r>
            <a:r>
              <a:rPr lang="zh-CN" altLang="en-US" sz="1800" kern="100" dirty="0">
                <a:effectLst/>
                <a:latin typeface="宋体" panose="02010600030101010101" pitchFamily="2" charset="-122"/>
                <a:ea typeface="宋体" panose="02010600030101010101" pitchFamily="2" charset="-122"/>
              </a:rPr>
              <a:t>，指向下一字母</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jmp</a:t>
            </a:r>
            <a:r>
              <a:rPr lang="en-US" altLang="zh-CN" sz="1800" kern="100" dirty="0">
                <a:effectLst/>
                <a:latin typeface="Times New Roman" panose="02020603050405020304" pitchFamily="18" charset="0"/>
                <a:ea typeface="宋体" panose="02010600030101010101" pitchFamily="2" charset="-122"/>
              </a:rPr>
              <a:t>  chan_1</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chan_2:    </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kern="100" dirty="0">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mov </a:t>
            </a:r>
            <a:r>
              <a:rPr lang="en-US" altLang="zh-CN" sz="1800" kern="100" dirty="0" err="1">
                <a:effectLst/>
                <a:latin typeface="Times New Roman" panose="02020603050405020304" pitchFamily="18" charset="0"/>
                <a:ea typeface="宋体" panose="02010600030101010101" pitchFamily="2" charset="-122"/>
              </a:rPr>
              <a:t>al,string</a:t>
            </a:r>
            <a:r>
              <a:rPr lang="en-US" altLang="zh-CN" sz="1800" kern="100" dirty="0">
                <a:effectLst/>
                <a:latin typeface="Times New Roman" panose="02020603050405020304" pitchFamily="18" charset="0"/>
                <a:ea typeface="宋体" panose="02010600030101010101" pitchFamily="2" charset="-122"/>
              </a:rPr>
              <a:t>[bx]                </a:t>
            </a:r>
            <a:r>
              <a:rPr lang="zh-CN" altLang="en-US" sz="1800" kern="100" dirty="0">
                <a:effectLst/>
                <a:latin typeface="宋体" panose="02010600030101010101" pitchFamily="2" charset="-122"/>
                <a:ea typeface="宋体" panose="02010600030101010101" pitchFamily="2" charset="-122"/>
              </a:rPr>
              <a:t>；实现</a:t>
            </a:r>
            <a:r>
              <a:rPr lang="zh-CN" altLang="en-US" kern="100" dirty="0">
                <a:latin typeface="宋体" panose="02010600030101010101" pitchFamily="2" charset="-122"/>
                <a:ea typeface="宋体" panose="02010600030101010101" pitchFamily="2" charset="-122"/>
              </a:rPr>
              <a:t>大小写字母互换</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cmp</a:t>
            </a:r>
            <a:r>
              <a:rPr lang="en-US" altLang="zh-CN" sz="1800" kern="100" dirty="0">
                <a:effectLst/>
                <a:latin typeface="Times New Roman" panose="02020603050405020304" pitchFamily="18" charset="0"/>
                <a:ea typeface="宋体" panose="02010600030101010101" pitchFamily="2" charset="-122"/>
              </a:rPr>
              <a:t> al,0</a:t>
            </a:r>
            <a:endParaRPr lang="en-US"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jz</a:t>
            </a:r>
            <a:r>
              <a:rPr lang="en-US" altLang="zh-CN" sz="1800" kern="100" dirty="0">
                <a:effectLst/>
                <a:latin typeface="Times New Roman" panose="02020603050405020304" pitchFamily="18" charset="0"/>
                <a:ea typeface="宋体" panose="02010600030101010101" pitchFamily="2" charset="-122"/>
              </a:rPr>
              <a:t> done	                       </a:t>
            </a:r>
            <a:r>
              <a:rPr lang="zh-CN" altLang="en-US" sz="1800" kern="100" dirty="0">
                <a:effectLst/>
                <a:latin typeface="Times New Roman" panose="02020603050405020304" pitchFamily="18" charset="0"/>
                <a:ea typeface="宋体" panose="02010600030101010101" pitchFamily="2" charset="-122"/>
              </a:rPr>
              <a:t>；判断结束条件</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cmp</a:t>
            </a: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al,’A</a:t>
            </a:r>
            <a:r>
              <a:rPr lang="en-US" altLang="zh-CN" sz="1800" kern="100" dirty="0">
                <a:effectLst/>
                <a:latin typeface="Times New Roman" panose="02020603050405020304" pitchFamily="18" charset="0"/>
                <a:ea typeface="宋体" panose="02010600030101010101" pitchFamily="2" charset="-122"/>
              </a:rPr>
              <a:t>’                            </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jb</a:t>
            </a:r>
            <a:r>
              <a:rPr lang="en-US" altLang="zh-CN" sz="1800" kern="100" dirty="0">
                <a:effectLst/>
                <a:latin typeface="Times New Roman" panose="02020603050405020304" pitchFamily="18" charset="0"/>
                <a:ea typeface="宋体" panose="02010600030101010101" pitchFamily="2" charset="-122"/>
              </a:rPr>
              <a:t> next2		       </a:t>
            </a:r>
            <a:r>
              <a:rPr lang="zh-CN" altLang="en-US" sz="1800" kern="100" dirty="0">
                <a:effectLst/>
                <a:latin typeface="Times New Roman" panose="02020603050405020304" pitchFamily="18" charset="0"/>
                <a:ea typeface="宋体" panose="02010600030101010101" pitchFamily="2" charset="-122"/>
              </a:rPr>
              <a:t>；字符小于</a:t>
            </a:r>
            <a:r>
              <a:rPr lang="zh-CN" altLang="en-US"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A’</a:t>
            </a:r>
            <a:r>
              <a:rPr lang="zh-CN" altLang="en-US" kern="100" dirty="0">
                <a:latin typeface="Times New Roman" panose="02020603050405020304" pitchFamily="18" charset="0"/>
                <a:ea typeface="宋体" panose="02010600030101010101" pitchFamily="2" charset="-122"/>
              </a:rPr>
              <a:t>肯定既不是大写字母，也不是小写字母，直接指向下一个字母</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cmp</a:t>
            </a: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al,’Z</a:t>
            </a:r>
            <a:r>
              <a:rPr lang="en-US" altLang="zh-CN" sz="1800" kern="100" dirty="0">
                <a:effectLst/>
                <a:latin typeface="Times New Roman" panose="02020603050405020304" pitchFamily="18" charset="0"/>
                <a:ea typeface="宋体" panose="02010600030101010101" pitchFamily="2" charset="-122"/>
              </a:rPr>
              <a:t>’                            </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ja next20		       </a:t>
            </a:r>
            <a:r>
              <a:rPr lang="zh-CN" altLang="en-US" sz="1800" kern="100" dirty="0">
                <a:effectLst/>
                <a:latin typeface="Times New Roman" panose="02020603050405020304" pitchFamily="18" charset="0"/>
                <a:ea typeface="宋体" panose="02010600030101010101" pitchFamily="2" charset="-122"/>
              </a:rPr>
              <a:t>；大于‘</a:t>
            </a:r>
            <a:r>
              <a:rPr lang="en-US" altLang="zh-CN" sz="1800" kern="100" dirty="0">
                <a:effectLst/>
                <a:latin typeface="Times New Roman" panose="02020603050405020304" pitchFamily="18" charset="0"/>
                <a:ea typeface="宋体" panose="02010600030101010101" pitchFamily="2" charset="-122"/>
              </a:rPr>
              <a:t>Z</a:t>
            </a:r>
            <a:r>
              <a:rPr lang="zh-CN" altLang="en-US" sz="1800" kern="100" dirty="0">
                <a:effectLst/>
                <a:latin typeface="Times New Roman" panose="02020603050405020304" pitchFamily="18" charset="0"/>
                <a:ea typeface="宋体" panose="02010600030101010101" pitchFamily="2" charset="-122"/>
              </a:rPr>
              <a:t>’有可能是小写字母</a:t>
            </a:r>
            <a:endParaRPr lang="en-US" altLang="zh-CN" sz="1800" kern="100" dirty="0">
              <a:effectLst/>
              <a:latin typeface="Times New Roman" panose="02020603050405020304" pitchFamily="18" charset="0"/>
              <a:ea typeface="宋体" panose="02010600030101010101" pitchFamily="2" charset="-122"/>
            </a:endParaRPr>
          </a:p>
          <a:p>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492868" y="116728"/>
            <a:ext cx="11498094" cy="5078313"/>
          </a:xfrm>
          <a:prstGeom prst="rect">
            <a:avLst/>
          </a:prstGeom>
          <a:noFill/>
        </p:spPr>
        <p:txBody>
          <a:bodyPr wrap="square" rtlCol="0">
            <a:spAutoFit/>
          </a:bodyPr>
          <a:lstStyle/>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add  al, 20h                           </a:t>
            </a:r>
            <a:r>
              <a:rPr lang="zh-CN" altLang="en-US" kern="100" dirty="0">
                <a:latin typeface="宋体" panose="02010600030101010101" pitchFamily="2" charset="-122"/>
                <a:ea typeface="宋体" panose="02010600030101010101" pitchFamily="2" charset="-122"/>
              </a:rPr>
              <a:t>；进入这里的字母一定是大写字母，转换成小写字母</a:t>
            </a:r>
            <a:endParaRPr lang="en-US" altLang="zh-CN" kern="100" dirty="0">
              <a:latin typeface="宋体" panose="02010600030101010101" pitchFamily="2" charset="-122"/>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mov  string[bx], al</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jmp</a:t>
            </a:r>
            <a:r>
              <a:rPr lang="en-US" altLang="zh-CN" sz="1800" kern="100" dirty="0">
                <a:effectLst/>
                <a:latin typeface="Times New Roman" panose="02020603050405020304" pitchFamily="18" charset="0"/>
                <a:ea typeface="宋体" panose="02010600030101010101" pitchFamily="2" charset="-122"/>
              </a:rPr>
              <a:t> next2		        </a:t>
            </a:r>
            <a:r>
              <a:rPr lang="zh-CN" altLang="en-US" sz="1800" kern="100" dirty="0">
                <a:effectLst/>
                <a:latin typeface="Times New Roman" panose="02020603050405020304" pitchFamily="18" charset="0"/>
                <a:ea typeface="宋体" panose="02010600030101010101" pitchFamily="2" charset="-122"/>
              </a:rPr>
              <a:t>；指向下一个字母</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next20:    </a:t>
            </a:r>
            <a:endParaRPr lang="en-US"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cmp</a:t>
            </a: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al,’a</a:t>
            </a:r>
            <a:r>
              <a:rPr lang="en-US" altLang="zh-CN" sz="1800" kern="100" dirty="0">
                <a:effectLst/>
                <a:latin typeface="Times New Roman" panose="02020603050405020304" pitchFamily="18" charset="0"/>
                <a:ea typeface="宋体" panose="02010600030101010101" pitchFamily="2" charset="-122"/>
              </a:rPr>
              <a:t>’                             </a:t>
            </a:r>
            <a:r>
              <a:rPr lang="zh-CN" altLang="en-US" kern="100" dirty="0">
                <a:latin typeface="Times New Roman" panose="02020603050405020304" pitchFamily="18" charset="0"/>
                <a:ea typeface="宋体" panose="02010600030101010101" pitchFamily="2" charset="-122"/>
              </a:rPr>
              <a:t>；刚才大于‘</a:t>
            </a:r>
            <a:r>
              <a:rPr lang="en-US" altLang="zh-CN" kern="100" dirty="0">
                <a:latin typeface="Times New Roman" panose="02020603050405020304" pitchFamily="18" charset="0"/>
                <a:ea typeface="宋体" panose="02010600030101010101" pitchFamily="2" charset="-122"/>
              </a:rPr>
              <a:t>Z</a:t>
            </a:r>
            <a:r>
              <a:rPr lang="zh-CN" altLang="en-US" kern="100" dirty="0">
                <a:latin typeface="Times New Roman" panose="02020603050405020304" pitchFamily="18" charset="0"/>
                <a:ea typeface="宋体" panose="02010600030101010101" pitchFamily="2" charset="-122"/>
              </a:rPr>
              <a:t>’有可能是小写字母，这里判断小于‘</a:t>
            </a:r>
            <a:r>
              <a:rPr lang="en-US" altLang="zh-CN" kern="100" dirty="0">
                <a:latin typeface="Times New Roman" panose="02020603050405020304" pitchFamily="18" charset="0"/>
                <a:ea typeface="宋体" panose="02010600030101010101" pitchFamily="2" charset="-122"/>
              </a:rPr>
              <a:t>a</a:t>
            </a:r>
            <a:r>
              <a:rPr lang="zh-CN" altLang="en-US" kern="100" dirty="0">
                <a:latin typeface="Times New Roman" panose="02020603050405020304" pitchFamily="18" charset="0"/>
                <a:ea typeface="宋体" panose="02010600030101010101" pitchFamily="2" charset="-122"/>
              </a:rPr>
              <a:t>’不是小写字母，直接指            </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jb</a:t>
            </a:r>
            <a:r>
              <a:rPr lang="en-US" altLang="zh-CN" sz="1800" kern="100" dirty="0">
                <a:effectLst/>
                <a:latin typeface="Times New Roman" panose="02020603050405020304" pitchFamily="18" charset="0"/>
                <a:ea typeface="宋体" panose="02010600030101010101" pitchFamily="2" charset="-122"/>
              </a:rPr>
              <a:t> next2 		       </a:t>
            </a:r>
            <a:r>
              <a:rPr lang="zh-CN" altLang="en-US" kern="100" dirty="0">
                <a:latin typeface="Times New Roman" panose="02020603050405020304" pitchFamily="18" charset="0"/>
                <a:ea typeface="宋体" panose="02010600030101010101" pitchFamily="2" charset="-122"/>
              </a:rPr>
              <a:t> ；向下一个字母</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cmp</a:t>
            </a: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al,’z</a:t>
            </a:r>
            <a:r>
              <a:rPr lang="en-US" altLang="zh-CN" sz="1800" kern="100" dirty="0">
                <a:effectLst/>
                <a:latin typeface="Times New Roman" panose="02020603050405020304" pitchFamily="18" charset="0"/>
                <a:ea typeface="宋体" panose="02010600030101010101" pitchFamily="2" charset="-122"/>
              </a:rPr>
              <a:t>’                             </a:t>
            </a:r>
            <a:r>
              <a:rPr lang="zh-CN" altLang="en-US" kern="100" dirty="0">
                <a:latin typeface="Times New Roman" panose="02020603050405020304" pitchFamily="18" charset="0"/>
                <a:ea typeface="宋体" panose="02010600030101010101" pitchFamily="2" charset="-122"/>
              </a:rPr>
              <a:t>；刚才大于‘</a:t>
            </a:r>
            <a:r>
              <a:rPr lang="en-US" altLang="zh-CN" kern="100" dirty="0">
                <a:latin typeface="Times New Roman" panose="02020603050405020304" pitchFamily="18" charset="0"/>
                <a:ea typeface="宋体" panose="02010600030101010101" pitchFamily="2" charset="-122"/>
              </a:rPr>
              <a:t>Z</a:t>
            </a:r>
            <a:r>
              <a:rPr lang="zh-CN" altLang="en-US" kern="100" dirty="0">
                <a:latin typeface="Times New Roman" panose="02020603050405020304" pitchFamily="18" charset="0"/>
                <a:ea typeface="宋体" panose="02010600030101010101" pitchFamily="2" charset="-122"/>
              </a:rPr>
              <a:t>’有可能是小写字母，这里判断大于‘</a:t>
            </a:r>
            <a:r>
              <a:rPr lang="en-US" altLang="zh-CN" kern="100" dirty="0">
                <a:latin typeface="Times New Roman" panose="02020603050405020304" pitchFamily="18" charset="0"/>
                <a:ea typeface="宋体" panose="02010600030101010101" pitchFamily="2" charset="-122"/>
              </a:rPr>
              <a:t>z</a:t>
            </a:r>
            <a:r>
              <a:rPr lang="zh-CN" altLang="en-US" kern="100" dirty="0">
                <a:latin typeface="Times New Roman" panose="02020603050405020304" pitchFamily="18" charset="0"/>
                <a:ea typeface="宋体" panose="02010600030101010101" pitchFamily="2" charset="-122"/>
              </a:rPr>
              <a:t>’不是小写字母，直接指</a:t>
            </a:r>
            <a:endParaRPr lang="zh-CN" altLang="en-US" sz="1800" kern="100" dirty="0">
              <a:effectLst/>
              <a:latin typeface="Times New Roman" panose="02020603050405020304" pitchFamily="18" charset="0"/>
              <a:ea typeface="宋体" panose="02010600030101010101" pitchFamily="2" charset="-122"/>
            </a:endParaRPr>
          </a:p>
          <a:p>
            <a:pPr algn="just"/>
            <a:r>
              <a:rPr lang="zh-CN" altLang="en-US" sz="1800" kern="100" dirty="0">
                <a:effectLst/>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ja next2		        </a:t>
            </a:r>
            <a:r>
              <a:rPr lang="zh-CN" altLang="en-US" kern="100" dirty="0">
                <a:latin typeface="Times New Roman" panose="02020603050405020304" pitchFamily="18" charset="0"/>
                <a:ea typeface="宋体" panose="02010600030101010101" pitchFamily="2" charset="-122"/>
              </a:rPr>
              <a:t>；向下一个字母</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sub  al, 20h                           </a:t>
            </a:r>
            <a:r>
              <a:rPr lang="zh-CN" altLang="en-US" sz="1800" kern="100" dirty="0">
                <a:effectLst/>
                <a:latin typeface="宋体" panose="02010600030101010101" pitchFamily="2" charset="-122"/>
                <a:ea typeface="宋体" panose="02010600030101010101" pitchFamily="2" charset="-122"/>
              </a:rPr>
              <a:t>；</a:t>
            </a:r>
            <a:r>
              <a:rPr lang="zh-CN" altLang="en-US" kern="100" dirty="0">
                <a:latin typeface="宋体" panose="02010600030101010101" pitchFamily="2" charset="-122"/>
                <a:ea typeface="宋体" panose="02010600030101010101" pitchFamily="2" charset="-122"/>
              </a:rPr>
              <a:t>进入这里的字母一定是小写字母，转换成大写字母</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mov  string[bx], al</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next2:   </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kern="100" dirty="0">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inc</a:t>
            </a:r>
            <a:r>
              <a:rPr lang="en-US" altLang="zh-CN" sz="1800" kern="100" dirty="0">
                <a:effectLst/>
                <a:latin typeface="Times New Roman" panose="02020603050405020304" pitchFamily="18" charset="0"/>
                <a:ea typeface="宋体" panose="02010600030101010101" pitchFamily="2" charset="-122"/>
              </a:rPr>
              <a:t>  bx                                  </a:t>
            </a:r>
            <a:r>
              <a:rPr lang="zh-CN" altLang="en-US" sz="1800" kern="100" dirty="0">
                <a:effectLst/>
                <a:latin typeface="宋体" panose="02010600030101010101" pitchFamily="2" charset="-122"/>
                <a:ea typeface="宋体" panose="02010600030101010101" pitchFamily="2" charset="-122"/>
              </a:rPr>
              <a:t>；位移量加</a:t>
            </a:r>
            <a:r>
              <a:rPr lang="en-US" altLang="zh-CN" sz="1800" kern="100" dirty="0">
                <a:effectLst/>
                <a:latin typeface="Times New Roman" panose="02020603050405020304" pitchFamily="18" charset="0"/>
                <a:ea typeface="宋体" panose="02010600030101010101" pitchFamily="2" charset="-122"/>
              </a:rPr>
              <a:t>1</a:t>
            </a:r>
            <a:r>
              <a:rPr lang="zh-CN" altLang="en-US" sz="1800" kern="100" dirty="0">
                <a:effectLst/>
                <a:latin typeface="宋体" panose="02010600030101010101" pitchFamily="2" charset="-122"/>
                <a:ea typeface="宋体" panose="02010600030101010101" pitchFamily="2" charset="-122"/>
              </a:rPr>
              <a:t>，指向下一字母</a:t>
            </a:r>
            <a:endParaRPr lang="zh-CN" altLang="en-US"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zh-CN" altLang="en-US"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jmp</a:t>
            </a:r>
            <a:r>
              <a:rPr lang="en-US" altLang="zh-CN" sz="1800" kern="100" dirty="0">
                <a:effectLst/>
                <a:latin typeface="Times New Roman" panose="02020603050405020304" pitchFamily="18" charset="0"/>
                <a:ea typeface="宋体" panose="02010600030101010101" pitchFamily="2" charset="-122"/>
              </a:rPr>
              <a:t>  chan_2</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done:      </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pop bx                                  </a:t>
            </a:r>
            <a:r>
              <a:rPr lang="zh-CN" altLang="en-US" sz="1800" kern="100" dirty="0">
                <a:effectLst/>
                <a:latin typeface="宋体" panose="02010600030101010101" pitchFamily="2" charset="-122"/>
                <a:ea typeface="宋体" panose="02010600030101010101" pitchFamily="2" charset="-122"/>
              </a:rPr>
              <a:t>；恢复</a:t>
            </a:r>
            <a:r>
              <a:rPr lang="en-US" altLang="zh-CN" sz="1800" kern="100" dirty="0">
                <a:effectLst/>
                <a:latin typeface="Times New Roman" panose="02020603050405020304" pitchFamily="18" charset="0"/>
                <a:ea typeface="宋体" panose="02010600030101010101" pitchFamily="2" charset="-122"/>
              </a:rPr>
              <a:t>bx            </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           ret</a:t>
            </a:r>
            <a:endParaRPr lang="en-US" altLang="zh-CN" sz="1800" kern="100" dirty="0">
              <a:effectLst/>
              <a:latin typeface="Times New Roman" panose="02020603050405020304" pitchFamily="18" charset="0"/>
              <a:ea typeface="宋体" panose="02010600030101010101" pitchFamily="2" charset="-122"/>
            </a:endParaRPr>
          </a:p>
          <a:p>
            <a:pPr marL="0" marR="0" algn="just">
              <a:spcBef>
                <a:spcPts val="0"/>
              </a:spcBef>
              <a:spcAft>
                <a:spcPts val="0"/>
              </a:spcAft>
            </a:pPr>
            <a:r>
              <a:rPr lang="en-US" altLang="zh-CN" sz="1800" kern="100" dirty="0">
                <a:effectLst/>
                <a:latin typeface="Times New Roman" panose="02020603050405020304" pitchFamily="18" charset="0"/>
                <a:ea typeface="宋体" panose="02010600030101010101" pitchFamily="2" charset="-122"/>
              </a:rPr>
              <a:t>change   </a:t>
            </a:r>
            <a:r>
              <a:rPr lang="en-US" altLang="zh-CN" sz="1800" kern="100" dirty="0" err="1">
                <a:effectLst/>
                <a:latin typeface="Times New Roman" panose="02020603050405020304" pitchFamily="18" charset="0"/>
                <a:ea typeface="宋体" panose="02010600030101010101" pitchFamily="2" charset="-122"/>
              </a:rPr>
              <a:t>endp</a:t>
            </a:r>
            <a:endParaRPr lang="en-US" altLang="zh-CN" sz="1800" kern="100" dirty="0">
              <a:effectLst/>
              <a:latin typeface="Times New Roman" panose="02020603050405020304" pitchFamily="18" charset="0"/>
              <a:ea typeface="宋体" panose="02010600030101010101" pitchFamily="2" charset="-122"/>
            </a:endParaRPr>
          </a:p>
          <a:p>
            <a:endParaRPr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7385</Words>
  <Application>WPS 演示</Application>
  <PresentationFormat>宽屏</PresentationFormat>
  <Paragraphs>215</Paragraphs>
  <Slides>15</Slides>
  <Notes>13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15</vt:i4>
      </vt:variant>
    </vt:vector>
  </HeadingPairs>
  <TitlesOfParts>
    <vt:vector size="26" baseType="lpstr">
      <vt:lpstr>Arial</vt:lpstr>
      <vt:lpstr>宋体</vt:lpstr>
      <vt:lpstr>Wingdings</vt:lpstr>
      <vt:lpstr>-apple-system</vt:lpstr>
      <vt:lpstr>Segoe Print</vt:lpstr>
      <vt:lpstr>Times New Roman</vt:lpstr>
      <vt:lpstr>等线</vt:lpstr>
      <vt:lpstr>微软雅黑</vt:lpstr>
      <vt:lpstr>Arial Unicode MS</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jw20230808@163.com</dc:creator>
  <cp:lastModifiedBy>WPS_1615386053</cp:lastModifiedBy>
  <cp:revision>88</cp:revision>
  <dcterms:created xsi:type="dcterms:W3CDTF">2024-12-15T13:07:00Z</dcterms:created>
  <dcterms:modified xsi:type="dcterms:W3CDTF">2024-12-18T11:30:43Z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434193EB9A784059AB863D0EEDAAECD7_12</vt:lpwstr>
  </property>
  <property fmtid="{D5CDD505-2E9C-101B-9397-08002B2CF9AE}" pid="3" name="KSOProductBuildVer">
    <vt:lpwstr>2052-12.1.0.19302</vt:lpwstr>
  </property>
</Properties>
</file>