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383" r:id="rId2"/>
    <p:sldId id="366" r:id="rId3"/>
    <p:sldId id="394" r:id="rId4"/>
    <p:sldId id="396" r:id="rId5"/>
    <p:sldId id="368" r:id="rId6"/>
    <p:sldId id="393" r:id="rId7"/>
    <p:sldId id="367" r:id="rId8"/>
    <p:sldId id="386" r:id="rId9"/>
    <p:sldId id="387" r:id="rId10"/>
    <p:sldId id="388" r:id="rId11"/>
    <p:sldId id="358" r:id="rId12"/>
    <p:sldId id="380" r:id="rId13"/>
    <p:sldId id="359" r:id="rId14"/>
    <p:sldId id="360" r:id="rId15"/>
    <p:sldId id="384" r:id="rId16"/>
    <p:sldId id="361" r:id="rId17"/>
    <p:sldId id="362" r:id="rId18"/>
    <p:sldId id="363" r:id="rId19"/>
    <p:sldId id="410" r:id="rId20"/>
    <p:sldId id="411" r:id="rId21"/>
    <p:sldId id="412" r:id="rId22"/>
    <p:sldId id="413" r:id="rId23"/>
    <p:sldId id="414" r:id="rId24"/>
    <p:sldId id="415" r:id="rId25"/>
    <p:sldId id="389" r:id="rId26"/>
    <p:sldId id="365" r:id="rId27"/>
    <p:sldId id="354" r:id="rId28"/>
    <p:sldId id="369" r:id="rId29"/>
    <p:sldId id="390" r:id="rId30"/>
    <p:sldId id="397" r:id="rId31"/>
    <p:sldId id="398" r:id="rId32"/>
    <p:sldId id="399" r:id="rId33"/>
    <p:sldId id="400" r:id="rId34"/>
    <p:sldId id="401" r:id="rId35"/>
    <p:sldId id="402" r:id="rId36"/>
    <p:sldId id="403" r:id="rId37"/>
    <p:sldId id="392" r:id="rId38"/>
    <p:sldId id="391" r:id="rId39"/>
    <p:sldId id="373" r:id="rId40"/>
    <p:sldId id="374" r:id="rId41"/>
    <p:sldId id="375" r:id="rId42"/>
    <p:sldId id="382" r:id="rId43"/>
    <p:sldId id="376" r:id="rId44"/>
    <p:sldId id="381" r:id="rId45"/>
    <p:sldId id="404" r:id="rId46"/>
    <p:sldId id="405" r:id="rId47"/>
    <p:sldId id="406" r:id="rId48"/>
    <p:sldId id="407" r:id="rId49"/>
    <p:sldId id="408" r:id="rId50"/>
    <p:sldId id="409" r:id="rId51"/>
  </p:sldIdLst>
  <p:sldSz cx="9144000" cy="6858000" type="screen4x3"/>
  <p:notesSz cx="6794500" cy="99187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6" autoAdjust="0"/>
    <p:restoredTop sz="83512" autoAdjust="0"/>
  </p:normalViewPr>
  <p:slideViewPr>
    <p:cSldViewPr>
      <p:cViewPr varScale="1">
        <p:scale>
          <a:sx n="150" d="100"/>
          <a:sy n="150" d="100"/>
        </p:scale>
        <p:origin x="14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64767-9A2E-4752-9542-9FBBA8DB4FD4}" type="datetimeFigureOut">
              <a:rPr lang="ko-KR" altLang="en-US" smtClean="0"/>
              <a:pPr/>
              <a:t>2022. 2. 22.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59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1383"/>
            <a:ext cx="5435600" cy="44634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645" y="9421044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1E1F5-2B45-4EC3-BF57-CB756619C8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702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>
              <a:latin typeface="Arial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3450E-30F4-47EA-8E62-0E0F940632E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>
              <a:latin typeface="Arial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3450E-30F4-47EA-8E62-0E0F940632E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>
              <a:latin typeface="Arial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3450E-30F4-47EA-8E62-0E0F940632E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zh-CN" altLang="en-US" dirty="0">
              <a:latin typeface="Arial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3450E-30F4-47EA-8E62-0E0F940632E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kumimoji="0" lang="zh-CN" altLang="en-US">
              <a:ea typeface="宋体" pitchFamily="2" charset="-122"/>
            </a:endParaRPr>
          </a:p>
        </p:txBody>
      </p:sp>
      <p:sp>
        <p:nvSpPr>
          <p:cNvPr id="7171" name="灯片编号占位符 3"/>
          <p:cNvSpPr txBox="1">
            <a:spLocks noGrp="1"/>
          </p:cNvSpPr>
          <p:nvPr/>
        </p:nvSpPr>
        <p:spPr bwMode="auto">
          <a:xfrm>
            <a:off x="3848645" y="9421044"/>
            <a:ext cx="2944283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92B4EEB-A024-46AD-9BAC-48C3A823BFE9}" type="slidenum">
              <a:rPr lang="zh-CN" altLang="en-US" sz="1200" b="0">
                <a:latin typeface="Calibri" pitchFamily="34" charset="0"/>
              </a:rPr>
              <a:pPr algn="r"/>
              <a:t>11</a:t>
            </a:fld>
            <a:endParaRPr lang="en-US" altLang="zh-CN" sz="1200" b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kumimoji="0" lang="zh-CN" altLang="en-US">
              <a:ea typeface="宋体" pitchFamily="2" charset="-122"/>
            </a:endParaRPr>
          </a:p>
        </p:txBody>
      </p:sp>
      <p:sp>
        <p:nvSpPr>
          <p:cNvPr id="7171" name="灯片编号占位符 3"/>
          <p:cNvSpPr txBox="1">
            <a:spLocks noGrp="1"/>
          </p:cNvSpPr>
          <p:nvPr/>
        </p:nvSpPr>
        <p:spPr bwMode="auto">
          <a:xfrm>
            <a:off x="3848645" y="9421044"/>
            <a:ext cx="2944283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92B4EEB-A024-46AD-9BAC-48C3A823BFE9}" type="slidenum">
              <a:rPr lang="zh-CN" altLang="en-US" sz="1200" b="0">
                <a:latin typeface="Calibri" pitchFamily="34" charset="0"/>
              </a:rPr>
              <a:pPr algn="r"/>
              <a:t>12</a:t>
            </a:fld>
            <a:endParaRPr lang="en-US" altLang="zh-CN" sz="1200" b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kumimoji="0" lang="zh-CN" altLang="en-US">
              <a:ea typeface="宋体" pitchFamily="2" charset="-122"/>
            </a:endParaRPr>
          </a:p>
        </p:txBody>
      </p:sp>
      <p:sp>
        <p:nvSpPr>
          <p:cNvPr id="9219" name="灯片编号占位符 3"/>
          <p:cNvSpPr txBox="1">
            <a:spLocks noGrp="1"/>
          </p:cNvSpPr>
          <p:nvPr/>
        </p:nvSpPr>
        <p:spPr bwMode="auto">
          <a:xfrm>
            <a:off x="3848645" y="9421044"/>
            <a:ext cx="2944283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8387A79-150E-42C8-8F35-F390EA19DAAC}" type="slidenum">
              <a:rPr lang="zh-CN" altLang="en-US" sz="1200" b="0">
                <a:latin typeface="Calibri" pitchFamily="34" charset="0"/>
              </a:rPr>
              <a:pPr algn="r"/>
              <a:t>13</a:t>
            </a:fld>
            <a:endParaRPr lang="en-US" altLang="zh-CN" sz="1200" b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kumimoji="0" lang="zh-CN" altLang="en-US">
              <a:ea typeface="宋体" pitchFamily="2" charset="-122"/>
            </a:endParaRPr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278F1CE-BE94-40CF-9F43-8E8608DF4B60}" type="slidenum">
              <a:rPr lang="zh-CN" altLang="en-US"/>
              <a:pPr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kumimoji="0" lang="zh-CN" altLang="en-US">
              <a:ea typeface="宋体" pitchFamily="2" charset="-122"/>
            </a:endParaRPr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278F1CE-BE94-40CF-9F43-8E8608DF4B60}" type="slidenum">
              <a:rPr lang="zh-CN" altLang="en-US"/>
              <a:pPr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kumimoji="0" lang="zh-CN" altLang="en-US">
              <a:ea typeface="宋体" pitchFamily="2" charset="-122"/>
            </a:endParaRPr>
          </a:p>
        </p:txBody>
      </p:sp>
      <p:sp>
        <p:nvSpPr>
          <p:cNvPr id="13315" name="灯片编号占位符 3"/>
          <p:cNvSpPr txBox="1">
            <a:spLocks noGrp="1"/>
          </p:cNvSpPr>
          <p:nvPr/>
        </p:nvSpPr>
        <p:spPr bwMode="auto">
          <a:xfrm>
            <a:off x="3848645" y="9421044"/>
            <a:ext cx="2944283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E2DF920-5E3A-4B67-B752-5432833DFFCF}" type="slidenum">
              <a:rPr lang="zh-CN" altLang="en-US" sz="1200" b="0">
                <a:latin typeface="Calibri" pitchFamily="34" charset="0"/>
              </a:rPr>
              <a:pPr algn="r"/>
              <a:t>16</a:t>
            </a:fld>
            <a:endParaRPr lang="en-US" altLang="zh-CN" sz="1200" b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kumimoji="0" lang="zh-CN" altLang="en-US">
              <a:ea typeface="宋体" pitchFamily="2" charset="-122"/>
            </a:endParaRPr>
          </a:p>
        </p:txBody>
      </p:sp>
      <p:sp>
        <p:nvSpPr>
          <p:cNvPr id="15363" name="灯片编号占位符 3"/>
          <p:cNvSpPr txBox="1">
            <a:spLocks noGrp="1"/>
          </p:cNvSpPr>
          <p:nvPr/>
        </p:nvSpPr>
        <p:spPr bwMode="auto">
          <a:xfrm>
            <a:off x="3848645" y="9421044"/>
            <a:ext cx="2944283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E946F26-BB13-48A6-A4A6-11F6BE528B6E}" type="slidenum">
              <a:rPr lang="zh-CN" altLang="en-US" sz="1200" b="0">
                <a:latin typeface="Calibri" pitchFamily="34" charset="0"/>
              </a:rPr>
              <a:pPr algn="r"/>
              <a:t>17</a:t>
            </a:fld>
            <a:endParaRPr lang="en-US" altLang="zh-CN" sz="1200" b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kumimoji="0" lang="zh-CN" altLang="en-US">
              <a:ea typeface="宋体" pitchFamily="2" charset="-122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CB30A23-4307-414C-A2C2-C2E33699140C}" type="slidenum">
              <a:rPr lang="zh-CN" altLang="en-US"/>
              <a:pPr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81E1F5-2B45-4EC3-BF57-CB756619C87B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844824"/>
            <a:ext cx="7772400" cy="1470025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20414" y="3573016"/>
            <a:ext cx="7715304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14348" y="3428206"/>
            <a:ext cx="7715304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9512" y="1063277"/>
            <a:ext cx="8784976" cy="5462067"/>
          </a:xfrm>
        </p:spPr>
        <p:txBody>
          <a:bodyPr/>
          <a:lstStyle>
            <a:lvl1pPr marL="342900" indent="-342900">
              <a:buClr>
                <a:srgbClr val="C00000"/>
              </a:buClr>
              <a:buFont typeface="Wingdings" pitchFamily="2" charset="2"/>
              <a:buChar char="§"/>
              <a:defRPr sz="2400"/>
            </a:lvl1pPr>
            <a:lvl2pPr>
              <a:buClr>
                <a:srgbClr val="C00000"/>
              </a:buClr>
              <a:defRPr sz="2000"/>
            </a:lvl2pPr>
            <a:lvl3pPr marL="1143000" indent="-228600">
              <a:buClr>
                <a:srgbClr val="C00000"/>
              </a:buClr>
              <a:buFont typeface="Wingdings" pitchFamily="2" charset="2"/>
              <a:buChar char="§"/>
              <a:defRPr sz="1800"/>
            </a:lvl3pPr>
            <a:lvl4pPr>
              <a:buClr>
                <a:srgbClr val="C00000"/>
              </a:buClr>
              <a:defRPr sz="1600"/>
            </a:lvl4pPr>
            <a:lvl5pPr marL="2057400" indent="-228600">
              <a:buClr>
                <a:srgbClr val="C00000"/>
              </a:buCl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170784" y="6597353"/>
            <a:ext cx="802432" cy="216023"/>
          </a:xfrm>
        </p:spPr>
        <p:txBody>
          <a:bodyPr/>
          <a:lstStyle>
            <a:lvl1pPr algn="ctr">
              <a:defRPr/>
            </a:lvl1pPr>
          </a:lstStyle>
          <a:p>
            <a:fld id="{10211B80-7C79-41F7-9946-37F518A5652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Picture 16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04448" y="6506386"/>
            <a:ext cx="518091" cy="35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blueband.tif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016625"/>
            <a:ext cx="8128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fld id="{62F2B98C-308B-435C-8F66-72B8D7852B72}" type="datetime1">
              <a:rPr lang="ko-KR" altLang="en-US" smtClean="0"/>
              <a:pPr/>
              <a:t>2022. 2. 22.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&#32654;&#22269;&#8220;&#26865;&#38236;&#8221;&#30417;&#35270;&#20107;&#20214;.fl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10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maobo@xmu.edu.c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8.jpeg"/><Relationship Id="rId4" Type="http://schemas.openxmlformats.org/officeDocument/2006/relationships/hyperlink" Target="http://astl.xmu.edu.cn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&#22823;&#25968;&#25454;&#20043;&#24635;&#32479;&#31454;&#36873;.kux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67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7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/>
          </p:cNvSpPr>
          <p:nvPr>
            <p:ph type="ctrTitle" idx="4294967295"/>
          </p:nvPr>
        </p:nvSpPr>
        <p:spPr bwMode="auto">
          <a:xfrm>
            <a:off x="228600" y="1571612"/>
            <a:ext cx="8686800" cy="1593863"/>
          </a:xfrm>
        </p:spPr>
        <p:txBody>
          <a:bodyPr numCol="1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kumimoji="0" lang="zh-CN" altLang="en-US" dirty="0">
                <a:ln>
                  <a:noFill/>
                </a:ln>
                <a:ea typeface="宋体" pitchFamily="2" charset="-122"/>
              </a:rPr>
              <a:t>大数据处理</a:t>
            </a:r>
            <a:br>
              <a:rPr kumimoji="0" altLang="zh-CN" dirty="0">
                <a:ln>
                  <a:noFill/>
                </a:ln>
                <a:ea typeface="宋体" pitchFamily="2" charset="-122"/>
              </a:rPr>
            </a:br>
            <a:r>
              <a:rPr kumimoji="0" altLang="zh-CN" dirty="0">
                <a:ln>
                  <a:noFill/>
                </a:ln>
                <a:ea typeface="宋体" pitchFamily="2" charset="-122"/>
              </a:rPr>
              <a:t>（Big Data </a:t>
            </a:r>
            <a:r>
              <a:rPr kumimoji="0" lang="en-US" altLang="zh-CN" dirty="0">
                <a:ln>
                  <a:noFill/>
                </a:ln>
                <a:ea typeface="宋体" pitchFamily="2" charset="-122"/>
              </a:rPr>
              <a:t>Processing</a:t>
            </a:r>
            <a:r>
              <a:rPr kumimoji="0" lang="zh-CN" altLang="en-US" dirty="0">
                <a:ln>
                  <a:noFill/>
                </a:ln>
                <a:ea typeface="宋体" pitchFamily="2" charset="-122"/>
              </a:rPr>
              <a:t>）</a:t>
            </a:r>
          </a:p>
        </p:txBody>
      </p:sp>
      <p:sp>
        <p:nvSpPr>
          <p:cNvPr id="5122" name="Rectangle 3"/>
          <p:cNvSpPr>
            <a:spLocks noGrp="1"/>
          </p:cNvSpPr>
          <p:nvPr>
            <p:ph type="subTitle" idx="4294967295"/>
          </p:nvPr>
        </p:nvSpPr>
        <p:spPr>
          <a:xfrm>
            <a:off x="1371600" y="3571876"/>
            <a:ext cx="6400800" cy="785818"/>
          </a:xfrm>
        </p:spPr>
        <p:txBody>
          <a:bodyPr>
            <a:norm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kumimoji="0" lang="zh-CN" altLang="en-US" dirty="0">
                <a:ea typeface="宋体" pitchFamily="2" charset="-122"/>
              </a:rPr>
              <a:t>厦门大学信息学院</a:t>
            </a:r>
            <a:endParaRPr kumimoji="0" lang="en-US" altLang="zh-CN" dirty="0">
              <a:ea typeface="宋体" pitchFamily="2" charset="-122"/>
            </a:endParaRPr>
          </a:p>
        </p:txBody>
      </p:sp>
      <p:pic>
        <p:nvPicPr>
          <p:cNvPr id="4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3F37B745-E170-8141-89F8-451417ADA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535828"/>
            <a:ext cx="1555458" cy="150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zh-CN" sz="4000" dirty="0"/>
              <a:t>NSA PRISM leak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500174"/>
            <a:ext cx="8286808" cy="1000132"/>
          </a:xfrm>
        </p:spPr>
        <p:txBody>
          <a:bodyPr>
            <a:normAutofit/>
          </a:bodyPr>
          <a:lstStyle/>
          <a:p>
            <a:r>
              <a:rPr lang="zh-CN" altLang="en-US" dirty="0"/>
              <a:t>斯诺登曝光美国国家安全局“</a:t>
            </a:r>
            <a:r>
              <a:rPr lang="zh-CN" altLang="en-US" dirty="0">
                <a:hlinkClick r:id="rId3" action="ppaction://hlinkfile"/>
              </a:rPr>
              <a:t>棱镜</a:t>
            </a:r>
            <a:r>
              <a:rPr lang="zh-CN" altLang="en-US" dirty="0"/>
              <a:t>” 项目，从技术角度看</a:t>
            </a:r>
            <a:r>
              <a:rPr lang="en-US" altLang="zh-CN" dirty="0"/>
              <a:t>,“</a:t>
            </a:r>
            <a:r>
              <a:rPr lang="zh-CN" altLang="en-US" dirty="0"/>
              <a:t>棱镜”可能是迄今最成功的大数据应用项目之一。</a:t>
            </a:r>
            <a:endParaRPr lang="en-US" altLang="zh-CN" dirty="0"/>
          </a:p>
        </p:txBody>
      </p:sp>
      <p:pic>
        <p:nvPicPr>
          <p:cNvPr id="90113" name="Picture 1" descr="C:\Users\Administrator\AppData\Roaming\Tencent\Users\12738737\QQ\WinTemp\RichOle\`R6CM75AO$3UF~Q6IKDBK{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71736" y="2829310"/>
            <a:ext cx="3143272" cy="3314334"/>
          </a:xfrm>
          <a:prstGeom prst="rect">
            <a:avLst/>
          </a:prstGeom>
          <a:noFill/>
        </p:spPr>
      </p:pic>
      <p:pic>
        <p:nvPicPr>
          <p:cNvPr id="7" name="图片 6" descr="厦门大学软件学院.jpe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6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427C6ED1-2177-6F41-9C18-18367A67F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zh-CN" sz="4000" dirty="0"/>
              <a:t>NSA PRISM leak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500174"/>
            <a:ext cx="8286808" cy="1000132"/>
          </a:xfrm>
        </p:spPr>
        <p:txBody>
          <a:bodyPr>
            <a:normAutofit/>
          </a:bodyPr>
          <a:lstStyle/>
          <a:p>
            <a:r>
              <a:rPr lang="zh-CN" altLang="en-US" dirty="0"/>
              <a:t>斯诺登曝光美国国家安全局“</a:t>
            </a:r>
            <a:r>
              <a:rPr lang="zh-CN" altLang="en-US" dirty="0">
                <a:solidFill>
                  <a:srgbClr val="FF0000"/>
                </a:solidFill>
              </a:rPr>
              <a:t>棱镜</a:t>
            </a:r>
            <a:r>
              <a:rPr lang="zh-CN" altLang="en-US" dirty="0"/>
              <a:t>” 项目，从技术角度看</a:t>
            </a:r>
            <a:r>
              <a:rPr lang="en-US" altLang="zh-CN" dirty="0"/>
              <a:t>,“</a:t>
            </a:r>
            <a:r>
              <a:rPr lang="zh-CN" altLang="en-US" dirty="0"/>
              <a:t>棱镜”可能是迄今最成功的大数据应用项目之一。</a:t>
            </a:r>
            <a:endParaRPr lang="en-US" altLang="zh-CN" dirty="0"/>
          </a:p>
        </p:txBody>
      </p:sp>
      <p:pic>
        <p:nvPicPr>
          <p:cNvPr id="90113" name="Picture 1" descr="C:\Users\Administrator\AppData\Roaming\Tencent\Users\12738737\QQ\WinTemp\RichOle\`R6CM75AO$3UF~Q6IKDBK{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3929066"/>
            <a:ext cx="1219516" cy="1285884"/>
          </a:xfrm>
          <a:prstGeom prst="rect">
            <a:avLst/>
          </a:prstGeom>
          <a:noFill/>
        </p:spPr>
      </p:pic>
      <p:pic>
        <p:nvPicPr>
          <p:cNvPr id="7" name="图片 6" descr="厦门大学软件学院.jpe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98306" name="Picture 2" descr="http://b.hiphotos.baidu.com/baike/pic/item/5d6034a85edf8db1faf925f10823dd54574e744b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43108" y="2500306"/>
            <a:ext cx="5544000" cy="3960000"/>
          </a:xfrm>
          <a:prstGeom prst="rect">
            <a:avLst/>
          </a:prstGeom>
          <a:noFill/>
        </p:spPr>
      </p:pic>
      <p:pic>
        <p:nvPicPr>
          <p:cNvPr id="9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1CDCB127-CACF-664B-8368-73D0B54EF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zh-CN" sz="4000" dirty="0"/>
              <a:t>NSA PRISM leak</a:t>
            </a:r>
            <a:endParaRPr lang="zh-CN" altLang="en-US" sz="4000" dirty="0"/>
          </a:p>
        </p:txBody>
      </p:sp>
      <p:pic>
        <p:nvPicPr>
          <p:cNvPr id="5" name="图片 4" descr="厦门大学软件学院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94210" name="Picture 2" descr="http://d.hiphotos.baidu.com/baike/pic/item/b812c8fcc3cec3fdf7922ddfd788d43f869427ef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7224" y="1357298"/>
            <a:ext cx="7283160" cy="4680000"/>
          </a:xfrm>
          <a:prstGeom prst="rect">
            <a:avLst/>
          </a:prstGeom>
          <a:noFill/>
        </p:spPr>
      </p:pic>
      <p:pic>
        <p:nvPicPr>
          <p:cNvPr id="6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49C17957-0CE4-9F4D-AEF6-DB6CB8867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42852"/>
            <a:ext cx="8231641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图片 3" descr="厦门大学软件学院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EAC23E74-72CC-AB4D-B7DC-F6A6F1033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NSA PRISM leak</a:t>
            </a:r>
            <a:endParaRPr lang="zh-CN" altLang="en-US" dirty="0"/>
          </a:p>
        </p:txBody>
      </p:sp>
      <p:pic>
        <p:nvPicPr>
          <p:cNvPr id="5" name="内容占位符 4" descr="3505_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85786" y="1285860"/>
            <a:ext cx="7200000" cy="5400000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6" name="图片 5" descr="厦门大学软件学院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7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14ABF9CD-7A5D-1147-9DE0-8772B4C9C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zh-CN" sz="4000" dirty="0"/>
              <a:t>NSA PRISM leak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28802"/>
            <a:ext cx="8229600" cy="4214842"/>
          </a:xfrm>
        </p:spPr>
        <p:txBody>
          <a:bodyPr>
            <a:normAutofit/>
          </a:bodyPr>
          <a:lstStyle/>
          <a:p>
            <a:r>
              <a:rPr lang="zh-CN" altLang="en-US" dirty="0"/>
              <a:t>美国国安局信息监视项目</a:t>
            </a:r>
            <a:r>
              <a:rPr lang="en-US" altLang="zh-CN" dirty="0"/>
              <a:t>-"</a:t>
            </a:r>
            <a:r>
              <a:rPr lang="zh-CN" altLang="en-US" dirty="0"/>
              <a:t>棱镜</a:t>
            </a:r>
            <a:r>
              <a:rPr lang="en-US" altLang="zh-CN" dirty="0"/>
              <a:t>"</a:t>
            </a:r>
            <a:r>
              <a:rPr lang="zh-CN" altLang="en-US" dirty="0"/>
              <a:t>监控的主要有</a:t>
            </a:r>
            <a:r>
              <a:rPr lang="en-US" altLang="zh-CN" dirty="0"/>
              <a:t>10</a:t>
            </a:r>
            <a:r>
              <a:rPr lang="zh-CN" altLang="en-US" dirty="0"/>
              <a:t>类信息：电邮、即时消息、视频、照片、存储数据、语音聊天、文件传输、视频会议、登录时间和社交网络资料的细节都被政府监控。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r>
              <a:rPr lang="en-US" altLang="zh-CN" dirty="0"/>
              <a:t>FBI</a:t>
            </a:r>
            <a:r>
              <a:rPr lang="zh-CN" altLang="en-US" dirty="0"/>
              <a:t>和</a:t>
            </a:r>
            <a:r>
              <a:rPr lang="en-US" altLang="zh-CN" dirty="0"/>
              <a:t>NSA</a:t>
            </a:r>
            <a:r>
              <a:rPr lang="zh-CN" altLang="en-US" dirty="0"/>
              <a:t>正在挖掘各大技术公司的数据。微软、雅虎、谷歌、</a:t>
            </a:r>
            <a:r>
              <a:rPr lang="en-US" altLang="zh-CN" dirty="0" err="1"/>
              <a:t>Facebook</a:t>
            </a:r>
            <a:r>
              <a:rPr lang="zh-CN" altLang="en-US" dirty="0"/>
              <a:t>、</a:t>
            </a:r>
            <a:r>
              <a:rPr lang="en-US" altLang="zh-CN" dirty="0" err="1"/>
              <a:t>PalTalk</a:t>
            </a:r>
            <a:r>
              <a:rPr lang="zh-CN" altLang="en-US" dirty="0"/>
              <a:t>、</a:t>
            </a:r>
            <a:r>
              <a:rPr lang="en-US" altLang="zh-CN" dirty="0"/>
              <a:t>YouTube</a:t>
            </a:r>
            <a:r>
              <a:rPr lang="zh-CN" altLang="en-US" dirty="0"/>
              <a:t>、</a:t>
            </a:r>
            <a:r>
              <a:rPr lang="en-US" altLang="zh-CN" dirty="0"/>
              <a:t>Skype</a:t>
            </a:r>
            <a:r>
              <a:rPr lang="zh-CN" altLang="en-US" dirty="0"/>
              <a:t>、</a:t>
            </a:r>
            <a:r>
              <a:rPr lang="en-US" altLang="zh-CN" dirty="0"/>
              <a:t>AOL</a:t>
            </a:r>
            <a:r>
              <a:rPr lang="zh-CN" altLang="en-US" dirty="0"/>
              <a:t>、苹果都在其中。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 descr="厦门大学软件学院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6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2CC0FC32-75A4-2B42-8F19-117CDF5B4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上海外滩踩踏事件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5" name="图片 4" descr="f9dcd100baa1cd116663e981ba12c8fcc2ce2db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928670"/>
            <a:ext cx="9144000" cy="59293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上海外滩踩踏事件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607" y="1143024"/>
            <a:ext cx="9115425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上海外滩踩踏事件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06" y="1357298"/>
            <a:ext cx="8898942" cy="48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056CF333-956A-E248-A205-282432488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/>
          <p:cNvSpPr>
            <a:spLocks noChangeArrowheads="1"/>
          </p:cNvSpPr>
          <p:nvPr/>
        </p:nvSpPr>
        <p:spPr bwMode="auto">
          <a:xfrm>
            <a:off x="360363" y="1581150"/>
            <a:ext cx="771525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毛 波 博士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研究兴趣：计算机体系结构、云存储系统、分布式计算、新型存储器技术、重复数据删除技术、“大数据”分析等</a:t>
            </a:r>
            <a:endParaRPr lang="en-US" altLang="zh-CN" sz="2400" dirty="0">
              <a:latin typeface="宋体" pitchFamily="2" charset="-122"/>
            </a:endParaRP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联系方式：</a:t>
            </a:r>
            <a:r>
              <a:rPr lang="en-US" altLang="zh-CN" sz="2400" dirty="0">
                <a:latin typeface="宋体" pitchFamily="2" charset="-122"/>
                <a:hlinkClick r:id="rId3"/>
              </a:rPr>
              <a:t>maobo@xmu.edu.cn</a:t>
            </a:r>
            <a:r>
              <a:rPr lang="en-US" altLang="zh-CN" sz="2400" dirty="0">
                <a:latin typeface="宋体" pitchFamily="2" charset="-122"/>
              </a:rPr>
              <a:t>; 15960206597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实验室主页：</a:t>
            </a:r>
            <a:r>
              <a:rPr lang="cs-CZ" altLang="zh-CN" sz="2400" dirty="0">
                <a:latin typeface="宋体" pitchFamily="2" charset="-122"/>
                <a:hlinkClick r:id="rId4"/>
              </a:rPr>
              <a:t>http://astl.xmu.edu.cn/</a:t>
            </a:r>
            <a:r>
              <a:rPr lang="zh-CN" altLang="en-US" sz="2400" dirty="0">
                <a:latin typeface="宋体" pitchFamily="2" charset="-122"/>
              </a:rPr>
              <a:t> </a:t>
            </a:r>
            <a:endParaRPr lang="en-US" altLang="zh-CN" sz="2400" dirty="0">
              <a:latin typeface="宋体" pitchFamily="2" charset="-122"/>
            </a:endParaRP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6146" name="Rectangle 3"/>
          <p:cNvSpPr>
            <a:spLocks/>
          </p:cNvSpPr>
          <p:nvPr/>
        </p:nvSpPr>
        <p:spPr bwMode="auto">
          <a:xfrm>
            <a:off x="360363" y="636588"/>
            <a:ext cx="771525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defTabSz="912813" eaLnBrk="0" hangingPunct="0">
              <a:lnSpc>
                <a:spcPct val="90000"/>
              </a:lnSpc>
            </a:pPr>
            <a:r>
              <a:rPr lang="zh-CN" altLang="en-US" sz="2800" dirty="0">
                <a:latin typeface="Segoe Light" charset="-122"/>
                <a:ea typeface="黑体" pitchFamily="49" charset="-122"/>
              </a:rPr>
              <a:t>自我介绍</a:t>
            </a:r>
          </a:p>
        </p:txBody>
      </p:sp>
      <p:pic>
        <p:nvPicPr>
          <p:cNvPr id="4" name="图片 3" descr="厦门大学软件学院.jpe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69AD660A-31F2-144F-B551-0507874B4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3"/>
          <p:cNvSpPr>
            <a:spLocks noChangeArrowheads="1"/>
          </p:cNvSpPr>
          <p:nvPr/>
        </p:nvSpPr>
        <p:spPr bwMode="auto">
          <a:xfrm>
            <a:off x="360363" y="1916832"/>
            <a:ext cx="8604126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姓名：陈佳泓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答疑时间：实验课</a:t>
            </a:r>
            <a:r>
              <a:rPr lang="en-US" altLang="zh-CN" sz="2400" dirty="0">
                <a:latin typeface="宋体" pitchFamily="2" charset="-122"/>
              </a:rPr>
              <a:t>(</a:t>
            </a:r>
            <a:r>
              <a:rPr lang="zh-CN" altLang="en-US" sz="2400" dirty="0">
                <a:latin typeface="宋体" pitchFamily="2" charset="-122"/>
              </a:rPr>
              <a:t>单周周五</a:t>
            </a:r>
            <a:r>
              <a:rPr lang="en-US" altLang="zh-CN" sz="2400" dirty="0">
                <a:latin typeface="宋体" pitchFamily="2" charset="-122"/>
              </a:rPr>
              <a:t>3</a:t>
            </a:r>
            <a:r>
              <a:rPr lang="zh-CN" altLang="en-US" sz="2400" dirty="0">
                <a:latin typeface="宋体" pitchFamily="2" charset="-122"/>
              </a:rPr>
              <a:t>、</a:t>
            </a:r>
            <a:r>
              <a:rPr lang="en-US" altLang="zh-CN" sz="2400" dirty="0">
                <a:latin typeface="宋体" pitchFamily="2" charset="-122"/>
              </a:rPr>
              <a:t>4</a:t>
            </a:r>
            <a:r>
              <a:rPr lang="zh-CN" altLang="en-US" sz="2400" dirty="0">
                <a:latin typeface="宋体" pitchFamily="2" charset="-122"/>
              </a:rPr>
              <a:t>节</a:t>
            </a:r>
            <a:r>
              <a:rPr lang="en-US" altLang="zh-CN" sz="2400" dirty="0">
                <a:latin typeface="宋体" pitchFamily="2" charset="-122"/>
              </a:rPr>
              <a:t>)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实验地点：</a:t>
            </a:r>
            <a:r>
              <a:rPr lang="en-US" altLang="zh-CN" sz="2400" dirty="0">
                <a:latin typeface="宋体" pitchFamily="2" charset="-122"/>
              </a:rPr>
              <a:t>4</a:t>
            </a:r>
            <a:r>
              <a:rPr lang="zh-CN" altLang="en-US" sz="2400" dirty="0">
                <a:latin typeface="宋体" pitchFamily="2" charset="-122"/>
              </a:rPr>
              <a:t>号楼</a:t>
            </a:r>
            <a:r>
              <a:rPr lang="en-US" altLang="zh-CN" sz="2400" dirty="0">
                <a:latin typeface="宋体" pitchFamily="2" charset="-122"/>
              </a:rPr>
              <a:t>A402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联系方式</a:t>
            </a:r>
            <a:r>
              <a:rPr lang="en-US" altLang="zh-CN" sz="2400" dirty="0">
                <a:latin typeface="宋体" pitchFamily="2" charset="-122"/>
              </a:rPr>
              <a:t>--</a:t>
            </a:r>
            <a:r>
              <a:rPr lang="zh-CN" altLang="en-US" sz="2400" dirty="0">
                <a:latin typeface="宋体" pitchFamily="2" charset="-122"/>
              </a:rPr>
              <a:t>手机：</a:t>
            </a:r>
            <a:r>
              <a:rPr lang="en-US" altLang="zh-CN" sz="2400" dirty="0">
                <a:latin typeface="宋体" pitchFamily="2" charset="-122"/>
              </a:rPr>
              <a:t>15918876415</a:t>
            </a:r>
          </a:p>
          <a:p>
            <a:pPr lvl="1">
              <a:spcBef>
                <a:spcPts val="1800"/>
              </a:spcBef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zh-CN" altLang="en-US" sz="2400" dirty="0">
                <a:latin typeface="宋体" pitchFamily="2" charset="-122"/>
              </a:rPr>
              <a:t>     </a:t>
            </a:r>
            <a:r>
              <a:rPr lang="en-US" altLang="zh-CN" sz="2400" dirty="0">
                <a:latin typeface="宋体" pitchFamily="2" charset="-122"/>
              </a:rPr>
              <a:t>QQ</a:t>
            </a:r>
            <a:r>
              <a:rPr lang="zh-CN" altLang="en-US" sz="2400" dirty="0">
                <a:latin typeface="宋体" pitchFamily="2" charset="-122"/>
              </a:rPr>
              <a:t>：</a:t>
            </a:r>
            <a:r>
              <a:rPr lang="en-US" altLang="zh-CN" sz="2400" dirty="0">
                <a:latin typeface="宋体" pitchFamily="2" charset="-122"/>
              </a:rPr>
              <a:t>2500729063			</a:t>
            </a:r>
          </a:p>
        </p:txBody>
      </p:sp>
      <p:sp>
        <p:nvSpPr>
          <p:cNvPr id="6146" name="Rectangle 3"/>
          <p:cNvSpPr>
            <a:spLocks/>
          </p:cNvSpPr>
          <p:nvPr/>
        </p:nvSpPr>
        <p:spPr bwMode="auto">
          <a:xfrm>
            <a:off x="360363" y="636588"/>
            <a:ext cx="771525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r" defTabSz="912813" eaLnBrk="0" hangingPunct="0">
              <a:lnSpc>
                <a:spcPct val="90000"/>
              </a:lnSpc>
            </a:pPr>
            <a:r>
              <a:rPr lang="zh-CN" altLang="en-US" sz="2800" dirty="0">
                <a:latin typeface="Segoe Light" charset="-122"/>
                <a:ea typeface="黑体" pitchFamily="49" charset="-122"/>
              </a:rPr>
              <a:t>助教介绍</a:t>
            </a:r>
          </a:p>
        </p:txBody>
      </p:sp>
      <p:pic>
        <p:nvPicPr>
          <p:cNvPr id="4" name="图片 3" descr="厦门大学软件学院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5E7BE1A2-D44D-DE4D-9DD6-5F9F560F8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3"/>
          <p:cNvSpPr>
            <a:spLocks noChangeArrowheads="1"/>
          </p:cNvSpPr>
          <p:nvPr/>
        </p:nvSpPr>
        <p:spPr bwMode="auto">
          <a:xfrm>
            <a:off x="457200" y="1216025"/>
            <a:ext cx="7715250" cy="396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学分</a:t>
            </a:r>
            <a:r>
              <a:rPr lang="en-US" altLang="zh-CN" sz="2400" dirty="0">
                <a:latin typeface="宋体" pitchFamily="2" charset="-122"/>
              </a:rPr>
              <a:t>/</a:t>
            </a:r>
            <a:r>
              <a:rPr lang="zh-CN" altLang="en-US" sz="2400" dirty="0">
                <a:latin typeface="宋体" pitchFamily="2" charset="-122"/>
              </a:rPr>
              <a:t>学时：</a:t>
            </a:r>
            <a:r>
              <a:rPr lang="en-US" altLang="zh-CN" sz="2400" dirty="0">
                <a:latin typeface="宋体" pitchFamily="2" charset="-122"/>
              </a:rPr>
              <a:t>2</a:t>
            </a:r>
            <a:r>
              <a:rPr lang="zh-CN" altLang="en-US" sz="2400" dirty="0">
                <a:latin typeface="宋体" pitchFamily="2" charset="-122"/>
              </a:rPr>
              <a:t>学分</a:t>
            </a:r>
            <a:r>
              <a:rPr lang="en-US" altLang="zh-CN" sz="2400" dirty="0">
                <a:latin typeface="宋体" pitchFamily="2" charset="-122"/>
              </a:rPr>
              <a:t>/32</a:t>
            </a:r>
            <a:r>
              <a:rPr lang="zh-CN" altLang="en-US" sz="2400" dirty="0">
                <a:latin typeface="宋体" pitchFamily="2" charset="-122"/>
              </a:rPr>
              <a:t>学时</a:t>
            </a:r>
            <a:r>
              <a:rPr lang="en-US" altLang="zh-CN" sz="2400" dirty="0">
                <a:latin typeface="宋体" pitchFamily="2" charset="-122"/>
              </a:rPr>
              <a:t>+16</a:t>
            </a:r>
            <a:r>
              <a:rPr lang="zh-CN" altLang="en-US" sz="2400" dirty="0">
                <a:latin typeface="宋体" pitchFamily="2" charset="-122"/>
              </a:rPr>
              <a:t>学时实验</a:t>
            </a:r>
          </a:p>
          <a:p>
            <a:pPr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先修课程：计算机体系结构、操作系统、数据挖掘</a:t>
            </a:r>
          </a:p>
          <a:p>
            <a:pPr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课程目标：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dirty="0">
                <a:latin typeface="宋体" pitchFamily="2" charset="-122"/>
              </a:rPr>
              <a:t>了解</a:t>
            </a:r>
            <a:r>
              <a:rPr lang="en-US" altLang="en-US" dirty="0" err="1">
                <a:latin typeface="宋体" pitchFamily="2" charset="-122"/>
              </a:rPr>
              <a:t>大数据处理</a:t>
            </a:r>
            <a:r>
              <a:rPr lang="zh-CN" altLang="en-US" dirty="0">
                <a:latin typeface="宋体" pitchFamily="2" charset="-122"/>
              </a:rPr>
              <a:t>的基本概念以及其在国内外发展趋势；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dirty="0">
                <a:latin typeface="宋体" pitchFamily="2" charset="-122"/>
              </a:rPr>
              <a:t>熟悉支持大数据处理的关键技术，包括云计算、虚拟化和数据挖掘技术等，并结合应用实例进行阐述；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dirty="0">
                <a:latin typeface="宋体" pitchFamily="2" charset="-122"/>
              </a:rPr>
              <a:t>提高动手能力，通过实验练习消化理解课程所学习的关键技术。</a:t>
            </a:r>
          </a:p>
          <a:p>
            <a:pPr>
              <a:spcBef>
                <a:spcPts val="1800"/>
              </a:spcBef>
              <a:buFont typeface="Wingdings" pitchFamily="2" charset="2"/>
              <a:buChar char="ü"/>
            </a:pPr>
            <a:endParaRPr lang="zh-CN" altLang="en-US" dirty="0">
              <a:latin typeface="宋体" pitchFamily="2" charset="-122"/>
            </a:endParaRPr>
          </a:p>
        </p:txBody>
      </p:sp>
      <p:sp>
        <p:nvSpPr>
          <p:cNvPr id="8194" name="Rectangle 3"/>
          <p:cNvSpPr>
            <a:spLocks/>
          </p:cNvSpPr>
          <p:nvPr/>
        </p:nvSpPr>
        <p:spPr bwMode="auto">
          <a:xfrm>
            <a:off x="360363" y="636588"/>
            <a:ext cx="83820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lnSpc>
                <a:spcPct val="90000"/>
              </a:lnSpc>
            </a:pPr>
            <a:r>
              <a:rPr lang="zh-CN" altLang="en-US" sz="2800">
                <a:latin typeface="Segoe Light" charset="-122"/>
                <a:ea typeface="黑体" pitchFamily="49" charset="-122"/>
              </a:rPr>
              <a:t>课程总体介绍</a:t>
            </a:r>
          </a:p>
        </p:txBody>
      </p:sp>
      <p:pic>
        <p:nvPicPr>
          <p:cNvPr id="4" name="图片 3" descr="厦门大学软件学院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9CD5D9A8-8EEA-1F48-8B24-BDA7DE971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3"/>
          <p:cNvSpPr>
            <a:spLocks noChangeArrowheads="1"/>
          </p:cNvSpPr>
          <p:nvPr/>
        </p:nvSpPr>
        <p:spPr bwMode="auto">
          <a:xfrm>
            <a:off x="0" y="1611313"/>
            <a:ext cx="8100392" cy="346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大数据处理概论（</a:t>
            </a:r>
            <a:r>
              <a:rPr lang="en-US" altLang="zh-CN" sz="2400" dirty="0">
                <a:latin typeface="宋体" pitchFamily="2" charset="-122"/>
              </a:rPr>
              <a:t>4</a:t>
            </a:r>
            <a:r>
              <a:rPr lang="zh-CN" altLang="en-US" sz="2400" dirty="0">
                <a:latin typeface="宋体" pitchFamily="2" charset="-122"/>
              </a:rPr>
              <a:t>学时）；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云计算与大数据处理（</a:t>
            </a:r>
            <a:r>
              <a:rPr lang="zh-CN" altLang="ja-JP" sz="2400" dirty="0">
                <a:latin typeface="宋体" pitchFamily="2" charset="-122"/>
              </a:rPr>
              <a:t>1</a:t>
            </a:r>
            <a:r>
              <a:rPr lang="en-US" altLang="zh-CN" sz="2400" dirty="0">
                <a:latin typeface="宋体" pitchFamily="2" charset="-122"/>
              </a:rPr>
              <a:t>0</a:t>
            </a:r>
            <a:r>
              <a:rPr lang="zh-CN" altLang="en-US" sz="2400" dirty="0">
                <a:latin typeface="宋体" pitchFamily="2" charset="-122"/>
              </a:rPr>
              <a:t>学时）；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大数据处理技术专题：</a:t>
            </a:r>
            <a:r>
              <a:rPr lang="en-US" altLang="zh-CN" sz="2400" dirty="0">
                <a:latin typeface="宋体" pitchFamily="2" charset="-122"/>
              </a:rPr>
              <a:t>3</a:t>
            </a:r>
            <a:r>
              <a:rPr lang="zh-CN" altLang="en-US" sz="2400" dirty="0">
                <a:latin typeface="宋体" pitchFamily="2" charset="-122"/>
              </a:rPr>
              <a:t>“</a:t>
            </a:r>
            <a:r>
              <a:rPr lang="en-US" altLang="zh-CN" sz="2400" dirty="0">
                <a:latin typeface="宋体" pitchFamily="2" charset="-122"/>
              </a:rPr>
              <a:t>V</a:t>
            </a:r>
            <a:r>
              <a:rPr lang="zh-CN" altLang="en-US" sz="2400" dirty="0">
                <a:latin typeface="宋体" pitchFamily="2" charset="-122"/>
              </a:rPr>
              <a:t>”挑战应对（</a:t>
            </a:r>
            <a:r>
              <a:rPr lang="en-US" altLang="zh-CN" sz="2400" dirty="0">
                <a:latin typeface="宋体" pitchFamily="2" charset="-122"/>
              </a:rPr>
              <a:t>6</a:t>
            </a:r>
            <a:r>
              <a:rPr lang="zh-CN" altLang="en-US" sz="2400" dirty="0">
                <a:latin typeface="宋体" pitchFamily="2" charset="-122"/>
              </a:rPr>
              <a:t>学时）；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大数据挖掘和分析技术（</a:t>
            </a:r>
            <a:r>
              <a:rPr lang="en-US" altLang="zh-CN" sz="2400" dirty="0">
                <a:latin typeface="宋体" pitchFamily="2" charset="-122"/>
              </a:rPr>
              <a:t>4</a:t>
            </a:r>
            <a:r>
              <a:rPr lang="zh-CN" altLang="en-US" sz="2400" dirty="0">
                <a:latin typeface="宋体" pitchFamily="2" charset="-122"/>
              </a:rPr>
              <a:t>学时）；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大数据处理应用实例分析（</a:t>
            </a:r>
            <a:r>
              <a:rPr lang="en-US" altLang="zh-CN" sz="2400" dirty="0">
                <a:latin typeface="宋体" pitchFamily="2" charset="-122"/>
              </a:rPr>
              <a:t>8</a:t>
            </a:r>
            <a:r>
              <a:rPr lang="zh-CN" altLang="en-US" sz="2400" dirty="0">
                <a:latin typeface="宋体" pitchFamily="2" charset="-122"/>
              </a:rPr>
              <a:t>学时）；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实验（</a:t>
            </a:r>
            <a:r>
              <a:rPr lang="en-US" altLang="zh-CN" sz="2400" dirty="0">
                <a:latin typeface="宋体" pitchFamily="2" charset="-122"/>
              </a:rPr>
              <a:t>16</a:t>
            </a:r>
            <a:r>
              <a:rPr lang="zh-CN" altLang="en-US" sz="2400" dirty="0">
                <a:latin typeface="宋体" pitchFamily="2" charset="-122"/>
              </a:rPr>
              <a:t>学时）</a:t>
            </a:r>
          </a:p>
        </p:txBody>
      </p:sp>
      <p:sp>
        <p:nvSpPr>
          <p:cNvPr id="10242" name="Rectangle 8"/>
          <p:cNvSpPr>
            <a:spLocks/>
          </p:cNvSpPr>
          <p:nvPr/>
        </p:nvSpPr>
        <p:spPr bwMode="auto">
          <a:xfrm>
            <a:off x="360363" y="636588"/>
            <a:ext cx="8382000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lnSpc>
                <a:spcPct val="90000"/>
              </a:lnSpc>
            </a:pPr>
            <a:r>
              <a:rPr lang="zh-CN" altLang="en-US" sz="2800">
                <a:latin typeface="Segoe Light" charset="-122"/>
                <a:ea typeface="黑体" pitchFamily="49" charset="-122"/>
              </a:rPr>
              <a:t>课程大纲</a:t>
            </a:r>
            <a:r>
              <a:rPr lang="en-US" altLang="zh-CN" sz="2800">
                <a:latin typeface="Segoe Light" charset="-122"/>
                <a:ea typeface="黑体" pitchFamily="49" charset="-122"/>
              </a:rPr>
              <a:t>（</a:t>
            </a:r>
            <a:r>
              <a:rPr lang="zh-CN" altLang="en-US" sz="2800">
                <a:latin typeface="Segoe Light" charset="-122"/>
                <a:ea typeface="黑体" pitchFamily="49" charset="-122"/>
              </a:rPr>
              <a:t>预期）</a:t>
            </a:r>
          </a:p>
        </p:txBody>
      </p:sp>
      <p:pic>
        <p:nvPicPr>
          <p:cNvPr id="4" name="图片 3" descr="厦门大学软件学院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44055EB8-0613-2A42-BACE-900EDF810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3"/>
          <p:cNvSpPr>
            <a:spLocks noChangeArrowheads="1"/>
          </p:cNvSpPr>
          <p:nvPr/>
        </p:nvSpPr>
        <p:spPr bwMode="auto">
          <a:xfrm>
            <a:off x="0" y="1611313"/>
            <a:ext cx="9144000" cy="406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b="1" dirty="0">
                <a:latin typeface="宋体" pitchFamily="2" charset="-122"/>
              </a:rPr>
              <a:t>支付宝</a:t>
            </a:r>
            <a:r>
              <a:rPr lang="zh-CN" altLang="en-US" sz="2400" dirty="0">
                <a:latin typeface="宋体" pitchFamily="2" charset="-122"/>
              </a:rPr>
              <a:t>的</a:t>
            </a:r>
            <a:r>
              <a:rPr lang="en-US" altLang="zh-CN" sz="2400" dirty="0" err="1">
                <a:latin typeface="宋体" pitchFamily="2" charset="-122"/>
              </a:rPr>
              <a:t>OceanBase</a:t>
            </a:r>
            <a:r>
              <a:rPr lang="zh-CN" altLang="en-US" sz="2400" dirty="0">
                <a:latin typeface="宋体" pitchFamily="2" charset="-122"/>
              </a:rPr>
              <a:t>海量分布式关系型数据库；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b="1" dirty="0">
                <a:latin typeface="宋体" pitchFamily="2" charset="-122"/>
              </a:rPr>
              <a:t>京东</a:t>
            </a:r>
            <a:r>
              <a:rPr lang="zh-CN" altLang="en-US" sz="2400" dirty="0">
                <a:latin typeface="宋体" pitchFamily="2" charset="-122"/>
              </a:rPr>
              <a:t>大数据实时处理技术；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b="1" dirty="0">
                <a:latin typeface="宋体" pitchFamily="2" charset="-122"/>
              </a:rPr>
              <a:t>淘宝</a:t>
            </a:r>
            <a:r>
              <a:rPr lang="zh-CN" altLang="en-US" sz="2400" dirty="0">
                <a:latin typeface="宋体" pitchFamily="2" charset="-122"/>
              </a:rPr>
              <a:t>数据分析挖掘；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en-US" altLang="zh-CN" sz="2400" dirty="0">
                <a:latin typeface="宋体" pitchFamily="2" charset="-122"/>
              </a:rPr>
              <a:t>B2C</a:t>
            </a:r>
            <a:r>
              <a:rPr lang="zh-CN" altLang="en-US" sz="2400" dirty="0">
                <a:latin typeface="宋体" pitchFamily="2" charset="-122"/>
              </a:rPr>
              <a:t>电子商务（</a:t>
            </a:r>
            <a:r>
              <a:rPr lang="zh-CN" altLang="en-US" sz="2400" b="1" dirty="0">
                <a:latin typeface="宋体" pitchFamily="2" charset="-122"/>
              </a:rPr>
              <a:t>当当网</a:t>
            </a:r>
            <a:r>
              <a:rPr lang="zh-CN" altLang="en-US" sz="2400" dirty="0">
                <a:latin typeface="宋体" pitchFamily="2" charset="-122"/>
              </a:rPr>
              <a:t>）中大数据的典型应用；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b="1" dirty="0">
                <a:latin typeface="宋体" pitchFamily="2" charset="-122"/>
              </a:rPr>
              <a:t>腾讯</a:t>
            </a:r>
            <a:r>
              <a:rPr lang="zh-CN" altLang="en-US" sz="2400" dirty="0">
                <a:latin typeface="宋体" pitchFamily="2" charset="-122"/>
              </a:rPr>
              <a:t>精准推荐；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b="1" dirty="0">
                <a:latin typeface="宋体" pitchFamily="2" charset="-122"/>
              </a:rPr>
              <a:t>微博</a:t>
            </a:r>
            <a:r>
              <a:rPr lang="zh-CN" altLang="en-US" sz="2400" dirty="0">
                <a:latin typeface="宋体" pitchFamily="2" charset="-122"/>
              </a:rPr>
              <a:t>特征与行为的大数据挖掘分析；</a:t>
            </a:r>
            <a:endParaRPr lang="en-US" altLang="zh-CN" sz="2400" dirty="0">
              <a:latin typeface="宋体" pitchFamily="2" charset="-122"/>
            </a:endParaRP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b="1" dirty="0">
                <a:latin typeface="宋体" pitchFamily="2" charset="-122"/>
              </a:rPr>
              <a:t>医疗</a:t>
            </a:r>
            <a:r>
              <a:rPr lang="zh-CN" altLang="en-US" sz="2400" dirty="0">
                <a:latin typeface="宋体" pitchFamily="2" charset="-122"/>
              </a:rPr>
              <a:t>健康大数据</a:t>
            </a:r>
            <a:r>
              <a:rPr lang="en-US" altLang="zh-CN" sz="2400" dirty="0">
                <a:latin typeface="宋体" pitchFamily="2" charset="-122"/>
              </a:rPr>
              <a:t>.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10242" name="Rectangle 8"/>
          <p:cNvSpPr>
            <a:spLocks/>
          </p:cNvSpPr>
          <p:nvPr/>
        </p:nvSpPr>
        <p:spPr bwMode="auto">
          <a:xfrm>
            <a:off x="360363" y="636588"/>
            <a:ext cx="8382000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lnSpc>
                <a:spcPct val="90000"/>
              </a:lnSpc>
            </a:pPr>
            <a:r>
              <a:rPr lang="zh-CN" altLang="en-US" sz="2800" dirty="0">
                <a:latin typeface="Segoe Light" charset="-122"/>
                <a:ea typeface="黑体" pitchFamily="49" charset="-122"/>
              </a:rPr>
              <a:t>大数据处理应用案例分析</a:t>
            </a:r>
            <a:r>
              <a:rPr lang="en-US" altLang="zh-CN" sz="2800" dirty="0">
                <a:latin typeface="Segoe Light" charset="-122"/>
                <a:ea typeface="黑体" pitchFamily="49" charset="-122"/>
              </a:rPr>
              <a:t>（</a:t>
            </a:r>
            <a:r>
              <a:rPr lang="zh-CN" altLang="en-US" sz="2800" dirty="0">
                <a:latin typeface="Segoe Light" charset="-122"/>
                <a:ea typeface="黑体" pitchFamily="49" charset="-122"/>
              </a:rPr>
              <a:t>预期）</a:t>
            </a:r>
          </a:p>
        </p:txBody>
      </p:sp>
      <p:pic>
        <p:nvPicPr>
          <p:cNvPr id="4" name="图片 3" descr="厦门大学软件学院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3DC1FCF7-E0A7-C945-B609-617694052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3"/>
          <p:cNvSpPr>
            <a:spLocks noChangeArrowheads="1"/>
          </p:cNvSpPr>
          <p:nvPr/>
        </p:nvSpPr>
        <p:spPr bwMode="auto">
          <a:xfrm>
            <a:off x="393700" y="1377950"/>
            <a:ext cx="8783638" cy="420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参考电子版资料：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en-US" altLang="zh-CN" dirty="0">
                <a:latin typeface="宋体" pitchFamily="2" charset="-122"/>
              </a:rPr>
              <a:t>《</a:t>
            </a:r>
            <a:r>
              <a:rPr lang="zh-CN" altLang="en-US" dirty="0">
                <a:latin typeface="宋体" pitchFamily="2" charset="-122"/>
              </a:rPr>
              <a:t>理解大数据</a:t>
            </a:r>
            <a:r>
              <a:rPr lang="en-US" altLang="zh-CN" dirty="0">
                <a:latin typeface="宋体" pitchFamily="2" charset="-122"/>
              </a:rPr>
              <a:t>》</a:t>
            </a:r>
            <a:r>
              <a:rPr lang="zh-CN" altLang="en-US" dirty="0">
                <a:latin typeface="宋体" pitchFamily="2" charset="-122"/>
              </a:rPr>
              <a:t>，</a:t>
            </a:r>
            <a:r>
              <a:rPr lang="en-US" altLang="zh-CN" dirty="0">
                <a:latin typeface="宋体" pitchFamily="2" charset="-122"/>
              </a:rPr>
              <a:t>IBM. (ftp</a:t>
            </a:r>
            <a:r>
              <a:rPr lang="zh-CN" altLang="en-US" dirty="0">
                <a:latin typeface="宋体" pitchFamily="2" charset="-122"/>
              </a:rPr>
              <a:t>中的参考资料中下载</a:t>
            </a:r>
            <a:r>
              <a:rPr lang="en-US" altLang="zh-CN" dirty="0">
                <a:latin typeface="宋体" pitchFamily="2" charset="-122"/>
              </a:rPr>
              <a:t>)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en-US" altLang="zh-CN" dirty="0">
                <a:latin typeface="宋体" pitchFamily="2" charset="-122"/>
              </a:rPr>
              <a:t> </a:t>
            </a:r>
            <a:r>
              <a:rPr lang="zh-CN" altLang="en-US" dirty="0">
                <a:latin typeface="宋体" pitchFamily="2" charset="-122"/>
              </a:rPr>
              <a:t>课程讲义</a:t>
            </a:r>
            <a:r>
              <a:rPr lang="en-US" altLang="zh-CN" dirty="0">
                <a:latin typeface="宋体" pitchFamily="2" charset="-122"/>
              </a:rPr>
              <a:t>. FTP</a:t>
            </a:r>
            <a:r>
              <a:rPr lang="zh-CN" altLang="en-US" dirty="0">
                <a:latin typeface="宋体" pitchFamily="2" charset="-122"/>
              </a:rPr>
              <a:t>站点下载：</a:t>
            </a:r>
            <a:r>
              <a:rPr lang="en-US" altLang="zh-CN" dirty="0">
                <a:latin typeface="宋体" pitchFamily="2" charset="-122"/>
              </a:rPr>
              <a:t>ftp://121.192.180.66/</a:t>
            </a:r>
            <a:r>
              <a:rPr lang="zh-CN" altLang="en-US" dirty="0">
                <a:latin typeface="宋体" pitchFamily="2" charset="-122"/>
              </a:rPr>
              <a:t>，</a:t>
            </a:r>
            <a:endParaRPr lang="en-US" altLang="zh-CN" dirty="0">
              <a:latin typeface="宋体" pitchFamily="2" charset="-122"/>
            </a:endParaRPr>
          </a:p>
          <a:p>
            <a:pPr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会议文献：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dirty="0">
                <a:latin typeface="宋体" pitchFamily="2" charset="-122"/>
              </a:rPr>
              <a:t>ACM Symposium on Cloud Computing: </a:t>
            </a:r>
            <a:endParaRPr lang="en-US" altLang="zh-CN" dirty="0">
              <a:latin typeface="宋体" pitchFamily="2" charset="-122"/>
            </a:endParaRP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altLang="zh-CN" dirty="0">
                <a:latin typeface="宋体" pitchFamily="2" charset="-122"/>
              </a:rPr>
              <a:t>https://acmsocc.github.io/2017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altLang="zh-CN" dirty="0">
                <a:latin typeface="宋体" pitchFamily="2" charset="-122"/>
              </a:rPr>
              <a:t>https:// acmsocc.github.io/2016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nl-NL" altLang="zh-CN" dirty="0">
                <a:latin typeface="宋体" pitchFamily="2" charset="-122"/>
              </a:rPr>
              <a:t>IEEE International Conference on Big Data: 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nl-NL" altLang="zh-CN" dirty="0">
                <a:latin typeface="宋体" pitchFamily="2" charset="-122"/>
              </a:rPr>
              <a:t>http://cci.drexel.edu/bigdata/bigdata2018/ 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nl-NL" altLang="zh-CN" dirty="0">
                <a:latin typeface="宋体" pitchFamily="2" charset="-122"/>
              </a:rPr>
              <a:t>http://cci.drexel.edu/bigdata/bigdata2017/ 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2290" name="Rectangle 3"/>
          <p:cNvSpPr>
            <a:spLocks/>
          </p:cNvSpPr>
          <p:nvPr/>
        </p:nvSpPr>
        <p:spPr bwMode="auto">
          <a:xfrm>
            <a:off x="360363" y="636588"/>
            <a:ext cx="8382000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lnSpc>
                <a:spcPct val="90000"/>
              </a:lnSpc>
            </a:pPr>
            <a:r>
              <a:rPr lang="zh-CN" altLang="en-US" sz="2800">
                <a:latin typeface="Segoe Light" charset="-122"/>
                <a:ea typeface="黑体" pitchFamily="49" charset="-122"/>
              </a:rPr>
              <a:t>参考资料</a:t>
            </a:r>
          </a:p>
        </p:txBody>
      </p:sp>
      <p:pic>
        <p:nvPicPr>
          <p:cNvPr id="4" name="图片 3" descr="厦门大学软件学院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ECC33B6A-E08F-7D49-AF8C-B3914D341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3"/>
          <p:cNvSpPr>
            <a:spLocks noChangeArrowheads="1"/>
          </p:cNvSpPr>
          <p:nvPr/>
        </p:nvSpPr>
        <p:spPr bwMode="auto">
          <a:xfrm>
            <a:off x="360363" y="1408415"/>
            <a:ext cx="7715250" cy="410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最终成绩由平时出勤、实验和期末报告组成。具体为：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dirty="0">
                <a:latin typeface="宋体" pitchFamily="2" charset="-122"/>
              </a:rPr>
              <a:t>平时出勤率：</a:t>
            </a:r>
            <a:r>
              <a:rPr lang="en-US" altLang="zh-CN" dirty="0">
                <a:latin typeface="宋体" pitchFamily="2" charset="-122"/>
              </a:rPr>
              <a:t>10%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dirty="0">
                <a:latin typeface="宋体" pitchFamily="2" charset="-122"/>
              </a:rPr>
              <a:t>实验：</a:t>
            </a:r>
            <a:r>
              <a:rPr lang="en-US" altLang="zh-CN" dirty="0">
                <a:latin typeface="宋体" pitchFamily="2" charset="-122"/>
              </a:rPr>
              <a:t>50%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dirty="0">
                <a:latin typeface="宋体" pitchFamily="2" charset="-122"/>
              </a:rPr>
              <a:t>考试成绩：</a:t>
            </a:r>
            <a:r>
              <a:rPr lang="en-US" altLang="zh-CN" dirty="0">
                <a:latin typeface="宋体" pitchFamily="2" charset="-122"/>
              </a:rPr>
              <a:t>40%</a:t>
            </a:r>
          </a:p>
          <a:p>
            <a:pPr>
              <a:spcBef>
                <a:spcPts val="1800"/>
              </a:spcBef>
              <a:buFont typeface="Wingdings" pitchFamily="2" charset="2"/>
              <a:buChar char="p"/>
            </a:pPr>
            <a:r>
              <a:rPr lang="zh-CN" altLang="en-US" sz="2400" dirty="0">
                <a:latin typeface="宋体" pitchFamily="2" charset="-122"/>
              </a:rPr>
              <a:t>注意事项：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dirty="0">
                <a:latin typeface="宋体" pitchFamily="2" charset="-122"/>
              </a:rPr>
              <a:t>严禁抄袭，引用需注明出处；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dirty="0">
                <a:latin typeface="宋体" pitchFamily="2" charset="-122"/>
              </a:rPr>
              <a:t>课堂上请将手机静音，未经允许，不准大声讨论；</a:t>
            </a: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dirty="0">
                <a:latin typeface="宋体" pitchFamily="2" charset="-122"/>
              </a:rPr>
              <a:t>欢迎课上课下提问、对授课方式提意见等。</a:t>
            </a:r>
          </a:p>
        </p:txBody>
      </p:sp>
      <p:sp>
        <p:nvSpPr>
          <p:cNvPr id="14338" name="Rectangle 3"/>
          <p:cNvSpPr>
            <a:spLocks/>
          </p:cNvSpPr>
          <p:nvPr/>
        </p:nvSpPr>
        <p:spPr bwMode="auto">
          <a:xfrm>
            <a:off x="360363" y="636588"/>
            <a:ext cx="83820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2813" eaLnBrk="0" hangingPunct="0">
              <a:lnSpc>
                <a:spcPct val="90000"/>
              </a:lnSpc>
            </a:pPr>
            <a:r>
              <a:rPr lang="zh-CN" altLang="en-US" sz="2800">
                <a:latin typeface="Segoe Light" charset="-122"/>
                <a:ea typeface="黑体" pitchFamily="49" charset="-122"/>
              </a:rPr>
              <a:t>成绩评定及注意事项</a:t>
            </a:r>
          </a:p>
        </p:txBody>
      </p:sp>
      <p:pic>
        <p:nvPicPr>
          <p:cNvPr id="4" name="图片 3" descr="厦门大学软件学院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15338" y="5929338"/>
            <a:ext cx="928662" cy="928662"/>
          </a:xfrm>
          <a:prstGeom prst="rect">
            <a:avLst/>
          </a:prstGeom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004D954D-87D0-8841-A3A7-567459928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852661"/>
            <a:ext cx="1041731" cy="10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571472" y="2285992"/>
            <a:ext cx="8031163" cy="7620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/>
          <a:p>
            <a:pPr algn="ctr" defTabSz="912813" eaLnBrk="0" hangingPunct="0">
              <a:lnSpc>
                <a:spcPct val="9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Segoe Light" charset="-122"/>
                <a:cs typeface="Arial" pitchFamily="34" charset="0"/>
              </a:rPr>
              <a:t>第</a:t>
            </a:r>
            <a:r>
              <a:rPr lang="en-US" altLang="zh-CN" sz="5400" dirty="0">
                <a:solidFill>
                  <a:schemeClr val="bg1"/>
                </a:solidFill>
                <a:latin typeface="Segoe Light" charset="-122"/>
                <a:cs typeface="Arial" pitchFamily="34" charset="0"/>
              </a:rPr>
              <a:t>1</a:t>
            </a:r>
            <a:r>
              <a:rPr lang="zh-CN" altLang="en-US" sz="5400" dirty="0">
                <a:solidFill>
                  <a:schemeClr val="bg1"/>
                </a:solidFill>
                <a:latin typeface="Segoe Light" charset="-122"/>
                <a:cs typeface="Arial" pitchFamily="34" charset="0"/>
              </a:rPr>
              <a:t>节  大数据处理概论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Box 141"/>
          <p:cNvSpPr txBox="1">
            <a:spLocks noChangeArrowheads="1"/>
          </p:cNvSpPr>
          <p:nvPr/>
        </p:nvSpPr>
        <p:spPr bwMode="auto">
          <a:xfrm>
            <a:off x="182183" y="5373216"/>
            <a:ext cx="8763000" cy="1015663"/>
          </a:xfrm>
          <a:prstGeom prst="rect">
            <a:avLst/>
          </a:prstGeom>
          <a:noFill/>
          <a:ln w="9525">
            <a:solidFill>
              <a:srgbClr val="0066FF"/>
            </a:solidFill>
            <a:prstDash val="lgDash"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    大数据</a:t>
            </a:r>
            <a:r>
              <a:rPr lang="zh-CN" altLang="en-US" sz="2000" b="0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0" dirty="0">
                <a:latin typeface="黑体" pitchFamily="49" charset="-122"/>
                <a:ea typeface="黑体" pitchFamily="49" charset="-122"/>
              </a:rPr>
              <a:t>Big</a:t>
            </a:r>
            <a:r>
              <a:rPr lang="zh-CN" altLang="en-US" sz="2000" b="0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000" b="0" dirty="0">
                <a:latin typeface="黑体" pitchFamily="49" charset="-122"/>
                <a:ea typeface="黑体" pitchFamily="49" charset="-122"/>
              </a:rPr>
              <a:t>Data</a:t>
            </a:r>
            <a:r>
              <a:rPr lang="zh-CN" altLang="en-US" sz="2000" b="0" dirty="0">
                <a:latin typeface="黑体" pitchFamily="49" charset="-122"/>
                <a:ea typeface="黑体" pitchFamily="49" charset="-122"/>
              </a:rPr>
              <a:t>），</a:t>
            </a:r>
            <a:r>
              <a:rPr lang="en-US" altLang="zh-CN" sz="2000" b="0" dirty="0">
                <a:latin typeface="黑体" pitchFamily="49" charset="-122"/>
                <a:ea typeface="黑体" pitchFamily="49" charset="-122"/>
              </a:rPr>
              <a:t>2010</a:t>
            </a:r>
            <a:r>
              <a:rPr lang="zh-CN" altLang="en-US" sz="2000" b="0" dirty="0">
                <a:latin typeface="黑体" pitchFamily="49" charset="-122"/>
                <a:ea typeface="黑体" pitchFamily="49" charset="-122"/>
              </a:rPr>
              <a:t>年第底才诞生的新名词，仅过了半年多，其受到关注程度就超过云计算（</a:t>
            </a:r>
            <a:r>
              <a:rPr lang="en-US" altLang="zh-CN" sz="2000" b="0" dirty="0">
                <a:latin typeface="黑体" pitchFamily="49" charset="-122"/>
                <a:ea typeface="黑体" pitchFamily="49" charset="-122"/>
              </a:rPr>
              <a:t>Cloud Computing</a:t>
            </a:r>
            <a:r>
              <a:rPr lang="zh-CN" altLang="en-US" sz="2000" b="0" dirty="0">
                <a:latin typeface="黑体" pitchFamily="49" charset="-122"/>
                <a:ea typeface="黑体" pitchFamily="49" charset="-122"/>
              </a:rPr>
              <a:t>），而且关注度一直在增加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！</a:t>
            </a:r>
            <a:endParaRPr lang="en-US" altLang="zh-CN" sz="2000" dirty="0">
              <a:latin typeface="黑体" pitchFamily="49" charset="-122"/>
              <a:ea typeface="黑体" pitchFamily="49" charset="-122"/>
            </a:endParaRPr>
          </a:p>
          <a:p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    自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2018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年后，云计算和大数据的关注度不相上下！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A85FF1-E5B6-154B-A422-7E9F12A03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17" y="358156"/>
            <a:ext cx="9144000" cy="5015060"/>
          </a:xfrm>
          <a:prstGeom prst="rect">
            <a:avLst/>
          </a:prstGeom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4A5268BF-E2B7-A445-8767-724B7782D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历史上的今天】2月14日：世界第一台计算机问世_技术">
            <a:extLst>
              <a:ext uri="{FF2B5EF4-FFF2-40B4-BE49-F238E27FC236}">
                <a16:creationId xmlns:a16="http://schemas.microsoft.com/office/drawing/2014/main" id="{95C40A57-0227-E04C-BDB2-5DA2C2B4F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44" y="1484784"/>
            <a:ext cx="4238073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1A7B3360-9448-1C44-8DF5-84FE38283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C15D1A3-469C-294E-BB00-F00B398A055B}"/>
              </a:ext>
            </a:extLst>
          </p:cNvPr>
          <p:cNvSpPr txBox="1">
            <a:spLocks/>
          </p:cNvSpPr>
          <p:nvPr/>
        </p:nvSpPr>
        <p:spPr bwMode="auto">
          <a:xfrm>
            <a:off x="360363" y="636588"/>
            <a:ext cx="8382000" cy="384175"/>
          </a:xfrm>
          <a:prstGeom prst="rect">
            <a:avLst/>
          </a:prstGeo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82500" lnSpcReduction="200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pPr algn="r"/>
            <a:r>
              <a:rPr lang="zh-CN" altLang="en-US" sz="2800" dirty="0">
                <a:ea typeface="黑体" pitchFamily="49" charset="-122"/>
              </a:rPr>
              <a:t>世界上第一台计算机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2BD73C-0B8B-394B-A032-06A9D905713D}"/>
              </a:ext>
            </a:extLst>
          </p:cNvPr>
          <p:cNvSpPr txBox="1"/>
          <p:nvPr/>
        </p:nvSpPr>
        <p:spPr>
          <a:xfrm>
            <a:off x="1" y="4399944"/>
            <a:ext cx="91111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1946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日，由美国军方定制的世界上第一台电子计算机“电子数字积分计算机”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ENIAC</a:t>
            </a:r>
            <a:r>
              <a:rPr lang="en-US" altLang="zh-CN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" altLang="zh-CN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Electronic Numerical Integrator And Computer)</a:t>
            </a:r>
            <a:r>
              <a:rPr lang="zh-CN" altLang="en-US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在美国宾夕法尼亚大学问世。</a:t>
            </a:r>
            <a:endParaRPr lang="en-US" altLang="zh-CN" b="0" i="0" dirty="0">
              <a:solidFill>
                <a:srgbClr val="19191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zh-CN" dirty="0">
              <a:solidFill>
                <a:srgbClr val="1919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这部机器使用了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18800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个真空管，长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英尺，宽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英尺， 占地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平方英尺，重达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大约是一间半的教室大，六只大象重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44036" name="Picture 4" descr="世界上第一台计算机叫什么名字- 零分猫">
            <a:extLst>
              <a:ext uri="{FF2B5EF4-FFF2-40B4-BE49-F238E27FC236}">
                <a16:creationId xmlns:a16="http://schemas.microsoft.com/office/drawing/2014/main" id="{B66600EA-F9DD-9D47-9C5D-6BD0DC540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593" y="1488976"/>
            <a:ext cx="4621600" cy="258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2283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1A7B3360-9448-1C44-8DF5-84FE38283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C15D1A3-469C-294E-BB00-F00B398A055B}"/>
              </a:ext>
            </a:extLst>
          </p:cNvPr>
          <p:cNvSpPr txBox="1">
            <a:spLocks/>
          </p:cNvSpPr>
          <p:nvPr/>
        </p:nvSpPr>
        <p:spPr bwMode="auto">
          <a:xfrm>
            <a:off x="360363" y="636588"/>
            <a:ext cx="8382000" cy="384175"/>
          </a:xfrm>
          <a:prstGeom prst="rect">
            <a:avLst/>
          </a:prstGeo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82500" lnSpcReduction="200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pPr algn="r"/>
            <a:r>
              <a:rPr lang="zh-CN" altLang="en-US" sz="2800" dirty="0">
                <a:ea typeface="黑体" pitchFamily="49" charset="-122"/>
              </a:rPr>
              <a:t>个人计算机的快速发展</a:t>
            </a:r>
          </a:p>
        </p:txBody>
      </p:sp>
      <p:pic>
        <p:nvPicPr>
          <p:cNvPr id="45058" name="Picture 2" descr="计算机的发展过程- 知乎">
            <a:extLst>
              <a:ext uri="{FF2B5EF4-FFF2-40B4-BE49-F238E27FC236}">
                <a16:creationId xmlns:a16="http://schemas.microsoft.com/office/drawing/2014/main" id="{B229AA7C-E6BA-1142-9773-285F72222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060" y="3630281"/>
            <a:ext cx="2895761" cy="216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2" name="Picture 6" descr="计算机背后的原理（5）-ENIAC与真空管- 知乎">
            <a:extLst>
              <a:ext uri="{FF2B5EF4-FFF2-40B4-BE49-F238E27FC236}">
                <a16:creationId xmlns:a16="http://schemas.microsoft.com/office/drawing/2014/main" id="{6B0EDAE0-8B61-F14A-B43B-280499F4F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821" y="3651929"/>
            <a:ext cx="3026087" cy="1988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4" name="Picture 8">
            <a:extLst>
              <a:ext uri="{FF2B5EF4-FFF2-40B4-BE49-F238E27FC236}">
                <a16:creationId xmlns:a16="http://schemas.microsoft.com/office/drawing/2014/main" id="{F527F308-2FDC-7D44-A075-D1F4BE852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16632"/>
            <a:ext cx="3026087" cy="336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6" name="Picture 10" descr="代計算機：表，特點和歷史。 什麼是術語“電腦一代”是什麼意思？">
            <a:extLst>
              <a:ext uri="{FF2B5EF4-FFF2-40B4-BE49-F238E27FC236}">
                <a16:creationId xmlns:a16="http://schemas.microsoft.com/office/drawing/2014/main" id="{22BBF485-1572-0E4B-9A86-12D56EDDA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6" y="3700405"/>
            <a:ext cx="2920000" cy="193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56949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1A7B3360-9448-1C44-8DF5-84FE38283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C15D1A3-469C-294E-BB00-F00B398A055B}"/>
              </a:ext>
            </a:extLst>
          </p:cNvPr>
          <p:cNvSpPr txBox="1">
            <a:spLocks/>
          </p:cNvSpPr>
          <p:nvPr/>
        </p:nvSpPr>
        <p:spPr bwMode="auto">
          <a:xfrm>
            <a:off x="360363" y="636588"/>
            <a:ext cx="8382000" cy="384175"/>
          </a:xfrm>
          <a:prstGeom prst="rect">
            <a:avLst/>
          </a:prstGeo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82500" lnSpcReduction="200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pPr algn="r"/>
            <a:r>
              <a:rPr lang="zh-CN" altLang="en-US" sz="2800" dirty="0">
                <a:ea typeface="黑体" pitchFamily="49" charset="-122"/>
              </a:rPr>
              <a:t>移动计算机的快速发展</a:t>
            </a:r>
          </a:p>
        </p:txBody>
      </p:sp>
      <p:pic>
        <p:nvPicPr>
          <p:cNvPr id="46082" name="Picture 2">
            <a:extLst>
              <a:ext uri="{FF2B5EF4-FFF2-40B4-BE49-F238E27FC236}">
                <a16:creationId xmlns:a16="http://schemas.microsoft.com/office/drawing/2014/main" id="{A55BC28F-353F-BB44-A49E-F0775A0DF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62384"/>
            <a:ext cx="3887571" cy="296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4" name="Picture 4">
            <a:extLst>
              <a:ext uri="{FF2B5EF4-FFF2-40B4-BE49-F238E27FC236}">
                <a16:creationId xmlns:a16="http://schemas.microsoft.com/office/drawing/2014/main" id="{3D4FC345-0E5E-1841-9236-2274FB2F7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66620"/>
            <a:ext cx="3323861" cy="2492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6" name="Picture 6">
            <a:extLst>
              <a:ext uri="{FF2B5EF4-FFF2-40B4-BE49-F238E27FC236}">
                <a16:creationId xmlns:a16="http://schemas.microsoft.com/office/drawing/2014/main" id="{F40F610A-88DD-6C48-A19B-7AEBFAB15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924944"/>
            <a:ext cx="3257333" cy="229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8256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1A7B3360-9448-1C44-8DF5-84FE38283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C15D1A3-469C-294E-BB00-F00B398A055B}"/>
              </a:ext>
            </a:extLst>
          </p:cNvPr>
          <p:cNvSpPr txBox="1">
            <a:spLocks/>
          </p:cNvSpPr>
          <p:nvPr/>
        </p:nvSpPr>
        <p:spPr bwMode="auto">
          <a:xfrm>
            <a:off x="360363" y="636588"/>
            <a:ext cx="8382000" cy="384175"/>
          </a:xfrm>
          <a:prstGeom prst="rect">
            <a:avLst/>
          </a:prstGeo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82500" lnSpcReduction="200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pPr algn="r"/>
            <a:r>
              <a:rPr lang="zh-CN" altLang="en-US" sz="2800" dirty="0">
                <a:ea typeface="黑体" pitchFamily="49" charset="-122"/>
              </a:rPr>
              <a:t>未来的计算机？</a:t>
            </a:r>
          </a:p>
        </p:txBody>
      </p:sp>
      <p:pic>
        <p:nvPicPr>
          <p:cNvPr id="47106" name="Picture 2">
            <a:extLst>
              <a:ext uri="{FF2B5EF4-FFF2-40B4-BE49-F238E27FC236}">
                <a16:creationId xmlns:a16="http://schemas.microsoft.com/office/drawing/2014/main" id="{1485651B-E0BA-A148-BC27-DF9C9BF3A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40" y="188640"/>
            <a:ext cx="3960440" cy="297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8" name="Picture 4">
            <a:extLst>
              <a:ext uri="{FF2B5EF4-FFF2-40B4-BE49-F238E27FC236}">
                <a16:creationId xmlns:a16="http://schemas.microsoft.com/office/drawing/2014/main" id="{9340A77E-DFA0-7940-B30E-0FC40B990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296" y="2564904"/>
            <a:ext cx="4649164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86259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1A7B3360-9448-1C44-8DF5-84FE38283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C15D1A3-469C-294E-BB00-F00B398A055B}"/>
              </a:ext>
            </a:extLst>
          </p:cNvPr>
          <p:cNvSpPr txBox="1">
            <a:spLocks/>
          </p:cNvSpPr>
          <p:nvPr/>
        </p:nvSpPr>
        <p:spPr bwMode="auto">
          <a:xfrm>
            <a:off x="360363" y="636588"/>
            <a:ext cx="8382000" cy="384175"/>
          </a:xfrm>
          <a:prstGeom prst="rect">
            <a:avLst/>
          </a:prstGeo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82500" lnSpcReduction="200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pPr algn="r"/>
            <a:r>
              <a:rPr lang="zh-CN" altLang="en-US" sz="2800" dirty="0">
                <a:ea typeface="黑体" pitchFamily="49" charset="-122"/>
              </a:rPr>
              <a:t>发展历程分析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2BD73C-0B8B-394B-A032-06A9D905713D}"/>
              </a:ext>
            </a:extLst>
          </p:cNvPr>
          <p:cNvSpPr txBox="1"/>
          <p:nvPr/>
        </p:nvSpPr>
        <p:spPr>
          <a:xfrm>
            <a:off x="253883" y="1340768"/>
            <a:ext cx="8562851" cy="4014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大型机时代：</a:t>
            </a:r>
            <a:r>
              <a:rPr lang="en-US" altLang="zh-CN" sz="3200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zh-CN" altLang="en-US" sz="3200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zh-CN" altLang="en-US" sz="3200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zh-CN" altLang="en-US" sz="3200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0" i="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小型机时代：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云计算时代：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</a:p>
          <a:p>
            <a:pPr>
              <a:lnSpc>
                <a:spcPct val="150000"/>
              </a:lnSpc>
            </a:pPr>
            <a:endParaRPr lang="en-US" altLang="zh-CN" sz="3200" dirty="0">
              <a:solidFill>
                <a:srgbClr val="19191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大型机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小型机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云计算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大数据</a:t>
            </a:r>
            <a:r>
              <a:rPr lang="en-US" altLang="zh-CN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AI </a:t>
            </a:r>
            <a:r>
              <a:rPr lang="zh-CN" altLang="en-US" sz="3200" dirty="0">
                <a:solidFill>
                  <a:srgbClr val="19191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zh-CN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？</a:t>
            </a:r>
            <a:endParaRPr lang="en-US" altLang="zh-C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55666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百度云同步盘\学院事宜\《大数据处理》\Image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214422"/>
            <a:ext cx="7780876" cy="5400000"/>
          </a:xfrm>
          <a:prstGeom prst="rect">
            <a:avLst/>
          </a:prstGeom>
          <a:noFill/>
        </p:spPr>
      </p:pic>
      <p:sp>
        <p:nvSpPr>
          <p:cNvPr id="4" name="Rectangle 2"/>
          <p:cNvSpPr txBox="1">
            <a:spLocks/>
          </p:cNvSpPr>
          <p:nvPr/>
        </p:nvSpPr>
        <p:spPr bwMode="auto">
          <a:xfrm>
            <a:off x="360363" y="636588"/>
            <a:ext cx="8382000" cy="384175"/>
          </a:xfrm>
          <a:prstGeom prst="rect">
            <a:avLst/>
          </a:prstGeo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82500" lnSpcReduction="20000"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黑体" pitchFamily="49" charset="-122"/>
                <a:cs typeface="Calibri" pitchFamily="34" charset="0"/>
              </a:rPr>
              <a:t>大数据的生态系统</a:t>
            </a:r>
          </a:p>
        </p:txBody>
      </p:sp>
      <p:pic>
        <p:nvPicPr>
          <p:cNvPr id="7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D0AA3A63-B2CD-1045-8F0A-306A02866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360363" y="636588"/>
            <a:ext cx="8382000" cy="384175"/>
          </a:xfrm>
        </p:spPr>
        <p:txBody>
          <a:bodyPr numCol="1" anchorCtr="0" compatLnSpc="1">
            <a:prstTxWarp prst="textNoShape">
              <a:avLst/>
            </a:prstTxWarp>
            <a:normAutofit fontScale="90000"/>
          </a:bodyPr>
          <a:lstStyle/>
          <a:p>
            <a:pPr algn="r"/>
            <a:r>
              <a:rPr kumimoji="0" lang="zh-CN" altLang="en-US" sz="2800" dirty="0">
                <a:ln>
                  <a:noFill/>
                </a:ln>
                <a:ea typeface="黑体" pitchFamily="49" charset="-122"/>
              </a:rPr>
              <a:t>大数据</a:t>
            </a:r>
            <a:r>
              <a:rPr kumimoji="0" altLang="zh-CN" sz="2800" dirty="0">
                <a:ln>
                  <a:noFill/>
                </a:ln>
                <a:ea typeface="黑体" pitchFamily="49" charset="-122"/>
              </a:rPr>
              <a:t>的定义</a:t>
            </a:r>
            <a:endParaRPr kumimoji="0" lang="zh-CN" altLang="en-US" sz="2800" dirty="0">
              <a:ln>
                <a:noFill/>
              </a:ln>
              <a:ea typeface="黑体" pitchFamily="49" charset="-122"/>
            </a:endParaRPr>
          </a:p>
        </p:txBody>
      </p:sp>
      <p:sp>
        <p:nvSpPr>
          <p:cNvPr id="21506" name="矩形 13"/>
          <p:cNvSpPr>
            <a:spLocks noChangeArrowheads="1"/>
          </p:cNvSpPr>
          <p:nvPr/>
        </p:nvSpPr>
        <p:spPr bwMode="auto">
          <a:xfrm>
            <a:off x="304800" y="1600200"/>
            <a:ext cx="8513763" cy="1857375"/>
          </a:xfrm>
          <a:prstGeom prst="rect">
            <a:avLst/>
          </a:prstGeom>
          <a:noFill/>
          <a:ln w="34925">
            <a:solidFill>
              <a:srgbClr val="0070C0"/>
            </a:solidFill>
            <a:round/>
            <a:headEnd/>
            <a:tailEnd/>
          </a:ln>
        </p:spPr>
        <p:txBody>
          <a:bodyPr lIns="89545" tIns="0" rIns="0" bIns="0"/>
          <a:lstStyle/>
          <a:p>
            <a:pPr algn="ctr" eaLnBrk="0" hangingPunct="0">
              <a:spcBef>
                <a:spcPct val="10000"/>
              </a:spcBef>
              <a:buClr>
                <a:srgbClr val="0000CC"/>
              </a:buClr>
              <a:buFont typeface="Wingdings" pitchFamily="2" charset="2"/>
              <a:buChar char="u"/>
            </a:pPr>
            <a:endParaRPr lang="zh-CN" altLang="en-US" b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325437" y="1828800"/>
            <a:ext cx="8513763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13500000">
              <a:srgbClr val="738B94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0" dirty="0">
                <a:ea typeface="黑体" pitchFamily="49" charset="-122"/>
              </a:rPr>
              <a:t>      </a:t>
            </a:r>
            <a:r>
              <a:rPr lang="zh-CN" altLang="en-US" sz="2800" b="0" dirty="0">
                <a:ea typeface="黑体" pitchFamily="49" charset="-122"/>
                <a:hlinkClick r:id="rId2" action="ppaction://hlinkfile"/>
              </a:rPr>
              <a:t>大数据</a:t>
            </a:r>
            <a:r>
              <a:rPr lang="zh-CN" altLang="en-US" sz="2800" b="0" dirty="0">
                <a:ea typeface="黑体" pitchFamily="49" charset="-122"/>
              </a:rPr>
              <a:t>是需要</a:t>
            </a:r>
            <a:r>
              <a:rPr lang="zh-CN" altLang="en-US" sz="2800" b="0" dirty="0">
                <a:solidFill>
                  <a:srgbClr val="FF0000"/>
                </a:solidFill>
                <a:ea typeface="黑体" pitchFamily="49" charset="-122"/>
              </a:rPr>
              <a:t>新处理模式</a:t>
            </a:r>
            <a:r>
              <a:rPr lang="zh-CN" altLang="en-US" sz="2800" b="0" dirty="0">
                <a:ea typeface="黑体" pitchFamily="49" charset="-122"/>
              </a:rPr>
              <a:t>才能具有更强的决策力、洞察发现力和流程优化能力的海量、高增长率和多样化的</a:t>
            </a:r>
            <a:r>
              <a:rPr lang="zh-CN" altLang="en-US" sz="2800" b="0" dirty="0">
                <a:solidFill>
                  <a:srgbClr val="FF0000"/>
                </a:solidFill>
                <a:ea typeface="黑体" pitchFamily="49" charset="-122"/>
              </a:rPr>
              <a:t>信息资产</a:t>
            </a:r>
            <a:r>
              <a:rPr lang="zh-CN" altLang="en-US" sz="2800" b="0" dirty="0">
                <a:ea typeface="黑体" pitchFamily="49" charset="-122"/>
              </a:rPr>
              <a:t>。（出自研究机构</a:t>
            </a:r>
            <a:r>
              <a:rPr lang="en-US" altLang="zh-CN" sz="2800" b="0" dirty="0">
                <a:ea typeface="黑体" pitchFamily="49" charset="-122"/>
              </a:rPr>
              <a:t>Gartner</a:t>
            </a:r>
            <a:r>
              <a:rPr lang="zh-CN" altLang="en-US" sz="2800" b="0" dirty="0">
                <a:ea typeface="黑体" pitchFamily="49" charset="-122"/>
              </a:rPr>
              <a:t>）</a:t>
            </a:r>
          </a:p>
        </p:txBody>
      </p:sp>
      <p:sp>
        <p:nvSpPr>
          <p:cNvPr id="6" name="圆角矩形 5"/>
          <p:cNvSpPr>
            <a:spLocks noChangeArrowheads="1"/>
          </p:cNvSpPr>
          <p:nvPr/>
        </p:nvSpPr>
        <p:spPr bwMode="auto">
          <a:xfrm>
            <a:off x="2357422" y="1571612"/>
            <a:ext cx="4814888" cy="1857375"/>
          </a:xfrm>
          <a:prstGeom prst="roundRect">
            <a:avLst>
              <a:gd name="adj" fmla="val 16667"/>
            </a:avLst>
          </a:prstGeom>
          <a:solidFill>
            <a:srgbClr val="DDEFF9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63500" dist="381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Lucida Sans Unicode" pitchFamily="34" charset="0"/>
                <a:ea typeface="黑体" pitchFamily="49" charset="-122"/>
              </a:rPr>
              <a:t>大数据到底是什么？ </a:t>
            </a:r>
            <a:endParaRPr lang="en-US" altLang="zh-CN" sz="2800" dirty="0">
              <a:solidFill>
                <a:srgbClr val="FF0000"/>
              </a:solidFill>
              <a:latin typeface="Lucida Sans Unicode" pitchFamily="34" charset="0"/>
              <a:ea typeface="黑体" pitchFamily="49" charset="-122"/>
            </a:endParaRPr>
          </a:p>
          <a:p>
            <a:pPr algn="ctr"/>
            <a:r>
              <a:rPr lang="zh-CN" altLang="en-US" sz="2800" dirty="0">
                <a:solidFill>
                  <a:srgbClr val="FF0000"/>
                </a:solidFill>
                <a:latin typeface="Lucida Sans Unicode" pitchFamily="34" charset="0"/>
                <a:ea typeface="黑体" pitchFamily="49" charset="-122"/>
              </a:rPr>
              <a:t>大数据有什么特点？</a:t>
            </a:r>
          </a:p>
        </p:txBody>
      </p:sp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3607464"/>
            <a:ext cx="3352800" cy="2259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</p:pic>
      <p:pic>
        <p:nvPicPr>
          <p:cNvPr id="8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CB3FF111-34DA-7347-8738-C83A756C7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Deluge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 t="10304" b="10304"/>
          <a:stretch>
            <a:fillRect/>
          </a:stretch>
        </p:blipFill>
        <p:spPr>
          <a:xfrm>
            <a:off x="31718" y="1790683"/>
            <a:ext cx="2593975" cy="1427162"/>
          </a:xfrm>
        </p:spPr>
      </p:pic>
      <p:sp>
        <p:nvSpPr>
          <p:cNvPr id="6" name="文本框 10"/>
          <p:cNvSpPr txBox="1">
            <a:spLocks noChangeArrowheads="1"/>
          </p:cNvSpPr>
          <p:nvPr/>
        </p:nvSpPr>
        <p:spPr bwMode="auto">
          <a:xfrm>
            <a:off x="-9557" y="1201720"/>
            <a:ext cx="28559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800">
                <a:latin typeface="Gill Sans" charset="0"/>
              </a:rPr>
              <a:t>Social Network</a:t>
            </a:r>
            <a:endParaRPr kumimoji="1" lang="zh-CN" altLang="en-US" sz="2800">
              <a:latin typeface="Gill Sans" charset="0"/>
            </a:endParaRPr>
          </a:p>
        </p:txBody>
      </p:sp>
      <p:grpSp>
        <p:nvGrpSpPr>
          <p:cNvPr id="7" name="组 19"/>
          <p:cNvGrpSpPr>
            <a:grpSpLocks/>
          </p:cNvGrpSpPr>
          <p:nvPr/>
        </p:nvGrpSpPr>
        <p:grpSpPr bwMode="auto">
          <a:xfrm>
            <a:off x="5513355" y="3968733"/>
            <a:ext cx="3822700" cy="2312987"/>
            <a:chOff x="5620313" y="4161664"/>
            <a:chExt cx="3528486" cy="2311829"/>
          </a:xfrm>
        </p:grpSpPr>
        <p:pic>
          <p:nvPicPr>
            <p:cNvPr id="8" name="图片 9"/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160780" y="4710530"/>
              <a:ext cx="2404040" cy="1762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文本框 11"/>
            <p:cNvSpPr txBox="1">
              <a:spLocks noChangeArrowheads="1"/>
            </p:cNvSpPr>
            <p:nvPr/>
          </p:nvSpPr>
          <p:spPr bwMode="auto">
            <a:xfrm>
              <a:off x="5620313" y="4161664"/>
              <a:ext cx="3528486" cy="522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2800">
                  <a:latin typeface="Gill Sans" charset="0"/>
                </a:rPr>
                <a:t>Business Intelligence</a:t>
              </a:r>
              <a:endParaRPr kumimoji="1" lang="zh-CN" altLang="en-US" sz="2800">
                <a:latin typeface="Gill Sans" charset="0"/>
              </a:endParaRPr>
            </a:p>
          </p:txBody>
        </p:sp>
      </p:grpSp>
      <p:grpSp>
        <p:nvGrpSpPr>
          <p:cNvPr id="10" name="组 20"/>
          <p:cNvGrpSpPr>
            <a:grpSpLocks/>
          </p:cNvGrpSpPr>
          <p:nvPr/>
        </p:nvGrpSpPr>
        <p:grpSpPr bwMode="auto">
          <a:xfrm>
            <a:off x="5624480" y="1222358"/>
            <a:ext cx="3700463" cy="2117725"/>
            <a:chOff x="5621117" y="1368932"/>
            <a:chExt cx="3591030" cy="2116942"/>
          </a:xfrm>
        </p:grpSpPr>
        <p:pic>
          <p:nvPicPr>
            <p:cNvPr id="11" name="图片 6"/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093535" y="1368932"/>
              <a:ext cx="2822585" cy="2116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文本框 12"/>
            <p:cNvSpPr txBox="1">
              <a:spLocks noChangeArrowheads="1"/>
            </p:cNvSpPr>
            <p:nvPr/>
          </p:nvSpPr>
          <p:spPr bwMode="auto">
            <a:xfrm>
              <a:off x="5621117" y="1430028"/>
              <a:ext cx="3591030" cy="9537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2800">
                  <a:latin typeface="Gill Sans" charset="0"/>
                </a:rPr>
                <a:t>Scientific Simulation</a:t>
              </a:r>
              <a:endParaRPr kumimoji="1" lang="zh-CN" altLang="en-US" sz="2800">
                <a:latin typeface="Gill Sans" charset="0"/>
              </a:endParaRPr>
            </a:p>
          </p:txBody>
        </p:sp>
      </p:grpSp>
      <p:grpSp>
        <p:nvGrpSpPr>
          <p:cNvPr id="13" name="组 18"/>
          <p:cNvGrpSpPr>
            <a:grpSpLocks/>
          </p:cNvGrpSpPr>
          <p:nvPr/>
        </p:nvGrpSpPr>
        <p:grpSpPr bwMode="auto">
          <a:xfrm>
            <a:off x="7924" y="3970320"/>
            <a:ext cx="2706688" cy="2058988"/>
            <a:chOff x="139680" y="4292088"/>
            <a:chExt cx="2706385" cy="2057918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39680" y="4901240"/>
              <a:ext cx="2672724" cy="14487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253318" y="4292088"/>
              <a:ext cx="2592747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sz="2800">
                  <a:latin typeface="Gill Sans" charset="0"/>
                </a:rPr>
                <a:t>Mobile Apps</a:t>
              </a:r>
              <a:endParaRPr kumimoji="1" lang="zh-CN" altLang="en-US" sz="2800">
                <a:latin typeface="Gill Sans" charset="0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98693" y="2273283"/>
            <a:ext cx="3079750" cy="241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云形 5"/>
          <p:cNvSpPr>
            <a:spLocks noChangeArrowheads="1"/>
          </p:cNvSpPr>
          <p:nvPr/>
        </p:nvSpPr>
        <p:spPr bwMode="auto">
          <a:xfrm>
            <a:off x="2590768" y="1000108"/>
            <a:ext cx="3124240" cy="1357312"/>
          </a:xfrm>
          <a:custGeom>
            <a:avLst/>
            <a:gdLst>
              <a:gd name="T0" fmla="*/ 2147483647 w 43200"/>
              <a:gd name="T1" fmla="*/ 669948749 h 43200"/>
              <a:gd name="T2" fmla="*/ 2147483647 w 43200"/>
              <a:gd name="T3" fmla="*/ 1338471033 h 43200"/>
              <a:gd name="T4" fmla="*/ 46186369 w 43200"/>
              <a:gd name="T5" fmla="*/ 669948749 h 43200"/>
              <a:gd name="T6" fmla="*/ 2147483647 w 43200"/>
              <a:gd name="T7" fmla="*/ 76610302 h 432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5954 w 43200"/>
              <a:gd name="T13" fmla="*/ 6524 h 43200"/>
              <a:gd name="T14" fmla="*/ 34174 w 43200"/>
              <a:gd name="T15" fmla="*/ 34674 h 4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00" h="43200">
                <a:moveTo>
                  <a:pt x="3900" y="14370"/>
                </a:moveTo>
                <a:lnTo>
                  <a:pt x="3899" y="14370"/>
                </a:lnTo>
                <a:cubicBezTo>
                  <a:pt x="3858" y="13959"/>
                  <a:pt x="3838" y="13545"/>
                  <a:pt x="3838" y="13131"/>
                </a:cubicBezTo>
                <a:cubicBezTo>
                  <a:pt x="3838" y="8055"/>
                  <a:pt x="6861" y="3941"/>
                  <a:pt x="10591" y="3941"/>
                </a:cubicBezTo>
                <a:cubicBezTo>
                  <a:pt x="11791" y="3941"/>
                  <a:pt x="12969" y="4376"/>
                  <a:pt x="14005" y="5201"/>
                </a:cubicBezTo>
                <a:lnTo>
                  <a:pt x="14005" y="5202"/>
                </a:lnTo>
                <a:cubicBezTo>
                  <a:pt x="14930" y="2828"/>
                  <a:pt x="16742" y="1343"/>
                  <a:pt x="18715" y="1343"/>
                </a:cubicBezTo>
                <a:cubicBezTo>
                  <a:pt x="20114" y="1343"/>
                  <a:pt x="21458" y="2093"/>
                  <a:pt x="22456" y="3431"/>
                </a:cubicBezTo>
                <a:lnTo>
                  <a:pt x="22456" y="3432"/>
                </a:lnTo>
                <a:cubicBezTo>
                  <a:pt x="23194" y="1415"/>
                  <a:pt x="24707" y="140"/>
                  <a:pt x="26362" y="140"/>
                </a:cubicBezTo>
                <a:cubicBezTo>
                  <a:pt x="27723" y="140"/>
                  <a:pt x="29007" y="1006"/>
                  <a:pt x="29832" y="2481"/>
                </a:cubicBezTo>
                <a:lnTo>
                  <a:pt x="29832" y="2480"/>
                </a:lnTo>
                <a:cubicBezTo>
                  <a:pt x="30755" y="1002"/>
                  <a:pt x="32110" y="149"/>
                  <a:pt x="33538" y="149"/>
                </a:cubicBezTo>
                <a:cubicBezTo>
                  <a:pt x="35888" y="149"/>
                  <a:pt x="37901" y="2435"/>
                  <a:pt x="38318" y="5575"/>
                </a:cubicBezTo>
                <a:lnTo>
                  <a:pt x="38317" y="5576"/>
                </a:lnTo>
                <a:cubicBezTo>
                  <a:pt x="40639" y="6438"/>
                  <a:pt x="42250" y="9313"/>
                  <a:pt x="42250" y="12594"/>
                </a:cubicBezTo>
                <a:cubicBezTo>
                  <a:pt x="42250" y="13579"/>
                  <a:pt x="42103" y="14554"/>
                  <a:pt x="41818" y="15460"/>
                </a:cubicBezTo>
                <a:lnTo>
                  <a:pt x="41818" y="15459"/>
                </a:lnTo>
                <a:cubicBezTo>
                  <a:pt x="42727" y="17070"/>
                  <a:pt x="43220" y="19044"/>
                  <a:pt x="43220" y="21076"/>
                </a:cubicBezTo>
                <a:cubicBezTo>
                  <a:pt x="43220" y="25663"/>
                  <a:pt x="40741" y="29553"/>
                  <a:pt x="37404" y="30203"/>
                </a:cubicBezTo>
                <a:lnTo>
                  <a:pt x="37403" y="30202"/>
                </a:lnTo>
                <a:cubicBezTo>
                  <a:pt x="37378" y="34523"/>
                  <a:pt x="34795" y="38006"/>
                  <a:pt x="31619" y="38006"/>
                </a:cubicBezTo>
                <a:cubicBezTo>
                  <a:pt x="30535" y="38006"/>
                  <a:pt x="29474" y="37593"/>
                  <a:pt x="28555" y="36813"/>
                </a:cubicBezTo>
                <a:lnTo>
                  <a:pt x="28556" y="36813"/>
                </a:lnTo>
                <a:cubicBezTo>
                  <a:pt x="27694" y="40699"/>
                  <a:pt x="25069" y="43357"/>
                  <a:pt x="22094" y="43357"/>
                </a:cubicBezTo>
                <a:cubicBezTo>
                  <a:pt x="19839" y="43357"/>
                  <a:pt x="17733" y="41821"/>
                  <a:pt x="16480" y="39263"/>
                </a:cubicBezTo>
                <a:lnTo>
                  <a:pt x="16480" y="39264"/>
                </a:lnTo>
                <a:cubicBezTo>
                  <a:pt x="15279" y="40250"/>
                  <a:pt x="13904" y="40770"/>
                  <a:pt x="12503" y="40770"/>
                </a:cubicBezTo>
                <a:cubicBezTo>
                  <a:pt x="9735" y="40770"/>
                  <a:pt x="7180" y="38748"/>
                  <a:pt x="5804" y="35469"/>
                </a:cubicBezTo>
                <a:lnTo>
                  <a:pt x="5803" y="35469"/>
                </a:lnTo>
                <a:cubicBezTo>
                  <a:pt x="5635" y="35496"/>
                  <a:pt x="5465" y="35509"/>
                  <a:pt x="5296" y="35509"/>
                </a:cubicBezTo>
                <a:cubicBezTo>
                  <a:pt x="2888" y="35510"/>
                  <a:pt x="936" y="32860"/>
                  <a:pt x="936" y="29592"/>
                </a:cubicBezTo>
                <a:cubicBezTo>
                  <a:pt x="936" y="28090"/>
                  <a:pt x="1356" y="26644"/>
                  <a:pt x="2112" y="25547"/>
                </a:cubicBezTo>
                <a:lnTo>
                  <a:pt x="2113" y="25547"/>
                </a:lnTo>
                <a:cubicBezTo>
                  <a:pt x="781" y="24481"/>
                  <a:pt x="-36" y="22528"/>
                  <a:pt x="-36" y="20418"/>
                </a:cubicBezTo>
                <a:cubicBezTo>
                  <a:pt x="-36" y="17370"/>
                  <a:pt x="1647" y="14817"/>
                  <a:pt x="3863" y="14504"/>
                </a:cubicBezTo>
                <a:lnTo>
                  <a:pt x="3900" y="14370"/>
                </a:lnTo>
                <a:close/>
              </a:path>
              <a:path w="43200" h="43200" fill="none">
                <a:moveTo>
                  <a:pt x="4693" y="26177"/>
                </a:moveTo>
                <a:lnTo>
                  <a:pt x="4693" y="26177"/>
                </a:lnTo>
                <a:cubicBezTo>
                  <a:pt x="4580" y="26189"/>
                  <a:pt x="4468" y="26194"/>
                  <a:pt x="4356" y="26194"/>
                </a:cubicBezTo>
                <a:cubicBezTo>
                  <a:pt x="3584" y="26194"/>
                  <a:pt x="2826" y="25913"/>
                  <a:pt x="2160" y="25379"/>
                </a:cubicBezTo>
                <a:moveTo>
                  <a:pt x="6928" y="34899"/>
                </a:moveTo>
                <a:lnTo>
                  <a:pt x="6927" y="34898"/>
                </a:lnTo>
                <a:cubicBezTo>
                  <a:pt x="6572" y="35091"/>
                  <a:pt x="6200" y="35219"/>
                  <a:pt x="5820" y="35280"/>
                </a:cubicBezTo>
                <a:moveTo>
                  <a:pt x="16478" y="39090"/>
                </a:moveTo>
                <a:lnTo>
                  <a:pt x="16477" y="39090"/>
                </a:lnTo>
                <a:cubicBezTo>
                  <a:pt x="16210" y="38544"/>
                  <a:pt x="15986" y="37960"/>
                  <a:pt x="15809" y="37350"/>
                </a:cubicBezTo>
                <a:moveTo>
                  <a:pt x="28827" y="34751"/>
                </a:moveTo>
                <a:lnTo>
                  <a:pt x="28826" y="34750"/>
                </a:lnTo>
                <a:cubicBezTo>
                  <a:pt x="28787" y="35398"/>
                  <a:pt x="28698" y="36038"/>
                  <a:pt x="28560" y="36660"/>
                </a:cubicBezTo>
                <a:moveTo>
                  <a:pt x="34129" y="22954"/>
                </a:moveTo>
                <a:lnTo>
                  <a:pt x="34128" y="22954"/>
                </a:lnTo>
                <a:cubicBezTo>
                  <a:pt x="36118" y="24271"/>
                  <a:pt x="37381" y="27017"/>
                  <a:pt x="37381" y="30027"/>
                </a:cubicBezTo>
                <a:cubicBezTo>
                  <a:pt x="37381" y="30048"/>
                  <a:pt x="37380" y="30069"/>
                  <a:pt x="37380" y="30090"/>
                </a:cubicBezTo>
                <a:moveTo>
                  <a:pt x="41798" y="15354"/>
                </a:moveTo>
                <a:lnTo>
                  <a:pt x="41798" y="15354"/>
                </a:ln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lnTo>
                  <a:pt x="38324" y="5425"/>
                </a:lnTo>
                <a:cubicBezTo>
                  <a:pt x="38375" y="5811"/>
                  <a:pt x="38401" y="6202"/>
                  <a:pt x="38401" y="6595"/>
                </a:cubicBezTo>
                <a:cubicBezTo>
                  <a:pt x="38401" y="6626"/>
                  <a:pt x="38400" y="6658"/>
                  <a:pt x="38400" y="6690"/>
                </a:cubicBezTo>
                <a:moveTo>
                  <a:pt x="29078" y="3952"/>
                </a:moveTo>
                <a:lnTo>
                  <a:pt x="29078" y="3952"/>
                </a:lnTo>
                <a:cubicBezTo>
                  <a:pt x="29266" y="3369"/>
                  <a:pt x="29516" y="2826"/>
                  <a:pt x="29820" y="2340"/>
                </a:cubicBezTo>
                <a:moveTo>
                  <a:pt x="22141" y="4720"/>
                </a:moveTo>
                <a:lnTo>
                  <a:pt x="22140" y="4719"/>
                </a:lnTo>
                <a:cubicBezTo>
                  <a:pt x="22217" y="4238"/>
                  <a:pt x="22338" y="3771"/>
                  <a:pt x="22500" y="3330"/>
                </a:cubicBezTo>
                <a:moveTo>
                  <a:pt x="14000" y="5192"/>
                </a:moveTo>
                <a:lnTo>
                  <a:pt x="14000" y="5191"/>
                </a:lnTo>
                <a:cubicBezTo>
                  <a:pt x="14471" y="5568"/>
                  <a:pt x="14908" y="6020"/>
                  <a:pt x="15299" y="6540"/>
                </a:cubicBezTo>
                <a:moveTo>
                  <a:pt x="4127" y="15789"/>
                </a:moveTo>
                <a:lnTo>
                  <a:pt x="4127" y="15788"/>
                </a:lnTo>
                <a:cubicBezTo>
                  <a:pt x="4024" y="15324"/>
                  <a:pt x="3948" y="14850"/>
                  <a:pt x="3900" y="14369"/>
                </a:cubicBezTo>
              </a:path>
            </a:pathLst>
          </a:cu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kumimoji="1" lang="en-US" altLang="zh-CN" sz="2400" b="1" dirty="0">
                <a:solidFill>
                  <a:srgbClr val="FFFFFF"/>
                </a:solidFill>
                <a:latin typeface="Gill Sans" charset="0"/>
              </a:rPr>
              <a:t>2,300 tweets per second</a:t>
            </a:r>
            <a:endParaRPr kumimoji="1" lang="zh-CN" altLang="en-US" sz="2400" b="1" dirty="0">
              <a:solidFill>
                <a:srgbClr val="FFFFFF"/>
              </a:solidFill>
              <a:latin typeface="Gill Sans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448143" y="4289408"/>
            <a:ext cx="1100137" cy="50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zh-CN" altLang="en-US">
              <a:solidFill>
                <a:srgbClr val="FFFFFF"/>
              </a:solidFill>
              <a:cs typeface="宋体" charset="0"/>
            </a:endParaRPr>
          </a:p>
        </p:txBody>
      </p:sp>
      <p:sp>
        <p:nvSpPr>
          <p:cNvPr id="19" name="云形 22"/>
          <p:cNvSpPr>
            <a:spLocks noChangeArrowheads="1"/>
          </p:cNvSpPr>
          <p:nvPr/>
        </p:nvSpPr>
        <p:spPr bwMode="auto">
          <a:xfrm>
            <a:off x="2500298" y="4786322"/>
            <a:ext cx="3786214" cy="1360487"/>
          </a:xfrm>
          <a:custGeom>
            <a:avLst/>
            <a:gdLst>
              <a:gd name="T0" fmla="*/ 2147483647 w 43200"/>
              <a:gd name="T1" fmla="*/ 674661630 h 43200"/>
              <a:gd name="T2" fmla="*/ 2147483647 w 43200"/>
              <a:gd name="T3" fmla="*/ 1347885174 h 43200"/>
              <a:gd name="T4" fmla="*/ 58300760 w 43200"/>
              <a:gd name="T5" fmla="*/ 674661630 h 43200"/>
              <a:gd name="T6" fmla="*/ 2147483647 w 43200"/>
              <a:gd name="T7" fmla="*/ 77148651 h 432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5954 w 43200"/>
              <a:gd name="T13" fmla="*/ 6524 h 43200"/>
              <a:gd name="T14" fmla="*/ 34174 w 43200"/>
              <a:gd name="T15" fmla="*/ 34674 h 4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00" h="43200">
                <a:moveTo>
                  <a:pt x="3900" y="14370"/>
                </a:moveTo>
                <a:lnTo>
                  <a:pt x="3899" y="14370"/>
                </a:lnTo>
                <a:cubicBezTo>
                  <a:pt x="3858" y="13959"/>
                  <a:pt x="3838" y="13545"/>
                  <a:pt x="3838" y="13131"/>
                </a:cubicBezTo>
                <a:cubicBezTo>
                  <a:pt x="3838" y="8055"/>
                  <a:pt x="6861" y="3941"/>
                  <a:pt x="10591" y="3941"/>
                </a:cubicBezTo>
                <a:cubicBezTo>
                  <a:pt x="11791" y="3941"/>
                  <a:pt x="12969" y="4376"/>
                  <a:pt x="14005" y="5201"/>
                </a:cubicBezTo>
                <a:lnTo>
                  <a:pt x="14005" y="5202"/>
                </a:lnTo>
                <a:cubicBezTo>
                  <a:pt x="14930" y="2828"/>
                  <a:pt x="16742" y="1343"/>
                  <a:pt x="18715" y="1343"/>
                </a:cubicBezTo>
                <a:cubicBezTo>
                  <a:pt x="20114" y="1343"/>
                  <a:pt x="21458" y="2093"/>
                  <a:pt x="22456" y="3431"/>
                </a:cubicBezTo>
                <a:lnTo>
                  <a:pt x="22456" y="3432"/>
                </a:lnTo>
                <a:cubicBezTo>
                  <a:pt x="23194" y="1415"/>
                  <a:pt x="24707" y="140"/>
                  <a:pt x="26362" y="140"/>
                </a:cubicBezTo>
                <a:cubicBezTo>
                  <a:pt x="27723" y="140"/>
                  <a:pt x="29007" y="1006"/>
                  <a:pt x="29832" y="2481"/>
                </a:cubicBezTo>
                <a:lnTo>
                  <a:pt x="29832" y="2480"/>
                </a:lnTo>
                <a:cubicBezTo>
                  <a:pt x="30755" y="1002"/>
                  <a:pt x="32110" y="149"/>
                  <a:pt x="33538" y="149"/>
                </a:cubicBezTo>
                <a:cubicBezTo>
                  <a:pt x="35888" y="149"/>
                  <a:pt x="37901" y="2435"/>
                  <a:pt x="38318" y="5575"/>
                </a:cubicBezTo>
                <a:lnTo>
                  <a:pt x="38317" y="5576"/>
                </a:lnTo>
                <a:cubicBezTo>
                  <a:pt x="40639" y="6438"/>
                  <a:pt x="42250" y="9313"/>
                  <a:pt x="42250" y="12594"/>
                </a:cubicBezTo>
                <a:cubicBezTo>
                  <a:pt x="42250" y="13579"/>
                  <a:pt x="42103" y="14554"/>
                  <a:pt x="41818" y="15460"/>
                </a:cubicBezTo>
                <a:lnTo>
                  <a:pt x="41818" y="15459"/>
                </a:lnTo>
                <a:cubicBezTo>
                  <a:pt x="42727" y="17070"/>
                  <a:pt x="43220" y="19044"/>
                  <a:pt x="43220" y="21076"/>
                </a:cubicBezTo>
                <a:cubicBezTo>
                  <a:pt x="43220" y="25663"/>
                  <a:pt x="40741" y="29553"/>
                  <a:pt x="37404" y="30203"/>
                </a:cubicBezTo>
                <a:lnTo>
                  <a:pt x="37403" y="30202"/>
                </a:lnTo>
                <a:cubicBezTo>
                  <a:pt x="37378" y="34523"/>
                  <a:pt x="34795" y="38006"/>
                  <a:pt x="31619" y="38006"/>
                </a:cubicBezTo>
                <a:cubicBezTo>
                  <a:pt x="30535" y="38006"/>
                  <a:pt x="29474" y="37593"/>
                  <a:pt x="28555" y="36813"/>
                </a:cubicBezTo>
                <a:lnTo>
                  <a:pt x="28556" y="36813"/>
                </a:lnTo>
                <a:cubicBezTo>
                  <a:pt x="27694" y="40699"/>
                  <a:pt x="25069" y="43357"/>
                  <a:pt x="22094" y="43357"/>
                </a:cubicBezTo>
                <a:cubicBezTo>
                  <a:pt x="19839" y="43357"/>
                  <a:pt x="17733" y="41821"/>
                  <a:pt x="16480" y="39263"/>
                </a:cubicBezTo>
                <a:lnTo>
                  <a:pt x="16480" y="39264"/>
                </a:lnTo>
                <a:cubicBezTo>
                  <a:pt x="15279" y="40250"/>
                  <a:pt x="13904" y="40770"/>
                  <a:pt x="12503" y="40770"/>
                </a:cubicBezTo>
                <a:cubicBezTo>
                  <a:pt x="9735" y="40770"/>
                  <a:pt x="7180" y="38748"/>
                  <a:pt x="5804" y="35469"/>
                </a:cubicBezTo>
                <a:lnTo>
                  <a:pt x="5803" y="35469"/>
                </a:lnTo>
                <a:cubicBezTo>
                  <a:pt x="5635" y="35496"/>
                  <a:pt x="5465" y="35509"/>
                  <a:pt x="5296" y="35509"/>
                </a:cubicBezTo>
                <a:cubicBezTo>
                  <a:pt x="2888" y="35510"/>
                  <a:pt x="936" y="32860"/>
                  <a:pt x="936" y="29592"/>
                </a:cubicBezTo>
                <a:cubicBezTo>
                  <a:pt x="936" y="28090"/>
                  <a:pt x="1356" y="26644"/>
                  <a:pt x="2112" y="25547"/>
                </a:cubicBezTo>
                <a:lnTo>
                  <a:pt x="2113" y="25547"/>
                </a:lnTo>
                <a:cubicBezTo>
                  <a:pt x="781" y="24481"/>
                  <a:pt x="-36" y="22528"/>
                  <a:pt x="-36" y="20418"/>
                </a:cubicBezTo>
                <a:cubicBezTo>
                  <a:pt x="-36" y="17370"/>
                  <a:pt x="1647" y="14817"/>
                  <a:pt x="3863" y="14504"/>
                </a:cubicBezTo>
                <a:lnTo>
                  <a:pt x="3900" y="14370"/>
                </a:lnTo>
                <a:close/>
              </a:path>
              <a:path w="43200" h="43200" fill="none">
                <a:moveTo>
                  <a:pt x="4693" y="26177"/>
                </a:moveTo>
                <a:lnTo>
                  <a:pt x="4693" y="26177"/>
                </a:lnTo>
                <a:cubicBezTo>
                  <a:pt x="4580" y="26189"/>
                  <a:pt x="4468" y="26194"/>
                  <a:pt x="4356" y="26194"/>
                </a:cubicBezTo>
                <a:cubicBezTo>
                  <a:pt x="3584" y="26194"/>
                  <a:pt x="2826" y="25913"/>
                  <a:pt x="2160" y="25379"/>
                </a:cubicBezTo>
                <a:moveTo>
                  <a:pt x="6928" y="34899"/>
                </a:moveTo>
                <a:lnTo>
                  <a:pt x="6927" y="34898"/>
                </a:lnTo>
                <a:cubicBezTo>
                  <a:pt x="6572" y="35091"/>
                  <a:pt x="6200" y="35219"/>
                  <a:pt x="5820" y="35280"/>
                </a:cubicBezTo>
                <a:moveTo>
                  <a:pt x="16478" y="39090"/>
                </a:moveTo>
                <a:lnTo>
                  <a:pt x="16477" y="39090"/>
                </a:lnTo>
                <a:cubicBezTo>
                  <a:pt x="16210" y="38544"/>
                  <a:pt x="15986" y="37960"/>
                  <a:pt x="15809" y="37350"/>
                </a:cubicBezTo>
                <a:moveTo>
                  <a:pt x="28827" y="34751"/>
                </a:moveTo>
                <a:lnTo>
                  <a:pt x="28826" y="34750"/>
                </a:lnTo>
                <a:cubicBezTo>
                  <a:pt x="28787" y="35398"/>
                  <a:pt x="28698" y="36038"/>
                  <a:pt x="28560" y="36660"/>
                </a:cubicBezTo>
                <a:moveTo>
                  <a:pt x="34129" y="22954"/>
                </a:moveTo>
                <a:lnTo>
                  <a:pt x="34128" y="22954"/>
                </a:lnTo>
                <a:cubicBezTo>
                  <a:pt x="36118" y="24271"/>
                  <a:pt x="37381" y="27017"/>
                  <a:pt x="37381" y="30027"/>
                </a:cubicBezTo>
                <a:cubicBezTo>
                  <a:pt x="37381" y="30048"/>
                  <a:pt x="37380" y="30069"/>
                  <a:pt x="37380" y="30090"/>
                </a:cubicBezTo>
                <a:moveTo>
                  <a:pt x="41798" y="15354"/>
                </a:moveTo>
                <a:lnTo>
                  <a:pt x="41798" y="15354"/>
                </a:ln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lnTo>
                  <a:pt x="38324" y="5425"/>
                </a:lnTo>
                <a:cubicBezTo>
                  <a:pt x="38375" y="5811"/>
                  <a:pt x="38401" y="6202"/>
                  <a:pt x="38401" y="6595"/>
                </a:cubicBezTo>
                <a:cubicBezTo>
                  <a:pt x="38401" y="6626"/>
                  <a:pt x="38400" y="6658"/>
                  <a:pt x="38400" y="6690"/>
                </a:cubicBezTo>
                <a:moveTo>
                  <a:pt x="29078" y="3952"/>
                </a:moveTo>
                <a:lnTo>
                  <a:pt x="29078" y="3952"/>
                </a:lnTo>
                <a:cubicBezTo>
                  <a:pt x="29266" y="3369"/>
                  <a:pt x="29516" y="2826"/>
                  <a:pt x="29820" y="2340"/>
                </a:cubicBezTo>
                <a:moveTo>
                  <a:pt x="22141" y="4720"/>
                </a:moveTo>
                <a:lnTo>
                  <a:pt x="22140" y="4719"/>
                </a:lnTo>
                <a:cubicBezTo>
                  <a:pt x="22217" y="4238"/>
                  <a:pt x="22338" y="3771"/>
                  <a:pt x="22500" y="3330"/>
                </a:cubicBezTo>
                <a:moveTo>
                  <a:pt x="14000" y="5192"/>
                </a:moveTo>
                <a:lnTo>
                  <a:pt x="14000" y="5191"/>
                </a:lnTo>
                <a:cubicBezTo>
                  <a:pt x="14471" y="5568"/>
                  <a:pt x="14908" y="6020"/>
                  <a:pt x="15299" y="6540"/>
                </a:cubicBezTo>
                <a:moveTo>
                  <a:pt x="4127" y="15789"/>
                </a:moveTo>
                <a:lnTo>
                  <a:pt x="4127" y="15788"/>
                </a:lnTo>
                <a:cubicBezTo>
                  <a:pt x="4024" y="15324"/>
                  <a:pt x="3948" y="14850"/>
                  <a:pt x="3900" y="14369"/>
                </a:cubicBezTo>
              </a:path>
            </a:pathLst>
          </a:custGeom>
          <a:gradFill rotWithShape="1"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kumimoji="1" lang="en-US" altLang="zh-CN" sz="2400" b="1" dirty="0">
                <a:solidFill>
                  <a:srgbClr val="FFFFFF"/>
                </a:solidFill>
                <a:latin typeface="Gill Sans" charset="0"/>
              </a:rPr>
              <a:t>275 EB data </a:t>
            </a:r>
          </a:p>
          <a:p>
            <a:pPr algn="ctr">
              <a:defRPr/>
            </a:pPr>
            <a:r>
              <a:rPr kumimoji="1" lang="en-US" altLang="zh-CN" sz="2400" b="1" dirty="0">
                <a:solidFill>
                  <a:srgbClr val="FFFFFF"/>
                </a:solidFill>
                <a:latin typeface="Gill Sans" charset="0"/>
              </a:rPr>
              <a:t>flowing per day in 2020</a:t>
            </a:r>
            <a:endParaRPr kumimoji="1" lang="zh-CN" altLang="en-US" sz="2400" b="1" dirty="0">
              <a:solidFill>
                <a:srgbClr val="FFFFFF"/>
              </a:solidFill>
              <a:latin typeface="Gill Sans" charset="0"/>
            </a:endParaRPr>
          </a:p>
        </p:txBody>
      </p:sp>
      <p:pic>
        <p:nvPicPr>
          <p:cNvPr id="21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20B62673-0CDE-4D45-B6EC-610AE387D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5" name="图片 4" descr="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158" y="1357298"/>
            <a:ext cx="8526839" cy="4572032"/>
          </a:xfrm>
          <a:prstGeom prst="rect">
            <a:avLst/>
          </a:prstGeom>
        </p:spPr>
      </p:pic>
      <p:pic>
        <p:nvPicPr>
          <p:cNvPr id="7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37CE6C3B-2E2C-9E4A-8893-2D6FDBF6D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012" y="857232"/>
            <a:ext cx="8644268" cy="54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3FFEB44C-F781-2D4F-84F6-F462684A2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大量（</a:t>
            </a:r>
            <a:r>
              <a:rPr lang="en-US" altLang="zh-CN" dirty="0"/>
              <a:t>Volume</a:t>
            </a:r>
            <a:r>
              <a:rPr lang="zh-CN" altLang="en-US" dirty="0"/>
              <a:t>）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7158" y="1214422"/>
            <a:ext cx="821537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en-US" altLang="zh-CN" sz="2800" dirty="0">
                <a:latin typeface="+mn-ea"/>
              </a:rPr>
              <a:t>2010</a:t>
            </a:r>
            <a:r>
              <a:rPr lang="zh-CN" altLang="en-US" sz="2800" dirty="0">
                <a:latin typeface="+mn-ea"/>
              </a:rPr>
              <a:t>年，全球数据量已达</a:t>
            </a:r>
            <a:r>
              <a:rPr lang="en-US" altLang="zh-CN" sz="2800" dirty="0">
                <a:latin typeface="+mn-ea"/>
              </a:rPr>
              <a:t>1.2ZB</a:t>
            </a:r>
            <a:r>
              <a:rPr lang="zh-CN" altLang="en-US" sz="2800" dirty="0">
                <a:latin typeface="+mn-ea"/>
              </a:rPr>
              <a:t>，到</a:t>
            </a:r>
            <a:r>
              <a:rPr lang="en-US" altLang="zh-CN" sz="2800" dirty="0">
                <a:latin typeface="+mn-ea"/>
              </a:rPr>
              <a:t>2020</a:t>
            </a:r>
            <a:r>
              <a:rPr lang="zh-CN" altLang="en-US" sz="2800" dirty="0">
                <a:latin typeface="+mn-ea"/>
              </a:rPr>
              <a:t>年将暴增</a:t>
            </a:r>
            <a:r>
              <a:rPr lang="en-US" altLang="zh-CN" sz="2800" dirty="0">
                <a:latin typeface="+mn-ea"/>
              </a:rPr>
              <a:t>30</a:t>
            </a:r>
            <a:r>
              <a:rPr lang="zh-CN" altLang="en-US" sz="2800" dirty="0">
                <a:latin typeface="+mn-ea"/>
              </a:rPr>
              <a:t>倍达</a:t>
            </a:r>
            <a:r>
              <a:rPr lang="en-US" altLang="zh-CN" sz="2800" b="1" dirty="0">
                <a:latin typeface="+mn-ea"/>
              </a:rPr>
              <a:t>35ZB</a:t>
            </a:r>
            <a:r>
              <a:rPr lang="zh-CN" altLang="en-US" sz="2800" dirty="0">
                <a:latin typeface="+mn-ea"/>
              </a:rPr>
              <a:t>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AB66FE-6072-494A-993C-102A15FD9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037" y="2708920"/>
            <a:ext cx="6411925" cy="3812496"/>
          </a:xfrm>
          <a:prstGeom prst="rect">
            <a:avLst/>
          </a:prstGeom>
        </p:spPr>
      </p:pic>
      <p:pic>
        <p:nvPicPr>
          <p:cNvPr id="1026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0543E735-32DD-404E-9085-47CCCEC6D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9505" y="6102722"/>
            <a:ext cx="782618" cy="755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大量（</a:t>
            </a:r>
            <a:r>
              <a:rPr lang="en-US" altLang="zh-CN" dirty="0"/>
              <a:t>Volume</a:t>
            </a:r>
            <a:r>
              <a:rPr lang="zh-CN" altLang="en-US" dirty="0"/>
              <a:t>）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7158" y="1214422"/>
            <a:ext cx="8215370" cy="2046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+mn-ea"/>
              </a:rPr>
              <a:t>解决大量的数据存储问题：</a:t>
            </a:r>
            <a:endParaRPr lang="en-US" altLang="zh-CN" sz="2800" dirty="0">
              <a:latin typeface="+mn-ea"/>
            </a:endParaRPr>
          </a:p>
          <a:p>
            <a:pPr marL="1200150" lvl="2" indent="-2857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+mn-ea"/>
              </a:rPr>
              <a:t>新型的大容量磁盘；</a:t>
            </a:r>
            <a:endParaRPr lang="en-US" altLang="zh-CN" sz="2800" dirty="0">
              <a:latin typeface="+mn-ea"/>
            </a:endParaRPr>
          </a:p>
          <a:p>
            <a:pPr marL="1200150" lvl="2" indent="-2857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+mn-ea"/>
              </a:rPr>
              <a:t>分布式存储技术；</a:t>
            </a:r>
            <a:endParaRPr lang="en-US" altLang="zh-CN" sz="2800" dirty="0">
              <a:latin typeface="+mn-ea"/>
            </a:endParaRPr>
          </a:p>
          <a:p>
            <a:pPr marL="1200150" lvl="2" indent="-285750"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+mn-ea"/>
              </a:rPr>
              <a:t>数据精简技术（压缩和重删技术）；</a:t>
            </a:r>
            <a:endParaRPr lang="en-US" altLang="zh-CN" sz="2800" dirty="0">
              <a:latin typeface="+mn-ea"/>
            </a:endParaRP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3433774"/>
            <a:ext cx="649605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图片 7" descr="dedup_mini_0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86380" y="3848658"/>
            <a:ext cx="1836204" cy="2937928"/>
          </a:xfrm>
          <a:prstGeom prst="rect">
            <a:avLst/>
          </a:prstGeom>
        </p:spPr>
      </p:pic>
      <p:pic>
        <p:nvPicPr>
          <p:cNvPr id="9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ED0046F2-20ED-C848-895E-588795CDA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快速化（</a:t>
            </a:r>
            <a:r>
              <a:rPr lang="en-US" altLang="zh-CN" dirty="0"/>
              <a:t>Velocity</a:t>
            </a:r>
            <a:r>
              <a:rPr lang="zh-CN" altLang="en-US" dirty="0"/>
              <a:t>）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7158" y="1214422"/>
            <a:ext cx="8215370" cy="1723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+mn-ea"/>
              </a:rPr>
              <a:t>从数据的生成到消耗，时间窗口非常小！</a:t>
            </a:r>
            <a:endParaRPr lang="en-US" altLang="zh-CN" sz="2800" dirty="0">
              <a:latin typeface="+mn-ea"/>
            </a:endParaRPr>
          </a:p>
          <a:p>
            <a:pPr marL="1200150" lvl="2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sz="2400" dirty="0">
                <a:latin typeface="+mn-ea"/>
              </a:rPr>
              <a:t>数据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产生</a:t>
            </a:r>
            <a:r>
              <a:rPr lang="zh-CN" altLang="en-US" sz="2400" dirty="0">
                <a:latin typeface="+mn-ea"/>
              </a:rPr>
              <a:t>的速度很快！</a:t>
            </a:r>
            <a:endParaRPr lang="en-US" altLang="zh-CN" sz="2400" dirty="0">
              <a:latin typeface="+mn-ea"/>
            </a:endParaRPr>
          </a:p>
          <a:p>
            <a:pPr marL="1200150" lvl="2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sz="2400" dirty="0">
                <a:latin typeface="+mn-ea"/>
              </a:rPr>
              <a:t>数据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处理</a:t>
            </a:r>
            <a:r>
              <a:rPr lang="zh-CN" altLang="en-US" sz="2400" dirty="0">
                <a:latin typeface="+mn-ea"/>
              </a:rPr>
              <a:t>的速度要求很快！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3429000"/>
            <a:ext cx="6891329" cy="2429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E66A748C-1CFF-EC42-8996-300308BE2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快速化（</a:t>
            </a:r>
            <a:r>
              <a:rPr lang="en-US" altLang="zh-CN" dirty="0"/>
              <a:t>Velocity</a:t>
            </a:r>
            <a:r>
              <a:rPr lang="zh-CN" altLang="en-US" dirty="0"/>
              <a:t>）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7158" y="1214422"/>
            <a:ext cx="8215370" cy="1723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+mn-ea"/>
              </a:rPr>
              <a:t>提高数据存储和处理的速度：</a:t>
            </a:r>
            <a:endParaRPr lang="en-US" altLang="zh-CN" sz="2800" dirty="0">
              <a:latin typeface="+mn-ea"/>
            </a:endParaRPr>
          </a:p>
          <a:p>
            <a:pPr marL="1200150" lvl="2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sz="2400" dirty="0">
                <a:latin typeface="+mn-ea"/>
              </a:rPr>
              <a:t>新型的数据存储器件；</a:t>
            </a:r>
            <a:endParaRPr lang="en-US" altLang="zh-CN" sz="2400" dirty="0">
              <a:latin typeface="+mn-ea"/>
            </a:endParaRPr>
          </a:p>
          <a:p>
            <a:pPr marL="1200150" lvl="2" indent="-285750">
              <a:spcBef>
                <a:spcPts val="1800"/>
              </a:spcBef>
              <a:buFont typeface="Wingdings" pitchFamily="2" charset="2"/>
              <a:buChar char="ü"/>
            </a:pPr>
            <a:r>
              <a:rPr lang="zh-CN" altLang="en-US" sz="2400" dirty="0">
                <a:latin typeface="+mn-ea"/>
              </a:rPr>
              <a:t>多核处理器和</a:t>
            </a:r>
            <a:r>
              <a:rPr lang="en-US" altLang="zh-CN" sz="2400" dirty="0">
                <a:latin typeface="+mn-ea"/>
              </a:rPr>
              <a:t>GPU</a:t>
            </a:r>
            <a:r>
              <a:rPr lang="zh-CN" altLang="en-US" sz="2400" dirty="0">
                <a:latin typeface="+mn-ea"/>
              </a:rPr>
              <a:t>并行处理技术！</a:t>
            </a:r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2066" y="3643314"/>
            <a:ext cx="3342857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8661" y="3571875"/>
            <a:ext cx="2975510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F541D2D5-52F6-A34A-BB4D-2658E716F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多样性（</a:t>
            </a:r>
            <a:r>
              <a:rPr lang="en-US" altLang="zh-CN" dirty="0"/>
              <a:t>Variety</a:t>
            </a:r>
            <a:r>
              <a:rPr lang="zh-CN" altLang="en-US" dirty="0"/>
              <a:t>）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7158" y="1214422"/>
            <a:ext cx="8215370" cy="1123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2600" dirty="0">
                <a:latin typeface="+mn-ea"/>
              </a:rPr>
              <a:t>数据来源多样：拍摄、语音、点击、传感器等；</a:t>
            </a:r>
            <a:endParaRPr lang="en-US" altLang="zh-CN" sz="2600" dirty="0">
              <a:latin typeface="+mn-ea"/>
            </a:endParaRP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2600" dirty="0">
                <a:latin typeface="+mn-ea"/>
              </a:rPr>
              <a:t>数据格式多样：邮件、语音、图片、视频等！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5984" y="2643182"/>
            <a:ext cx="4383786" cy="4000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9CC56764-23E7-C341-8E78-E6E9D9520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多样性（</a:t>
            </a:r>
            <a:r>
              <a:rPr lang="en-US" altLang="zh-CN" dirty="0"/>
              <a:t>Variety</a:t>
            </a:r>
            <a:r>
              <a:rPr lang="zh-CN" altLang="en-US" dirty="0"/>
              <a:t>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3750" y="1112027"/>
            <a:ext cx="36830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SQL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r>
              <a:rPr lang="zh-CN" altLang="en-US" dirty="0"/>
              <a:t>结构化存储，固定</a:t>
            </a:r>
            <a:r>
              <a:rPr lang="en-US" altLang="zh-CN" dirty="0"/>
              <a:t>Schema</a:t>
            </a:r>
          </a:p>
          <a:p>
            <a:r>
              <a:rPr lang="zh-CN" altLang="en-US" dirty="0"/>
              <a:t>索引</a:t>
            </a:r>
            <a:endParaRPr lang="en-US" altLang="zh-CN" dirty="0"/>
          </a:p>
          <a:p>
            <a:r>
              <a:rPr lang="zh-CN" altLang="en-US" dirty="0"/>
              <a:t>标准化查询语言</a:t>
            </a:r>
            <a:endParaRPr lang="en-US" altLang="zh-CN" dirty="0"/>
          </a:p>
          <a:p>
            <a:r>
              <a:rPr lang="en-US" altLang="zh-CN" dirty="0"/>
              <a:t>ACID</a:t>
            </a:r>
          </a:p>
          <a:p>
            <a:r>
              <a:rPr lang="zh-CN" altLang="en-US" dirty="0"/>
              <a:t>扩展性弱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42844" y="3929066"/>
            <a:ext cx="42735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NoSQL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r>
              <a:rPr lang="en-US" altLang="zh-CN" dirty="0"/>
              <a:t>Schema</a:t>
            </a:r>
            <a:r>
              <a:rPr lang="zh-CN" altLang="en-US" dirty="0"/>
              <a:t>不固定，可以动态改变</a:t>
            </a:r>
            <a:endParaRPr lang="en-US" altLang="zh-CN" dirty="0"/>
          </a:p>
          <a:p>
            <a:r>
              <a:rPr lang="zh-CN" altLang="en-US" dirty="0"/>
              <a:t>没有固定查询语言</a:t>
            </a:r>
            <a:endParaRPr lang="en-US" altLang="zh-CN" dirty="0"/>
          </a:p>
          <a:p>
            <a:r>
              <a:rPr lang="en-US" altLang="zh-CN" dirty="0"/>
              <a:t>BASE </a:t>
            </a:r>
            <a:r>
              <a:rPr lang="zh-CN" altLang="en-US" dirty="0"/>
              <a:t>（</a:t>
            </a:r>
            <a:r>
              <a:rPr lang="en-US" altLang="zh-CN" dirty="0"/>
              <a:t>Basically Available</a:t>
            </a:r>
            <a:r>
              <a:rPr lang="zh-CN" altLang="en-US" dirty="0"/>
              <a:t>， </a:t>
            </a:r>
            <a:r>
              <a:rPr lang="en-US" altLang="zh-CN" dirty="0"/>
              <a:t>Soft State</a:t>
            </a:r>
            <a:r>
              <a:rPr lang="zh-CN" altLang="en-US" dirty="0"/>
              <a:t>， </a:t>
            </a:r>
            <a:r>
              <a:rPr lang="en-US" altLang="zh-CN" dirty="0"/>
              <a:t>Eventually Consistency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最终一致性</a:t>
            </a:r>
            <a:endParaRPr lang="en-US" altLang="zh-CN" dirty="0"/>
          </a:p>
          <a:p>
            <a:r>
              <a:rPr lang="zh-CN" altLang="en-US" dirty="0"/>
              <a:t>可以扩展到很大规模</a:t>
            </a:r>
            <a:endParaRPr lang="en-US" altLang="zh-CN" dirty="0"/>
          </a:p>
          <a:p>
            <a:r>
              <a:rPr lang="zh-CN" altLang="en-US" dirty="0"/>
              <a:t>高容错性</a:t>
            </a: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2" y="3571876"/>
            <a:ext cx="4295915" cy="2362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55" y="981166"/>
            <a:ext cx="1756593" cy="1282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55" y="2303612"/>
            <a:ext cx="2095500" cy="415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220" y="1648999"/>
            <a:ext cx="1620951" cy="1326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55" y="2719386"/>
            <a:ext cx="1905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428728" y="6076329"/>
            <a:ext cx="1142976" cy="781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09A909E5-74AD-2F4D-B110-9BB8C5E11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价值（</a:t>
            </a:r>
            <a:r>
              <a:rPr lang="en-US" altLang="zh-CN" dirty="0"/>
              <a:t>Value</a:t>
            </a:r>
            <a:r>
              <a:rPr lang="zh-CN" altLang="en-US" dirty="0"/>
              <a:t>）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57158" y="1214422"/>
            <a:ext cx="8215370" cy="1184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+mn-ea"/>
              </a:rPr>
              <a:t>浪里淘沙却又弥足珍贵！</a:t>
            </a:r>
            <a:endParaRPr lang="en-US" altLang="zh-CN" sz="2800" dirty="0">
              <a:latin typeface="+mn-ea"/>
            </a:endParaRP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2800" dirty="0">
                <a:latin typeface="+mn-ea"/>
              </a:rPr>
              <a:t>大数据助力商业模式和应用创新！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5977" y="3071810"/>
            <a:ext cx="4657725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9B440BF4-DD71-E444-A8ED-D4556F20D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029396"/>
            <a:ext cx="8381595" cy="54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2B54124E-F576-1942-A083-0985E7D58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“V”s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5" name="图片 4" descr="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472" y="1071546"/>
            <a:ext cx="7721408" cy="5072098"/>
          </a:xfrm>
          <a:prstGeom prst="rect">
            <a:avLst/>
          </a:prstGeom>
        </p:spPr>
      </p:pic>
      <p:pic>
        <p:nvPicPr>
          <p:cNvPr id="7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120B9F12-5699-DC45-880E-A85096B42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相关技术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5" name="图片 4" descr="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8596" y="1071546"/>
            <a:ext cx="7858180" cy="5337425"/>
          </a:xfrm>
          <a:prstGeom prst="rect">
            <a:avLst/>
          </a:prstGeom>
        </p:spPr>
      </p:pic>
      <p:pic>
        <p:nvPicPr>
          <p:cNvPr id="7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2E2BCB3C-1853-594D-9F21-B5DEDD608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相关技术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5" name="图片 4" descr="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8596" y="1071546"/>
            <a:ext cx="8143932" cy="5191886"/>
          </a:xfrm>
          <a:prstGeom prst="rect">
            <a:avLst/>
          </a:prstGeom>
        </p:spPr>
      </p:pic>
      <p:pic>
        <p:nvPicPr>
          <p:cNvPr id="7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C098450E-3309-1840-8518-CBAFE9ECF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相关技术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pic>
        <p:nvPicPr>
          <p:cNvPr id="6" name="图片 5" descr="1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3713" y="1214422"/>
            <a:ext cx="7608611" cy="4214842"/>
          </a:xfrm>
          <a:prstGeom prst="rect">
            <a:avLst/>
          </a:prstGeom>
        </p:spPr>
      </p:pic>
      <p:pic>
        <p:nvPicPr>
          <p:cNvPr id="8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CAC505F8-447D-A54A-A02D-8DAA58E5D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数据来源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pic>
        <p:nvPicPr>
          <p:cNvPr id="5" name="图片 4" descr="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472" y="1428736"/>
            <a:ext cx="7609524" cy="4009524"/>
          </a:xfrm>
          <a:prstGeom prst="rect">
            <a:avLst/>
          </a:prstGeom>
        </p:spPr>
      </p:pic>
      <p:pic>
        <p:nvPicPr>
          <p:cNvPr id="7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EAA087A4-1B82-4A43-9EE0-587C466A6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大数据来“缘”与影响</a:t>
            </a:r>
          </a:p>
        </p:txBody>
      </p:sp>
      <p:pic>
        <p:nvPicPr>
          <p:cNvPr id="5" name="内容占位符 4" descr="1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28596" y="1285860"/>
            <a:ext cx="8004459" cy="4643470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pic>
        <p:nvPicPr>
          <p:cNvPr id="7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153B5A6F-7858-1B4A-B964-564B7455C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大数据与云计算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1B80-7C79-41F7-9946-37F518A5652A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pic>
        <p:nvPicPr>
          <p:cNvPr id="5" name="图片 4" descr="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158" y="1571612"/>
            <a:ext cx="8397994" cy="4214842"/>
          </a:xfrm>
          <a:prstGeom prst="rect">
            <a:avLst/>
          </a:prstGeom>
        </p:spPr>
      </p:pic>
      <p:pic>
        <p:nvPicPr>
          <p:cNvPr id="6" name="图片 5" descr="Cloud+BigData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43570" y="1000108"/>
            <a:ext cx="2286496" cy="1819670"/>
          </a:xfrm>
          <a:prstGeom prst="rect">
            <a:avLst/>
          </a:prstGeom>
        </p:spPr>
      </p:pic>
      <p:pic>
        <p:nvPicPr>
          <p:cNvPr id="8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006807B5-3DF5-1643-A4BF-00D2E0A8E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4546" y="928670"/>
            <a:ext cx="4333875" cy="58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/>
          <a:lstStyle/>
          <a:p>
            <a:r>
              <a:rPr lang="zh-CN" altLang="en-US" dirty="0"/>
              <a:t>系统架构技术（</a:t>
            </a:r>
            <a:r>
              <a:rPr lang="en-US" altLang="zh-CN" dirty="0"/>
              <a:t>Infrastructure</a:t>
            </a:r>
            <a:r>
              <a:rPr lang="zh-CN" altLang="en-US" dirty="0"/>
              <a:t>）</a:t>
            </a:r>
          </a:p>
        </p:txBody>
      </p:sp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FC531431-43B9-484E-B53A-30CF28EEA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/>
          <a:lstStyle/>
          <a:p>
            <a:r>
              <a:rPr lang="zh-CN" altLang="en-US" dirty="0"/>
              <a:t>数据分析技术（</a:t>
            </a:r>
            <a:r>
              <a:rPr lang="en-US" altLang="zh-CN" dirty="0"/>
              <a:t>Analytics</a:t>
            </a:r>
            <a:r>
              <a:rPr lang="zh-CN" altLang="en-US" dirty="0"/>
              <a:t>）</a:t>
            </a: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897406"/>
            <a:ext cx="4119563" cy="5922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E786C9A6-6BEF-3C43-AFE4-26AA6F80E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2088"/>
          </a:xfrm>
        </p:spPr>
        <p:txBody>
          <a:bodyPr/>
          <a:lstStyle/>
          <a:p>
            <a:r>
              <a:rPr lang="zh-CN" altLang="en-US" dirty="0"/>
              <a:t>数据应用（</a:t>
            </a:r>
            <a:r>
              <a:rPr lang="en-US" altLang="zh-CN" dirty="0"/>
              <a:t>Applications</a:t>
            </a:r>
            <a:r>
              <a:rPr lang="zh-CN" altLang="en-US" dirty="0"/>
              <a:t>）</a:t>
            </a: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74" y="928670"/>
            <a:ext cx="3774295" cy="5871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5CAEE266-D215-4847-8FE8-819DEC8D9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跨层协作</a:t>
            </a:r>
            <a:r>
              <a:rPr lang="en-US" altLang="zh-CN" dirty="0"/>
              <a:t>/</a:t>
            </a:r>
            <a:r>
              <a:rPr lang="zh-CN" altLang="en-US" dirty="0"/>
              <a:t>数据源</a:t>
            </a:r>
            <a:r>
              <a:rPr lang="en-US" altLang="zh-CN" dirty="0"/>
              <a:t>/API</a:t>
            </a:r>
            <a:endParaRPr lang="zh-CN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2428868"/>
            <a:ext cx="9158625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C139D5A2-5E5B-D143-8A20-C810F3722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Open Source</a:t>
            </a:r>
            <a:r>
              <a:rPr lang="zh-CN" altLang="en-US" dirty="0"/>
              <a:t>？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42900" y="1142984"/>
            <a:ext cx="8590490" cy="4680000"/>
            <a:chOff x="185195" y="1504704"/>
            <a:chExt cx="8591163" cy="5023418"/>
          </a:xfrm>
        </p:grpSpPr>
        <p:pic>
          <p:nvPicPr>
            <p:cNvPr id="37893" name="Picture 4" descr="Open Source Software Army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22221" y="1504704"/>
              <a:ext cx="8554137" cy="4942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7894" name="Picture 2" descr="http://twiki.org/p/pub/Blog/BlogEntry201207x1/opensource-40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478855" y="1694726"/>
              <a:ext cx="3255490" cy="1766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7896" name="Picture 6" descr="http://smallbusiness.jdsupra.com/wp-content/uploads/2012/10/iStock_000019945417XSmall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13459" y="4375230"/>
              <a:ext cx="2615878" cy="1961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0" name="Straight Connector 9"/>
            <p:cNvCxnSpPr/>
            <p:nvPr/>
          </p:nvCxnSpPr>
          <p:spPr>
            <a:xfrm>
              <a:off x="185195" y="2916151"/>
              <a:ext cx="8171503" cy="361197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5EDB9154-E0AB-B145-9FA9-D3C63ABDF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792663" y="800100"/>
            <a:ext cx="4200525" cy="2255838"/>
            <a:chOff x="497711" y="1412112"/>
            <a:chExt cx="4201611" cy="2257064"/>
          </a:xfrm>
        </p:grpSpPr>
        <p:sp>
          <p:nvSpPr>
            <p:cNvPr id="7" name="Rectangle 6"/>
            <p:cNvSpPr/>
            <p:nvPr/>
          </p:nvSpPr>
          <p:spPr>
            <a:xfrm>
              <a:off x="497711" y="1412112"/>
              <a:ext cx="4201611" cy="2257064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38924" name="Picture 2" descr="https://elprofdecompu.files.wordpress.com/2012/06/ibm_vs_mac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78733" y="1484790"/>
              <a:ext cx="4051139" cy="21095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31775" y="4213225"/>
            <a:ext cx="3565525" cy="2443163"/>
            <a:chOff x="428263" y="4271058"/>
            <a:chExt cx="3565003" cy="2442257"/>
          </a:xfrm>
        </p:grpSpPr>
        <p:sp>
          <p:nvSpPr>
            <p:cNvPr id="10" name="Rectangle 9"/>
            <p:cNvSpPr/>
            <p:nvPr/>
          </p:nvSpPr>
          <p:spPr>
            <a:xfrm>
              <a:off x="428263" y="4271058"/>
              <a:ext cx="3565003" cy="244225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38922" name="Picture 6" descr="http://cdn-www.xda-developers.com/wp-content/uploads/2013/11/apple-vs-android-vs-windows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4391" y="4366575"/>
              <a:ext cx="3397852" cy="2265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719388" y="2592388"/>
            <a:ext cx="3425825" cy="1793875"/>
            <a:chOff x="5220182" y="2349661"/>
            <a:chExt cx="3426107" cy="1794076"/>
          </a:xfrm>
        </p:grpSpPr>
        <p:sp>
          <p:nvSpPr>
            <p:cNvPr id="9" name="Rectangle 8"/>
            <p:cNvSpPr/>
            <p:nvPr/>
          </p:nvSpPr>
          <p:spPr>
            <a:xfrm>
              <a:off x="5220182" y="2349661"/>
              <a:ext cx="3426107" cy="179407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38920" name="Picture 4" descr="http://pull01.zerolag.netdna-cdn.com/wp-content/uploads/2013/11/lw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289629" y="2428131"/>
              <a:ext cx="3300995" cy="1650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891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53450" y="6410325"/>
            <a:ext cx="433388" cy="24447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 algn="ctr"/>
            <a:fld id="{9761FACD-034B-471E-A572-2E0B7F263256}" type="slidenum">
              <a:rPr lang="en-US" altLang="zh-CN" sz="1600" b="1" smtClean="0">
                <a:latin typeface="Arial" pitchFamily="34" charset="0"/>
              </a:rPr>
              <a:pPr algn="ctr"/>
              <a:t>50</a:t>
            </a:fld>
            <a:endParaRPr lang="en-US" altLang="zh-CN" sz="1600" b="1">
              <a:latin typeface="Arial" pitchFamily="34" charset="0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开源、闭源之争？</a:t>
            </a:r>
          </a:p>
        </p:txBody>
      </p:sp>
      <p:pic>
        <p:nvPicPr>
          <p:cNvPr id="15" name="Picture 2" descr="厦门大学信息学院院徽LOGO设计作品征集结果公布- 中国征集网- 征集网-全球征集网官方-征集网-设计网-标识logo-征集LOGO-文创设计征集">
            <a:extLst>
              <a:ext uri="{FF2B5EF4-FFF2-40B4-BE49-F238E27FC236}">
                <a16:creationId xmlns:a16="http://schemas.microsoft.com/office/drawing/2014/main" id="{AA96F64D-F370-1B4E-8952-49C450690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0" y="6269616"/>
            <a:ext cx="609683" cy="5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NU IDB Lab.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7299</TotalTime>
  <Words>1255</Words>
  <Application>Microsoft Macintosh PowerPoint</Application>
  <PresentationFormat>全屏显示(4:3)</PresentationFormat>
  <Paragraphs>173</Paragraphs>
  <Slides>50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2" baseType="lpstr">
      <vt:lpstr>黑体</vt:lpstr>
      <vt:lpstr>楷体_GB2312</vt:lpstr>
      <vt:lpstr>宋体</vt:lpstr>
      <vt:lpstr>맑은 고딕</vt:lpstr>
      <vt:lpstr>Segoe Light</vt:lpstr>
      <vt:lpstr>Arial</vt:lpstr>
      <vt:lpstr>Calibri</vt:lpstr>
      <vt:lpstr>Gill Sans</vt:lpstr>
      <vt:lpstr>Lucida Sans Unicode</vt:lpstr>
      <vt:lpstr>Times New Roman</vt:lpstr>
      <vt:lpstr>Wingdings</vt:lpstr>
      <vt:lpstr>SNU IDB Lab.</vt:lpstr>
      <vt:lpstr>大数据处理 （Big Data Processing）</vt:lpstr>
      <vt:lpstr>NSA PRISM leak</vt:lpstr>
      <vt:lpstr>NSA PRISM leak</vt:lpstr>
      <vt:lpstr>NSA PRISM leak</vt:lpstr>
      <vt:lpstr>PowerPoint 演示文稿</vt:lpstr>
      <vt:lpstr>NSA PRISM leak</vt:lpstr>
      <vt:lpstr>NSA PRISM leak</vt:lpstr>
      <vt:lpstr>上海外滩踩踏事件</vt:lpstr>
      <vt:lpstr>上海外滩踩踏事件</vt:lpstr>
      <vt:lpstr>上海外滩踩踏事件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大数据的定义</vt:lpstr>
      <vt:lpstr>Data Deluge</vt:lpstr>
      <vt:lpstr>Big?</vt:lpstr>
      <vt:lpstr>PowerPoint 演示文稿</vt:lpstr>
      <vt:lpstr>大量（Volume）</vt:lpstr>
      <vt:lpstr>大量（Volume）</vt:lpstr>
      <vt:lpstr>快速化（Velocity）</vt:lpstr>
      <vt:lpstr>快速化（Velocity）</vt:lpstr>
      <vt:lpstr>多样性（Variety）</vt:lpstr>
      <vt:lpstr>多样性（Variety）</vt:lpstr>
      <vt:lpstr>价值（Value）</vt:lpstr>
      <vt:lpstr>PowerPoint 演示文稿</vt:lpstr>
      <vt:lpstr>4 “V”s</vt:lpstr>
      <vt:lpstr>相关技术</vt:lpstr>
      <vt:lpstr>相关技术</vt:lpstr>
      <vt:lpstr>相关技术</vt:lpstr>
      <vt:lpstr>数据来源</vt:lpstr>
      <vt:lpstr>大数据来“缘”与影响</vt:lpstr>
      <vt:lpstr>大数据与云计算</vt:lpstr>
      <vt:lpstr>系统架构技术（Infrastructure）</vt:lpstr>
      <vt:lpstr>数据分析技术（Analytics）</vt:lpstr>
      <vt:lpstr>数据应用（Applications）</vt:lpstr>
      <vt:lpstr>跨层协作/数据源/API</vt:lpstr>
      <vt:lpstr>Why Open Source？</vt:lpstr>
      <vt:lpstr>开源、闭源之争？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Bo Mao</cp:lastModifiedBy>
  <cp:revision>261</cp:revision>
  <dcterms:created xsi:type="dcterms:W3CDTF">2006-10-05T04:04:58Z</dcterms:created>
  <dcterms:modified xsi:type="dcterms:W3CDTF">2022-02-22T08:27:10Z</dcterms:modified>
</cp:coreProperties>
</file>