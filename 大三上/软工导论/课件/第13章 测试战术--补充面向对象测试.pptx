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6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4" r:id="rId7"/>
    <p:sldId id="262" r:id="rId8"/>
    <p:sldId id="263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405"/>
  </p:normalViewPr>
  <p:slideViewPr>
    <p:cSldViewPr showGuides="1">
      <p:cViewPr varScale="1">
        <p:scale>
          <a:sx n="113" d="100"/>
          <a:sy n="113" d="100"/>
        </p:scale>
        <p:origin x="534" y="108"/>
      </p:cViewPr>
      <p:guideLst>
        <p:guide orient="horz" pos="217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7D9C7E-7C93-0642-9140-010FF26197CF}" type="datetimeFigureOut">
              <a:rPr kumimoji="1" lang="zh-CN" altLang="en-US" smtClean="0"/>
              <a:t>2025/10/27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3CB25-7747-AB40-9F34-C509EA1349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319F9F-F4FD-0347-8148-18B30B89B1E6}" type="slidenum">
              <a:rPr lang="en-US" altLang="zh-CN" smtClean="0"/>
              <a:t>‹#›</a:t>
            </a:fld>
            <a:endParaRPr lang="en-US" altLang="zh-C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77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A119A8-ED69-1340-9109-573BD220D554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837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C66060-E6E6-E84D-A054-E47A65ABEB11}" type="slidenum">
              <a:rPr lang="en-US" altLang="zh-CN" smtClean="0"/>
              <a:t>‹#›</a:t>
            </a:fld>
            <a:endParaRPr lang="en-US" altLang="zh-C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378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ADC63E-76BB-6F48-8457-874BCF0ECF39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2837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CA38B6-F795-024D-91F2-84E15BF2DB2A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0316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D656DA-1691-0C41-9974-4F2D6F651DE2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2115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59CDC0-C7A2-0844-8520-052FA0E1FBFC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6412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828CC4A-EFA4-FD48-8E3B-8FCA066174DF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270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9C01E1-5D34-CD42-AA2E-71D2DCE1D85D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3039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631BF7-B4AB-E64F-BB30-4262C5868507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1814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021C53-F2A2-BE44-8155-458E37BB7083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2654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5021C53-F2A2-BE44-8155-458E37BB7083}" type="slidenum">
              <a:rPr lang="en-US" altLang="zh-CN" smtClean="0"/>
              <a:t>‹#›</a:t>
            </a:fld>
            <a:endParaRPr lang="en-US" altLang="zh-CN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 descr="08f46c7211d24e3a8701b02c.jpg">
            <a:extLst>
              <a:ext uri="{FF2B5EF4-FFF2-40B4-BE49-F238E27FC236}">
                <a16:creationId xmlns:a16="http://schemas.microsoft.com/office/drawing/2014/main" id="{FE32FF93-F7A0-D2BD-F598-1D6BE287BF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4221163"/>
            <a:ext cx="750887" cy="135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6180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323850" y="4173538"/>
            <a:ext cx="4032250" cy="935037"/>
            <a:chOff x="0" y="0"/>
            <a:chExt cx="2540" cy="589"/>
          </a:xfrm>
        </p:grpSpPr>
        <p:sp>
          <p:nvSpPr>
            <p:cNvPr id="26628" name="Text Box 10"/>
            <p:cNvSpPr txBox="1">
              <a:spLocks noChangeArrowheads="1"/>
            </p:cNvSpPr>
            <p:nvPr/>
          </p:nvSpPr>
          <p:spPr bwMode="auto">
            <a:xfrm>
              <a:off x="0" y="0"/>
              <a:ext cx="254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50000"/>
                </a:lnSpc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lnSpc>
                  <a:spcPct val="150000"/>
                </a:lnSpc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lnSpc>
                  <a:spcPct val="150000"/>
                </a:lnSpc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lnSpc>
                  <a:spcPct val="150000"/>
                </a:lnSpc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lnSpc>
                  <a:spcPct val="150000"/>
                </a:lnSpc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endParaRPr lang="zh-CN" altLang="zh-CN" sz="3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629" name="Text Box 11"/>
            <p:cNvSpPr txBox="1">
              <a:spLocks noChangeArrowheads="1"/>
            </p:cNvSpPr>
            <p:nvPr/>
          </p:nvSpPr>
          <p:spPr bwMode="auto">
            <a:xfrm>
              <a:off x="499" y="301"/>
              <a:ext cx="15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50000"/>
                </a:lnSpc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lnSpc>
                  <a:spcPct val="150000"/>
                </a:lnSpc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lnSpc>
                  <a:spcPct val="150000"/>
                </a:lnSpc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lnSpc>
                  <a:spcPct val="150000"/>
                </a:lnSpc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lnSpc>
                  <a:spcPct val="150000"/>
                </a:lnSpc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endParaRPr lang="zh-CN" altLang="zh-CN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6626" name="标题 7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2130425"/>
            <a:ext cx="7772400" cy="14700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zh-CN" altLang="zh-CN" dirty="0">
                <a:latin typeface="宋体" pitchFamily="2" charset="-122"/>
              </a:rPr>
              <a:t>第十</a:t>
            </a:r>
            <a:r>
              <a:rPr lang="zh-CN" altLang="en-US" dirty="0">
                <a:latin typeface="宋体" pitchFamily="2" charset="-122"/>
              </a:rPr>
              <a:t>三</a:t>
            </a:r>
            <a:r>
              <a:rPr lang="zh-CN" altLang="zh-CN" dirty="0">
                <a:latin typeface="宋体" pitchFamily="2" charset="-122"/>
              </a:rPr>
              <a:t>章 测试战术</a:t>
            </a:r>
            <a:br>
              <a:rPr lang="en-US" altLang="zh-CN" dirty="0">
                <a:latin typeface="宋体" pitchFamily="2" charset="-122"/>
              </a:rPr>
            </a:br>
            <a:br>
              <a:rPr lang="en-US" altLang="zh-CN" dirty="0">
                <a:latin typeface="宋体" pitchFamily="2" charset="-122"/>
              </a:rPr>
            </a:br>
            <a:r>
              <a:rPr lang="en-US" altLang="zh-CN" sz="3200" dirty="0">
                <a:latin typeface="宋体" pitchFamily="2" charset="-122"/>
              </a:rPr>
              <a:t>--</a:t>
            </a:r>
            <a:r>
              <a:rPr lang="zh-CN" altLang="en-US" sz="3200" dirty="0">
                <a:latin typeface="宋体" pitchFamily="2" charset="-122"/>
              </a:rPr>
              <a:t>面向对象测试用例</a:t>
            </a:r>
            <a:endParaRPr lang="zh-CN" altLang="zh-CN" dirty="0">
              <a:latin typeface="宋体" pitchFamily="2" charset="-122"/>
            </a:endParaRPr>
          </a:p>
        </p:txBody>
      </p:sp>
      <p:sp>
        <p:nvSpPr>
          <p:cNvPr id="26627" name="副标题 8"/>
          <p:cNvSpPr>
            <a:spLocks noGrp="1" noChangeArrowheads="1"/>
          </p:cNvSpPr>
          <p:nvPr>
            <p:ph type="subTitle" idx="4294967295"/>
          </p:nvPr>
        </p:nvSpPr>
        <p:spPr>
          <a:xfrm>
            <a:off x="0" y="4005263"/>
            <a:ext cx="4248150" cy="936625"/>
          </a:xfrm>
        </p:spPr>
        <p:txBody>
          <a:bodyPr/>
          <a:lstStyle/>
          <a:p>
            <a:pPr marL="0" indent="0" algn="ctr" eaLnBrk="1" hangingPunct="1">
              <a:buFontTx/>
              <a:buNone/>
            </a:pPr>
            <a:r>
              <a:rPr lang="zh-CN" altLang="en-US" dirty="0">
                <a:latin typeface="宋体" pitchFamily="2" charset="-122"/>
              </a:rPr>
              <a:t>吴清强</a:t>
            </a:r>
            <a:endParaRPr lang="zh-CN" altLang="zh-CN" dirty="0">
              <a:latin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DE71E77-C80D-E4E5-8AC6-9A9BED249550}"/>
              </a:ext>
            </a:extLst>
          </p:cNvPr>
          <p:cNvSpPr txBox="1"/>
          <p:nvPr/>
        </p:nvSpPr>
        <p:spPr>
          <a:xfrm>
            <a:off x="2123728" y="1340768"/>
            <a:ext cx="5166320" cy="3784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面向对象编程核心特性</a:t>
            </a:r>
          </a:p>
          <a:p>
            <a:pPr algn="l">
              <a:lnSpc>
                <a:spcPct val="150000"/>
              </a:lnSpc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三大核心特性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封装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：数据隐藏与访问控制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继承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：代码复用与层次关系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多态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：接口统一与行为多样化</a:t>
            </a:r>
          </a:p>
          <a:p>
            <a:pPr algn="l">
              <a:lnSpc>
                <a:spcPct val="150000"/>
              </a:lnSpc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测试重要性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确保面向对象设计的正确性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验证业务逻辑的完整性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保证系统的健壮性和可维护性</a:t>
            </a:r>
          </a:p>
        </p:txBody>
      </p:sp>
    </p:spTree>
    <p:extLst>
      <p:ext uri="{BB962C8B-B14F-4D97-AF65-F5344CB8AC3E}">
        <p14:creationId xmlns:p14="http://schemas.microsoft.com/office/powerpoint/2010/main" val="2479711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232506B-661F-A175-5D4A-99744FFC601D}"/>
              </a:ext>
            </a:extLst>
          </p:cNvPr>
          <p:cNvSpPr txBox="1"/>
          <p:nvPr/>
        </p:nvSpPr>
        <p:spPr>
          <a:xfrm>
            <a:off x="2195736" y="1196752"/>
            <a:ext cx="4572000" cy="3784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封装特性测试目标</a:t>
            </a:r>
          </a:p>
          <a:p>
            <a:pPr algn="l">
              <a:lnSpc>
                <a:spcPct val="150000"/>
              </a:lnSpc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测试重点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数据隐藏和访问控制的有效性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数据完整性和业务规则验证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接口一致性和安全性</a:t>
            </a:r>
          </a:p>
          <a:p>
            <a:pPr algn="l">
              <a:lnSpc>
                <a:spcPct val="150000"/>
              </a:lnSpc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验证维度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字段访问权限控制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方法调用的边界条件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数据验证和异常处理</a:t>
            </a:r>
          </a:p>
        </p:txBody>
      </p:sp>
    </p:spTree>
    <p:extLst>
      <p:ext uri="{BB962C8B-B14F-4D97-AF65-F5344CB8AC3E}">
        <p14:creationId xmlns:p14="http://schemas.microsoft.com/office/powerpoint/2010/main" val="2879416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DF412DC-7C3A-B4AC-2D0B-CA6EF9165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525919"/>
              </p:ext>
            </p:extLst>
          </p:nvPr>
        </p:nvGraphicFramePr>
        <p:xfrm>
          <a:off x="899592" y="1628800"/>
          <a:ext cx="7543800" cy="2560320"/>
        </p:xfrm>
        <a:graphic>
          <a:graphicData uri="http://schemas.openxmlformats.org/drawingml/2006/table">
            <a:tbl>
              <a:tblPr/>
              <a:tblGrid>
                <a:gridCol w="2317376">
                  <a:extLst>
                    <a:ext uri="{9D8B030D-6E8A-4147-A177-3AD203B41FA5}">
                      <a16:colId xmlns:a16="http://schemas.microsoft.com/office/drawing/2014/main" val="1308210907"/>
                    </a:ext>
                  </a:extLst>
                </a:gridCol>
                <a:gridCol w="2613212">
                  <a:extLst>
                    <a:ext uri="{9D8B030D-6E8A-4147-A177-3AD203B41FA5}">
                      <a16:colId xmlns:a16="http://schemas.microsoft.com/office/drawing/2014/main" val="444923538"/>
                    </a:ext>
                  </a:extLst>
                </a:gridCol>
                <a:gridCol w="2613212">
                  <a:extLst>
                    <a:ext uri="{9D8B030D-6E8A-4147-A177-3AD203B41FA5}">
                      <a16:colId xmlns:a16="http://schemas.microsoft.com/office/drawing/2014/main" val="9969128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effectLst/>
                        </a:rPr>
                        <a:t>测试类别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测试场景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验证要点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971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effectLst/>
                        </a:rPr>
                        <a:t>数据访问控制</a:t>
                      </a:r>
                      <a:endParaRPr lang="zh-CN" altLang="en-US" dirty="0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直接访问私有字段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编译错误或运行时异常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622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Getter</a:t>
                      </a:r>
                      <a:r>
                        <a:rPr lang="zh-CN" altLang="en-US" b="1" dirty="0">
                          <a:effectLst/>
                        </a:rPr>
                        <a:t>方法</a:t>
                      </a:r>
                      <a:endParaRPr lang="zh-CN" altLang="en-US" dirty="0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获取属性值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返回正确的属性值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232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Setter</a:t>
                      </a:r>
                      <a:r>
                        <a:rPr lang="zh-CN" altLang="en-US" b="1" dirty="0">
                          <a:effectLst/>
                        </a:rPr>
                        <a:t>方法</a:t>
                      </a:r>
                      <a:endParaRPr lang="zh-CN" altLang="en-US" dirty="0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设置有效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无效值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正确设置或抛出异常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34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构造方法验证</a:t>
                      </a:r>
                      <a:endParaRPr lang="zh-CN" altLang="en-US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使用无效参数构造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构造失败并抛出异常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829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effectLst/>
                        </a:rPr>
                        <a:t>业务规则</a:t>
                      </a:r>
                      <a:endParaRPr lang="zh-CN" altLang="en-US" dirty="0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复杂业务逻辑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状态一致性和规则执行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6700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03890014-1236-E5C4-5009-97443AC47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888" y="548680"/>
            <a:ext cx="1846659" cy="861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03136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" panose="020B0604020202020204" pitchFamily="34" charset="0"/>
                <a:ea typeface="quote-cjk-patch"/>
              </a:rPr>
              <a:t>封装测试用例设计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154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26CFE7D-6726-4B09-26EC-751B669DEF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114904"/>
              </p:ext>
            </p:extLst>
          </p:nvPr>
        </p:nvGraphicFramePr>
        <p:xfrm>
          <a:off x="1043608" y="1772816"/>
          <a:ext cx="7543800" cy="2560320"/>
        </p:xfrm>
        <a:graphic>
          <a:graphicData uri="http://schemas.openxmlformats.org/drawingml/2006/table">
            <a:tbl>
              <a:tblPr/>
              <a:tblGrid>
                <a:gridCol w="2317376">
                  <a:extLst>
                    <a:ext uri="{9D8B030D-6E8A-4147-A177-3AD203B41FA5}">
                      <a16:colId xmlns:a16="http://schemas.microsoft.com/office/drawing/2014/main" val="2234608537"/>
                    </a:ext>
                  </a:extLst>
                </a:gridCol>
                <a:gridCol w="2613212">
                  <a:extLst>
                    <a:ext uri="{9D8B030D-6E8A-4147-A177-3AD203B41FA5}">
                      <a16:colId xmlns:a16="http://schemas.microsoft.com/office/drawing/2014/main" val="4057398102"/>
                    </a:ext>
                  </a:extLst>
                </a:gridCol>
                <a:gridCol w="2613212">
                  <a:extLst>
                    <a:ext uri="{9D8B030D-6E8A-4147-A177-3AD203B41FA5}">
                      <a16:colId xmlns:a16="http://schemas.microsoft.com/office/drawing/2014/main" val="2081297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测试类别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测试场景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验证要点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031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继承关系</a:t>
                      </a:r>
                      <a:endParaRPr lang="zh-CN" altLang="en-US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类型关系检查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子类是父类类型实例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129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方法继承</a:t>
                      </a:r>
                      <a:endParaRPr lang="zh-CN" altLang="en-US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调用继承方法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正确执行父类逻辑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442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方法重写</a:t>
                      </a:r>
                      <a:endParaRPr lang="zh-CN" altLang="en-US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调用重写方法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执行子类重写逻辑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71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构造方法链</a:t>
                      </a:r>
                      <a:endParaRPr lang="zh-CN" altLang="en-US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对象构造过程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父类构造先于子类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0803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多级继承</a:t>
                      </a:r>
                      <a:endParaRPr lang="zh-CN" altLang="en-US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多层继承验证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继承链方法正确执行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215064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7EA67D7-A1FF-24C6-7359-FF40DC5A6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888" y="695454"/>
            <a:ext cx="4531286" cy="5846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" panose="020B0604020202020204" pitchFamily="34" charset="0"/>
                <a:ea typeface="quote-cjk-patch"/>
              </a:rPr>
              <a:t>继承测试用例设计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737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C37D35B-E9B9-7DAB-2735-2B870775A12F}"/>
              </a:ext>
            </a:extLst>
          </p:cNvPr>
          <p:cNvSpPr txBox="1"/>
          <p:nvPr/>
        </p:nvSpPr>
        <p:spPr>
          <a:xfrm>
            <a:off x="2286000" y="1052736"/>
            <a:ext cx="4572000" cy="3784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继承特性测试目标</a:t>
            </a:r>
          </a:p>
          <a:p>
            <a:pPr algn="l">
              <a:lnSpc>
                <a:spcPct val="150000"/>
              </a:lnSpc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测试重点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继承关系的正确性验证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方法重写和扩展的准确性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多级继承的完整性</a:t>
            </a:r>
          </a:p>
          <a:p>
            <a:pPr algn="l">
              <a:lnSpc>
                <a:spcPct val="150000"/>
              </a:lnSpc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验证维度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类型关系检查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方法继承和重写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构造方法链执行</a:t>
            </a:r>
          </a:p>
        </p:txBody>
      </p:sp>
    </p:spTree>
    <p:extLst>
      <p:ext uri="{BB962C8B-B14F-4D97-AF65-F5344CB8AC3E}">
        <p14:creationId xmlns:p14="http://schemas.microsoft.com/office/powerpoint/2010/main" val="994166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A20FD49-5E18-E0CC-6572-9D11338BD360}"/>
              </a:ext>
            </a:extLst>
          </p:cNvPr>
          <p:cNvSpPr txBox="1"/>
          <p:nvPr/>
        </p:nvSpPr>
        <p:spPr>
          <a:xfrm>
            <a:off x="1907704" y="908720"/>
            <a:ext cx="4572000" cy="3784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多态特性测试目标</a:t>
            </a:r>
          </a:p>
          <a:p>
            <a:pPr algn="l">
              <a:lnSpc>
                <a:spcPct val="150000"/>
              </a:lnSpc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测试重点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运行时多态的正确性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接口实现的完整性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动态方法绑定的准确性</a:t>
            </a:r>
          </a:p>
          <a:p>
            <a:pPr algn="l">
              <a:lnSpc>
                <a:spcPct val="150000"/>
              </a:lnSpc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验证维度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运行时类型识别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接口方法的多态行为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类型安全转换</a:t>
            </a:r>
          </a:p>
        </p:txBody>
      </p:sp>
    </p:spTree>
    <p:extLst>
      <p:ext uri="{BB962C8B-B14F-4D97-AF65-F5344CB8AC3E}">
        <p14:creationId xmlns:p14="http://schemas.microsoft.com/office/powerpoint/2010/main" val="1342195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F6BC356-6C28-9BDA-2FEF-AF69A80AB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668765"/>
              </p:ext>
            </p:extLst>
          </p:nvPr>
        </p:nvGraphicFramePr>
        <p:xfrm>
          <a:off x="800100" y="1700808"/>
          <a:ext cx="7543800" cy="2560320"/>
        </p:xfrm>
        <a:graphic>
          <a:graphicData uri="http://schemas.openxmlformats.org/drawingml/2006/table">
            <a:tbl>
              <a:tblPr/>
              <a:tblGrid>
                <a:gridCol w="2317376">
                  <a:extLst>
                    <a:ext uri="{9D8B030D-6E8A-4147-A177-3AD203B41FA5}">
                      <a16:colId xmlns:a16="http://schemas.microsoft.com/office/drawing/2014/main" val="2829606254"/>
                    </a:ext>
                  </a:extLst>
                </a:gridCol>
                <a:gridCol w="2613212">
                  <a:extLst>
                    <a:ext uri="{9D8B030D-6E8A-4147-A177-3AD203B41FA5}">
                      <a16:colId xmlns:a16="http://schemas.microsoft.com/office/drawing/2014/main" val="538209671"/>
                    </a:ext>
                  </a:extLst>
                </a:gridCol>
                <a:gridCol w="2613212">
                  <a:extLst>
                    <a:ext uri="{9D8B030D-6E8A-4147-A177-3AD203B41FA5}">
                      <a16:colId xmlns:a16="http://schemas.microsoft.com/office/drawing/2014/main" val="4858155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测试类别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effectLst/>
                        </a:rPr>
                        <a:t>测试场景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验证要点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147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运行时多态</a:t>
                      </a:r>
                      <a:endParaRPr lang="zh-CN" altLang="en-US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父类引用指向子类对象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执行子类实现逻辑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39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接口多态</a:t>
                      </a:r>
                      <a:endParaRPr lang="zh-CN" altLang="en-US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接口引用指向实现类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执行各自实现逻辑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188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多态集合</a:t>
                      </a:r>
                      <a:endParaRPr lang="zh-CN" altLang="en-US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处理多态对象集合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各对象执行自身实现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868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动态绑定</a:t>
                      </a:r>
                      <a:endParaRPr lang="zh-CN" altLang="en-US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运行时方法绑定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根据实际类型绑定方法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44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1">
                          <a:effectLst/>
                        </a:rPr>
                        <a:t>类型转换</a:t>
                      </a:r>
                      <a:endParaRPr lang="zh-CN" altLang="en-US">
                        <a:effectLst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</a:rPr>
                        <a:t>向上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向下转型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</a:rPr>
                        <a:t>安全转换和方法调用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591271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56A099A1-B873-A59B-B2D0-D4A5E650E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72" y="620688"/>
            <a:ext cx="1846659" cy="861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03136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" panose="020B0604020202020204" pitchFamily="34" charset="0"/>
                <a:ea typeface="quote-cjk-patch"/>
              </a:rPr>
              <a:t>多态测试用例设计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690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D53E57-A8A0-450C-8877-76C258ED9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1099444"/>
            <a:ext cx="7128792" cy="38933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ea typeface="quote-cjk-patch"/>
              </a:rPr>
              <a:t>综合测试案例 - 员工管理系统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ea typeface="quote-cjk-patch"/>
              </a:rPr>
              <a:t>系统架构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ea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 Unicode MS"/>
                <a:ea typeface="var(--ds-font-family-code)"/>
              </a:rPr>
              <a:t>抽象基类：Employee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Arial Unicode MS"/>
              <a:ea typeface="var(--ds-font-family-code)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 Unicode MS"/>
                <a:ea typeface="var(--ds-font-family-code)"/>
              </a:rPr>
              <a:t>↗ Developer ↗ Manager</a:t>
            </a:r>
            <a:endParaRPr kumimoji="0" lang="zh-CN" altLang="zh-CN" b="1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ea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ea typeface="quote-cjk-patch"/>
              </a:rPr>
              <a:t>核心特性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ea typeface="quote-cjk-patch"/>
              </a:rPr>
              <a:t>封装：员工属性访问控制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ea typeface="quote-cjk-patch"/>
              </a:rPr>
              <a:t>继承：Developer/Manager继承Employee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ea typeface="quote-cjk-patch"/>
              </a:rPr>
              <a:t>多态：统一的薪资计算方法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24528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D65B53E-9118-4C72-7F77-D5227D501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961592"/>
              </p:ext>
            </p:extLst>
          </p:nvPr>
        </p:nvGraphicFramePr>
        <p:xfrm>
          <a:off x="1043608" y="1268760"/>
          <a:ext cx="7214671" cy="4022725"/>
        </p:xfrm>
        <a:graphic>
          <a:graphicData uri="http://schemas.openxmlformats.org/drawingml/2006/table">
            <a:tbl>
              <a:tblPr/>
              <a:tblGrid>
                <a:gridCol w="1646065">
                  <a:extLst>
                    <a:ext uri="{9D8B030D-6E8A-4147-A177-3AD203B41FA5}">
                      <a16:colId xmlns:a16="http://schemas.microsoft.com/office/drawing/2014/main" val="4107998783"/>
                    </a:ext>
                  </a:extLst>
                </a:gridCol>
                <a:gridCol w="1856202">
                  <a:extLst>
                    <a:ext uri="{9D8B030D-6E8A-4147-A177-3AD203B41FA5}">
                      <a16:colId xmlns:a16="http://schemas.microsoft.com/office/drawing/2014/main" val="4265108252"/>
                    </a:ext>
                  </a:extLst>
                </a:gridCol>
                <a:gridCol w="1856202">
                  <a:extLst>
                    <a:ext uri="{9D8B030D-6E8A-4147-A177-3AD203B41FA5}">
                      <a16:colId xmlns:a16="http://schemas.microsoft.com/office/drawing/2014/main" val="2123463135"/>
                    </a:ext>
                  </a:extLst>
                </a:gridCol>
                <a:gridCol w="1856202">
                  <a:extLst>
                    <a:ext uri="{9D8B030D-6E8A-4147-A177-3AD203B41FA5}">
                      <a16:colId xmlns:a16="http://schemas.microsoft.com/office/drawing/2014/main" val="2554498292"/>
                    </a:ext>
                  </a:extLst>
                </a:gridCol>
              </a:tblGrid>
              <a:tr h="40810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700">
                          <a:effectLst/>
                        </a:rPr>
                        <a:t>测试</a:t>
                      </a:r>
                      <a:r>
                        <a:rPr lang="en-US" sz="1700">
                          <a:effectLst/>
                        </a:rPr>
                        <a:t>ID</a:t>
                      </a:r>
                    </a:p>
                  </a:txBody>
                  <a:tcPr marL="87451" marR="11660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700">
                          <a:effectLst/>
                        </a:rPr>
                        <a:t>测试特性</a:t>
                      </a:r>
                    </a:p>
                  </a:txBody>
                  <a:tcPr marL="116601" marR="11660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700">
                          <a:effectLst/>
                        </a:rPr>
                        <a:t>测试场景</a:t>
                      </a:r>
                    </a:p>
                  </a:txBody>
                  <a:tcPr marL="116601" marR="11660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700">
                          <a:effectLst/>
                        </a:rPr>
                        <a:t>验证要点</a:t>
                      </a:r>
                    </a:p>
                  </a:txBody>
                  <a:tcPr marL="116601" marR="11660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517375"/>
                  </a:ext>
                </a:extLst>
              </a:tr>
              <a:tr h="670454"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EMP-01</a:t>
                      </a:r>
                    </a:p>
                  </a:txBody>
                  <a:tcPr marL="87451" marR="11660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>
                          <a:effectLst/>
                        </a:rPr>
                        <a:t>封装</a:t>
                      </a:r>
                    </a:p>
                  </a:txBody>
                  <a:tcPr marL="116601" marR="11660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>
                          <a:effectLst/>
                        </a:rPr>
                        <a:t>Developer</a:t>
                      </a:r>
                      <a:r>
                        <a:rPr lang="zh-CN" altLang="en-US" sz="1700">
                          <a:effectLst/>
                        </a:rPr>
                        <a:t>对象创建和属性访问</a:t>
                      </a:r>
                    </a:p>
                  </a:txBody>
                  <a:tcPr marL="116601" marR="11660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>
                          <a:effectLst/>
                        </a:rPr>
                        <a:t>私有字段保护，公共接口访问</a:t>
                      </a:r>
                    </a:p>
                  </a:txBody>
                  <a:tcPr marL="116601" marR="8745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583222"/>
                  </a:ext>
                </a:extLst>
              </a:tr>
              <a:tr h="932806"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EMP-02</a:t>
                      </a:r>
                    </a:p>
                  </a:txBody>
                  <a:tcPr marL="87451" marR="11660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>
                          <a:effectLst/>
                        </a:rPr>
                        <a:t>继承</a:t>
                      </a:r>
                    </a:p>
                  </a:txBody>
                  <a:tcPr marL="116601" marR="11660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dirty="0">
                          <a:effectLst/>
                        </a:rPr>
                        <a:t>类型关系验证</a:t>
                      </a:r>
                    </a:p>
                  </a:txBody>
                  <a:tcPr marL="116601" marR="11660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Developer/Manager</a:t>
                      </a:r>
                      <a:r>
                        <a:rPr lang="zh-CN" altLang="en-US" sz="1700">
                          <a:effectLst/>
                        </a:rPr>
                        <a:t>是</a:t>
                      </a:r>
                      <a:r>
                        <a:rPr lang="en-US" sz="1700">
                          <a:effectLst/>
                        </a:rPr>
                        <a:t>Employee</a:t>
                      </a:r>
                      <a:r>
                        <a:rPr lang="zh-CN" altLang="en-US" sz="1700">
                          <a:effectLst/>
                        </a:rPr>
                        <a:t>类型</a:t>
                      </a:r>
                    </a:p>
                  </a:txBody>
                  <a:tcPr marL="116601" marR="8745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886329"/>
                  </a:ext>
                </a:extLst>
              </a:tr>
              <a:tr h="670454"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EMP-03</a:t>
                      </a:r>
                    </a:p>
                  </a:txBody>
                  <a:tcPr marL="87451" marR="11660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>
                          <a:effectLst/>
                        </a:rPr>
                        <a:t>多态</a:t>
                      </a:r>
                    </a:p>
                  </a:txBody>
                  <a:tcPr marL="116601" marR="11660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Employee</a:t>
                      </a:r>
                      <a:r>
                        <a:rPr lang="zh-CN" altLang="en-US" sz="1700">
                          <a:effectLst/>
                        </a:rPr>
                        <a:t>列表处理不同员工</a:t>
                      </a:r>
                    </a:p>
                  </a:txBody>
                  <a:tcPr marL="116601" marR="11660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>
                          <a:effectLst/>
                        </a:rPr>
                        <a:t>各自执行薪资计算逻辑</a:t>
                      </a:r>
                    </a:p>
                  </a:txBody>
                  <a:tcPr marL="116601" marR="8745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141177"/>
                  </a:ext>
                </a:extLst>
              </a:tr>
              <a:tr h="670454"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EMP-04</a:t>
                      </a:r>
                    </a:p>
                  </a:txBody>
                  <a:tcPr marL="87451" marR="11660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>
                          <a:effectLst/>
                        </a:rPr>
                        <a:t>数据完整性</a:t>
                      </a:r>
                    </a:p>
                  </a:txBody>
                  <a:tcPr marL="116601" marR="11660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>
                          <a:effectLst/>
                        </a:rPr>
                        <a:t>设置无效薪资数据</a:t>
                      </a:r>
                    </a:p>
                  </a:txBody>
                  <a:tcPr marL="116601" marR="11660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>
                          <a:effectLst/>
                        </a:rPr>
                        <a:t>异常抛出和数据保护</a:t>
                      </a:r>
                    </a:p>
                  </a:txBody>
                  <a:tcPr marL="116601" marR="8745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754412"/>
                  </a:ext>
                </a:extLst>
              </a:tr>
              <a:tr h="670454"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EMP-05</a:t>
                      </a:r>
                    </a:p>
                  </a:txBody>
                  <a:tcPr marL="87451" marR="11660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dirty="0">
                          <a:effectLst/>
                        </a:rPr>
                        <a:t>接口多态</a:t>
                      </a:r>
                    </a:p>
                  </a:txBody>
                  <a:tcPr marL="116601" marR="11660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>
                          <a:effectLst/>
                        </a:rPr>
                        <a:t>统一接口不同实现</a:t>
                      </a:r>
                    </a:p>
                  </a:txBody>
                  <a:tcPr marL="116601" marR="11660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dirty="0">
                          <a:effectLst/>
                        </a:rPr>
                        <a:t>相同接口不同业务逻辑</a:t>
                      </a:r>
                    </a:p>
                  </a:txBody>
                  <a:tcPr marL="116601" marR="87451" marT="72875" marB="72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482465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7F04907F-29B9-2900-044A-CC1DA7F3A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792" y="404664"/>
            <a:ext cx="6048672" cy="5846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" panose="020B0604020202020204" pitchFamily="34" charset="0"/>
                <a:ea typeface="quote-cjk-patch"/>
              </a:rPr>
              <a:t>综合测试用例设计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765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D0D35CD-DE4F-4489-AD03-6517C18CDA76}"/>
              </a:ext>
            </a:extLst>
          </p:cNvPr>
          <p:cNvSpPr txBox="1"/>
          <p:nvPr/>
        </p:nvSpPr>
        <p:spPr>
          <a:xfrm>
            <a:off x="1619672" y="1121317"/>
            <a:ext cx="4572000" cy="4199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常见问题与解决方案</a:t>
            </a:r>
          </a:p>
          <a:p>
            <a:pPr algn="l">
              <a:lnSpc>
                <a:spcPct val="150000"/>
              </a:lnSpc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典型问题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封装过度导致测试困难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继承层次过深增加测试复杂度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多态行为难以全面测试</a:t>
            </a:r>
          </a:p>
          <a:p>
            <a:pPr algn="l">
              <a:lnSpc>
                <a:spcPct val="150000"/>
              </a:lnSpc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解决方案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使用测试专用接口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采用模拟对象技术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设计可测试的类结构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实施测试驱动开发</a:t>
            </a:r>
          </a:p>
        </p:txBody>
      </p:sp>
    </p:spTree>
    <p:extLst>
      <p:ext uri="{BB962C8B-B14F-4D97-AF65-F5344CB8AC3E}">
        <p14:creationId xmlns:p14="http://schemas.microsoft.com/office/powerpoint/2010/main" val="610158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66E49E5-94E9-0214-C685-E001F38E3230}"/>
              </a:ext>
            </a:extLst>
          </p:cNvPr>
          <p:cNvSpPr txBox="1"/>
          <p:nvPr/>
        </p:nvSpPr>
        <p:spPr>
          <a:xfrm>
            <a:off x="1799692" y="1052736"/>
            <a:ext cx="5544616" cy="4615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总结</a:t>
            </a:r>
          </a:p>
          <a:p>
            <a:pPr algn="l">
              <a:lnSpc>
                <a:spcPct val="150000"/>
              </a:lnSpc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关键收获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面向对象特性需要针对性的测试方法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封装测试确保数据安全和完整性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继承测试验证层次关系和代码复用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多态测试保证接口统一和行为多样</a:t>
            </a:r>
          </a:p>
          <a:p>
            <a:pPr algn="l">
              <a:lnSpc>
                <a:spcPct val="150000"/>
              </a:lnSpc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价值体现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提高代码质量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减少运行时错误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增强系统可维护性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支持持续重构</a:t>
            </a:r>
          </a:p>
        </p:txBody>
      </p:sp>
    </p:spTree>
    <p:extLst>
      <p:ext uri="{BB962C8B-B14F-4D97-AF65-F5344CB8AC3E}">
        <p14:creationId xmlns:p14="http://schemas.microsoft.com/office/powerpoint/2010/main" val="2489975213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</TotalTime>
  <Words>565</Words>
  <Application>Microsoft Office PowerPoint</Application>
  <PresentationFormat>全屏显示(4:3)</PresentationFormat>
  <Paragraphs>149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 Unicode MS</vt:lpstr>
      <vt:lpstr>quote-cjk-patch</vt:lpstr>
      <vt:lpstr>等线</vt:lpstr>
      <vt:lpstr>黑体</vt:lpstr>
      <vt:lpstr>宋体</vt:lpstr>
      <vt:lpstr>Arial</vt:lpstr>
      <vt:lpstr>Calibri</vt:lpstr>
      <vt:lpstr>Calibri Light</vt:lpstr>
      <vt:lpstr>回顾</vt:lpstr>
      <vt:lpstr>第十三章 测试战术  --面向对象测试用例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第十三章 测试战术</dc:title>
  <dc:creator>User</dc:creator>
  <cp:lastModifiedBy>wuqq</cp:lastModifiedBy>
  <cp:revision>161</cp:revision>
  <cp:lastPrinted>2024-10-15T01:15:23Z</cp:lastPrinted>
  <dcterms:created xsi:type="dcterms:W3CDTF">2024-10-15T01:15:23Z</dcterms:created>
  <dcterms:modified xsi:type="dcterms:W3CDTF">2025-10-27T09:30:20Z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2052-6.7.0.8823</vt:lpwstr>
  </property>
  <property fmtid="{D5CDD505-2E9C-101B-9397-08002B2CF9AE}" pid="3" name="ICV">
    <vt:lpwstr>F33BCF32CA8F2D7B50C10D670553670F_42</vt:lpwstr>
  </property>
</Properties>
</file>