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sldIdLst>
    <p:sldId id="416" r:id="rId2"/>
    <p:sldId id="660" r:id="rId3"/>
    <p:sldId id="661" r:id="rId4"/>
    <p:sldId id="662" r:id="rId5"/>
    <p:sldId id="663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3333FF"/>
    <a:srgbClr val="008000"/>
    <a:srgbClr val="009900"/>
    <a:srgbClr val="FFFF00"/>
    <a:srgbClr val="33CC33"/>
    <a:srgbClr val="FFFFCC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39" autoAdjust="0"/>
    <p:restoredTop sz="94697" autoAdjust="0"/>
  </p:normalViewPr>
  <p:slideViewPr>
    <p:cSldViewPr>
      <p:cViewPr varScale="1">
        <p:scale>
          <a:sx n="115" d="100"/>
          <a:sy n="115" d="100"/>
        </p:scale>
        <p:origin x="120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4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18FB9EE3-0D1F-40DC-A1BA-2AC01AC06EA4}" type="datetimeFigureOut">
              <a:rPr lang="zh-CN" altLang="en-US"/>
              <a:pPr>
                <a:defRPr/>
              </a:pPr>
              <a:t>2024/12/19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D5C9E909-DCC6-45F6-B5E2-9EEFD42D842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4687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644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0994807-4934-40CC-AED9-B1D66D48777A}" type="slidenum">
              <a:rPr lang="zh-CN" altLang="en-US" sz="1200">
                <a:latin typeface="Arial" charset="0"/>
              </a:rPr>
              <a:pPr algn="r"/>
              <a:t>1</a:t>
            </a:fld>
            <a:endParaRPr lang="en-US" altLang="zh-CN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641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0994807-4934-40CC-AED9-B1D66D48777A}" type="slidenum">
              <a:rPr lang="zh-CN" altLang="en-US" sz="1200">
                <a:latin typeface="Arial" charset="0"/>
              </a:rPr>
              <a:pPr algn="r"/>
              <a:t>2</a:t>
            </a:fld>
            <a:endParaRPr lang="en-US" altLang="zh-CN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641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0994807-4934-40CC-AED9-B1D66D48777A}" type="slidenum">
              <a:rPr lang="zh-CN" altLang="en-US" sz="1200">
                <a:latin typeface="Arial" charset="0"/>
              </a:rPr>
              <a:pPr algn="r"/>
              <a:t>3</a:t>
            </a:fld>
            <a:endParaRPr lang="en-US" altLang="zh-CN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850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0994807-4934-40CC-AED9-B1D66D48777A}" type="slidenum">
              <a:rPr lang="zh-CN" altLang="en-US" sz="1200">
                <a:latin typeface="Arial" charset="0"/>
              </a:rPr>
              <a:pPr algn="r"/>
              <a:t>4</a:t>
            </a:fld>
            <a:endParaRPr lang="en-US" altLang="zh-CN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345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0994807-4934-40CC-AED9-B1D66D48777A}" type="slidenum">
              <a:rPr lang="zh-CN" altLang="en-US" sz="1200">
                <a:latin typeface="Arial" charset="0"/>
              </a:rPr>
              <a:pPr algn="r"/>
              <a:t>5</a:t>
            </a:fld>
            <a:endParaRPr lang="en-US" altLang="zh-CN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602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 txBox="1">
            <a:spLocks noChangeArrowheads="1"/>
          </p:cNvSpPr>
          <p:nvPr userDrawn="1"/>
        </p:nvSpPr>
        <p:spPr>
          <a:xfrm>
            <a:off x="0" y="6572250"/>
            <a:ext cx="528638" cy="285750"/>
          </a:xfrm>
          <a:prstGeom prst="rect">
            <a:avLst/>
          </a:prstGeom>
        </p:spPr>
        <p:txBody>
          <a:bodyPr anchor="ctr"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rgbClr val="CCFFFF"/>
                </a:solidFill>
                <a:latin typeface="+mn-lt"/>
                <a:ea typeface="+mn-ea"/>
              </a:rPr>
              <a:t>CHS</a:t>
            </a:r>
            <a:endParaRPr lang="en-US" altLang="zh-CN" sz="1050" dirty="0">
              <a:solidFill>
                <a:srgbClr val="CCFFFF"/>
              </a:solidFill>
              <a:latin typeface="+mn-lt"/>
              <a:ea typeface="+mn-ea"/>
            </a:endParaRPr>
          </a:p>
        </p:txBody>
      </p:sp>
      <p:sp>
        <p:nvSpPr>
          <p:cNvPr id="4" name="标题占位符 1"/>
          <p:cNvSpPr>
            <a:spLocks noGrp="1"/>
          </p:cNvSpPr>
          <p:nvPr>
            <p:ph type="title"/>
          </p:nvPr>
        </p:nvSpPr>
        <p:spPr bwMode="auto">
          <a:xfrm>
            <a:off x="1071538" y="274638"/>
            <a:ext cx="70723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idx="1"/>
          </p:nvPr>
        </p:nvSpPr>
        <p:spPr bwMode="auto">
          <a:xfrm>
            <a:off x="1071538" y="1600200"/>
            <a:ext cx="7072362" cy="4543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>
            <a:lvl1pPr marL="0" indent="0" algn="l">
              <a:buClr>
                <a:srgbClr val="008000"/>
              </a:buClr>
              <a:buFont typeface="Wingdings" pitchFamily="2" charset="2"/>
              <a:buChar char="F"/>
              <a:defRPr sz="2800">
                <a:solidFill>
                  <a:schemeClr val="tx1"/>
                </a:solidFill>
                <a:latin typeface="+mn-lt"/>
                <a:ea typeface="楷体" pitchFamily="49" charset="-122"/>
              </a:defRPr>
            </a:lvl1pPr>
          </a:lstStyle>
          <a:p>
            <a:pPr lvl="0"/>
            <a:endParaRPr lang="zh-CN" altLang="en-US" noProof="0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31200" y="6350000"/>
            <a:ext cx="384175" cy="1746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8B8EA8-FEF4-478D-ABA8-4C209810F16D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1" descr="H:\百度云同步盘\厦大\教学\本人教学\蓝天背景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3" name="标题占位符 1"/>
          <p:cNvSpPr>
            <a:spLocks noGrp="1"/>
          </p:cNvSpPr>
          <p:nvPr>
            <p:ph type="title"/>
          </p:nvPr>
        </p:nvSpPr>
        <p:spPr bwMode="auto">
          <a:xfrm>
            <a:off x="1071563" y="274638"/>
            <a:ext cx="70723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4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1071563" y="1600200"/>
            <a:ext cx="707231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2638" y="6286500"/>
            <a:ext cx="384175" cy="17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10800" rIns="91440" bIns="10800" numCol="1" anchor="ctr" anchorCtr="1" compatLnSpc="1">
            <a:prstTxWarp prst="textNoShape">
              <a:avLst/>
            </a:prstTxWarp>
            <a:spAutoFit/>
          </a:bodyPr>
          <a:lstStyle>
            <a:lvl1pPr algn="ctr">
              <a:defRPr sz="1000">
                <a:solidFill>
                  <a:srgbClr val="008000"/>
                </a:solidFill>
                <a:latin typeface="Calibri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EF412C1C-C041-4356-94F8-472E8C50C8E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7030A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7030A0"/>
          </a:solidFill>
          <a:latin typeface="华文新魏" pitchFamily="2" charset="-122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7030A0"/>
          </a:solidFill>
          <a:latin typeface="华文新魏" pitchFamily="2" charset="-122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7030A0"/>
          </a:solidFill>
          <a:latin typeface="华文新魏" pitchFamily="2" charset="-122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7030A0"/>
          </a:solidFill>
          <a:latin typeface="华文新魏" pitchFamily="2" charset="-122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7030A0"/>
          </a:solidFill>
          <a:latin typeface="华文新魏" pitchFamily="2" charset="-122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7030A0"/>
          </a:solidFill>
          <a:latin typeface="华文新魏" pitchFamily="2" charset="-122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7030A0"/>
          </a:solidFill>
          <a:latin typeface="华文新魏" pitchFamily="2" charset="-122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7030A0"/>
          </a:solidFill>
          <a:latin typeface="华文新魏" pitchFamily="2" charset="-122"/>
          <a:ea typeface="华文新魏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Clr>
          <a:srgbClr val="008000"/>
        </a:buClr>
        <a:buFont typeface="Wingdings" pitchFamily="2" charset="2"/>
        <a:buChar char="F"/>
        <a:defRPr sz="2800" b="1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期末考试题型与复习范围</a:t>
            </a:r>
            <a:br>
              <a:rPr lang="en-US" altLang="zh-CN" dirty="0"/>
            </a:br>
            <a:r>
              <a:rPr lang="zh-CN" altLang="en-US" dirty="0"/>
              <a:t>（数据结构与算法）</a:t>
            </a:r>
            <a:endParaRPr lang="zh-CN" altLang="zh-CN" dirty="0"/>
          </a:p>
        </p:txBody>
      </p:sp>
      <p:sp>
        <p:nvSpPr>
          <p:cNvPr id="5123" name="内容占位符 4"/>
          <p:cNvSpPr>
            <a:spLocks noGrp="1"/>
          </p:cNvSpPr>
          <p:nvPr>
            <p:ph idx="1"/>
          </p:nvPr>
        </p:nvSpPr>
        <p:spPr>
          <a:xfrm>
            <a:off x="899592" y="1556792"/>
            <a:ext cx="7244878" cy="4853136"/>
          </a:xfrm>
        </p:spPr>
        <p:txBody>
          <a:bodyPr/>
          <a:lstStyle/>
          <a:p>
            <a:r>
              <a:rPr lang="zh-CN" altLang="zh-CN" dirty="0"/>
              <a:t>期末考试形式</a:t>
            </a:r>
            <a:r>
              <a:rPr lang="zh-CN" altLang="en-US" dirty="0"/>
              <a:t>：</a:t>
            </a:r>
            <a:endParaRPr lang="zh-CN" altLang="zh-CN" dirty="0"/>
          </a:p>
          <a:p>
            <a:pPr>
              <a:buNone/>
            </a:pPr>
            <a:r>
              <a:rPr lang="en-US" altLang="zh-CN" sz="2400" dirty="0"/>
              <a:t>            </a:t>
            </a:r>
            <a:r>
              <a:rPr lang="zh-CN" altLang="zh-CN" sz="2400" dirty="0"/>
              <a:t>笔试＋闭卷，百分制</a:t>
            </a:r>
          </a:p>
          <a:p>
            <a:r>
              <a:rPr lang="zh-CN" altLang="zh-CN" dirty="0"/>
              <a:t>总成绩构成</a:t>
            </a:r>
            <a:r>
              <a:rPr lang="zh-CN" altLang="en-US" dirty="0"/>
              <a:t>：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  </a:t>
            </a:r>
            <a:r>
              <a:rPr lang="zh-CN" altLang="zh-CN" sz="2400" dirty="0"/>
              <a:t>平时成绩</a:t>
            </a:r>
            <a:r>
              <a:rPr lang="en-US" altLang="zh-CN" sz="2400" dirty="0"/>
              <a:t>40% + </a:t>
            </a:r>
            <a:r>
              <a:rPr lang="zh-CN" altLang="zh-CN" sz="2400" dirty="0"/>
              <a:t>期中考试</a:t>
            </a:r>
            <a:r>
              <a:rPr lang="en-US" altLang="zh-CN" sz="2400" dirty="0"/>
              <a:t>10% + </a:t>
            </a:r>
            <a:r>
              <a:rPr lang="zh-CN" altLang="zh-CN" sz="2400" dirty="0"/>
              <a:t>期末成绩</a:t>
            </a:r>
            <a:r>
              <a:rPr lang="en-US" altLang="zh-CN" sz="2400" dirty="0"/>
              <a:t>50%</a:t>
            </a:r>
            <a:endParaRPr lang="zh-CN" altLang="zh-CN" sz="2400" dirty="0"/>
          </a:p>
          <a:p>
            <a:pPr>
              <a:buNone/>
            </a:pPr>
            <a:r>
              <a:rPr lang="en-US" altLang="zh-CN" dirty="0"/>
              <a:t>    </a:t>
            </a:r>
            <a:r>
              <a:rPr lang="zh-CN" altLang="zh-CN" sz="2400" dirty="0"/>
              <a:t>其中，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</a:t>
            </a:r>
            <a:r>
              <a:rPr lang="zh-CN" altLang="zh-CN" sz="2400" dirty="0"/>
              <a:t>平时成绩包括考勤、作业和实验成绩等</a:t>
            </a:r>
            <a:endParaRPr lang="zh-CN" altLang="en-US" sz="2400" dirty="0"/>
          </a:p>
        </p:txBody>
      </p:sp>
      <p:sp>
        <p:nvSpPr>
          <p:cNvPr id="8196" name="Rectangle 6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590B7DD-5561-412A-9983-AC586FC26D16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期末考试题型</a:t>
            </a:r>
            <a:endParaRPr lang="zh-CN" altLang="en-US" sz="1600" b="0" dirty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内容占位符 4"/>
          <p:cNvSpPr>
            <a:spLocks noGrp="1"/>
          </p:cNvSpPr>
          <p:nvPr>
            <p:ph idx="1"/>
          </p:nvPr>
        </p:nvSpPr>
        <p:spPr>
          <a:xfrm>
            <a:off x="683568" y="1617418"/>
            <a:ext cx="7316886" cy="4757758"/>
          </a:xfrm>
        </p:spPr>
        <p:txBody>
          <a:bodyPr/>
          <a:lstStyle/>
          <a:p>
            <a:pPr>
              <a:buNone/>
            </a:pPr>
            <a:r>
              <a:rPr lang="zh-CN" altLang="zh-CN" dirty="0"/>
              <a:t>一．单选题</a:t>
            </a:r>
            <a:r>
              <a:rPr lang="en-US" altLang="zh-CN" dirty="0"/>
              <a:t> (</a:t>
            </a:r>
            <a:r>
              <a:rPr lang="zh-CN" altLang="zh-CN" dirty="0"/>
              <a:t>含</a:t>
            </a:r>
            <a:r>
              <a:rPr lang="en-US" altLang="zh-CN" dirty="0"/>
              <a:t>20</a:t>
            </a:r>
            <a:r>
              <a:rPr lang="zh-CN" altLang="zh-CN" dirty="0"/>
              <a:t>个小题，每小题</a:t>
            </a:r>
            <a:r>
              <a:rPr lang="en-US" altLang="zh-CN" dirty="0"/>
              <a:t>2</a:t>
            </a:r>
            <a:r>
              <a:rPr lang="zh-CN" altLang="zh-CN" dirty="0"/>
              <a:t>分，计</a:t>
            </a:r>
            <a:r>
              <a:rPr lang="en-US" altLang="zh-CN" dirty="0"/>
              <a:t>40</a:t>
            </a:r>
            <a:r>
              <a:rPr lang="zh-CN" altLang="zh-CN" dirty="0"/>
              <a:t>分</a:t>
            </a:r>
            <a:r>
              <a:rPr lang="en-US" altLang="zh-CN" dirty="0"/>
              <a:t>)</a:t>
            </a:r>
          </a:p>
          <a:p>
            <a:pPr>
              <a:buNone/>
            </a:pPr>
            <a:r>
              <a:rPr lang="en-US" altLang="zh-CN" dirty="0"/>
              <a:t>       </a:t>
            </a:r>
            <a:r>
              <a:rPr lang="zh-CN" altLang="en-US" sz="2400" dirty="0"/>
              <a:t>绪论、</a:t>
            </a:r>
            <a:r>
              <a:rPr lang="zh-CN" altLang="zh-CN" sz="2400" dirty="0"/>
              <a:t>表结构</a:t>
            </a:r>
            <a:r>
              <a:rPr lang="zh-CN" altLang="en-US" sz="2400" dirty="0"/>
              <a:t>、</a:t>
            </a:r>
            <a:r>
              <a:rPr lang="zh-CN" altLang="zh-CN" sz="2400" dirty="0"/>
              <a:t>树结构</a:t>
            </a:r>
            <a:r>
              <a:rPr lang="zh-CN" altLang="en-US" sz="2400" dirty="0"/>
              <a:t>、</a:t>
            </a:r>
            <a:r>
              <a:rPr lang="zh-CN" altLang="zh-CN" sz="2400" dirty="0"/>
              <a:t>图结构</a:t>
            </a:r>
            <a:r>
              <a:rPr lang="zh-CN" altLang="en-US" sz="2400" dirty="0"/>
              <a:t>、</a:t>
            </a:r>
            <a:r>
              <a:rPr lang="zh-CN" altLang="zh-CN" sz="2400" dirty="0"/>
              <a:t>查找</a:t>
            </a:r>
            <a:r>
              <a:rPr lang="zh-CN" altLang="en-US" sz="2400" dirty="0"/>
              <a:t>、</a:t>
            </a:r>
            <a:r>
              <a:rPr lang="zh-CN" altLang="zh-CN" sz="2400" dirty="0"/>
              <a:t>排序</a:t>
            </a:r>
            <a:endParaRPr lang="en-US" altLang="zh-CN" dirty="0"/>
          </a:p>
          <a:p>
            <a:pPr>
              <a:buNone/>
            </a:pPr>
            <a:r>
              <a:rPr lang="zh-CN" altLang="zh-CN" dirty="0"/>
              <a:t>二．简答题</a:t>
            </a:r>
            <a:r>
              <a:rPr lang="en-US" altLang="zh-CN" dirty="0"/>
              <a:t> (</a:t>
            </a:r>
            <a:r>
              <a:rPr lang="zh-CN" altLang="zh-CN" dirty="0"/>
              <a:t>含</a:t>
            </a:r>
            <a:r>
              <a:rPr lang="en-US" altLang="zh-CN" dirty="0"/>
              <a:t>5</a:t>
            </a:r>
            <a:r>
              <a:rPr lang="zh-CN" altLang="zh-CN" dirty="0"/>
              <a:t>个小题，每小题</a:t>
            </a:r>
            <a:r>
              <a:rPr lang="en-US" altLang="zh-CN" dirty="0"/>
              <a:t>6</a:t>
            </a:r>
            <a:r>
              <a:rPr lang="zh-CN" altLang="zh-CN" dirty="0"/>
              <a:t>分，计</a:t>
            </a:r>
            <a:r>
              <a:rPr lang="en-US" altLang="zh-CN" dirty="0"/>
              <a:t>30</a:t>
            </a:r>
            <a:r>
              <a:rPr lang="zh-CN" altLang="zh-CN" dirty="0"/>
              <a:t>分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buNone/>
            </a:pPr>
            <a:r>
              <a:rPr lang="zh-CN" altLang="en-US" sz="2400" dirty="0"/>
              <a:t>        绪论、</a:t>
            </a:r>
            <a:r>
              <a:rPr lang="zh-CN" altLang="zh-CN" sz="2400" dirty="0"/>
              <a:t>表结构</a:t>
            </a:r>
            <a:r>
              <a:rPr lang="zh-CN" altLang="en-US" sz="2400" dirty="0"/>
              <a:t>、</a:t>
            </a:r>
            <a:r>
              <a:rPr lang="zh-CN" altLang="zh-CN" sz="2400" dirty="0"/>
              <a:t>树结构</a:t>
            </a:r>
            <a:r>
              <a:rPr lang="zh-CN" altLang="en-US" sz="2400" dirty="0"/>
              <a:t>、</a:t>
            </a:r>
            <a:r>
              <a:rPr lang="zh-CN" altLang="zh-CN" sz="2400" dirty="0"/>
              <a:t>图结构</a:t>
            </a:r>
            <a:r>
              <a:rPr lang="zh-CN" altLang="en-US" sz="2400" dirty="0"/>
              <a:t>、</a:t>
            </a:r>
            <a:r>
              <a:rPr lang="zh-CN" altLang="zh-CN" sz="2400" dirty="0"/>
              <a:t>查找</a:t>
            </a:r>
            <a:r>
              <a:rPr lang="zh-CN" altLang="en-US" sz="2400" dirty="0"/>
              <a:t>、</a:t>
            </a:r>
            <a:r>
              <a:rPr lang="zh-CN" altLang="zh-CN" sz="2400" dirty="0"/>
              <a:t>排序</a:t>
            </a:r>
            <a:endParaRPr lang="en-US" altLang="zh-CN" dirty="0"/>
          </a:p>
          <a:p>
            <a:pPr>
              <a:buNone/>
            </a:pPr>
            <a:r>
              <a:rPr lang="zh-CN" altLang="zh-CN" dirty="0"/>
              <a:t>三．设计题</a:t>
            </a:r>
            <a:r>
              <a:rPr lang="en-US" altLang="zh-CN" dirty="0"/>
              <a:t> (</a:t>
            </a:r>
            <a:r>
              <a:rPr lang="zh-CN" altLang="zh-CN" dirty="0"/>
              <a:t>含</a:t>
            </a:r>
            <a:r>
              <a:rPr lang="en-US" altLang="zh-CN" dirty="0"/>
              <a:t>3</a:t>
            </a:r>
            <a:r>
              <a:rPr lang="zh-CN" altLang="zh-CN" dirty="0"/>
              <a:t>个小题，每小题</a:t>
            </a:r>
            <a:r>
              <a:rPr lang="en-US" altLang="zh-CN" dirty="0"/>
              <a:t>10</a:t>
            </a:r>
            <a:r>
              <a:rPr lang="zh-CN" altLang="zh-CN" dirty="0"/>
              <a:t>分，计</a:t>
            </a:r>
            <a:r>
              <a:rPr lang="en-US" altLang="zh-CN" dirty="0"/>
              <a:t>30</a:t>
            </a:r>
            <a:r>
              <a:rPr lang="zh-CN" altLang="zh-CN" dirty="0"/>
              <a:t>分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   </a:t>
            </a:r>
            <a:r>
              <a:rPr lang="zh-CN" altLang="zh-CN" sz="2400" dirty="0"/>
              <a:t>表算法</a:t>
            </a:r>
            <a:r>
              <a:rPr lang="zh-CN" altLang="en-US" sz="2400" dirty="0"/>
              <a:t>、</a:t>
            </a:r>
            <a:r>
              <a:rPr lang="zh-CN" altLang="zh-CN" sz="2400" dirty="0"/>
              <a:t>树算法</a:t>
            </a:r>
            <a:r>
              <a:rPr lang="zh-CN" altLang="en-US" sz="2400" dirty="0"/>
              <a:t>、</a:t>
            </a:r>
            <a:r>
              <a:rPr lang="zh-CN" altLang="zh-CN" sz="2400" dirty="0"/>
              <a:t>图算法</a:t>
            </a:r>
          </a:p>
          <a:p>
            <a:pPr marL="446088" indent="-357188">
              <a:defRPr/>
            </a:pPr>
            <a:endParaRPr lang="en-US" altLang="zh-CN" dirty="0"/>
          </a:p>
        </p:txBody>
      </p:sp>
      <p:sp>
        <p:nvSpPr>
          <p:cNvPr id="8196" name="Rectangle 6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590B7DD-5561-412A-9983-AC586FC26D16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4"/>
          <p:cNvSpPr>
            <a:spLocks noGrp="1"/>
          </p:cNvSpPr>
          <p:nvPr>
            <p:ph type="title"/>
          </p:nvPr>
        </p:nvSpPr>
        <p:spPr>
          <a:xfrm>
            <a:off x="1071538" y="274638"/>
            <a:ext cx="7072362" cy="634082"/>
          </a:xfrm>
        </p:spPr>
        <p:txBody>
          <a:bodyPr/>
          <a:lstStyle/>
          <a:p>
            <a:r>
              <a:rPr lang="zh-CN" altLang="zh-CN" dirty="0"/>
              <a:t>期末复习范围</a:t>
            </a:r>
          </a:p>
        </p:txBody>
      </p:sp>
      <p:sp>
        <p:nvSpPr>
          <p:cNvPr id="5123" name="内容占位符 4"/>
          <p:cNvSpPr>
            <a:spLocks noGrp="1"/>
          </p:cNvSpPr>
          <p:nvPr>
            <p:ph idx="1"/>
          </p:nvPr>
        </p:nvSpPr>
        <p:spPr>
          <a:xfrm>
            <a:off x="799590" y="1124744"/>
            <a:ext cx="7316886" cy="4757758"/>
          </a:xfrm>
        </p:spPr>
        <p:txBody>
          <a:bodyPr/>
          <a:lstStyle/>
          <a:p>
            <a:r>
              <a:rPr lang="zh-CN" altLang="en-US" sz="2400" dirty="0"/>
              <a:t>绪论：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dirty="0"/>
              <a:t>       </a:t>
            </a:r>
            <a:r>
              <a:rPr lang="zh-CN" altLang="zh-CN" sz="2000" dirty="0"/>
              <a:t>数据结构基本概念</a:t>
            </a:r>
            <a:r>
              <a:rPr lang="zh-CN" altLang="en-US" sz="2000" dirty="0"/>
              <a:t>、</a:t>
            </a:r>
            <a:r>
              <a:rPr lang="zh-CN" altLang="zh-CN" sz="2000" dirty="0"/>
              <a:t>算法及其复杂性</a:t>
            </a:r>
          </a:p>
          <a:p>
            <a:r>
              <a:rPr lang="zh-CN" altLang="zh-CN" sz="2400" dirty="0"/>
              <a:t>线性表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dirty="0"/>
              <a:t>      </a:t>
            </a:r>
            <a:r>
              <a:rPr lang="zh-CN" altLang="zh-CN" sz="2000" dirty="0"/>
              <a:t>顺序表</a:t>
            </a:r>
            <a:r>
              <a:rPr lang="zh-CN" altLang="en-US" sz="2000" dirty="0"/>
              <a:t>；</a:t>
            </a:r>
            <a:r>
              <a:rPr lang="zh-CN" altLang="zh-CN" sz="2000" dirty="0"/>
              <a:t>链表；循环链表；双向链表</a:t>
            </a:r>
            <a:r>
              <a:rPr lang="zh-CN" altLang="en-US" sz="2000" dirty="0"/>
              <a:t>；</a:t>
            </a:r>
            <a:r>
              <a:rPr lang="zh-CN" altLang="zh-CN" sz="2000" dirty="0"/>
              <a:t>栈；队列；循环队列</a:t>
            </a:r>
          </a:p>
          <a:p>
            <a:pPr>
              <a:buNone/>
            </a:pPr>
            <a:r>
              <a:rPr lang="en-US" altLang="zh-CN" sz="2000" dirty="0"/>
              <a:t>     </a:t>
            </a:r>
            <a:r>
              <a:rPr lang="zh-CN" altLang="zh-CN" sz="2000" dirty="0"/>
              <a:t>括号匹配检验；算术表达式求值</a:t>
            </a:r>
            <a:r>
              <a:rPr lang="zh-CN" altLang="en-US" sz="2000" dirty="0"/>
              <a:t>；串；数组；广义表</a:t>
            </a:r>
            <a:endParaRPr lang="zh-CN" altLang="zh-CN" sz="2000" dirty="0"/>
          </a:p>
          <a:p>
            <a:r>
              <a:rPr lang="zh-CN" altLang="en-US" sz="2400" dirty="0"/>
              <a:t>树：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dirty="0"/>
              <a:t>     </a:t>
            </a:r>
            <a:r>
              <a:rPr lang="zh-CN" altLang="zh-CN" sz="2000" dirty="0"/>
              <a:t>树的基本概念；二叉树的性质与存储结构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</a:t>
            </a:r>
            <a:r>
              <a:rPr lang="zh-CN" altLang="zh-CN" sz="2000" dirty="0"/>
              <a:t>二叉树遍历的递归算法</a:t>
            </a:r>
            <a:r>
              <a:rPr lang="zh-CN" altLang="en-US" sz="2000" dirty="0"/>
              <a:t>；</a:t>
            </a:r>
            <a:r>
              <a:rPr lang="zh-CN" altLang="zh-CN" sz="2000" dirty="0"/>
              <a:t>线索化二叉树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</a:t>
            </a:r>
            <a:r>
              <a:rPr lang="zh-CN" altLang="zh-CN" sz="2000" dirty="0"/>
              <a:t>哈夫曼树；哈夫曼编码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</a:t>
            </a:r>
            <a:r>
              <a:rPr lang="zh-CN" altLang="zh-CN" sz="2000" dirty="0"/>
              <a:t>树的存储结构</a:t>
            </a:r>
            <a:r>
              <a:rPr lang="en-US" altLang="zh-CN" sz="2000" dirty="0"/>
              <a:t>(</a:t>
            </a:r>
            <a:r>
              <a:rPr lang="zh-CN" altLang="zh-CN" sz="2000" dirty="0"/>
              <a:t>三种基本存储结构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 marL="446088" indent="-357188">
              <a:defRPr/>
            </a:pPr>
            <a:endParaRPr lang="en-US" altLang="zh-CN" sz="2400" dirty="0"/>
          </a:p>
        </p:txBody>
      </p:sp>
      <p:sp>
        <p:nvSpPr>
          <p:cNvPr id="8196" name="Rectangle 6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590B7DD-5561-412A-9983-AC586FC26D16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026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4"/>
          <p:cNvSpPr>
            <a:spLocks noGrp="1"/>
          </p:cNvSpPr>
          <p:nvPr>
            <p:ph type="title"/>
          </p:nvPr>
        </p:nvSpPr>
        <p:spPr>
          <a:xfrm>
            <a:off x="1071538" y="274638"/>
            <a:ext cx="7072362" cy="634082"/>
          </a:xfrm>
        </p:spPr>
        <p:txBody>
          <a:bodyPr/>
          <a:lstStyle/>
          <a:p>
            <a:r>
              <a:rPr lang="zh-CN" altLang="zh-CN" dirty="0"/>
              <a:t>期末复习范围</a:t>
            </a:r>
          </a:p>
        </p:txBody>
      </p:sp>
      <p:sp>
        <p:nvSpPr>
          <p:cNvPr id="5123" name="内容占位符 4"/>
          <p:cNvSpPr>
            <a:spLocks noGrp="1"/>
          </p:cNvSpPr>
          <p:nvPr>
            <p:ph idx="1"/>
          </p:nvPr>
        </p:nvSpPr>
        <p:spPr>
          <a:xfrm>
            <a:off x="648072" y="1052736"/>
            <a:ext cx="7704856" cy="5297264"/>
          </a:xfrm>
        </p:spPr>
        <p:txBody>
          <a:bodyPr/>
          <a:lstStyle/>
          <a:p>
            <a:r>
              <a:rPr lang="zh-CN" altLang="en-US" sz="2400" dirty="0"/>
              <a:t>图：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图的基本概念与存储结构</a:t>
            </a:r>
            <a:r>
              <a:rPr lang="en-US" altLang="zh-CN" sz="2000" dirty="0"/>
              <a:t>(</a:t>
            </a:r>
            <a:r>
              <a:rPr lang="zh-CN" altLang="zh-CN" sz="2000" dirty="0"/>
              <a:t>邻接矩阵、邻接表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pPr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深度优先搜索遍历；广度优先搜索遍历；简单路径</a:t>
            </a:r>
            <a:r>
              <a:rPr lang="zh-CN" altLang="en-US" sz="2000" dirty="0"/>
              <a:t>；</a:t>
            </a:r>
            <a:endParaRPr lang="zh-CN" altLang="zh-CN" sz="2000" dirty="0"/>
          </a:p>
          <a:p>
            <a:pPr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最小生成树；</a:t>
            </a:r>
            <a:r>
              <a:rPr lang="en-US" altLang="zh-CN" sz="2000" dirty="0"/>
              <a:t>Prim</a:t>
            </a:r>
            <a:r>
              <a:rPr lang="zh-CN" altLang="zh-CN" sz="2000" dirty="0"/>
              <a:t>算法；</a:t>
            </a:r>
            <a:r>
              <a:rPr lang="en-US" altLang="zh-CN" sz="2000" dirty="0" err="1"/>
              <a:t>Kruskal</a:t>
            </a:r>
            <a:r>
              <a:rPr lang="zh-CN" altLang="zh-CN" sz="2000" dirty="0"/>
              <a:t>算法</a:t>
            </a:r>
            <a:r>
              <a:rPr lang="zh-CN" altLang="en-US" sz="2000" dirty="0"/>
              <a:t>；</a:t>
            </a:r>
            <a:r>
              <a:rPr lang="zh-CN" altLang="zh-CN" sz="2000" dirty="0"/>
              <a:t>有向无环图；拓扑排序；</a:t>
            </a:r>
            <a:endParaRPr lang="en-US" altLang="zh-CN" sz="2000" dirty="0"/>
          </a:p>
          <a:p>
            <a:pPr>
              <a:buNone/>
            </a:pPr>
            <a:r>
              <a:rPr lang="zh-CN" altLang="en-US" sz="2000"/>
              <a:t>    </a:t>
            </a:r>
            <a:r>
              <a:rPr lang="zh-CN" altLang="zh-CN" sz="2000"/>
              <a:t>关键</a:t>
            </a:r>
            <a:r>
              <a:rPr lang="zh-CN" altLang="zh-CN" sz="2000" dirty="0"/>
              <a:t>路径</a:t>
            </a:r>
            <a:r>
              <a:rPr lang="zh-CN" altLang="en-US" sz="2000" dirty="0"/>
              <a:t>；</a:t>
            </a:r>
            <a:r>
              <a:rPr lang="zh-CN" altLang="zh-CN" sz="2000" dirty="0"/>
              <a:t>最短路径；</a:t>
            </a:r>
            <a:r>
              <a:rPr lang="en-US" altLang="zh-CN" sz="2000" dirty="0"/>
              <a:t>Dijkstra</a:t>
            </a:r>
            <a:r>
              <a:rPr lang="zh-CN" altLang="zh-CN" sz="2000" dirty="0"/>
              <a:t>算法</a:t>
            </a:r>
            <a:r>
              <a:rPr lang="zh-CN" altLang="en-US" sz="2000" dirty="0"/>
              <a:t>；</a:t>
            </a:r>
            <a:r>
              <a:rPr lang="en-US" altLang="zh-CN" sz="2000" dirty="0"/>
              <a:t>Floyd </a:t>
            </a:r>
            <a:r>
              <a:rPr lang="zh-CN" altLang="en-US" sz="2000" dirty="0"/>
              <a:t>算法；</a:t>
            </a:r>
            <a:endParaRPr lang="zh-CN" altLang="zh-CN" sz="2000" dirty="0"/>
          </a:p>
          <a:p>
            <a:r>
              <a:rPr lang="zh-CN" altLang="en-US" sz="2400" dirty="0"/>
              <a:t>查找：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顺序查找；折半查找；二叉排序树；平衡二叉树；</a:t>
            </a:r>
          </a:p>
          <a:p>
            <a:pPr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哈希表基本概念；哈希函数；处理冲突方法</a:t>
            </a:r>
          </a:p>
          <a:p>
            <a:r>
              <a:rPr lang="zh-CN" altLang="en-US" sz="2400" dirty="0"/>
              <a:t>排序：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插入排序；</a:t>
            </a:r>
            <a:r>
              <a:rPr lang="en-US" altLang="zh-CN" sz="2000" dirty="0"/>
              <a:t>shell</a:t>
            </a:r>
            <a:r>
              <a:rPr lang="zh-CN" altLang="en-US" sz="2000" dirty="0"/>
              <a:t> 排序；</a:t>
            </a:r>
            <a:r>
              <a:rPr lang="zh-CN" altLang="zh-CN" sz="2000" dirty="0"/>
              <a:t>选择排序；</a:t>
            </a:r>
            <a:r>
              <a:rPr lang="zh-CN" altLang="en-US" sz="2000" dirty="0"/>
              <a:t>冒</a:t>
            </a:r>
            <a:r>
              <a:rPr lang="zh-CN" altLang="zh-CN" sz="2000" dirty="0"/>
              <a:t>泡排序；归并排序</a:t>
            </a:r>
          </a:p>
          <a:p>
            <a:pPr>
              <a:buNone/>
            </a:pPr>
            <a:r>
              <a:rPr lang="en-US" altLang="zh-CN" sz="2000" dirty="0"/>
              <a:t>    </a:t>
            </a:r>
            <a:r>
              <a:rPr lang="zh-CN" altLang="zh-CN" sz="2000" dirty="0"/>
              <a:t>快速排序；堆排序；树形选择排序；基数排序</a:t>
            </a:r>
          </a:p>
        </p:txBody>
      </p:sp>
      <p:sp>
        <p:nvSpPr>
          <p:cNvPr id="8196" name="Rectangle 6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590B7DD-5561-412A-9983-AC586FC26D16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7212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4"/>
          <p:cNvSpPr>
            <a:spLocks noGrp="1"/>
          </p:cNvSpPr>
          <p:nvPr>
            <p:ph type="title"/>
          </p:nvPr>
        </p:nvSpPr>
        <p:spPr>
          <a:xfrm>
            <a:off x="1043608" y="3068960"/>
            <a:ext cx="7072362" cy="634082"/>
          </a:xfrm>
        </p:spPr>
        <p:txBody>
          <a:bodyPr/>
          <a:lstStyle/>
          <a:p>
            <a:r>
              <a:rPr lang="zh-CN" altLang="en-US" dirty="0"/>
              <a:t>预祝大家考试顺利！</a:t>
            </a:r>
            <a:endParaRPr lang="zh-CN" altLang="zh-CN" dirty="0"/>
          </a:p>
        </p:txBody>
      </p:sp>
      <p:sp>
        <p:nvSpPr>
          <p:cNvPr id="8196" name="Rectangle 6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590B7DD-5561-412A-9983-AC586FC26D16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967253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主题">
      <a:majorFont>
        <a:latin typeface="华文新魏"/>
        <a:ea typeface="华文新魏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 Introduction" id="{26C06E20-9DF8-4D80-94EF-EA3DDB75E999}" vid="{D844E48E-ED25-45C1-A8C1-28DE40C949B8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5286</TotalTime>
  <Words>421</Words>
  <Application>Microsoft Macintosh PowerPoint</Application>
  <PresentationFormat>全屏显示(4:3)</PresentationFormat>
  <Paragraphs>48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华文新魏</vt:lpstr>
      <vt:lpstr>楷体</vt:lpstr>
      <vt:lpstr>Arial</vt:lpstr>
      <vt:lpstr>Calibri</vt:lpstr>
      <vt:lpstr>Times New Roman</vt:lpstr>
      <vt:lpstr>Wingdings</vt:lpstr>
      <vt:lpstr>2_Office 主题</vt:lpstr>
      <vt:lpstr>期末考试题型与复习范围 （数据结构与算法）</vt:lpstr>
      <vt:lpstr>期末考试题型</vt:lpstr>
      <vt:lpstr>期末复习范围</vt:lpstr>
      <vt:lpstr>期末复习范围</vt:lpstr>
      <vt:lpstr>预祝大家考试顺利！</vt:lpstr>
    </vt:vector>
  </TitlesOfParts>
  <Company>xmu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chs</dc:creator>
  <cp:lastModifiedBy>Minghong Liao</cp:lastModifiedBy>
  <cp:revision>501</cp:revision>
  <dcterms:created xsi:type="dcterms:W3CDTF">2012-05-18T09:12:50Z</dcterms:created>
  <dcterms:modified xsi:type="dcterms:W3CDTF">2024-12-19T01:27:41Z</dcterms:modified>
</cp:coreProperties>
</file>