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1" r:id="rId4"/>
    <p:sldId id="265" r:id="rId6"/>
    <p:sldId id="292" r:id="rId7"/>
    <p:sldId id="270" r:id="rId8"/>
    <p:sldId id="285" r:id="rId9"/>
    <p:sldId id="290" r:id="rId10"/>
    <p:sldId id="291" r:id="rId11"/>
    <p:sldId id="293" r:id="rId12"/>
    <p:sldId id="295" r:id="rId13"/>
    <p:sldId id="286" r:id="rId14"/>
    <p:sldId id="271" r:id="rId15"/>
    <p:sldId id="296" r:id="rId16"/>
    <p:sldId id="297" r:id="rId17"/>
    <p:sldId id="28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07C37"/>
    <a:srgbClr val="E07C36"/>
    <a:srgbClr val="DD6D21"/>
    <a:srgbClr val="EAA372"/>
    <a:srgbClr val="F6D6C0"/>
    <a:srgbClr val="BACDF4"/>
    <a:srgbClr val="5786E3"/>
    <a:srgbClr val="6F97E7"/>
    <a:srgbClr val="112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142CF-922A-4443-AA59-79B0CF14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CDE63-D6C1-4442-B6A4-1B30120525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CDE63-D6C1-4442-B6A4-1B30120525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我们选择在</a:t>
            </a:r>
            <a:r>
              <a:rPr lang="en-US" altLang="zh-CN"/>
              <a:t> Kaggle </a:t>
            </a:r>
            <a:r>
              <a:rPr lang="zh-CN" altLang="en-US"/>
              <a:t>平台上运行代码，它提供免费的</a:t>
            </a:r>
            <a:r>
              <a:rPr lang="en-US" altLang="zh-CN"/>
              <a:t> NVIDIA T4 GPU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通过持续迭代，最终在</a:t>
            </a:r>
            <a:r>
              <a:rPr lang="en-US" altLang="zh-CN"/>
              <a:t> improved_v6 </a:t>
            </a:r>
            <a:r>
              <a:rPr lang="zh-CN" altLang="en-US"/>
              <a:t>实现了既提升整体准确率至</a:t>
            </a:r>
            <a:r>
              <a:rPr lang="en-US" altLang="zh-CN"/>
              <a:t>89.62%</a:t>
            </a:r>
            <a:r>
              <a:rPr lang="zh-CN" altLang="en-US"/>
              <a:t>，又将稀有类别（</a:t>
            </a:r>
            <a:r>
              <a:rPr lang="en-US" altLang="zh-CN"/>
              <a:t>akiec</a:t>
            </a:r>
            <a:r>
              <a:rPr lang="zh-CN" altLang="en-US"/>
              <a:t>、</a:t>
            </a:r>
            <a:r>
              <a:rPr lang="en-US" altLang="zh-CN"/>
              <a:t>df</a:t>
            </a:r>
            <a:r>
              <a:rPr lang="zh-CN" altLang="en-US"/>
              <a:t>）的</a:t>
            </a:r>
            <a:r>
              <a:rPr lang="en-US" altLang="zh-CN"/>
              <a:t>F1</a:t>
            </a:r>
            <a:r>
              <a:rPr lang="zh-CN" altLang="en-US"/>
              <a:t>分数提升</a:t>
            </a:r>
            <a:r>
              <a:rPr lang="en-US" altLang="zh-CN"/>
              <a:t>15-16</a:t>
            </a:r>
            <a:r>
              <a:rPr lang="zh-CN" altLang="en-US"/>
              <a:t>个百分点，证明了</a:t>
            </a:r>
            <a:r>
              <a:rPr lang="en-US" altLang="zh-CN"/>
              <a:t> EMA</a:t>
            </a:r>
            <a:r>
              <a:rPr lang="zh-CN" altLang="en-US"/>
              <a:t>（指数移动平均）</a:t>
            </a:r>
            <a:r>
              <a:rPr lang="en-US" altLang="zh-CN"/>
              <a:t>+ </a:t>
            </a:r>
            <a:r>
              <a:rPr lang="zh-CN" altLang="en-US"/>
              <a:t>温和正则化</a:t>
            </a:r>
            <a:r>
              <a:rPr lang="en-US" altLang="zh-CN"/>
              <a:t> </a:t>
            </a:r>
            <a:r>
              <a:rPr lang="zh-CN" altLang="en-US"/>
              <a:t>是该任务的最优策略组合。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半衰期</a:t>
            </a:r>
            <a:r>
              <a:rPr lang="en-US" altLang="zh-CN"/>
              <a:t> ≈ ln(0.5) / ln(0.999) ≈ 693 </a:t>
            </a:r>
            <a:r>
              <a:rPr lang="zh-CN" altLang="en-US"/>
              <a:t>步</a:t>
            </a:r>
            <a:r>
              <a:rPr lang="en-US" altLang="zh-CN"/>
              <a:t>。</a:t>
            </a:r>
            <a:r>
              <a:rPr lang="zh-CN" altLang="en-US"/>
              <a:t>一次更新虽然只吸收</a:t>
            </a:r>
            <a:r>
              <a:rPr lang="en-US" altLang="zh-CN"/>
              <a:t> 0.1%</a:t>
            </a:r>
            <a:r>
              <a:rPr lang="zh-CN" altLang="en-US"/>
              <a:t>，但大约</a:t>
            </a:r>
            <a:r>
              <a:rPr lang="en-US" altLang="zh-CN"/>
              <a:t> 700 </a:t>
            </a:r>
            <a:r>
              <a:rPr lang="zh-CN" altLang="en-US"/>
              <a:t>次迭代后，最初的参数权重已经被衰减到一半，</a:t>
            </a:r>
            <a:r>
              <a:rPr lang="en-US" altLang="zh-CN"/>
              <a:t>EMA </a:t>
            </a:r>
            <a:r>
              <a:rPr lang="zh-CN" altLang="en-US"/>
              <a:t>已经完全跟踪了模型的最新趋势。对于你的训练（</a:t>
            </a:r>
            <a:r>
              <a:rPr lang="en-US" altLang="zh-CN"/>
              <a:t>batch_size=32</a:t>
            </a:r>
            <a:r>
              <a:rPr lang="zh-CN" altLang="en-US"/>
              <a:t>，数据集约</a:t>
            </a:r>
            <a:r>
              <a:rPr lang="en-US" altLang="zh-CN"/>
              <a:t> 8000 </a:t>
            </a:r>
            <a:r>
              <a:rPr lang="zh-CN" altLang="en-US"/>
              <a:t>张，每轮约</a:t>
            </a:r>
            <a:r>
              <a:rPr lang="en-US" altLang="zh-CN"/>
              <a:t> 250 </a:t>
            </a:r>
            <a:r>
              <a:rPr lang="zh-CN" altLang="en-US"/>
              <a:t>步），</a:t>
            </a:r>
            <a:r>
              <a:rPr lang="en-US" altLang="zh-CN"/>
              <a:t>693 </a:t>
            </a:r>
            <a:r>
              <a:rPr lang="zh-CN" altLang="en-US"/>
              <a:t>步大约对应</a:t>
            </a:r>
            <a:r>
              <a:rPr lang="en-US" altLang="zh-CN"/>
              <a:t> 2~3 </a:t>
            </a:r>
            <a:r>
              <a:rPr lang="zh-CN" altLang="en-US"/>
              <a:t>个</a:t>
            </a:r>
            <a:r>
              <a:rPr lang="en-US" altLang="zh-CN"/>
              <a:t> epoch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</a:t>
            </a:r>
            <a:r>
              <a:rPr lang="en-US" altLang="zh-CN"/>
              <a:t> decay </a:t>
            </a:r>
            <a:r>
              <a:rPr lang="zh-CN" altLang="en-US"/>
              <a:t>太小（比如</a:t>
            </a:r>
            <a:r>
              <a:rPr lang="en-US" altLang="zh-CN"/>
              <a:t> 0.99</a:t>
            </a:r>
            <a:r>
              <a:rPr lang="zh-CN" altLang="en-US"/>
              <a:t>，即每次吸收</a:t>
            </a:r>
            <a:r>
              <a:rPr lang="en-US" altLang="zh-CN"/>
              <a:t> 1% </a:t>
            </a:r>
            <a:r>
              <a:rPr lang="zh-CN" altLang="en-US"/>
              <a:t>新值），</a:t>
            </a:r>
            <a:r>
              <a:rPr lang="en-US" altLang="zh-CN"/>
              <a:t>EMA </a:t>
            </a:r>
            <a:r>
              <a:rPr lang="zh-CN" altLang="en-US"/>
              <a:t>会过于敏感，失去平滑效果，几乎等同于原始模型，无法抑制噪声。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医学图像噪声大、少数类梯度不稳定，需要高度平滑，因此</a:t>
            </a:r>
            <a:r>
              <a:rPr lang="en-US" altLang="zh-CN"/>
              <a:t> 0.999 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我们选择在</a:t>
            </a:r>
            <a:r>
              <a:rPr lang="en-US" altLang="zh-CN"/>
              <a:t> Kaggle </a:t>
            </a:r>
            <a:r>
              <a:rPr lang="zh-CN" altLang="en-US"/>
              <a:t>平台上运行代码，它提供免费的</a:t>
            </a:r>
            <a:r>
              <a:rPr lang="en-US" altLang="zh-CN"/>
              <a:t> NVIDIA T4 GPU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我们选择在</a:t>
            </a:r>
            <a:r>
              <a:rPr lang="en-US" altLang="zh-CN"/>
              <a:t> Kaggle </a:t>
            </a:r>
            <a:r>
              <a:rPr lang="zh-CN" altLang="en-US"/>
              <a:t>平台上运行代码，它提供免费的</a:t>
            </a:r>
            <a:r>
              <a:rPr lang="en-US" altLang="zh-CN"/>
              <a:t> NVIDIA T4 GPU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我们选择在</a:t>
            </a:r>
            <a:r>
              <a:rPr lang="en-US" altLang="zh-CN"/>
              <a:t> Kaggle </a:t>
            </a:r>
            <a:r>
              <a:rPr lang="zh-CN" altLang="en-US"/>
              <a:t>平台上运行代码，它提供免费的</a:t>
            </a:r>
            <a:r>
              <a:rPr lang="en-US" altLang="zh-CN"/>
              <a:t> NVIDIA T4 GPU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CDE63-D6C1-4442-B6A4-1B30120525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/>
        </p:nvSpPr>
        <p:spPr>
          <a:xfrm>
            <a:off x="751616" y="-76174"/>
            <a:ext cx="3692132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学校信息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文本框 31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2959034" y="6463288"/>
            <a:ext cx="9327596" cy="127295"/>
            <a:chOff x="2959034" y="6463288"/>
            <a:chExt cx="9327596" cy="127295"/>
          </a:xfrm>
        </p:grpSpPr>
        <p:grpSp>
          <p:nvGrpSpPr>
            <p:cNvPr id="34" name="组合 33"/>
            <p:cNvGrpSpPr/>
            <p:nvPr/>
          </p:nvGrpSpPr>
          <p:grpSpPr>
            <a:xfrm>
              <a:off x="295903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40" name="直接连接符 139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412191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26" name="直接连接符 12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528479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12" name="直接连接符 11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6447668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98" name="直接连接符 97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7610546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/>
            <p:cNvGrpSpPr/>
            <p:nvPr/>
          </p:nvGrpSpPr>
          <p:grpSpPr>
            <a:xfrm>
              <a:off x="877342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70" name="直接连接符 69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/>
            <p:cNvGrpSpPr/>
            <p:nvPr/>
          </p:nvGrpSpPr>
          <p:grpSpPr>
            <a:xfrm>
              <a:off x="993630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>
              <a:off x="1109918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54" name="图片 153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: 圆角 153"/>
          <p:cNvSpPr/>
          <p:nvPr userDrawn="1"/>
        </p:nvSpPr>
        <p:spPr>
          <a:xfrm rot="21073391">
            <a:off x="-545641" y="3305078"/>
            <a:ext cx="13445063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/>
          <p:cNvSpPr/>
          <p:nvPr userDrawn="1"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文本框 158"/>
          <p:cNvSpPr txBox="1"/>
          <p:nvPr userDrawn="1"/>
        </p:nvSpPr>
        <p:spPr>
          <a:xfrm>
            <a:off x="805951" y="-64704"/>
            <a:ext cx="3510140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文化传统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0" name="矩形 159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: 圆角 161"/>
          <p:cNvSpPr/>
          <p:nvPr userDrawn="1"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3" name="组合 162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64" name="直接连接符 163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8" name="文本框 177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959034" y="6463288"/>
            <a:ext cx="9327596" cy="127295"/>
            <a:chOff x="2959034" y="6463288"/>
            <a:chExt cx="9327596" cy="127295"/>
          </a:xfrm>
        </p:grpSpPr>
        <p:grpSp>
          <p:nvGrpSpPr>
            <p:cNvPr id="180" name="组合 179"/>
            <p:cNvGrpSpPr/>
            <p:nvPr/>
          </p:nvGrpSpPr>
          <p:grpSpPr>
            <a:xfrm>
              <a:off x="295903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86" name="直接连接符 28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 28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9" name="直接连接符 29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组合 180"/>
            <p:cNvGrpSpPr/>
            <p:nvPr/>
          </p:nvGrpSpPr>
          <p:grpSpPr>
            <a:xfrm>
              <a:off x="412191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72" name="直接连接符 27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组合 181"/>
            <p:cNvGrpSpPr/>
            <p:nvPr/>
          </p:nvGrpSpPr>
          <p:grpSpPr>
            <a:xfrm>
              <a:off x="528479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58" name="直接连接符 257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组合 182"/>
            <p:cNvGrpSpPr/>
            <p:nvPr/>
          </p:nvGrpSpPr>
          <p:grpSpPr>
            <a:xfrm>
              <a:off x="6447668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44" name="直接连接符 243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/>
            <p:cNvGrpSpPr/>
            <p:nvPr/>
          </p:nvGrpSpPr>
          <p:grpSpPr>
            <a:xfrm>
              <a:off x="7610546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30" name="直接连接符 229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5" name="组合 184"/>
            <p:cNvGrpSpPr/>
            <p:nvPr/>
          </p:nvGrpSpPr>
          <p:grpSpPr>
            <a:xfrm>
              <a:off x="877342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16" name="直接连接符 21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6" name="组合 185"/>
            <p:cNvGrpSpPr/>
            <p:nvPr/>
          </p:nvGrpSpPr>
          <p:grpSpPr>
            <a:xfrm>
              <a:off x="993630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02" name="直接连接符 20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组合 186"/>
            <p:cNvGrpSpPr/>
            <p:nvPr/>
          </p:nvGrpSpPr>
          <p:grpSpPr>
            <a:xfrm>
              <a:off x="1109918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88" name="直接连接符 187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00" name="矩形: 圆角 299"/>
          <p:cNvSpPr/>
          <p:nvPr userDrawn="1"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: 圆角 300"/>
          <p:cNvSpPr/>
          <p:nvPr userDrawn="1"/>
        </p:nvSpPr>
        <p:spPr>
          <a:xfrm>
            <a:off x="4377311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矩形: 圆角 301"/>
          <p:cNvSpPr/>
          <p:nvPr userDrawn="1"/>
        </p:nvSpPr>
        <p:spPr>
          <a:xfrm>
            <a:off x="4473826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矩形: 圆角 302"/>
          <p:cNvSpPr/>
          <p:nvPr userDrawn="1"/>
        </p:nvSpPr>
        <p:spPr>
          <a:xfrm>
            <a:off x="8224590" y="1301612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矩形: 圆角 303"/>
          <p:cNvSpPr/>
          <p:nvPr userDrawn="1"/>
        </p:nvSpPr>
        <p:spPr>
          <a:xfrm>
            <a:off x="8321105" y="1366699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: 圆角 304"/>
          <p:cNvSpPr/>
          <p:nvPr userDrawn="1"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矩形: 圆角 305"/>
          <p:cNvSpPr/>
          <p:nvPr userDrawn="1"/>
        </p:nvSpPr>
        <p:spPr>
          <a:xfrm>
            <a:off x="4720363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: 圆角 306"/>
          <p:cNvSpPr/>
          <p:nvPr userDrawn="1"/>
        </p:nvSpPr>
        <p:spPr>
          <a:xfrm>
            <a:off x="8582667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文本框 307"/>
          <p:cNvSpPr txBox="1"/>
          <p:nvPr userDrawn="1"/>
        </p:nvSpPr>
        <p:spPr>
          <a:xfrm>
            <a:off x="1216785" y="5237729"/>
            <a:ext cx="197841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这里是小标题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文本框 308"/>
          <p:cNvSpPr txBox="1"/>
          <p:nvPr userDrawn="1"/>
        </p:nvSpPr>
        <p:spPr>
          <a:xfrm>
            <a:off x="4987334" y="5237729"/>
            <a:ext cx="1895078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这里是小标题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0" name="文本框 309"/>
          <p:cNvSpPr txBox="1"/>
          <p:nvPr userDrawn="1"/>
        </p:nvSpPr>
        <p:spPr>
          <a:xfrm>
            <a:off x="8785001" y="5252537"/>
            <a:ext cx="205784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这里是小标题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" name="内容占位符 316"/>
          <p:cNvSpPr>
            <a:spLocks noGrp="1"/>
          </p:cNvSpPr>
          <p:nvPr>
            <p:ph sz="quarter" idx="10"/>
          </p:nvPr>
        </p:nvSpPr>
        <p:spPr>
          <a:xfrm>
            <a:off x="900113" y="1584325"/>
            <a:ext cx="2622550" cy="3578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8" name="内容占位符 316"/>
          <p:cNvSpPr>
            <a:spLocks noGrp="1"/>
          </p:cNvSpPr>
          <p:nvPr>
            <p:ph sz="quarter" idx="11"/>
          </p:nvPr>
        </p:nvSpPr>
        <p:spPr>
          <a:xfrm>
            <a:off x="4652844" y="1584325"/>
            <a:ext cx="2622550" cy="3578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9" name="内容占位符 316"/>
          <p:cNvSpPr>
            <a:spLocks noGrp="1"/>
          </p:cNvSpPr>
          <p:nvPr>
            <p:ph sz="quarter" idx="12"/>
          </p:nvPr>
        </p:nvSpPr>
        <p:spPr>
          <a:xfrm>
            <a:off x="8519339" y="1574800"/>
            <a:ext cx="2622550" cy="3578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pic>
        <p:nvPicPr>
          <p:cNvPr id="311" name="图片 310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805543" y="-45109"/>
            <a:ext cx="3472448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历史沿革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29" name="组合 28"/>
          <p:cNvGrpSpPr/>
          <p:nvPr userDrawn="1"/>
        </p:nvGrpSpPr>
        <p:grpSpPr>
          <a:xfrm>
            <a:off x="2959034" y="6463288"/>
            <a:ext cx="1187450" cy="127295"/>
            <a:chOff x="-260350" y="6426200"/>
            <a:chExt cx="1218293" cy="120945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 userDrawn="1"/>
        </p:nvGrpSpPr>
        <p:grpSpPr>
          <a:xfrm>
            <a:off x="4121912" y="6463288"/>
            <a:ext cx="1187450" cy="127295"/>
            <a:chOff x="-260350" y="6426200"/>
            <a:chExt cx="1218293" cy="120945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 userDrawn="1"/>
        </p:nvGrpSpPr>
        <p:grpSpPr>
          <a:xfrm>
            <a:off x="5284790" y="6463288"/>
            <a:ext cx="1187450" cy="127295"/>
            <a:chOff x="-260350" y="6426200"/>
            <a:chExt cx="1218293" cy="120945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 userDrawn="1"/>
        </p:nvGrpSpPr>
        <p:grpSpPr>
          <a:xfrm>
            <a:off x="6447668" y="6463288"/>
            <a:ext cx="1187450" cy="127295"/>
            <a:chOff x="-260350" y="6426200"/>
            <a:chExt cx="1218293" cy="120945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 userDrawn="1"/>
        </p:nvGrpSpPr>
        <p:grpSpPr>
          <a:xfrm>
            <a:off x="7610546" y="6463288"/>
            <a:ext cx="1187450" cy="127295"/>
            <a:chOff x="-260350" y="6426200"/>
            <a:chExt cx="1218293" cy="120945"/>
          </a:xfrm>
        </p:grpSpPr>
        <p:cxnSp>
          <p:nvCxnSpPr>
            <p:cNvPr id="90" name="直接连接符 8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 userDrawn="1"/>
        </p:nvGrpSpPr>
        <p:grpSpPr>
          <a:xfrm>
            <a:off x="8773424" y="6463288"/>
            <a:ext cx="1187450" cy="127295"/>
            <a:chOff x="-260350" y="6426200"/>
            <a:chExt cx="1218293" cy="120945"/>
          </a:xfrm>
        </p:grpSpPr>
        <p:cxnSp>
          <p:nvCxnSpPr>
            <p:cNvPr id="105" name="直接连接符 10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 userDrawn="1"/>
        </p:nvGrpSpPr>
        <p:grpSpPr>
          <a:xfrm>
            <a:off x="9936302" y="6463288"/>
            <a:ext cx="1187450" cy="127295"/>
            <a:chOff x="-260350" y="6426200"/>
            <a:chExt cx="1218293" cy="120945"/>
          </a:xfrm>
        </p:grpSpPr>
        <p:cxnSp>
          <p:nvCxnSpPr>
            <p:cNvPr id="120" name="直接连接符 11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4" name="组合 133"/>
          <p:cNvGrpSpPr/>
          <p:nvPr userDrawn="1"/>
        </p:nvGrpSpPr>
        <p:grpSpPr>
          <a:xfrm>
            <a:off x="11099180" y="6463288"/>
            <a:ext cx="1187450" cy="127295"/>
            <a:chOff x="-260350" y="6426200"/>
            <a:chExt cx="1218293" cy="120945"/>
          </a:xfrm>
        </p:grpSpPr>
        <p:cxnSp>
          <p:nvCxnSpPr>
            <p:cNvPr id="135" name="直接连接符 13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49" name="图片 148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 userDrawn="1"/>
        </p:nvSpPr>
        <p:spPr>
          <a:xfrm>
            <a:off x="843643" y="-45109"/>
            <a:ext cx="3472448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师资力量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2959034" y="6463288"/>
            <a:ext cx="9327596" cy="127295"/>
            <a:chOff x="2959034" y="6463288"/>
            <a:chExt cx="9327596" cy="127295"/>
          </a:xfrm>
        </p:grpSpPr>
        <p:grpSp>
          <p:nvGrpSpPr>
            <p:cNvPr id="31" name="组合 30"/>
            <p:cNvGrpSpPr/>
            <p:nvPr/>
          </p:nvGrpSpPr>
          <p:grpSpPr>
            <a:xfrm>
              <a:off x="295903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37" name="直接连接符 136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>
              <a:off x="412191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23" name="直接连接符 122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/>
            <p:cNvGrpSpPr/>
            <p:nvPr/>
          </p:nvGrpSpPr>
          <p:grpSpPr>
            <a:xfrm>
              <a:off x="528479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6447668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95" name="直接连接符 94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7610546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81" name="直接连接符 80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877342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67" name="直接连接符 66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993630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1109918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51" name="图片 150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/>
        </p:nvSpPr>
        <p:spPr>
          <a:xfrm>
            <a:off x="751616" y="-76174"/>
            <a:ext cx="3692132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学校信息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文本框 31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2959034" y="6463288"/>
            <a:ext cx="9327596" cy="127295"/>
            <a:chOff x="2959034" y="6463288"/>
            <a:chExt cx="9327596" cy="127295"/>
          </a:xfrm>
        </p:grpSpPr>
        <p:grpSp>
          <p:nvGrpSpPr>
            <p:cNvPr id="34" name="组合 33"/>
            <p:cNvGrpSpPr/>
            <p:nvPr/>
          </p:nvGrpSpPr>
          <p:grpSpPr>
            <a:xfrm>
              <a:off x="295903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40" name="直接连接符 139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412191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26" name="直接连接符 12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528479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12" name="直接连接符 11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6447668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98" name="直接连接符 97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7610546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/>
            <p:cNvGrpSpPr/>
            <p:nvPr/>
          </p:nvGrpSpPr>
          <p:grpSpPr>
            <a:xfrm>
              <a:off x="877342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70" name="直接连接符 69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/>
            <p:cNvGrpSpPr/>
            <p:nvPr/>
          </p:nvGrpSpPr>
          <p:grpSpPr>
            <a:xfrm>
              <a:off x="993630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>
              <a:off x="1109918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54" name="图片 153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: 圆角 153"/>
          <p:cNvSpPr/>
          <p:nvPr userDrawn="1"/>
        </p:nvSpPr>
        <p:spPr>
          <a:xfrm rot="21073391">
            <a:off x="-545641" y="3305078"/>
            <a:ext cx="13445063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/>
          <p:cNvSpPr/>
          <p:nvPr userDrawn="1"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文本框 158"/>
          <p:cNvSpPr txBox="1"/>
          <p:nvPr userDrawn="1"/>
        </p:nvSpPr>
        <p:spPr>
          <a:xfrm>
            <a:off x="805951" y="-64704"/>
            <a:ext cx="3510140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文化传统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0" name="矩形 159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: 圆角 161"/>
          <p:cNvSpPr/>
          <p:nvPr userDrawn="1"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3" name="组合 162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64" name="直接连接符 163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8" name="文本框 177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959034" y="6463288"/>
            <a:ext cx="9327596" cy="127295"/>
            <a:chOff x="2959034" y="6463288"/>
            <a:chExt cx="9327596" cy="127295"/>
          </a:xfrm>
        </p:grpSpPr>
        <p:grpSp>
          <p:nvGrpSpPr>
            <p:cNvPr id="180" name="组合 179"/>
            <p:cNvGrpSpPr/>
            <p:nvPr/>
          </p:nvGrpSpPr>
          <p:grpSpPr>
            <a:xfrm>
              <a:off x="295903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86" name="直接连接符 28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 28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9" name="直接连接符 29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组合 180"/>
            <p:cNvGrpSpPr/>
            <p:nvPr/>
          </p:nvGrpSpPr>
          <p:grpSpPr>
            <a:xfrm>
              <a:off x="412191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72" name="直接连接符 27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组合 181"/>
            <p:cNvGrpSpPr/>
            <p:nvPr/>
          </p:nvGrpSpPr>
          <p:grpSpPr>
            <a:xfrm>
              <a:off x="528479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58" name="直接连接符 257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组合 182"/>
            <p:cNvGrpSpPr/>
            <p:nvPr/>
          </p:nvGrpSpPr>
          <p:grpSpPr>
            <a:xfrm>
              <a:off x="6447668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44" name="直接连接符 243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/>
            <p:cNvGrpSpPr/>
            <p:nvPr/>
          </p:nvGrpSpPr>
          <p:grpSpPr>
            <a:xfrm>
              <a:off x="7610546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30" name="直接连接符 229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5" name="组合 184"/>
            <p:cNvGrpSpPr/>
            <p:nvPr/>
          </p:nvGrpSpPr>
          <p:grpSpPr>
            <a:xfrm>
              <a:off x="877342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16" name="直接连接符 215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6" name="组合 185"/>
            <p:cNvGrpSpPr/>
            <p:nvPr/>
          </p:nvGrpSpPr>
          <p:grpSpPr>
            <a:xfrm>
              <a:off x="993630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202" name="直接连接符 201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组合 186"/>
            <p:cNvGrpSpPr/>
            <p:nvPr/>
          </p:nvGrpSpPr>
          <p:grpSpPr>
            <a:xfrm>
              <a:off x="1109918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88" name="直接连接符 187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00" name="矩形: 圆角 299"/>
          <p:cNvSpPr/>
          <p:nvPr userDrawn="1"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: 圆角 300"/>
          <p:cNvSpPr/>
          <p:nvPr userDrawn="1"/>
        </p:nvSpPr>
        <p:spPr>
          <a:xfrm>
            <a:off x="4377311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矩形: 圆角 301"/>
          <p:cNvSpPr/>
          <p:nvPr userDrawn="1"/>
        </p:nvSpPr>
        <p:spPr>
          <a:xfrm>
            <a:off x="4473826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矩形: 圆角 302"/>
          <p:cNvSpPr/>
          <p:nvPr userDrawn="1"/>
        </p:nvSpPr>
        <p:spPr>
          <a:xfrm>
            <a:off x="8224590" y="1301612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矩形: 圆角 303"/>
          <p:cNvSpPr/>
          <p:nvPr userDrawn="1"/>
        </p:nvSpPr>
        <p:spPr>
          <a:xfrm>
            <a:off x="8321105" y="1366699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: 圆角 304"/>
          <p:cNvSpPr/>
          <p:nvPr userDrawn="1"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矩形: 圆角 305"/>
          <p:cNvSpPr/>
          <p:nvPr userDrawn="1"/>
        </p:nvSpPr>
        <p:spPr>
          <a:xfrm>
            <a:off x="4720363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: 圆角 306"/>
          <p:cNvSpPr/>
          <p:nvPr userDrawn="1"/>
        </p:nvSpPr>
        <p:spPr>
          <a:xfrm>
            <a:off x="8582667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文本框 307"/>
          <p:cNvSpPr txBox="1"/>
          <p:nvPr userDrawn="1"/>
        </p:nvSpPr>
        <p:spPr>
          <a:xfrm>
            <a:off x="1216785" y="5237729"/>
            <a:ext cx="197841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这里是小标题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文本框 308"/>
          <p:cNvSpPr txBox="1"/>
          <p:nvPr userDrawn="1"/>
        </p:nvSpPr>
        <p:spPr>
          <a:xfrm>
            <a:off x="4987334" y="5237729"/>
            <a:ext cx="1895078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这里是小标题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0" name="文本框 309"/>
          <p:cNvSpPr txBox="1"/>
          <p:nvPr userDrawn="1"/>
        </p:nvSpPr>
        <p:spPr>
          <a:xfrm>
            <a:off x="8785001" y="5252537"/>
            <a:ext cx="205784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这里是小标题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" name="内容占位符 316"/>
          <p:cNvSpPr>
            <a:spLocks noGrp="1"/>
          </p:cNvSpPr>
          <p:nvPr>
            <p:ph sz="quarter" idx="10"/>
          </p:nvPr>
        </p:nvSpPr>
        <p:spPr>
          <a:xfrm>
            <a:off x="900113" y="1584325"/>
            <a:ext cx="2622550" cy="3578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8" name="内容占位符 316"/>
          <p:cNvSpPr>
            <a:spLocks noGrp="1"/>
          </p:cNvSpPr>
          <p:nvPr>
            <p:ph sz="quarter" idx="11"/>
          </p:nvPr>
        </p:nvSpPr>
        <p:spPr>
          <a:xfrm>
            <a:off x="4652844" y="1584325"/>
            <a:ext cx="2622550" cy="3578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9" name="内容占位符 316"/>
          <p:cNvSpPr>
            <a:spLocks noGrp="1"/>
          </p:cNvSpPr>
          <p:nvPr>
            <p:ph sz="quarter" idx="12"/>
          </p:nvPr>
        </p:nvSpPr>
        <p:spPr>
          <a:xfrm>
            <a:off x="8519339" y="1574800"/>
            <a:ext cx="2622550" cy="3578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pic>
        <p:nvPicPr>
          <p:cNvPr id="311" name="图片 310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805543" y="-45109"/>
            <a:ext cx="3472448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历史沿革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29" name="组合 28"/>
          <p:cNvGrpSpPr/>
          <p:nvPr userDrawn="1"/>
        </p:nvGrpSpPr>
        <p:grpSpPr>
          <a:xfrm>
            <a:off x="2959034" y="6463288"/>
            <a:ext cx="1187450" cy="127295"/>
            <a:chOff x="-260350" y="6426200"/>
            <a:chExt cx="1218293" cy="120945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 userDrawn="1"/>
        </p:nvGrpSpPr>
        <p:grpSpPr>
          <a:xfrm>
            <a:off x="4121912" y="6463288"/>
            <a:ext cx="1187450" cy="127295"/>
            <a:chOff x="-260350" y="6426200"/>
            <a:chExt cx="1218293" cy="120945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 userDrawn="1"/>
        </p:nvGrpSpPr>
        <p:grpSpPr>
          <a:xfrm>
            <a:off x="5284790" y="6463288"/>
            <a:ext cx="1187450" cy="127295"/>
            <a:chOff x="-260350" y="6426200"/>
            <a:chExt cx="1218293" cy="120945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 userDrawn="1"/>
        </p:nvGrpSpPr>
        <p:grpSpPr>
          <a:xfrm>
            <a:off x="6447668" y="6463288"/>
            <a:ext cx="1187450" cy="127295"/>
            <a:chOff x="-260350" y="6426200"/>
            <a:chExt cx="1218293" cy="120945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 userDrawn="1"/>
        </p:nvGrpSpPr>
        <p:grpSpPr>
          <a:xfrm>
            <a:off x="7610546" y="6463288"/>
            <a:ext cx="1187450" cy="127295"/>
            <a:chOff x="-260350" y="6426200"/>
            <a:chExt cx="1218293" cy="120945"/>
          </a:xfrm>
        </p:grpSpPr>
        <p:cxnSp>
          <p:nvCxnSpPr>
            <p:cNvPr id="90" name="直接连接符 8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 userDrawn="1"/>
        </p:nvGrpSpPr>
        <p:grpSpPr>
          <a:xfrm>
            <a:off x="8773424" y="6463288"/>
            <a:ext cx="1187450" cy="127295"/>
            <a:chOff x="-260350" y="6426200"/>
            <a:chExt cx="1218293" cy="120945"/>
          </a:xfrm>
        </p:grpSpPr>
        <p:cxnSp>
          <p:nvCxnSpPr>
            <p:cNvPr id="105" name="直接连接符 10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 userDrawn="1"/>
        </p:nvGrpSpPr>
        <p:grpSpPr>
          <a:xfrm>
            <a:off x="9936302" y="6463288"/>
            <a:ext cx="1187450" cy="127295"/>
            <a:chOff x="-260350" y="6426200"/>
            <a:chExt cx="1218293" cy="120945"/>
          </a:xfrm>
        </p:grpSpPr>
        <p:cxnSp>
          <p:nvCxnSpPr>
            <p:cNvPr id="120" name="直接连接符 119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4" name="组合 133"/>
          <p:cNvGrpSpPr/>
          <p:nvPr userDrawn="1"/>
        </p:nvGrpSpPr>
        <p:grpSpPr>
          <a:xfrm>
            <a:off x="11099180" y="6463288"/>
            <a:ext cx="1187450" cy="127295"/>
            <a:chOff x="-260350" y="6426200"/>
            <a:chExt cx="1218293" cy="120945"/>
          </a:xfrm>
        </p:grpSpPr>
        <p:cxnSp>
          <p:nvCxnSpPr>
            <p:cNvPr id="135" name="直接连接符 13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49" name="图片 148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 userDrawn="1"/>
        </p:nvSpPr>
        <p:spPr>
          <a:xfrm>
            <a:off x="843643" y="-45109"/>
            <a:ext cx="3472448" cy="9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4400" dirty="0">
                <a:solidFill>
                  <a:srgbClr val="DD6D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师资力量</a:t>
            </a:r>
            <a:endParaRPr lang="zh-CN" altLang="en-US" sz="4400" dirty="0">
              <a:solidFill>
                <a:srgbClr val="DD6D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1456784" y="114562"/>
            <a:ext cx="2237014" cy="527345"/>
          </a:xfrm>
          <a:prstGeom prst="rect">
            <a:avLst/>
          </a:prstGeom>
          <a:gradFill flip="none" rotWithShape="1">
            <a:gsLst>
              <a:gs pos="100000">
                <a:srgbClr val="EAA372"/>
              </a:gs>
              <a:gs pos="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-1630957" y="310855"/>
            <a:ext cx="2237014" cy="52734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rgbClr val="DD6D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-270289" y="6463288"/>
            <a:ext cx="1187450" cy="127295"/>
            <a:chOff x="-260350" y="6426200"/>
            <a:chExt cx="1218293" cy="120945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843643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75872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379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8887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0395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903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34108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4918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64263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9340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-5582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-90505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-175427" y="6426200"/>
              <a:ext cx="114300" cy="120945"/>
            </a:xfrm>
            <a:prstGeom prst="line">
              <a:avLst/>
            </a:prstGeom>
            <a:ln w="254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-260350" y="6426200"/>
              <a:ext cx="114300" cy="12094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 userDrawn="1"/>
        </p:nvSpPr>
        <p:spPr>
          <a:xfrm>
            <a:off x="805755" y="6247550"/>
            <a:ext cx="2245411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自强不息，止于至善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2959034" y="6463288"/>
            <a:ext cx="9327596" cy="127295"/>
            <a:chOff x="2959034" y="6463288"/>
            <a:chExt cx="9327596" cy="127295"/>
          </a:xfrm>
        </p:grpSpPr>
        <p:grpSp>
          <p:nvGrpSpPr>
            <p:cNvPr id="31" name="组合 30"/>
            <p:cNvGrpSpPr/>
            <p:nvPr/>
          </p:nvGrpSpPr>
          <p:grpSpPr>
            <a:xfrm>
              <a:off x="295903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37" name="直接连接符 136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>
              <a:off x="412191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23" name="直接连接符 122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/>
            <p:cNvGrpSpPr/>
            <p:nvPr/>
          </p:nvGrpSpPr>
          <p:grpSpPr>
            <a:xfrm>
              <a:off x="528479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6447668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95" name="直接连接符 94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7610546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81" name="直接连接符 80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8773424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67" name="直接连接符 66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9936302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11099180" y="6463288"/>
              <a:ext cx="1187450" cy="127295"/>
              <a:chOff x="-260350" y="6426200"/>
              <a:chExt cx="1218293" cy="120945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843643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5872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67379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58887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50395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41903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34108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4918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164263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79340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-5582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-90505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-175427" y="6426200"/>
                <a:ext cx="114300" cy="120945"/>
              </a:xfrm>
              <a:prstGeom prst="line">
                <a:avLst/>
              </a:prstGeom>
              <a:ln w="25400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-260350" y="6426200"/>
                <a:ext cx="114300" cy="12094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51" name="图片 150"/>
          <p:cNvPicPr>
            <a:picLocks noChangeAspect="1"/>
          </p:cNvPicPr>
          <p:nvPr userDrawn="1"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3168" y="219530"/>
            <a:ext cx="2205144" cy="611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3681E-7F57-4249-ACA7-16CB460D5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5A489-56EA-4CD6-B0D1-D4C3904B97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microsoft.com/office/2007/relationships/hdphoto" Target="../media/image28.wdp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150570" y="-1098227"/>
            <a:ext cx="8839200" cy="883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6" b="5371"/>
          <a:stretch>
            <a:fillRect/>
          </a:stretch>
        </p:blipFill>
        <p:spPr>
          <a:xfrm flipH="1">
            <a:off x="3378598" y="-1"/>
            <a:ext cx="8813402" cy="6858000"/>
          </a:xfrm>
          <a:prstGeom prst="rect">
            <a:avLst/>
          </a:prstGeom>
        </p:spPr>
      </p:pic>
      <p:sp>
        <p:nvSpPr>
          <p:cNvPr id="8" name="任意多边形: 形状 7"/>
          <p:cNvSpPr/>
          <p:nvPr/>
        </p:nvSpPr>
        <p:spPr>
          <a:xfrm>
            <a:off x="0" y="0"/>
            <a:ext cx="7482442" cy="6870700"/>
          </a:xfrm>
          <a:custGeom>
            <a:avLst/>
            <a:gdLst>
              <a:gd name="connsiteX0" fmla="*/ 12700 w 8064500"/>
              <a:gd name="connsiteY0" fmla="*/ 0 h 6870700"/>
              <a:gd name="connsiteX1" fmla="*/ 8064500 w 8064500"/>
              <a:gd name="connsiteY1" fmla="*/ 0 h 6870700"/>
              <a:gd name="connsiteX2" fmla="*/ 3911600 w 8064500"/>
              <a:gd name="connsiteY2" fmla="*/ 6832600 h 6870700"/>
              <a:gd name="connsiteX3" fmla="*/ 0 w 8064500"/>
              <a:gd name="connsiteY3" fmla="*/ 6870700 h 6870700"/>
              <a:gd name="connsiteX4" fmla="*/ 12700 w 8064500"/>
              <a:gd name="connsiteY4" fmla="*/ 0 h 6870700"/>
              <a:gd name="connsiteX0-1" fmla="*/ 12700 w 8064500"/>
              <a:gd name="connsiteY0-2" fmla="*/ 0 h 6870700"/>
              <a:gd name="connsiteX1-3" fmla="*/ 8064500 w 8064500"/>
              <a:gd name="connsiteY1-4" fmla="*/ 0 h 6870700"/>
              <a:gd name="connsiteX2-5" fmla="*/ 3911600 w 8064500"/>
              <a:gd name="connsiteY2-6" fmla="*/ 6870700 h 6870700"/>
              <a:gd name="connsiteX3-7" fmla="*/ 0 w 8064500"/>
              <a:gd name="connsiteY3-8" fmla="*/ 6870700 h 6870700"/>
              <a:gd name="connsiteX4-9" fmla="*/ 12700 w 8064500"/>
              <a:gd name="connsiteY4-10" fmla="*/ 0 h 6870700"/>
              <a:gd name="connsiteX0-11" fmla="*/ 12700 w 6807200"/>
              <a:gd name="connsiteY0-12" fmla="*/ 0 h 6870700"/>
              <a:gd name="connsiteX1-13" fmla="*/ 6807200 w 6807200"/>
              <a:gd name="connsiteY1-14" fmla="*/ 0 h 6870700"/>
              <a:gd name="connsiteX2-15" fmla="*/ 3911600 w 6807200"/>
              <a:gd name="connsiteY2-16" fmla="*/ 6870700 h 6870700"/>
              <a:gd name="connsiteX3-17" fmla="*/ 0 w 6807200"/>
              <a:gd name="connsiteY3-18" fmla="*/ 6870700 h 6870700"/>
              <a:gd name="connsiteX4-19" fmla="*/ 12700 w 6807200"/>
              <a:gd name="connsiteY4-20" fmla="*/ 0 h 6870700"/>
              <a:gd name="connsiteX0-21" fmla="*/ 12700 w 6807200"/>
              <a:gd name="connsiteY0-22" fmla="*/ 0 h 6870700"/>
              <a:gd name="connsiteX1-23" fmla="*/ 6807200 w 6807200"/>
              <a:gd name="connsiteY1-24" fmla="*/ 0 h 6870700"/>
              <a:gd name="connsiteX2-25" fmla="*/ 3911600 w 6807200"/>
              <a:gd name="connsiteY2-26" fmla="*/ 6870700 h 6870700"/>
              <a:gd name="connsiteX3-27" fmla="*/ 0 w 6807200"/>
              <a:gd name="connsiteY3-28" fmla="*/ 6870700 h 6870700"/>
              <a:gd name="connsiteX4-29" fmla="*/ 12700 w 6807200"/>
              <a:gd name="connsiteY4-30" fmla="*/ 0 h 6870700"/>
              <a:gd name="connsiteX0-31" fmla="*/ 12700 w 6807200"/>
              <a:gd name="connsiteY0-32" fmla="*/ 0 h 6870700"/>
              <a:gd name="connsiteX1-33" fmla="*/ 6807200 w 6807200"/>
              <a:gd name="connsiteY1-34" fmla="*/ 0 h 6870700"/>
              <a:gd name="connsiteX2-35" fmla="*/ 3911600 w 6807200"/>
              <a:gd name="connsiteY2-36" fmla="*/ 6870700 h 6870700"/>
              <a:gd name="connsiteX3-37" fmla="*/ 0 w 6807200"/>
              <a:gd name="connsiteY3-38" fmla="*/ 6870700 h 6870700"/>
              <a:gd name="connsiteX4-39" fmla="*/ 12700 w 6807200"/>
              <a:gd name="connsiteY4-40" fmla="*/ 0 h 6870700"/>
              <a:gd name="connsiteX0-41" fmla="*/ 12700 w 6807200"/>
              <a:gd name="connsiteY0-42" fmla="*/ 0 h 6870700"/>
              <a:gd name="connsiteX1-43" fmla="*/ 6807200 w 6807200"/>
              <a:gd name="connsiteY1-44" fmla="*/ 0 h 6870700"/>
              <a:gd name="connsiteX2-45" fmla="*/ 3911600 w 6807200"/>
              <a:gd name="connsiteY2-46" fmla="*/ 6870700 h 6870700"/>
              <a:gd name="connsiteX3-47" fmla="*/ 0 w 6807200"/>
              <a:gd name="connsiteY3-48" fmla="*/ 6870700 h 6870700"/>
              <a:gd name="connsiteX4-49" fmla="*/ 12700 w 6807200"/>
              <a:gd name="connsiteY4-50" fmla="*/ 0 h 6870700"/>
              <a:gd name="connsiteX0-51" fmla="*/ 12700 w 6807200"/>
              <a:gd name="connsiteY0-52" fmla="*/ 0 h 6870700"/>
              <a:gd name="connsiteX1-53" fmla="*/ 6807200 w 6807200"/>
              <a:gd name="connsiteY1-54" fmla="*/ 0 h 6870700"/>
              <a:gd name="connsiteX2-55" fmla="*/ 3048000 w 6807200"/>
              <a:gd name="connsiteY2-56" fmla="*/ 6870700 h 6870700"/>
              <a:gd name="connsiteX3-57" fmla="*/ 0 w 6807200"/>
              <a:gd name="connsiteY3-58" fmla="*/ 6870700 h 6870700"/>
              <a:gd name="connsiteX4-59" fmla="*/ 12700 w 6807200"/>
              <a:gd name="connsiteY4-60" fmla="*/ 0 h 6870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07200" h="6870700">
                <a:moveTo>
                  <a:pt x="12700" y="0"/>
                </a:moveTo>
                <a:lnTo>
                  <a:pt x="6807200" y="0"/>
                </a:lnTo>
                <a:cubicBezTo>
                  <a:pt x="5676900" y="3103033"/>
                  <a:pt x="4406900" y="4669367"/>
                  <a:pt x="3048000" y="6870700"/>
                </a:cubicBezTo>
                <a:lnTo>
                  <a:pt x="0" y="6870700"/>
                </a:lnTo>
                <a:cubicBezTo>
                  <a:pt x="4233" y="4580467"/>
                  <a:pt x="8467" y="2290233"/>
                  <a:pt x="12700" y="0"/>
                </a:cubicBezTo>
                <a:close/>
              </a:path>
            </a:pathLst>
          </a:custGeom>
          <a:pattFill prst="pct20">
            <a:fgClr>
              <a:srgbClr val="EAA37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矩形 1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36288">
                <a:srgbClr val="FFFFFF"/>
              </a:gs>
              <a:gs pos="100000">
                <a:schemeClr val="bg1">
                  <a:alpha val="0"/>
                </a:schemeClr>
              </a:gs>
              <a:gs pos="74350">
                <a:srgbClr val="FFFFFF">
                  <a:alpha val="16000"/>
                </a:srgbClr>
              </a:gs>
              <a:gs pos="62000">
                <a:srgbClr val="FFFFFF">
                  <a:alpha val="13000"/>
                </a:srgbClr>
              </a:gs>
              <a:gs pos="50000">
                <a:schemeClr val="bg1"/>
              </a:gs>
              <a:gs pos="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2762923" y="12700"/>
            <a:ext cx="9837981" cy="6858000"/>
          </a:xfrm>
          <a:prstGeom prst="rect">
            <a:avLst/>
          </a:prstGeom>
          <a:gradFill flip="none" rotWithShape="1">
            <a:gsLst>
              <a:gs pos="22000">
                <a:srgbClr val="FFFFFF">
                  <a:alpha val="0"/>
                </a:srgbClr>
              </a:gs>
              <a:gs pos="100000">
                <a:schemeClr val="bg1"/>
              </a:gs>
              <a:gs pos="85000">
                <a:schemeClr val="bg1">
                  <a:alpha val="92000"/>
                </a:schemeClr>
              </a:gs>
              <a:gs pos="69000">
                <a:schemeClr val="bg1"/>
              </a:gs>
              <a:gs pos="0">
                <a:schemeClr val="bg1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37844" y="1592580"/>
            <a:ext cx="8152765" cy="3886006"/>
            <a:chOff x="351446" y="3752870"/>
            <a:chExt cx="6687563" cy="1884333"/>
          </a:xfrm>
        </p:grpSpPr>
        <p:sp>
          <p:nvSpPr>
            <p:cNvPr id="43" name="文本框 42"/>
            <p:cNvSpPr txBox="1"/>
            <p:nvPr/>
          </p:nvSpPr>
          <p:spPr>
            <a:xfrm>
              <a:off x="351446" y="3752870"/>
              <a:ext cx="6687563" cy="492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rgbClr val="DD6D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</a:t>
              </a:r>
              <a:r>
                <a:rPr lang="en-US" altLang="zh-CN" sz="6000" dirty="0">
                  <a:solidFill>
                    <a:srgbClr val="DD6D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ViT</a:t>
              </a:r>
              <a:r>
                <a:rPr lang="zh-CN" altLang="en-US" sz="6000" dirty="0">
                  <a:solidFill>
                    <a:srgbClr val="DD6D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的皮肤病变分类</a:t>
              </a:r>
              <a:r>
                <a:rPr lang="en-US" altLang="zh-CN" sz="3200" dirty="0">
                  <a:solidFill>
                    <a:srgbClr val="DD6D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3200" dirty="0">
                <a:solidFill>
                  <a:srgbClr val="DD6D2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: 圆角 49"/>
            <p:cNvSpPr/>
            <p:nvPr/>
          </p:nvSpPr>
          <p:spPr>
            <a:xfrm>
              <a:off x="807736" y="5130780"/>
              <a:ext cx="2667941" cy="503438"/>
            </a:xfrm>
            <a:prstGeom prst="roundRect">
              <a:avLst>
                <a:gd name="adj" fmla="val 38519"/>
              </a:avLst>
            </a:prstGeom>
            <a:solidFill>
              <a:srgbClr val="EAA3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107493" y="5175026"/>
              <a:ext cx="2029299" cy="462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组长</a:t>
              </a:r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张筱艺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组员</a:t>
              </a:r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苏一涵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428587" y="5182416"/>
              <a:ext cx="2667413" cy="193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630267" y="4304258"/>
              <a:ext cx="5992560" cy="0"/>
            </a:xfrm>
            <a:prstGeom prst="line">
              <a:avLst/>
            </a:prstGeom>
            <a:ln w="19050">
              <a:solidFill>
                <a:srgbClr val="DD6D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616132" y="4400201"/>
              <a:ext cx="5784668" cy="163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DD6D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Vit-based classification of skin lesions</a:t>
              </a:r>
              <a:endParaRPr lang="en-US" altLang="zh-CN" sz="1600" dirty="0">
                <a:solidFill>
                  <a:srgbClr val="DD6D2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49070">
            <a:off x="-1441906" y="5295433"/>
            <a:ext cx="3031610" cy="2795219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94011">
            <a:off x="8277090" y="4670210"/>
            <a:ext cx="2254534" cy="2078736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4" r="37155"/>
          <a:stretch>
            <a:fillRect/>
          </a:stretch>
        </p:blipFill>
        <p:spPr>
          <a:xfrm>
            <a:off x="10027612" y="-12842"/>
            <a:ext cx="2164388" cy="213917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49070">
            <a:off x="1129505" y="5879832"/>
            <a:ext cx="1693157" cy="15611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49070">
            <a:off x="3874321" y="-550200"/>
            <a:ext cx="1693157" cy="156113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49070">
            <a:off x="5724505" y="-538538"/>
            <a:ext cx="2041603" cy="1882408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-344001" y="1136580"/>
            <a:ext cx="3462293" cy="2656247"/>
            <a:chOff x="-344001" y="1136580"/>
            <a:chExt cx="3462293" cy="2656247"/>
          </a:xfrm>
        </p:grpSpPr>
        <p:sp>
          <p:nvSpPr>
            <p:cNvPr id="34" name="文本框 33"/>
            <p:cNvSpPr txBox="1"/>
            <p:nvPr/>
          </p:nvSpPr>
          <p:spPr>
            <a:xfrm>
              <a:off x="-344001" y="1280688"/>
              <a:ext cx="309880" cy="23069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sz="144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rgbClr val="DD6D21">
                        <a:alpha val="79000"/>
                      </a:srgbClr>
                    </a:gs>
                    <a:gs pos="83000">
                      <a:srgbClr val="DD6D21"/>
                    </a:gs>
                    <a:gs pos="100000">
                      <a:srgbClr val="EAA372"/>
                    </a:gs>
                  </a:gsLst>
                  <a:lin ang="5400000" scaled="1"/>
                </a:gradFill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798800" y="1136580"/>
              <a:ext cx="309880" cy="2214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sz="138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41000">
                      <a:srgbClr val="DD6D21">
                        <a:alpha val="43000"/>
                      </a:srgbClr>
                    </a:gs>
                    <a:gs pos="76000">
                      <a:srgbClr val="DD6D21"/>
                    </a:gs>
                    <a:gs pos="100000">
                      <a:srgbClr val="EAA372"/>
                    </a:gs>
                  </a:gsLst>
                  <a:lin ang="4200000" scaled="0"/>
                </a:gradFill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808412" y="1691222"/>
              <a:ext cx="309880" cy="19380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sz="120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rgbClr val="DD6D21">
                        <a:alpha val="79000"/>
                      </a:srgbClr>
                    </a:gs>
                    <a:gs pos="83000">
                      <a:srgbClr val="DD6D21"/>
                    </a:gs>
                    <a:gs pos="100000">
                      <a:srgbClr val="EAA372"/>
                    </a:gs>
                  </a:gsLst>
                  <a:lin ang="5400000" scaled="1"/>
                </a:gradFill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51241" y="1854807"/>
              <a:ext cx="309880" cy="19380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sz="120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52000">
                      <a:srgbClr val="DD6D21"/>
                    </a:gs>
                    <a:gs pos="83000">
                      <a:srgbClr val="DD6D21"/>
                    </a:gs>
                    <a:gs pos="100000">
                      <a:srgbClr val="EAA372"/>
                    </a:gs>
                  </a:gsLst>
                  <a:lin ang="3600000" scaled="0"/>
                </a:gradFill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</p:grpSp>
      <p:pic>
        <p:nvPicPr>
          <p:cNvPr id="58" name="图片 57"/>
          <p:cNvPicPr>
            <a:picLocks noChangeAspect="1"/>
          </p:cNvPicPr>
          <p:nvPr/>
        </p:nvPicPr>
        <p:blipFill>
          <a:blip r:embed="rId4" cstate="hq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8904" y="225260"/>
            <a:ext cx="2205144" cy="6117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7" y="-3874"/>
            <a:ext cx="4562929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-57615" y="0"/>
            <a:ext cx="4878736" cy="6854126"/>
          </a:xfrm>
          <a:prstGeom prst="rect">
            <a:avLst/>
          </a:prstGeom>
          <a:solidFill>
            <a:schemeClr val="accent2">
              <a:lumMod val="40000"/>
              <a:lumOff val="6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>
            <a:off x="2595717" y="-1"/>
            <a:ext cx="9596284" cy="6858000"/>
          </a:xfrm>
          <a:custGeom>
            <a:avLst/>
            <a:gdLst>
              <a:gd name="connsiteX0" fmla="*/ 0 w 8507261"/>
              <a:gd name="connsiteY0" fmla="*/ 0 h 6858000"/>
              <a:gd name="connsiteX1" fmla="*/ 8507261 w 8507261"/>
              <a:gd name="connsiteY1" fmla="*/ 0 h 6858000"/>
              <a:gd name="connsiteX2" fmla="*/ 8507261 w 8507261"/>
              <a:gd name="connsiteY2" fmla="*/ 6858000 h 6858000"/>
              <a:gd name="connsiteX3" fmla="*/ 2 w 8507261"/>
              <a:gd name="connsiteY3" fmla="*/ 6858000 h 6858000"/>
              <a:gd name="connsiteX4" fmla="*/ 105762 w 8507261"/>
              <a:gd name="connsiteY4" fmla="*/ 6774889 h 6858000"/>
              <a:gd name="connsiteX5" fmla="*/ 1683673 w 8507261"/>
              <a:gd name="connsiteY5" fmla="*/ 3429001 h 6858000"/>
              <a:gd name="connsiteX6" fmla="*/ 105762 w 8507261"/>
              <a:gd name="connsiteY6" fmla="*/ 83113 h 6858000"/>
              <a:gd name="connsiteX7" fmla="*/ 0 w 8507261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07261" h="6858000">
                <a:moveTo>
                  <a:pt x="0" y="0"/>
                </a:moveTo>
                <a:lnTo>
                  <a:pt x="8507261" y="0"/>
                </a:lnTo>
                <a:lnTo>
                  <a:pt x="8507261" y="6858000"/>
                </a:lnTo>
                <a:lnTo>
                  <a:pt x="2" y="6858000"/>
                </a:lnTo>
                <a:lnTo>
                  <a:pt x="105762" y="6774889"/>
                </a:lnTo>
                <a:cubicBezTo>
                  <a:pt x="1069432" y="5979599"/>
                  <a:pt x="1683673" y="4776032"/>
                  <a:pt x="1683673" y="3429001"/>
                </a:cubicBezTo>
                <a:cubicBezTo>
                  <a:pt x="1683673" y="2081971"/>
                  <a:pt x="1069432" y="878404"/>
                  <a:pt x="105762" y="83113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/>
          <p:cNvSpPr/>
          <p:nvPr/>
        </p:nvSpPr>
        <p:spPr>
          <a:xfrm>
            <a:off x="2595717" y="0"/>
            <a:ext cx="9596284" cy="6858000"/>
          </a:xfrm>
          <a:custGeom>
            <a:avLst/>
            <a:gdLst>
              <a:gd name="connsiteX0" fmla="*/ 0 w 8507261"/>
              <a:gd name="connsiteY0" fmla="*/ 0 h 6858000"/>
              <a:gd name="connsiteX1" fmla="*/ 8507261 w 8507261"/>
              <a:gd name="connsiteY1" fmla="*/ 0 h 6858000"/>
              <a:gd name="connsiteX2" fmla="*/ 8507261 w 8507261"/>
              <a:gd name="connsiteY2" fmla="*/ 6858000 h 6858000"/>
              <a:gd name="connsiteX3" fmla="*/ 2 w 8507261"/>
              <a:gd name="connsiteY3" fmla="*/ 6858000 h 6858000"/>
              <a:gd name="connsiteX4" fmla="*/ 105762 w 8507261"/>
              <a:gd name="connsiteY4" fmla="*/ 6774889 h 6858000"/>
              <a:gd name="connsiteX5" fmla="*/ 1683673 w 8507261"/>
              <a:gd name="connsiteY5" fmla="*/ 3429001 h 6858000"/>
              <a:gd name="connsiteX6" fmla="*/ 105762 w 8507261"/>
              <a:gd name="connsiteY6" fmla="*/ 83113 h 6858000"/>
              <a:gd name="connsiteX7" fmla="*/ 0 w 8507261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07261" h="6858000">
                <a:moveTo>
                  <a:pt x="0" y="0"/>
                </a:moveTo>
                <a:lnTo>
                  <a:pt x="8507261" y="0"/>
                </a:lnTo>
                <a:lnTo>
                  <a:pt x="8507261" y="6858000"/>
                </a:lnTo>
                <a:lnTo>
                  <a:pt x="2" y="6858000"/>
                </a:lnTo>
                <a:lnTo>
                  <a:pt x="105762" y="6774889"/>
                </a:lnTo>
                <a:cubicBezTo>
                  <a:pt x="1069432" y="5979599"/>
                  <a:pt x="1683673" y="4776032"/>
                  <a:pt x="1683673" y="3429001"/>
                </a:cubicBezTo>
                <a:cubicBezTo>
                  <a:pt x="1683673" y="2081971"/>
                  <a:pt x="1069432" y="878404"/>
                  <a:pt x="105762" y="83113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76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85796" y="-607075"/>
            <a:ext cx="3962401" cy="200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300" dirty="0">
                <a:solidFill>
                  <a:srgbClr val="DD6D2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目录</a:t>
            </a:r>
            <a:endParaRPr lang="zh-CN" altLang="en-US" sz="8300" dirty="0">
              <a:solidFill>
                <a:srgbClr val="DD6D2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962967" y="1349888"/>
            <a:ext cx="995654" cy="882655"/>
            <a:chOff x="5917401" y="1806679"/>
            <a:chExt cx="995654" cy="882655"/>
          </a:xfrm>
        </p:grpSpPr>
        <p:sp>
          <p:nvSpPr>
            <p:cNvPr id="14" name="椭圆 13"/>
            <p:cNvSpPr/>
            <p:nvPr/>
          </p:nvSpPr>
          <p:spPr>
            <a:xfrm>
              <a:off x="6029466" y="1917809"/>
              <a:ext cx="771525" cy="771525"/>
            </a:xfrm>
            <a:prstGeom prst="ellipse">
              <a:avLst/>
            </a:prstGeom>
            <a:solidFill>
              <a:srgbClr val="DD6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17401" y="1806679"/>
              <a:ext cx="995654" cy="825419"/>
            </a:xfrm>
            <a:prstGeom prst="rect">
              <a:avLst/>
            </a:prstGeom>
            <a:noFill/>
          </p:spPr>
          <p:txBody>
            <a:bodyPr wrap="square" tIns="4680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庞门正道粗书体" panose="02010600030101010101" pitchFamily="2" charset="-122"/>
                  <a:ea typeface="庞门正道粗书体" panose="02010600030101010101" pitchFamily="2" charset="-122"/>
                  <a:cs typeface="Arial" panose="020B0604020202090204" pitchFamily="34" charset="0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962967" y="2431720"/>
            <a:ext cx="995654" cy="892256"/>
            <a:chOff x="5739601" y="2921613"/>
            <a:chExt cx="995654" cy="892256"/>
          </a:xfrm>
        </p:grpSpPr>
        <p:sp>
          <p:nvSpPr>
            <p:cNvPr id="15" name="椭圆 14"/>
            <p:cNvSpPr/>
            <p:nvPr/>
          </p:nvSpPr>
          <p:spPr>
            <a:xfrm>
              <a:off x="5851666" y="3042344"/>
              <a:ext cx="771525" cy="771525"/>
            </a:xfrm>
            <a:prstGeom prst="ellipse">
              <a:avLst/>
            </a:prstGeom>
            <a:solidFill>
              <a:srgbClr val="DD6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739601" y="2921613"/>
              <a:ext cx="995654" cy="82541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庞门正道粗书体" panose="02010600030101010101" pitchFamily="2" charset="-122"/>
                  <a:ea typeface="庞门正道粗书体" panose="02010600030101010101" pitchFamily="2" charset="-122"/>
                  <a:cs typeface="Arial" panose="020B0604020202090204" pitchFamily="34" charset="0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962967" y="3450299"/>
            <a:ext cx="995654" cy="894631"/>
            <a:chOff x="5770193" y="4005513"/>
            <a:chExt cx="995654" cy="894631"/>
          </a:xfrm>
        </p:grpSpPr>
        <p:sp>
          <p:nvSpPr>
            <p:cNvPr id="16" name="椭圆 15"/>
            <p:cNvSpPr/>
            <p:nvPr/>
          </p:nvSpPr>
          <p:spPr>
            <a:xfrm>
              <a:off x="5882258" y="4128619"/>
              <a:ext cx="771525" cy="771525"/>
            </a:xfrm>
            <a:prstGeom prst="ellipse">
              <a:avLst/>
            </a:prstGeom>
            <a:solidFill>
              <a:srgbClr val="DD6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770193" y="4005513"/>
              <a:ext cx="995654" cy="82541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庞门正道粗书体" panose="02010600030101010101" pitchFamily="2" charset="-122"/>
                  <a:ea typeface="庞门正道粗书体" panose="02010600030101010101" pitchFamily="2" charset="-122"/>
                  <a:cs typeface="Arial" panose="020B0604020202090204" pitchFamily="34" charset="0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62967" y="4530864"/>
            <a:ext cx="995654" cy="915193"/>
            <a:chOff x="5917401" y="5001934"/>
            <a:chExt cx="995654" cy="915193"/>
          </a:xfrm>
        </p:grpSpPr>
        <p:sp>
          <p:nvSpPr>
            <p:cNvPr id="17" name="椭圆 16"/>
            <p:cNvSpPr/>
            <p:nvPr/>
          </p:nvSpPr>
          <p:spPr>
            <a:xfrm>
              <a:off x="6029466" y="5145602"/>
              <a:ext cx="771525" cy="771525"/>
            </a:xfrm>
            <a:prstGeom prst="ellipse">
              <a:avLst/>
            </a:prstGeom>
            <a:solidFill>
              <a:srgbClr val="DD6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917401" y="5001934"/>
              <a:ext cx="995654" cy="82541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庞门正道粗书体" panose="02010600030101010101" pitchFamily="2" charset="-122"/>
                  <a:ea typeface="庞门正道粗书体" panose="02010600030101010101" pitchFamily="2" charset="-122"/>
                  <a:cs typeface="Arial" panose="020B0604020202090204" pitchFamily="34" charset="0"/>
                </a:rPr>
                <a:t>4</a:t>
              </a:r>
              <a:endParaRPr lang="zh-CN" altLang="en-US" sz="36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cs typeface="Arial" panose="020B0604020202090204" pitchFamily="34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855" y="1337758"/>
            <a:ext cx="2907213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dirty="0">
                <a:solidFill>
                  <a:srgbClr val="DD6D2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项目</a:t>
            </a:r>
            <a:r>
              <a:rPr lang="zh-CN" altLang="en-US" sz="4000" dirty="0">
                <a:solidFill>
                  <a:srgbClr val="DD6D2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概述</a:t>
            </a:r>
            <a:endParaRPr lang="zh-CN" altLang="en-US" sz="4000" dirty="0">
              <a:solidFill>
                <a:srgbClr val="DD6D2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57695" y="2390140"/>
            <a:ext cx="374586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>
                <a:solidFill>
                  <a:srgbClr val="E07C36"/>
                </a:solidFill>
                <a:sym typeface="+mn-ea"/>
              </a:rPr>
              <a:t>基线模型建立</a:t>
            </a:r>
            <a:endParaRPr lang="zh-CN" altLang="en-US" sz="4000" dirty="0">
              <a:solidFill>
                <a:srgbClr val="E07C36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57695" y="3444240"/>
            <a:ext cx="278320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>
                <a:solidFill>
                  <a:srgbClr val="E07C36"/>
                </a:solidFill>
                <a:sym typeface="+mn-ea"/>
              </a:rPr>
              <a:t>改进路线</a:t>
            </a:r>
            <a:endParaRPr lang="zh-CN" altLang="en-US" sz="4000">
              <a:solidFill>
                <a:srgbClr val="E07C36"/>
              </a:solidFill>
            </a:endParaRPr>
          </a:p>
          <a:p>
            <a:pPr algn="dist">
              <a:lnSpc>
                <a:spcPct val="150000"/>
              </a:lnSpc>
            </a:pPr>
            <a:endParaRPr lang="zh-CN" altLang="en-US" sz="4000" dirty="0">
              <a:solidFill>
                <a:srgbClr val="DD6D2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pic>
        <p:nvPicPr>
          <p:cNvPr id="32" name="图片 31"/>
          <p:cNvPicPr/>
          <p:nvPr/>
        </p:nvPicPr>
        <p:blipFill>
          <a:blip r:embed="rId3">
            <a:alphaModFix amt="88000"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4263" y="-269088"/>
            <a:ext cx="7632906" cy="7535998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49070">
            <a:off x="10117932" y="-683921"/>
            <a:ext cx="3031610" cy="2795219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4" r="37155"/>
          <a:stretch>
            <a:fillRect/>
          </a:stretch>
        </p:blipFill>
        <p:spPr>
          <a:xfrm>
            <a:off x="10262560" y="5725791"/>
            <a:ext cx="2164388" cy="2139179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000875" y="4535170"/>
            <a:ext cx="40640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>
                <a:solidFill>
                  <a:srgbClr val="E07C36"/>
                </a:solidFill>
                <a:sym typeface="+mn-ea"/>
              </a:rPr>
              <a:t>技术创新</a:t>
            </a:r>
            <a:endParaRPr lang="zh-CN" altLang="en-US" sz="4000" dirty="0">
              <a:solidFill>
                <a:srgbClr val="E07C36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56765" y="-264553"/>
            <a:ext cx="2895104" cy="1184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5400" dirty="0">
                <a:solidFill>
                  <a:srgbClr val="DD6D21">
                    <a:alpha val="15000"/>
                  </a:srgbClr>
                </a:solidFill>
                <a:latin typeface="Arial" panose="020B0604020202090204" pitchFamily="34" charset="0"/>
                <a:ea typeface="庞门正道粗书体" panose="02010600030101010101" pitchFamily="2" charset="-122"/>
                <a:cs typeface="Arial" panose="020B0604020202090204" pitchFamily="34" charset="0"/>
              </a:rPr>
              <a:t>contents</a:t>
            </a:r>
            <a:endParaRPr lang="zh-CN" altLang="en-US" sz="5400" dirty="0">
              <a:solidFill>
                <a:srgbClr val="DD6D21">
                  <a:alpha val="15000"/>
                </a:srgbClr>
              </a:solidFill>
              <a:latin typeface="Arial" panose="020B0604020202090204" pitchFamily="34" charset="0"/>
              <a:ea typeface="庞门正道粗书体" panose="02010600030101010101" pitchFamily="2" charset="-122"/>
              <a:cs typeface="Arial" panose="020B060402020209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001192" y="2390101"/>
            <a:ext cx="273964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001192" y="3444157"/>
            <a:ext cx="273964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001192" y="4498213"/>
            <a:ext cx="273964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6958012" y="5586603"/>
            <a:ext cx="273964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956617" y="5587464"/>
            <a:ext cx="995654" cy="963493"/>
            <a:chOff x="5917401" y="4953634"/>
            <a:chExt cx="995654" cy="963493"/>
          </a:xfrm>
        </p:grpSpPr>
        <p:sp>
          <p:nvSpPr>
            <p:cNvPr id="11" name="椭圆 10"/>
            <p:cNvSpPr/>
            <p:nvPr/>
          </p:nvSpPr>
          <p:spPr>
            <a:xfrm>
              <a:off x="6029466" y="5145602"/>
              <a:ext cx="771525" cy="771525"/>
            </a:xfrm>
            <a:prstGeom prst="ellipse">
              <a:avLst/>
            </a:prstGeom>
            <a:solidFill>
              <a:srgbClr val="DD6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917401" y="4953634"/>
              <a:ext cx="995654" cy="9220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庞门正道粗书体" panose="02010600030101010101" pitchFamily="2" charset="-122"/>
                  <a:ea typeface="庞门正道粗书体" panose="02010600030101010101" pitchFamily="2" charset="-122"/>
                  <a:cs typeface="Arial" panose="020B0604020202090204" pitchFamily="34" charset="0"/>
                </a:rPr>
                <a:t>5</a:t>
              </a:r>
              <a:endParaRPr lang="en-US" altLang="zh-CN" sz="36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cs typeface="Arial" panose="020B0604020202090204" pitchFamily="34" charset="0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994525" y="5640070"/>
            <a:ext cx="40640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dirty="0">
                <a:solidFill>
                  <a:srgbClr val="E07C36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+mn-ea"/>
              </a:rPr>
              <a:t>结果</a:t>
            </a:r>
            <a:r>
              <a:rPr lang="zh-CN" altLang="en-US" sz="4000" dirty="0">
                <a:solidFill>
                  <a:srgbClr val="E07C36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+mn-ea"/>
              </a:rPr>
              <a:t>分析</a:t>
            </a:r>
            <a:endParaRPr lang="zh-CN" altLang="en-US" sz="4000" dirty="0">
              <a:solidFill>
                <a:srgbClr val="E07C36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951662" y="6691503"/>
            <a:ext cx="273964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930" y="1158875"/>
            <a:ext cx="7322820" cy="4648835"/>
          </a:xfrm>
          <a:prstGeom prst="rect">
            <a:avLst/>
          </a:prstGeom>
        </p:spPr>
      </p:pic>
      <p:sp>
        <p:nvSpPr>
          <p:cNvPr id="12" name="矩形: 圆角 37"/>
          <p:cNvSpPr/>
          <p:nvPr/>
        </p:nvSpPr>
        <p:spPr>
          <a:xfrm rot="21073391">
            <a:off x="-545641" y="3305078"/>
            <a:ext cx="13445063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5"/>
          <p:cNvSpPr/>
          <p:nvPr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36"/>
          <p:cNvSpPr/>
          <p:nvPr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2"/>
          <p:cNvSpPr/>
          <p:nvPr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19"/>
          <p:cNvSpPr/>
          <p:nvPr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16785" y="5237729"/>
            <a:ext cx="197841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17835" y="1513692"/>
            <a:ext cx="277631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通过迭代改进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Vision Transformer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训练策略，构建一个基于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ViT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皮肤病变自动分类系统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HAM10000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数据集中的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7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种皮肤疾病进行准确识别，辅助皮肤科医生提高诊断效率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82015" y="163830"/>
            <a:ext cx="4319905" cy="812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项目概述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890" y="826135"/>
            <a:ext cx="7708900" cy="430276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3965575" y="5278755"/>
            <a:ext cx="79775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本数据集来源于 Kaggle 皮肤癌 MNIST 数据集，其特点包括：数据高度不平衡——良性痣（nv）占比约 67%，而稀有类别如 df、vasc 仅占 1% ～1.4%；图像为皮肤病变的临床医学影像；且来源于不同设备和光源，具有显著的多来源异质性。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70833" t="10455" r="1601" b="66322"/>
          <a:stretch>
            <a:fillRect/>
          </a:stretch>
        </p:blipFill>
        <p:spPr>
          <a:xfrm>
            <a:off x="8181975" y="2625725"/>
            <a:ext cx="3295015" cy="1844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 rot="6189081">
            <a:off x="4264758" y="3656707"/>
            <a:ext cx="5787106" cy="1760776"/>
          </a:xfrm>
          <a:prstGeom prst="roundRect">
            <a:avLst/>
          </a:prstGeom>
          <a:gradFill flip="none" rotWithShape="1">
            <a:gsLst>
              <a:gs pos="0">
                <a:srgbClr val="EAA372">
                  <a:alpha val="3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 rot="17018392">
            <a:off x="2027474" y="1543966"/>
            <a:ext cx="6515431" cy="1818455"/>
          </a:xfrm>
          <a:prstGeom prst="roundRect">
            <a:avLst/>
          </a:prstGeom>
          <a:gradFill flip="none" rotWithShape="1">
            <a:gsLst>
              <a:gs pos="0">
                <a:srgbClr val="EAA372">
                  <a:alpha val="3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221576" y="1311229"/>
            <a:ext cx="2015799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技术局限与突破</a:t>
            </a:r>
            <a:endParaRPr lang="zh-CN" altLang="en-US" sz="2000" b="1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50495"/>
            <a:ext cx="3147060" cy="99568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20115" y="163830"/>
            <a:ext cx="4319905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基线模型建立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105" y="909955"/>
            <a:ext cx="3095625" cy="5834380"/>
          </a:xfrm>
          <a:prstGeom prst="rect">
            <a:avLst/>
          </a:prstGeom>
        </p:spPr>
      </p:pic>
      <p:sp>
        <p:nvSpPr>
          <p:cNvPr id="9" name="矩形: 圆角 15"/>
          <p:cNvSpPr/>
          <p:nvPr/>
        </p:nvSpPr>
        <p:spPr>
          <a:xfrm>
            <a:off x="4020185" y="2029460"/>
            <a:ext cx="4848225" cy="4553585"/>
          </a:xfrm>
          <a:prstGeom prst="roundRect">
            <a:avLst>
              <a:gd name="adj" fmla="val 8004"/>
            </a:avLst>
          </a:prstGeom>
          <a:solidFill>
            <a:schemeClr val="bg1"/>
          </a:solidFill>
          <a:ln>
            <a:noFill/>
          </a:ln>
          <a:effectLst>
            <a:outerShdw blurRad="3937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6"/>
          <p:cNvSpPr/>
          <p:nvPr/>
        </p:nvSpPr>
        <p:spPr>
          <a:xfrm>
            <a:off x="4736319" y="1808721"/>
            <a:ext cx="2959304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83027" y="1808434"/>
            <a:ext cx="197333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结果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572135" y="1275080"/>
            <a:ext cx="4848225" cy="4553585"/>
          </a:xfrm>
          <a:prstGeom prst="roundRect">
            <a:avLst>
              <a:gd name="adj" fmla="val 8004"/>
            </a:avLst>
          </a:prstGeom>
          <a:solidFill>
            <a:schemeClr val="bg1"/>
          </a:solidFill>
          <a:ln>
            <a:noFill/>
          </a:ln>
          <a:effectLst>
            <a:outerShdw blurRad="3937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1399394" y="1054341"/>
            <a:ext cx="2959304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62965" y="1560830"/>
            <a:ext cx="4319905" cy="3616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基线选择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ViT-B/16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预训练模型，采用最小化干预策略（基础增强、固定学习率、交叉熵损失），目的是建立一个干净的对比基准。测试结果显示整体准确率尚可（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88.62%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），但少数类（如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akiec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66.7%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）表现明显不足。这直接暴露了类别不平衡问题，为后续引入加权采样、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EMA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等改进提供了明确的优化方向。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71172" y="1035639"/>
            <a:ext cx="197333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基线模型</a:t>
            </a:r>
            <a:endParaRPr lang="zh-CN" altLang="en-US" sz="2000" b="1" dirty="0">
              <a:solidFill>
                <a:schemeClr val="bg1"/>
              </a:solidFill>
              <a:latin typeface="宋体" pitchFamily="2" charset="-122"/>
              <a:ea typeface="宋体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0" y="2453640"/>
            <a:ext cx="3724275" cy="4404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测试准确率：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88.62%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宏平均F1：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78.66%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加权F1：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88.43%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少数类F1：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 - mel: 75.93%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 - akiec: 66.67%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 - df: 72.73%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截屏2026-04-16 13.52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890" y="218440"/>
            <a:ext cx="2999105" cy="10147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115" y="163830"/>
            <a:ext cx="4319905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改进路线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73355" y="976630"/>
          <a:ext cx="11725910" cy="53930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5545"/>
                <a:gridCol w="2492375"/>
                <a:gridCol w="3739515"/>
                <a:gridCol w="1423035"/>
                <a:gridCol w="1027430"/>
                <a:gridCol w="1858010"/>
              </a:tblGrid>
              <a:tr h="46800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版本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7C3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核心改动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7C3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设计动机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7C3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测试准确率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7C3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宏</a:t>
                      </a:r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altLang="zh-CN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7C3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对少数类的改善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7C37"/>
                    </a:solidFill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baseline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简单数据增强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固定</a:t>
                      </a:r>
                      <a:r>
                        <a:rPr lang="en-US" altLang="zh-CN" sz="1600"/>
                        <a:t>lr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建立基准，观察</a:t>
                      </a:r>
                      <a:r>
                        <a:rPr lang="en-US" altLang="zh-CN" sz="1600"/>
                        <a:t>ViT</a:t>
                      </a:r>
                      <a:r>
                        <a:rPr lang="zh-CN" altLang="en-US" sz="1600"/>
                        <a:t>在该任务上的原生表现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88.62%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78.66%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mel F1=75.93%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improved_v1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label smoothing + dropout 0.15 + warmup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缓解过拟合，提升泛化</a:t>
                      </a:r>
                      <a:r>
                        <a:rPr lang="en-US" altLang="zh-CN" sz="1600"/>
                        <a:t>，</a:t>
                      </a:r>
                      <a:r>
                        <a:rPr lang="zh-CN" altLang="en-US" sz="1600"/>
                        <a:t>但</a:t>
                      </a:r>
                      <a:r>
                        <a:rPr lang="en-US" altLang="zh-CN" sz="1600"/>
                        <a:t>mel F1</a:t>
                      </a:r>
                      <a:r>
                        <a:rPr lang="zh-CN" altLang="en-US" sz="1600"/>
                        <a:t>反而下降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88.12%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78.79%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mel F1=70.74%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improved_v2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两阶段训练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类别权重 </a:t>
                      </a:r>
                      <a:r>
                        <a:rPr lang="en-US" altLang="zh-CN" sz="1600"/>
                        <a:t>+ TTA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让分类头先适应，再全网络精调；克服不平衡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87.80%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79.50%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>
                          <a:sym typeface="+mn-ea"/>
                        </a:rPr>
                        <a:t>mel F1=72.35%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improved_v3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加权随机采样器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直接平衡训练分布，提升少数类召回</a:t>
                      </a:r>
                      <a:r>
                        <a:rPr lang="en-US" altLang="zh-CN" sz="1600"/>
                        <a:t>，</a:t>
                      </a:r>
                      <a:r>
                        <a:rPr lang="zh-CN" altLang="en-US" sz="1600"/>
                        <a:t>但整体准确率下降，多数类性能受损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85.23%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80.97%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mel F1=66.92%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improved_v4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组合损失（平滑</a:t>
                      </a:r>
                      <a:r>
                        <a:rPr lang="en-US" altLang="zh-CN" sz="1600"/>
                        <a:t>+</a:t>
                      </a:r>
                      <a:r>
                        <a:rPr lang="zh-CN" altLang="en-US" sz="1600"/>
                        <a:t>权重）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组合验证指标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平衡精度与召回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86.83%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75.60%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整体性能回落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improved_v5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内置加权</a:t>
                      </a:r>
                      <a:r>
                        <a:rPr lang="en-US" altLang="zh-CN" sz="1600"/>
                        <a:t>CE + </a:t>
                      </a:r>
                      <a:r>
                        <a:rPr lang="zh-CN" altLang="en-US" sz="1600"/>
                        <a:t>低</a:t>
                      </a:r>
                      <a:r>
                        <a:rPr lang="en-US" altLang="zh-CN" sz="1600"/>
                        <a:t>dropout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简化设计，稳定训练</a:t>
                      </a:r>
                      <a:r>
                        <a:rPr lang="en-US" altLang="zh-CN" sz="1600"/>
                        <a:t>，</a:t>
                      </a:r>
                      <a:r>
                        <a:rPr lang="zh-CN" altLang="en-US" sz="1600"/>
                        <a:t>宏</a:t>
                      </a:r>
                      <a:r>
                        <a:rPr lang="en-US" altLang="zh-CN" sz="1600"/>
                        <a:t>F1</a:t>
                      </a:r>
                      <a:r>
                        <a:rPr lang="zh-CN" altLang="en-US" sz="1600"/>
                        <a:t>提升有限，少数类问题未根本解决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88.12%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79.11%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性能稳定回升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6C0"/>
                    </a:solidFill>
                  </a:tcPr>
                </a:tc>
              </a:tr>
              <a:tr h="703580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improved_v6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EMA + </a:t>
                      </a:r>
                      <a:r>
                        <a:rPr lang="zh-CN" altLang="en-US" sz="1600"/>
                        <a:t>极低</a:t>
                      </a:r>
                      <a:r>
                        <a:rPr lang="en-US" altLang="zh-CN" sz="1600"/>
                        <a:t>dropout + </a:t>
                      </a:r>
                      <a:r>
                        <a:rPr lang="zh-CN" altLang="en-US" sz="1600"/>
                        <a:t>温和增强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/>
                        <a:t>平滑参数更新，增强泛化，同时保留判别力</a:t>
                      </a:r>
                      <a:endParaRPr lang="zh-CN" altLang="en-US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89.62%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84.49%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600"/>
                        <a:t>akiec F1=82.76%, df F1=88.00%</a:t>
                      </a:r>
                      <a:endParaRPr lang="en-US" altLang="zh-CN" sz="1600"/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73355" y="5629275"/>
            <a:ext cx="11847830" cy="724535"/>
          </a:xfrm>
          <a:prstGeom prst="rect">
            <a:avLst/>
          </a:prstGeom>
          <a:ln w="28575" cap="flat" cmpd="sng">
            <a:solidFill>
              <a:srgbClr val="C00000"/>
            </a:solidFill>
            <a:prstDash val="solid"/>
            <a:miter lim="800000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885" y="976630"/>
            <a:ext cx="7479030" cy="4948555"/>
          </a:xfrm>
          <a:prstGeom prst="rect">
            <a:avLst/>
          </a:prstGeom>
        </p:spPr>
      </p:pic>
      <p:sp>
        <p:nvSpPr>
          <p:cNvPr id="37" name="矩形: 圆角 36"/>
          <p:cNvSpPr/>
          <p:nvPr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216785" y="5237729"/>
            <a:ext cx="197841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9445" y="1464310"/>
            <a:ext cx="311150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EMA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维护了一份模型参数的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慢速平均版本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正常的模型参数每一轮都在快速变化（像心电图），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EMA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版本则像一条平滑的曲线，只吸收一小部分新变化，其余部分保持历史记忆。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63195"/>
            <a:ext cx="3112135" cy="1049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115" y="163830"/>
            <a:ext cx="889381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  <a:sym typeface="+mn-ea"/>
              </a:rPr>
              <a:t>技术创新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- </a:t>
            </a:r>
            <a:r>
              <a:rPr lang="zh-CN" altLang="en-US" sz="4000" b="1">
                <a:solidFill>
                  <a:srgbClr val="E07C36"/>
                </a:solidFill>
                <a:sym typeface="+mn-ea"/>
              </a:rPr>
              <a:t>指数移动平均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(EMA)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85" y="885190"/>
            <a:ext cx="7479030" cy="19030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61435" y="2802890"/>
            <a:ext cx="8168005" cy="2038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衰减系数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decay = 0.999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表示每次迭代只融入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0.1%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的新梯度更新，极大平滑参数变化，避免训练过程中的震荡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提升模型泛化能力，尤其对噪声敏感的医学图像任务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4"/>
            </p:custDataLst>
          </p:nvPr>
        </p:nvGraphicFramePr>
        <p:xfrm>
          <a:off x="3921125" y="4235450"/>
          <a:ext cx="7844790" cy="2161540"/>
        </p:xfrm>
        <a:graphic>
          <a:graphicData uri="http://schemas.openxmlformats.org/drawingml/2006/table">
            <a:tbl>
              <a:tblPr/>
              <a:tblGrid>
                <a:gridCol w="902335"/>
                <a:gridCol w="2675255"/>
                <a:gridCol w="1592580"/>
                <a:gridCol w="2674620"/>
              </a:tblGrid>
              <a:tr h="540385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decay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2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800" b="1">
                          <a:latin typeface="宋体"/>
                          <a:ea typeface="宋体"/>
                        </a:rPr>
                        <a:t>每次吸收新参数比例</a:t>
                      </a:r>
                      <a:endParaRPr lang="zh-CN" altLang="en-US" sz="1800" b="1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2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800" b="1">
                          <a:latin typeface="宋体"/>
                          <a:ea typeface="宋体"/>
                        </a:rPr>
                        <a:t>半衰期步数</a:t>
                      </a:r>
                      <a:endParaRPr lang="zh-CN" altLang="en-US" sz="1800" b="1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2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800" b="1">
                          <a:latin typeface="宋体"/>
                          <a:ea typeface="宋体"/>
                        </a:rPr>
                        <a:t>效果</a:t>
                      </a:r>
                      <a:endParaRPr lang="zh-CN" altLang="en-US" sz="1800" b="1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2F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0.999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0.1%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~693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800" b="1">
                          <a:latin typeface="宋体"/>
                          <a:ea typeface="宋体"/>
                        </a:rPr>
                        <a:t>平滑，适合抑制噪声</a:t>
                      </a:r>
                      <a:endParaRPr lang="zh-CN" altLang="en-US" sz="1800" b="1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0385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0.99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38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1%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38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~69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38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800" b="1">
                          <a:latin typeface="宋体"/>
                          <a:ea typeface="宋体"/>
                        </a:rPr>
                        <a:t>较敏感，平滑效果弱</a:t>
                      </a:r>
                      <a:endParaRPr lang="zh-CN" altLang="en-US" sz="1800" b="1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382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0.9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10%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800" b="1">
                          <a:latin typeface="Times New Roman" panose="02020503050405090304"/>
                          <a:ea typeface="宋体"/>
                        </a:rPr>
                        <a:t>~7</a:t>
                      </a:r>
                      <a:endParaRPr lang="en-US" altLang="zh-CN" sz="1800" b="1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800" b="1">
                          <a:latin typeface="宋体"/>
                          <a:ea typeface="宋体"/>
                        </a:rPr>
                        <a:t>几乎等于原始模型</a:t>
                      </a:r>
                      <a:endParaRPr lang="zh-CN" altLang="en-US" sz="1800" b="1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945515"/>
            <a:ext cx="11098530" cy="5334000"/>
          </a:xfrm>
          <a:prstGeom prst="rect">
            <a:avLst/>
          </a:prstGeom>
        </p:spPr>
      </p:pic>
      <p:sp>
        <p:nvSpPr>
          <p:cNvPr id="26" name="矩形: 圆角 36"/>
          <p:cNvSpPr/>
          <p:nvPr/>
        </p:nvSpPr>
        <p:spPr>
          <a:xfrm rot="5400000">
            <a:off x="8032206" y="2206406"/>
            <a:ext cx="3695663" cy="3337533"/>
          </a:xfrm>
          <a:prstGeom prst="roundRect">
            <a:avLst>
              <a:gd name="adj" fmla="val 3539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513023" y="2689489"/>
            <a:ext cx="2767438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该表清晰展示了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EMA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先慢后快、最终反超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的过程：前期因平滑而滞后，后期凭借稳定性和抗噪声能力超越原始模型，峰值宏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F1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1.5%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，且曲线更平稳。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321040" y="2037080"/>
            <a:ext cx="333121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的性能变化趋势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8687535" y="2589228"/>
            <a:ext cx="1871388" cy="0"/>
          </a:xfrm>
          <a:prstGeom prst="line">
            <a:avLst/>
          </a:prstGeom>
          <a:ln w="41275">
            <a:gradFill>
              <a:gsLst>
                <a:gs pos="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>
            <a:off x="7832976" y="3590396"/>
            <a:ext cx="527265" cy="242671"/>
          </a:xfrm>
          <a:prstGeom prst="triangle">
            <a:avLst/>
          </a:prstGeom>
          <a:gradFill>
            <a:gsLst>
              <a:gs pos="0">
                <a:srgbClr val="DD6D21"/>
              </a:gs>
              <a:gs pos="25000">
                <a:srgbClr val="EAA3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16560" y="2083435"/>
          <a:ext cx="7764145" cy="36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  <a:gridCol w="2004695"/>
                <a:gridCol w="2564130"/>
                <a:gridCol w="2165985"/>
              </a:tblGrid>
              <a:tr h="6184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Epoch</a:t>
                      </a:r>
                      <a:endParaRPr lang="en-US" altLang="zh-CN" sz="1600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984" marR="79984" marT="39993" marB="39993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原始模型</a:t>
                      </a:r>
                      <a:r>
                        <a:rPr lang="en-US" altLang="zh-CN" sz="1600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val_macro_f1</a:t>
                      </a:r>
                      <a:endParaRPr lang="en-US" altLang="zh-CN" sz="1600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984" marR="79984" marT="39993" marB="39993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2667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EMA 模型 ema_val_macro_f1</a:t>
                      </a:r>
                      <a:endParaRPr lang="zh-CN" altLang="en-US" sz="1600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2667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差值 </a:t>
                      </a:r>
                      <a:endParaRPr lang="zh-CN" altLang="en-US" sz="1600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2667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altLang="en-US" sz="1600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(EMA - 原始)</a:t>
                      </a:r>
                      <a:endParaRPr lang="zh-CN" altLang="en-US" sz="1600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0.2439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0.1620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-0.0819 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(EMA 落后)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0.7481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0.4807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-0.2674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(EMA 仍落后)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0.7673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0.7412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-0.0261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(接近)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0.8140 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(原始峰值)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0.8169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+0.0029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(EMA 反超)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0010" marR="80010" marT="40005" marB="40005"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0.7993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0.8264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(EMA 峰值)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+0.0271 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algn="ctr">
                        <a:spcBef>
                          <a:spcPts val="200"/>
                        </a:spcBef>
                        <a:buClrTx/>
                        <a:buSzTx/>
                        <a:buFontTx/>
                      </a:pPr>
                      <a:r>
                        <a:rPr lang="en-US" altLang="zh-CN" sz="1600" b="1" dirty="0">
                          <a:solidFill>
                            <a:srgbClr val="DD6D2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(EMA 明显领先)</a:t>
                      </a:r>
                      <a:endParaRPr lang="en-US" altLang="zh-CN" sz="1600" b="1" dirty="0">
                        <a:solidFill>
                          <a:srgbClr val="DD6D2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anchorCtr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D6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651510" y="1049655"/>
            <a:ext cx="102381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这张表格对比了原始模型与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EMA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模型在训练过程中不同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epoch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的验证集宏平均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F1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值，并计算了差值（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EMA −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原始），以直观展示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EMA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的性能变化趋势。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20115" y="163830"/>
            <a:ext cx="8893810" cy="812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  <a:sym typeface="+mn-ea"/>
              </a:rPr>
              <a:t>技术创新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- </a:t>
            </a:r>
            <a:r>
              <a:rPr lang="zh-CN" altLang="en-US" sz="4000" b="1">
                <a:solidFill>
                  <a:srgbClr val="E07C36"/>
                </a:solidFill>
                <a:sym typeface="+mn-ea"/>
              </a:rPr>
              <a:t>指数移动平均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(EMA)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54025" y="5953760"/>
            <a:ext cx="11206480" cy="812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indent="457200"/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EMA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通过极平滑的参数更新，抑制训练震荡、防止过拟合、稳定少数类学习，最终以微小计算代价换取了显著的泛化性能提升。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945515"/>
            <a:ext cx="11098530" cy="5334000"/>
          </a:xfrm>
          <a:prstGeom prst="rect">
            <a:avLst/>
          </a:prstGeom>
        </p:spPr>
      </p:pic>
      <p:sp>
        <p:nvSpPr>
          <p:cNvPr id="3" name="矩形: 圆角 16"/>
          <p:cNvSpPr/>
          <p:nvPr/>
        </p:nvSpPr>
        <p:spPr>
          <a:xfrm>
            <a:off x="702945" y="1230630"/>
            <a:ext cx="4116705" cy="4888230"/>
          </a:xfrm>
          <a:prstGeom prst="roundRect">
            <a:avLst>
              <a:gd name="adj" fmla="val 4283"/>
            </a:avLst>
          </a:prstGeom>
          <a:solidFill>
            <a:schemeClr val="bg1"/>
          </a:solidFill>
          <a:ln w="28575">
            <a:gradFill>
              <a:gsLst>
                <a:gs pos="1770">
                  <a:srgbClr val="DD6D21"/>
                </a:gs>
                <a:gs pos="68000">
                  <a:schemeClr val="bg1"/>
                </a:gs>
                <a:gs pos="24000">
                  <a:schemeClr val="bg1"/>
                </a:gs>
                <a:gs pos="87000">
                  <a:srgbClr val="DD6D21"/>
                </a:gs>
                <a:gs pos="100000">
                  <a:srgbClr val="DD6D21"/>
                </a:gs>
              </a:gsLst>
              <a:lin ang="5400000" scaled="1"/>
            </a:gradFill>
          </a:ln>
          <a:effectLst>
            <a:outerShdw blurRad="393700" dist="38100" sx="101000" sy="101000" algn="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类别严重不平衡（</a:t>
            </a:r>
            <a:r>
              <a:rPr lang="en-US" altLang="zh-CN"/>
              <a:t>NV</a:t>
            </a:r>
            <a:r>
              <a:rPr lang="zh-CN" altLang="en-US"/>
              <a:t>占</a:t>
            </a:r>
            <a:r>
              <a:rPr lang="en-US" altLang="zh-CN"/>
              <a:t>67%</a:t>
            </a:r>
            <a:r>
              <a:rPr lang="zh-CN" altLang="en-US"/>
              <a:t>，</a:t>
            </a:r>
            <a:r>
              <a:rPr lang="en-US" altLang="zh-CN"/>
              <a:t>DF</a:t>
            </a:r>
            <a:r>
              <a:rPr lang="zh-CN" altLang="en-US"/>
              <a:t>仅</a:t>
            </a:r>
            <a:r>
              <a:rPr lang="en-US" altLang="zh-CN"/>
              <a:t>100</a:t>
            </a:r>
            <a:r>
              <a:rPr lang="zh-CN" altLang="en-US"/>
              <a:t>张）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20115" y="163830"/>
            <a:ext cx="8893810" cy="812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  <a:sym typeface="+mn-ea"/>
              </a:rPr>
              <a:t>技术创新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- </a:t>
            </a:r>
            <a:r>
              <a:rPr lang="zh-CN" altLang="en-US" sz="4000" b="1">
                <a:solidFill>
                  <a:srgbClr val="E07C36"/>
                </a:solidFill>
                <a:sym typeface="+mn-ea"/>
              </a:rPr>
              <a:t>极低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Dropout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0750" y="1230630"/>
            <a:ext cx="3793490" cy="4888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1. Dropout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是一种常用的正则化技术，通过在训练时随机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丢弃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一部分神经元来防止过拟合。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2. Dropout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并非越高越好。过高会损伤模型的判别能力，过低则可能无法抑制过拟合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3. improved_v6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经过实验摸索，将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dropout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概率从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v1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0.15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大幅降低至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0.03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，在医学图像分类任务中找到了最佳平衡点。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1105" y="5333365"/>
            <a:ext cx="69310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buClrTx/>
              <a:buSzTx/>
              <a:buFontTx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可以看出，随着 dropout 降低，模型的整体性能逐步提升，尤其少数类收益显著。这说明低 dropout 让模型有更多容量去学习少数类的特征。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 descr="dropout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485" y="1264920"/>
            <a:ext cx="6550025" cy="3902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13925" y="3429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dropout=0.03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06360" y="3924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dropout=0.05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49925" y="429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dropout=0.15</a:t>
            </a:r>
            <a:endParaRPr lang="en-US" altLang="zh-CN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945515"/>
            <a:ext cx="11098530" cy="5334000"/>
          </a:xfrm>
          <a:prstGeom prst="rect">
            <a:avLst/>
          </a:prstGeom>
        </p:spPr>
      </p:pic>
      <p:sp>
        <p:nvSpPr>
          <p:cNvPr id="3" name="矩形: 圆角 16"/>
          <p:cNvSpPr/>
          <p:nvPr/>
        </p:nvSpPr>
        <p:spPr>
          <a:xfrm>
            <a:off x="474980" y="1125220"/>
            <a:ext cx="4556125" cy="5154295"/>
          </a:xfrm>
          <a:prstGeom prst="roundRect">
            <a:avLst>
              <a:gd name="adj" fmla="val 4283"/>
            </a:avLst>
          </a:prstGeom>
          <a:solidFill>
            <a:schemeClr val="bg1"/>
          </a:solidFill>
          <a:ln w="28575">
            <a:gradFill>
              <a:gsLst>
                <a:gs pos="1770">
                  <a:srgbClr val="DD6D21"/>
                </a:gs>
                <a:gs pos="68000">
                  <a:schemeClr val="bg1"/>
                </a:gs>
                <a:gs pos="24000">
                  <a:schemeClr val="bg1"/>
                </a:gs>
                <a:gs pos="87000">
                  <a:srgbClr val="DD6D21"/>
                </a:gs>
                <a:gs pos="100000">
                  <a:srgbClr val="DD6D21"/>
                </a:gs>
              </a:gsLst>
              <a:lin ang="5400000" scaled="1"/>
            </a:gradFill>
          </a:ln>
          <a:effectLst>
            <a:outerShdw blurRad="393700" dist="38100" sx="101000" sy="101000" algn="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类别严重不平衡（</a:t>
            </a:r>
            <a:r>
              <a:rPr lang="en-US" altLang="zh-CN"/>
              <a:t>NV</a:t>
            </a:r>
            <a:r>
              <a:rPr lang="zh-CN" altLang="en-US"/>
              <a:t>占</a:t>
            </a:r>
            <a:r>
              <a:rPr lang="en-US" altLang="zh-CN"/>
              <a:t>67%</a:t>
            </a:r>
            <a:r>
              <a:rPr lang="zh-CN" altLang="en-US"/>
              <a:t>，</a:t>
            </a:r>
            <a:r>
              <a:rPr lang="en-US" altLang="zh-CN"/>
              <a:t>DF</a:t>
            </a:r>
            <a:r>
              <a:rPr lang="zh-CN" altLang="en-US"/>
              <a:t>仅</a:t>
            </a:r>
            <a:r>
              <a:rPr lang="en-US" altLang="zh-CN"/>
              <a:t>100</a:t>
            </a:r>
            <a:r>
              <a:rPr lang="zh-CN" altLang="en-US"/>
              <a:t>张）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20115" y="163830"/>
            <a:ext cx="8893810" cy="812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  <a:sym typeface="+mn-ea"/>
              </a:rPr>
              <a:t>技术创新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- </a:t>
            </a:r>
            <a:r>
              <a:rPr lang="zh-CN" altLang="en-US" sz="4000" b="1">
                <a:solidFill>
                  <a:srgbClr val="E07C36"/>
                </a:solidFill>
                <a:sym typeface="+mn-ea"/>
              </a:rPr>
              <a:t>极低</a:t>
            </a:r>
            <a:r>
              <a:rPr lang="en-US" altLang="zh-CN" sz="4000" b="1">
                <a:solidFill>
                  <a:srgbClr val="E07C36"/>
                </a:solidFill>
                <a:sym typeface="+mn-ea"/>
              </a:rPr>
              <a:t> Dropout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4980" y="1244600"/>
            <a:ext cx="4556125" cy="5154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降低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dropout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会增加过拟合风险。但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v6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中我们同时采取了以下措施来补偿：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AutoNum type="arabicPeriod"/>
            </a:pP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EMA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：参数平滑，增强了泛化能力。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AutoNum type="arabicPeriod"/>
            </a:pP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学习率预热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 +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衰减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：避免早期梯度爆炸，后期精细收敛。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AutoNum type="arabicPeriod"/>
            </a:pP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温和的数据增强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：相比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v3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的强增强，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v6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的增强更保守，不破坏图像语义。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AutoNum type="arabicPeriod"/>
            </a:pP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早停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：基于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EMA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验证准确率，一旦不再提升就停止训练。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4241" b="14694"/>
          <a:stretch>
            <a:fillRect/>
          </a:stretch>
        </p:blipFill>
        <p:spPr>
          <a:xfrm>
            <a:off x="5483225" y="1010920"/>
            <a:ext cx="6090285" cy="43281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30470" y="5387975"/>
            <a:ext cx="7161530" cy="1017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v6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以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0.03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的极低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dropout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配合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EMA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、温和增强与学习率调度，实现了准确率（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89.6%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）与宏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F1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84.5%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）的双重突破，少数类性能提升高达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16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个百分点，成为本项目最佳模型。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-977900" y="1298696"/>
            <a:ext cx="14097000" cy="3869555"/>
          </a:xfrm>
          <a:prstGeom prst="roundRect">
            <a:avLst>
              <a:gd name="adj" fmla="val 4459"/>
            </a:avLst>
          </a:prstGeom>
          <a:gradFill>
            <a:gsLst>
              <a:gs pos="0">
                <a:srgbClr val="DD6D21">
                  <a:alpha val="78000"/>
                </a:srgbClr>
              </a:gs>
              <a:gs pos="100000">
                <a:srgbClr val="DD6D21">
                  <a:alpha val="97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-963054" y="1554650"/>
            <a:ext cx="14097000" cy="3659172"/>
          </a:xfrm>
          <a:prstGeom prst="roundRect">
            <a:avLst>
              <a:gd name="adj" fmla="val 7947"/>
            </a:avLst>
          </a:prstGeom>
          <a:gradFill>
            <a:gsLst>
              <a:gs pos="0">
                <a:schemeClr val="accent2">
                  <a:alpha val="76000"/>
                </a:schemeClr>
              </a:gs>
              <a:gs pos="100000">
                <a:srgbClr val="EAA372">
                  <a:alpha val="51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63195"/>
            <a:ext cx="3112135" cy="1049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115" y="163830"/>
            <a:ext cx="4319905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solidFill>
                  <a:srgbClr val="E07C36"/>
                </a:solidFill>
              </a:rPr>
              <a:t>4.</a:t>
            </a:r>
            <a:r>
              <a:rPr lang="zh-CN" altLang="en-US" sz="4000" b="1">
                <a:solidFill>
                  <a:srgbClr val="E07C36"/>
                </a:solidFill>
              </a:rPr>
              <a:t>问题与解决思路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0115" y="163830"/>
            <a:ext cx="9285605" cy="812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技术创新</a:t>
            </a:r>
            <a:r>
              <a:rPr lang="en-US" altLang="zh-CN" sz="4000" b="1">
                <a:solidFill>
                  <a:srgbClr val="E07C36"/>
                </a:solidFill>
              </a:rPr>
              <a:t> - </a:t>
            </a:r>
            <a:r>
              <a:rPr lang="zh-CN" altLang="en-US" sz="4000" b="1">
                <a:solidFill>
                  <a:srgbClr val="E07C36"/>
                </a:solidFill>
              </a:rPr>
              <a:t>温和数据增强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10926" b="8769"/>
          <a:stretch>
            <a:fillRect/>
          </a:stretch>
        </p:blipFill>
        <p:spPr>
          <a:xfrm>
            <a:off x="562610" y="1298575"/>
            <a:ext cx="5862955" cy="4708525"/>
          </a:xfrm>
          <a:prstGeom prst="rect">
            <a:avLst/>
          </a:prstGeom>
        </p:spPr>
      </p:pic>
      <p:pic>
        <p:nvPicPr>
          <p:cNvPr id="14" name="图片 13" descr="1780562289204"/>
          <p:cNvPicPr>
            <a:picLocks noChangeAspect="1"/>
          </p:cNvPicPr>
          <p:nvPr/>
        </p:nvPicPr>
        <p:blipFill>
          <a:blip r:embed="rId3"/>
          <a:srcRect l="8315" t="7972" r="4204" b="2009"/>
          <a:stretch>
            <a:fillRect/>
          </a:stretch>
        </p:blipFill>
        <p:spPr>
          <a:xfrm>
            <a:off x="6689725" y="976630"/>
            <a:ext cx="5277485" cy="54311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44920"/>
            <a:ext cx="12192000" cy="35052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93700" y="6092825"/>
            <a:ext cx="10853420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强增强（</a:t>
            </a:r>
            <a:r>
              <a:rPr lang="en-US" altLang="zh-CN" sz="2000"/>
              <a:t>v3</a:t>
            </a:r>
            <a:r>
              <a:rPr lang="zh-CN" altLang="en-US" sz="2000"/>
              <a:t>）虽提升少数类召回，但整体准确率</a:t>
            </a:r>
            <a:r>
              <a:rPr lang="en-US" altLang="zh-CN" sz="2000"/>
              <a:t> </a:t>
            </a:r>
            <a:r>
              <a:rPr lang="zh-CN" altLang="en-US" sz="2000"/>
              <a:t>下降</a:t>
            </a:r>
            <a:r>
              <a:rPr lang="en-US" altLang="zh-CN" sz="2000"/>
              <a:t>3.4%</a:t>
            </a:r>
            <a:r>
              <a:rPr lang="zh-CN" altLang="en-US" sz="2000"/>
              <a:t>。</a:t>
            </a:r>
            <a:endParaRPr lang="zh-CN" altLang="en-US" sz="2000"/>
          </a:p>
          <a:p>
            <a:r>
              <a:rPr lang="zh-CN" altLang="en-US" sz="2000"/>
              <a:t>温和增强（</a:t>
            </a:r>
            <a:r>
              <a:rPr lang="en-US" altLang="zh-CN" sz="2000"/>
              <a:t>v6</a:t>
            </a:r>
            <a:r>
              <a:rPr lang="zh-CN" altLang="en-US" sz="2000"/>
              <a:t>）实现</a:t>
            </a:r>
            <a:r>
              <a:rPr lang="en-US" altLang="zh-CN" sz="2000"/>
              <a:t> </a:t>
            </a:r>
            <a:r>
              <a:rPr lang="zh-CN" altLang="en-US" sz="2000"/>
              <a:t>准确率与少数类</a:t>
            </a:r>
            <a:r>
              <a:rPr lang="en-US" altLang="zh-CN" sz="2000"/>
              <a:t>F1</a:t>
            </a:r>
            <a:r>
              <a:rPr lang="zh-CN" altLang="en-US" sz="2000"/>
              <a:t>双提升，证明保留细微病变特征至关重要。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 rot="21073391">
            <a:off x="-545641" y="3305078"/>
            <a:ext cx="13445063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5010" y="1478280"/>
            <a:ext cx="2740660" cy="4396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216785" y="5237729"/>
            <a:ext cx="197841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63195"/>
            <a:ext cx="3112135" cy="1049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115" y="163830"/>
            <a:ext cx="9285605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结果</a:t>
            </a:r>
            <a:r>
              <a:rPr lang="zh-CN" altLang="en-US" sz="4000" b="1">
                <a:solidFill>
                  <a:srgbClr val="E07C36"/>
                </a:solidFill>
              </a:rPr>
              <a:t>分析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7880" y="1513840"/>
            <a:ext cx="2776220" cy="3323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210000"/>
              </a:lnSpc>
              <a:buClrTx/>
              <a:buSzTx/>
              <a:buFontTx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 T4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显存：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16GB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 size=32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92299753" name="图片 1"/>
          <p:cNvPicPr>
            <a:picLocks noChangeAspect="1"/>
          </p:cNvPicPr>
          <p:nvPr/>
        </p:nvPicPr>
        <p:blipFill>
          <a:blip r:embed="rId2"/>
          <a:srcRect l="4465" t="8171"/>
          <a:stretch>
            <a:fillRect/>
          </a:stretch>
        </p:blipFill>
        <p:spPr>
          <a:xfrm>
            <a:off x="3921125" y="1078865"/>
            <a:ext cx="8042275" cy="5195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 rot="21073391">
            <a:off x="-545641" y="3305078"/>
            <a:ext cx="13445063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5010" y="1478280"/>
            <a:ext cx="2740660" cy="4396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216785" y="5237729"/>
            <a:ext cx="197841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63195"/>
            <a:ext cx="3112135" cy="1049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115" y="163830"/>
            <a:ext cx="9285605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结果</a:t>
            </a:r>
            <a:r>
              <a:rPr lang="zh-CN" altLang="en-US" sz="4000" b="1">
                <a:solidFill>
                  <a:srgbClr val="E07C36"/>
                </a:solidFill>
              </a:rPr>
              <a:t>分析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7880" y="1513840"/>
            <a:ext cx="2776220" cy="3323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210000"/>
              </a:lnSpc>
              <a:buClrTx/>
              <a:buSzTx/>
              <a:buFontTx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 T4 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显存：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16GB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 size=32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92299753" name="图片 1"/>
          <p:cNvPicPr>
            <a:picLocks noChangeAspect="1"/>
          </p:cNvPicPr>
          <p:nvPr/>
        </p:nvPicPr>
        <p:blipFill>
          <a:blip r:embed="rId2"/>
          <a:srcRect l="4465" t="8171"/>
          <a:stretch>
            <a:fillRect/>
          </a:stretch>
        </p:blipFill>
        <p:spPr>
          <a:xfrm>
            <a:off x="3921125" y="1078865"/>
            <a:ext cx="8042275" cy="5195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 rot="21073391">
            <a:off x="-545641" y="3305078"/>
            <a:ext cx="13445063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 rot="10296051">
            <a:off x="-706673" y="1859317"/>
            <a:ext cx="13404628" cy="948656"/>
          </a:xfrm>
          <a:prstGeom prst="roundRect">
            <a:avLst>
              <a:gd name="adj" fmla="val 6910"/>
            </a:avLst>
          </a:prstGeom>
          <a:gradFill flip="none" rotWithShape="1">
            <a:gsLst>
              <a:gs pos="0">
                <a:srgbClr val="F6D6C0">
                  <a:alpha val="58000"/>
                </a:srgbClr>
              </a:gs>
              <a:gs pos="100000">
                <a:srgbClr val="DD6D21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18265" y="1366699"/>
            <a:ext cx="3031583" cy="4124602"/>
          </a:xfrm>
          <a:prstGeom prst="roundRect">
            <a:avLst>
              <a:gd name="adj" fmla="val 3429"/>
            </a:avLst>
          </a:prstGeom>
          <a:gradFill>
            <a:gsLst>
              <a:gs pos="0">
                <a:srgbClr val="EAA372"/>
              </a:gs>
              <a:gs pos="100000">
                <a:srgbClr val="DD6D21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5010" y="1478280"/>
            <a:ext cx="2740660" cy="4396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14780" y="1431786"/>
            <a:ext cx="3031583" cy="4124602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917161" y="5248177"/>
            <a:ext cx="2538508" cy="55700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D6D21"/>
              </a:gs>
              <a:gs pos="100000">
                <a:srgbClr val="EAA372"/>
              </a:gs>
            </a:gsLst>
            <a:lin ang="2700000" scaled="1"/>
          </a:gradFill>
          <a:ln>
            <a:noFill/>
          </a:ln>
          <a:effectLst>
            <a:innerShdw blurRad="38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216785" y="5237729"/>
            <a:ext cx="197841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63195"/>
            <a:ext cx="3112135" cy="1049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115" y="163830"/>
            <a:ext cx="9285605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E07C36"/>
                </a:solidFill>
              </a:rPr>
              <a:t>结果</a:t>
            </a:r>
            <a:r>
              <a:rPr lang="zh-CN" altLang="en-US" sz="4000" b="1">
                <a:solidFill>
                  <a:srgbClr val="E07C36"/>
                </a:solidFill>
              </a:rPr>
              <a:t>分析</a:t>
            </a:r>
            <a:endParaRPr lang="zh-CN" altLang="en-US" sz="4000" b="1">
              <a:solidFill>
                <a:srgbClr val="E07C3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7880" y="1513840"/>
            <a:ext cx="2928620" cy="3323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90000"/>
              </a:lnSpc>
              <a:buClrTx/>
              <a:buSzTx/>
              <a:buFont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improved_v6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对少数类的识别能力实现了大幅提升，证明了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EMA +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dropout +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温和增强的组合策略在处理数据不平衡问题上的有效性。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2380" b="14343"/>
          <a:stretch>
            <a:fillRect/>
          </a:stretch>
        </p:blipFill>
        <p:spPr>
          <a:xfrm>
            <a:off x="4340860" y="885190"/>
            <a:ext cx="7038975" cy="57111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338445" y="5556250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66.9%</a:t>
            </a:r>
            <a:endParaRPr lang="en-US" altLang="zh-CN" b="1"/>
          </a:p>
        </p:txBody>
      </p:sp>
      <p:sp>
        <p:nvSpPr>
          <p:cNvPr id="10" name="文本框 9"/>
          <p:cNvSpPr txBox="1"/>
          <p:nvPr/>
        </p:nvSpPr>
        <p:spPr>
          <a:xfrm>
            <a:off x="6095365" y="5565140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11.1%</a:t>
            </a:r>
            <a:endParaRPr lang="en-US" altLang="zh-CN" b="1"/>
          </a:p>
        </p:txBody>
      </p:sp>
      <p:sp>
        <p:nvSpPr>
          <p:cNvPr id="11" name="文本框 10"/>
          <p:cNvSpPr txBox="1"/>
          <p:nvPr/>
        </p:nvSpPr>
        <p:spPr>
          <a:xfrm>
            <a:off x="6988175" y="5584825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11.0%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7757795" y="5608955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5.1%</a:t>
            </a:r>
            <a:endParaRPr lang="en-US" altLang="zh-CN" b="1"/>
          </a:p>
        </p:txBody>
      </p:sp>
      <p:sp>
        <p:nvSpPr>
          <p:cNvPr id="13" name="文本框 12"/>
          <p:cNvSpPr txBox="1"/>
          <p:nvPr/>
        </p:nvSpPr>
        <p:spPr>
          <a:xfrm>
            <a:off x="8630285" y="5608955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3.3%</a:t>
            </a:r>
            <a:endParaRPr lang="en-US" altLang="zh-CN" b="1"/>
          </a:p>
        </p:txBody>
      </p:sp>
      <p:sp>
        <p:nvSpPr>
          <p:cNvPr id="14" name="文本框 13"/>
          <p:cNvSpPr txBox="1"/>
          <p:nvPr/>
        </p:nvSpPr>
        <p:spPr>
          <a:xfrm>
            <a:off x="9479280" y="5608955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1.4%</a:t>
            </a:r>
            <a:endParaRPr lang="en-US" altLang="zh-CN" b="1"/>
          </a:p>
        </p:txBody>
      </p:sp>
      <p:sp>
        <p:nvSpPr>
          <p:cNvPr id="15" name="文本框 14"/>
          <p:cNvSpPr txBox="1"/>
          <p:nvPr/>
        </p:nvSpPr>
        <p:spPr>
          <a:xfrm>
            <a:off x="10363200" y="5608955"/>
            <a:ext cx="7569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1.1%</a:t>
            </a:r>
            <a:endParaRPr lang="en-US" altLang="zh-CN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5" b="10798"/>
          <a:stretch>
            <a:fillRect/>
          </a:stretch>
        </p:blipFill>
        <p:spPr>
          <a:xfrm rot="16200000">
            <a:off x="4616978" y="-4614109"/>
            <a:ext cx="2943531" cy="12206514"/>
          </a:xfrm>
          <a:custGeom>
            <a:avLst/>
            <a:gdLst>
              <a:gd name="connsiteX0" fmla="*/ 2943531 w 2943531"/>
              <a:gd name="connsiteY0" fmla="*/ 0 h 12206514"/>
              <a:gd name="connsiteX1" fmla="*/ 2943531 w 2943531"/>
              <a:gd name="connsiteY1" fmla="*/ 12206514 h 12206514"/>
              <a:gd name="connsiteX2" fmla="*/ 0 w 2943531"/>
              <a:gd name="connsiteY2" fmla="*/ 12206514 h 12206514"/>
              <a:gd name="connsiteX3" fmla="*/ 0 w 2943531"/>
              <a:gd name="connsiteY3" fmla="*/ 0 h 1220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3531" h="12206514">
                <a:moveTo>
                  <a:pt x="2943531" y="0"/>
                </a:moveTo>
                <a:lnTo>
                  <a:pt x="2943531" y="12206514"/>
                </a:lnTo>
                <a:lnTo>
                  <a:pt x="0" y="1220651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矩形: 圆角 1"/>
          <p:cNvSpPr/>
          <p:nvPr/>
        </p:nvSpPr>
        <p:spPr>
          <a:xfrm rot="10800000">
            <a:off x="-14514" y="-2913"/>
            <a:ext cx="12206514" cy="296091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EAA372">
                  <a:alpha val="61000"/>
                </a:srgbClr>
              </a:gs>
              <a:gs pos="100000">
                <a:srgbClr val="DD6D21">
                  <a:alpha val="97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 rot="10800000">
            <a:off x="0" y="6676570"/>
            <a:ext cx="12206514" cy="1959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31000">
                <a:srgbClr val="E07A34"/>
              </a:gs>
              <a:gs pos="100000">
                <a:srgbClr val="DD6D21">
                  <a:alpha val="97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322824" y="4403244"/>
            <a:ext cx="77791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chemeClr val="bg2">
                    <a:lumMod val="50000"/>
                    <a:alpha val="26000"/>
                  </a:schemeClr>
                </a:solidFill>
              </a:rPr>
              <a:t>Thank you for watching</a:t>
            </a:r>
            <a:endParaRPr lang="en-US" altLang="zh-CN" sz="4800" dirty="0">
              <a:solidFill>
                <a:schemeClr val="bg2">
                  <a:lumMod val="50000"/>
                  <a:alpha val="26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22824" y="2607500"/>
            <a:ext cx="837659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600" dirty="0">
                <a:solidFill>
                  <a:srgbClr val="DD6D2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感谢您的观看</a:t>
            </a:r>
            <a:endParaRPr lang="zh-CN" altLang="en-US" sz="9600" dirty="0">
              <a:solidFill>
                <a:srgbClr val="DD6D2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47" y="355314"/>
            <a:ext cx="2136329" cy="61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3*442"/>
  <p:tag name="TABLE_ENDDRAG_RECT" val="13*97*923*442"/>
</p:tagLst>
</file>

<file path=ppt/tags/tag2.xml><?xml version="1.0" encoding="utf-8"?>
<p:tagLst xmlns:p="http://schemas.openxmlformats.org/presentationml/2006/main">
  <p:tag name="TABLE_ENDDRAG_ORIGIN_RECT" val="617*170"/>
  <p:tag name="TABLE_ENDDRAG_RECT" val="308*333*617*170"/>
</p:tagLst>
</file>

<file path=ppt/tags/tag3.xml><?xml version="1.0" encoding="utf-8"?>
<p:tagLst xmlns:p="http://schemas.openxmlformats.org/presentationml/2006/main">
  <p:tag name="TABLE_ENDDRAG_ORIGIN_RECT" val="611*287"/>
  <p:tag name="TABLE_ENDDRAG_RECT" val="35*171*611*28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2874</Words>
  <Application>WPS 文字</Application>
  <PresentationFormat>宽屏</PresentationFormat>
  <Paragraphs>350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45" baseType="lpstr">
      <vt:lpstr>Arial</vt:lpstr>
      <vt:lpstr>宋体</vt:lpstr>
      <vt:lpstr>Wingdings</vt:lpstr>
      <vt:lpstr>黑体</vt:lpstr>
      <vt:lpstr>汉仪中黑KW</vt:lpstr>
      <vt:lpstr>庞门正道粗书体</vt:lpstr>
      <vt:lpstr>微软雅黑</vt:lpstr>
      <vt:lpstr>汉仪旗黑</vt:lpstr>
      <vt:lpstr>演示夏行楷</vt:lpstr>
      <vt:lpstr>华文宋体</vt:lpstr>
      <vt:lpstr>汉仪书宋二KW</vt:lpstr>
      <vt:lpstr>Times New Roman</vt:lpstr>
      <vt:lpstr>宋体</vt:lpstr>
      <vt:lpstr>等线</vt:lpstr>
      <vt:lpstr>等线</vt:lpstr>
      <vt:lpstr>汉仪中等线KW</vt:lpstr>
      <vt:lpstr>行楷-简</vt:lpstr>
      <vt:lpstr>宋体</vt:lpstr>
      <vt:lpstr>Arial Unicode MS</vt:lpstr>
      <vt:lpstr>等线 Light</vt:lpstr>
      <vt:lpstr>Calibri</vt:lpstr>
      <vt:lpstr>Helvetica Neue</vt:lpstr>
      <vt:lpstr>Times New Roman</vt:lpstr>
      <vt:lpstr>庞门正道粗书体</vt:lpstr>
      <vt:lpstr>微软雅黑</vt:lpstr>
      <vt:lpstr>演示夏行楷</vt:lpstr>
      <vt:lpstr>等线</vt:lpstr>
      <vt:lpstr>苹方-简</vt:lpstr>
      <vt:lpstr>微软雅黑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weijun</dc:creator>
  <cp:lastModifiedBy>青春微凉</cp:lastModifiedBy>
  <cp:revision>94</cp:revision>
  <dcterms:created xsi:type="dcterms:W3CDTF">2026-06-04T09:22:53Z</dcterms:created>
  <dcterms:modified xsi:type="dcterms:W3CDTF">2026-06-04T09:22:53Z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1220318C2EA067FD6A7CE069F8F7AF80_42</vt:lpwstr>
  </property>
  <property fmtid="{D5CDD505-2E9C-101B-9397-08002B2CF9AE}" pid="3" name="KSOProductBuildVer">
    <vt:lpwstr>2052-12.1.23135.23135</vt:lpwstr>
  </property>
</Properties>
</file>