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7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第一章" id="{74951F2D-E64A-4FBE-96EC-DB1638294772}">
          <p14:sldIdLst>
            <p14:sldId id="256"/>
            <p14:sldId id="257"/>
            <p14:sldId id="258"/>
            <p14:sldId id="259"/>
            <p14:sldId id="260"/>
            <p14:sldId id="267"/>
            <p14:sldId id="261"/>
            <p14:sldId id="262"/>
          </p14:sldIdLst>
        </p14:section>
        <p14:section name="第三章" id="{D0C0E5B7-42C0-426D-8AE4-5185DB9C3423}">
          <p14:sldIdLst>
            <p14:sldId id="263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350" autoAdjust="0"/>
    <p:restoredTop sz="94660"/>
  </p:normalViewPr>
  <p:slideViewPr>
    <p:cSldViewPr snapToGrid="0">
      <p:cViewPr varScale="1">
        <p:scale>
          <a:sx n="83" d="100"/>
          <a:sy n="83" d="100"/>
        </p:scale>
        <p:origin x="636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612960-E6A4-4000-B3BC-83D06CB848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7262601-EC8D-4927-8315-51346CFB1B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44023E-65AB-4BA9-BD7E-0778457E0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FB4F7-9283-46B8-8110-DC123FC6105E}" type="datetimeFigureOut">
              <a:rPr lang="zh-CN" altLang="en-US" smtClean="0"/>
              <a:t>2024/12/18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6FFADA-AC6B-4332-8073-41824EBDA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60FF81-A35B-4F77-8CB9-EE1EF6F24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B878C-9AA9-4DD1-9661-232E623348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6191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836E1B-D108-4559-AB26-8E00B1826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BEA182-BD2C-43E5-8392-FDFFEA34CC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2166AE-524D-467E-9FDF-A56977E20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FB4F7-9283-46B8-8110-DC123FC6105E}" type="datetimeFigureOut">
              <a:rPr lang="zh-CN" altLang="en-US" smtClean="0"/>
              <a:t>2024/12/18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83620C-6746-4E5A-968C-DBB1F07BF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73D7C4-43C8-4C73-BCA6-B1D2CACF3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B878C-9AA9-4DD1-9661-232E623348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7043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59A834-9962-4971-915C-E33173E66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ABB3DC0-2DFD-492A-95E1-EA3277D361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85EF69A-076B-4B89-9CDB-A1405CE82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FB4F7-9283-46B8-8110-DC123FC6105E}" type="datetimeFigureOut">
              <a:rPr lang="zh-CN" altLang="en-US" smtClean="0"/>
              <a:t>2024/12/18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743800-FF63-4872-849B-1C73A0C27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A8DBC4D-E538-4C8D-918A-B63B38E7D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B878C-9AA9-4DD1-9661-232E623348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8786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4A8CBA-B66C-4127-974C-320137966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52DFDA-B4DA-4565-B7BA-71A5D5EFA7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56F98BE-9928-4A37-9B33-46B1EC9CA3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9AA32D3-44BE-46B8-B7A6-00313BBC2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FB4F7-9283-46B8-8110-DC123FC6105E}" type="datetimeFigureOut">
              <a:rPr lang="zh-CN" altLang="en-US" smtClean="0"/>
              <a:t>2024/12/18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8E13C4A-D2C8-48AB-8493-4E49FEC0B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DA93D2C-A891-472D-9CF2-B8ECA0D7E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B878C-9AA9-4DD1-9661-232E623348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8511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5D8214-012C-47E7-A014-7B09CF713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45CA024-1A92-4D16-BD8D-26ACCF4367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BF38775-1364-478C-BB6C-1BF75C334A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5F20382-87AF-4291-A877-BF21D6A05B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0890A8D-993C-44A5-86CB-479FD5E9CB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9EDEF8B-BCF1-4542-8D25-DEA51489D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FB4F7-9283-46B8-8110-DC123FC6105E}" type="datetimeFigureOut">
              <a:rPr lang="zh-CN" altLang="en-US" smtClean="0"/>
              <a:t>2024/12/18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00C1511-4941-4AB9-A98C-A95075F08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3C9BF93-50A3-4BBC-92C1-D2C23D04E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B878C-9AA9-4DD1-9661-232E623348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9483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257CA6-F59C-4698-AAB7-5BBEF2BCC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5B2CF46-972E-4A7A-B8D0-29EC00CD6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FB4F7-9283-46B8-8110-DC123FC6105E}" type="datetimeFigureOut">
              <a:rPr lang="zh-CN" altLang="en-US" smtClean="0"/>
              <a:t>2024/12/18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59E5CC4-B07C-4425-A0E0-DBA98DCD2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4538CD2-A9D3-445D-A069-09AA4162D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B878C-9AA9-4DD1-9661-232E623348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7337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ADE383E-FB65-4BDE-A7CA-60685554F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FB4F7-9283-46B8-8110-DC123FC6105E}" type="datetimeFigureOut">
              <a:rPr lang="zh-CN" altLang="en-US" smtClean="0"/>
              <a:t>2024/12/18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D1489EE-72FE-410D-8EC8-55BCC24FF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AB81FC5-4472-42B2-9C9C-93F54CEDC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B878C-9AA9-4DD1-9661-232E623348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5188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D8947D-C6CD-43B8-B671-AB96EF68A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13217E-F3F2-44D7-9549-565BFA7822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AF8D312-7EB7-4383-B324-8197C854CE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35CB13F-49B0-4E2A-A3A1-442D6C093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FB4F7-9283-46B8-8110-DC123FC6105E}" type="datetimeFigureOut">
              <a:rPr lang="zh-CN" altLang="en-US" smtClean="0"/>
              <a:t>2024/12/18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1267D57-9978-4B28-A42C-06BF0E129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286F919-095F-493F-B840-CFE3F51B2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B878C-9AA9-4DD1-9661-232E623348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7926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D25744-F52D-4551-A2A3-2499CA8F3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ADB2387-90F3-4763-8FD1-1F97D9EF84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81F8F7A-D1AD-4432-99F0-27BF89A8E9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2716B7-AC6D-4252-B6CC-1D19CD222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FB4F7-9283-46B8-8110-DC123FC6105E}" type="datetimeFigureOut">
              <a:rPr lang="zh-CN" altLang="en-US" smtClean="0"/>
              <a:t>2024/12/18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13784F9-3F62-4F25-8358-3EF5BE655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726D9B7-2968-4553-B0A2-F9EC3613D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B878C-9AA9-4DD1-9661-232E623348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6952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5CBAB2-8BFA-437E-B582-82C1A023C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11FD510-41AE-4A83-844B-A05BFD10D0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B04D88-A35D-4915-9EC5-9419B1E04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FB4F7-9283-46B8-8110-DC123FC6105E}" type="datetimeFigureOut">
              <a:rPr lang="zh-CN" altLang="en-US" smtClean="0"/>
              <a:t>2024/12/18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C9C7E8-FEE2-4672-A900-0DF0EB721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63730E-D275-497C-A74B-9767A1900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B878C-9AA9-4DD1-9661-232E623348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4864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F93209E-B195-4B4F-9370-92E64DE7B0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0F7D61F-4FE5-42E1-8641-276615C55A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640576-FFD8-4227-AD7D-149FAD8EB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FB4F7-9283-46B8-8110-DC123FC6105E}" type="datetimeFigureOut">
              <a:rPr lang="zh-CN" altLang="en-US" smtClean="0"/>
              <a:t>2024/12/18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D74BDB-D96E-404A-A6F9-9682A2C4C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0E9851-4BCA-4A93-803D-D38B7E328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B878C-9AA9-4DD1-9661-232E623348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9061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049FA48-BAD5-46AE-B59B-186C3C192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95ED381-D7D3-4E9B-9C56-74FAD91AF9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AB23CA-2AF5-4589-9E04-D13B08F944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1FB4F7-9283-46B8-8110-DC123FC6105E}" type="datetimeFigureOut">
              <a:rPr lang="zh-CN" altLang="en-US" smtClean="0"/>
              <a:t>2024/12/18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F96BCC-6366-4082-B326-78C0653C53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C3D6D4-9319-4DFB-964C-E3CE0FA3FB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1B878C-9AA9-4DD1-9661-232E623348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7678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352989F9-7E6F-440B-AA2E-EEFE9199B0F8}"/>
              </a:ext>
            </a:extLst>
          </p:cNvPr>
          <p:cNvSpPr txBox="1"/>
          <p:nvPr/>
        </p:nvSpPr>
        <p:spPr>
          <a:xfrm>
            <a:off x="3026736" y="982990"/>
            <a:ext cx="64573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1-4</a:t>
            </a:r>
            <a:r>
              <a:rPr lang="zh-CN" altLang="en-US" sz="2400" dirty="0"/>
              <a:t>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汇编语言与高级语言相比有什么优缺点？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4509F8E-B902-4CD8-8ECE-3C2B34B06537}"/>
              </a:ext>
            </a:extLst>
          </p:cNvPr>
          <p:cNvSpPr txBox="1"/>
          <p:nvPr/>
        </p:nvSpPr>
        <p:spPr>
          <a:xfrm>
            <a:off x="1228578" y="2323839"/>
            <a:ext cx="10053711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dirty="0"/>
              <a:t>优点：汇编语言的本质就是机器语言，它可以直接地、有效地控制计算机硬件，因而容易产生运行速度快、指令序列短小的高效目标程序，可以直接控制计算机硬件部件，可以编写在时间和空间两方面最有效的程序。</a:t>
            </a:r>
            <a:endParaRPr lang="en-US" altLang="zh-CN" sz="2200" dirty="0"/>
          </a:p>
          <a:p>
            <a:r>
              <a:rPr lang="zh-CN" altLang="en-US" sz="2200" dirty="0"/>
              <a:t>缺点：由于与处理器密切相关，汇编语言通用性差、可移植性差。除此之外，汇编语言功能有限，涉及寄存器、主存单元等硬件细节，编写汇编语言比较繁琐，调试也比较困难，编译程序产生的目标程序往往比较庞大、程序难以优化，运行速度慢。</a:t>
            </a:r>
          </a:p>
        </p:txBody>
      </p:sp>
    </p:spTree>
    <p:extLst>
      <p:ext uri="{BB962C8B-B14F-4D97-AF65-F5344CB8AC3E}">
        <p14:creationId xmlns:p14="http://schemas.microsoft.com/office/powerpoint/2010/main" val="1015918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1525949B-28C4-42F3-AC6F-3D5ED12F6205}"/>
              </a:ext>
            </a:extLst>
          </p:cNvPr>
          <p:cNvSpPr txBox="1"/>
          <p:nvPr/>
        </p:nvSpPr>
        <p:spPr>
          <a:xfrm>
            <a:off x="1774575" y="800132"/>
            <a:ext cx="864284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/>
              <a:t>1-5</a:t>
            </a:r>
            <a:r>
              <a:rPr lang="en-US" altLang="zh-CN" sz="2400" dirty="0"/>
              <a:t>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将下列十六进制数转换为二进制数和十进制数表示。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FFH	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5EH	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2EH	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7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1FH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F358E5A-9BA7-425D-9F37-6CBABFB94EA7}"/>
              </a:ext>
            </a:extLst>
          </p:cNvPr>
          <p:cNvSpPr txBox="1"/>
          <p:nvPr/>
        </p:nvSpPr>
        <p:spPr>
          <a:xfrm>
            <a:off x="2577712" y="3149722"/>
            <a:ext cx="703657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dirty="0"/>
              <a:t>（</a:t>
            </a:r>
            <a:r>
              <a:rPr lang="en-US" altLang="zh-CN" sz="2200" dirty="0"/>
              <a:t>1</a:t>
            </a:r>
            <a:r>
              <a:rPr lang="zh-CN" altLang="en-US" sz="2200" dirty="0"/>
              <a:t>）二进制：</a:t>
            </a:r>
            <a:r>
              <a:rPr lang="en-US" altLang="zh-CN" sz="2200" dirty="0"/>
              <a:t>11111111B		</a:t>
            </a:r>
            <a:r>
              <a:rPr lang="zh-CN" altLang="en-US" sz="2200" dirty="0"/>
              <a:t>十进制：</a:t>
            </a:r>
            <a:r>
              <a:rPr lang="en-US" altLang="zh-CN" sz="2200" dirty="0"/>
              <a:t>255D</a:t>
            </a:r>
          </a:p>
          <a:p>
            <a:r>
              <a:rPr lang="zh-CN" altLang="en-US" sz="2200" dirty="0"/>
              <a:t>（</a:t>
            </a:r>
            <a:r>
              <a:rPr lang="en-US" altLang="zh-CN" sz="2200" dirty="0"/>
              <a:t>3</a:t>
            </a:r>
            <a:r>
              <a:rPr lang="zh-CN" altLang="en-US" sz="2200" dirty="0"/>
              <a:t>）二进制：</a:t>
            </a:r>
            <a:r>
              <a:rPr lang="en-US" altLang="zh-CN" sz="2200" dirty="0"/>
              <a:t>1011110B		</a:t>
            </a:r>
            <a:r>
              <a:rPr lang="zh-CN" altLang="en-US" sz="2200" dirty="0"/>
              <a:t>十进制：</a:t>
            </a:r>
            <a:r>
              <a:rPr lang="en-US" altLang="zh-CN" sz="2200" dirty="0"/>
              <a:t>94D</a:t>
            </a:r>
          </a:p>
          <a:p>
            <a:r>
              <a:rPr lang="zh-CN" altLang="en-US" sz="2200" dirty="0"/>
              <a:t>（</a:t>
            </a:r>
            <a:r>
              <a:rPr lang="en-US" altLang="zh-CN" sz="2200" dirty="0"/>
              <a:t>5</a:t>
            </a:r>
            <a:r>
              <a:rPr lang="zh-CN" altLang="en-US" sz="2200" dirty="0"/>
              <a:t>）二进制：</a:t>
            </a:r>
            <a:r>
              <a:rPr lang="en-US" altLang="zh-CN" sz="2200" dirty="0"/>
              <a:t>101110B		</a:t>
            </a:r>
            <a:r>
              <a:rPr lang="zh-CN" altLang="en-US" sz="2200" dirty="0"/>
              <a:t>十进制：</a:t>
            </a:r>
            <a:r>
              <a:rPr lang="en-US" altLang="zh-CN" sz="2200" dirty="0"/>
              <a:t>46D</a:t>
            </a:r>
          </a:p>
          <a:p>
            <a:r>
              <a:rPr lang="zh-CN" altLang="en-US" sz="2200" dirty="0"/>
              <a:t>（</a:t>
            </a:r>
            <a:r>
              <a:rPr lang="en-US" altLang="zh-CN" sz="2200" dirty="0"/>
              <a:t>7</a:t>
            </a:r>
            <a:r>
              <a:rPr lang="zh-CN" altLang="en-US" sz="2200" dirty="0"/>
              <a:t>）二进制：</a:t>
            </a:r>
            <a:r>
              <a:rPr lang="en-US" altLang="zh-CN" sz="2200" dirty="0"/>
              <a:t>11111B			</a:t>
            </a:r>
            <a:r>
              <a:rPr lang="zh-CN" altLang="en-US" sz="2200" dirty="0"/>
              <a:t>十进制：</a:t>
            </a:r>
            <a:r>
              <a:rPr lang="en-US" altLang="zh-CN" sz="2200" dirty="0"/>
              <a:t>31D</a:t>
            </a:r>
          </a:p>
        </p:txBody>
      </p:sp>
    </p:spTree>
    <p:extLst>
      <p:ext uri="{BB962C8B-B14F-4D97-AF65-F5344CB8AC3E}">
        <p14:creationId xmlns:p14="http://schemas.microsoft.com/office/powerpoint/2010/main" val="2539237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DE7F82DF-21B7-43AF-B701-2532E4282211}"/>
              </a:ext>
            </a:extLst>
          </p:cNvPr>
          <p:cNvSpPr txBox="1"/>
          <p:nvPr/>
        </p:nvSpPr>
        <p:spPr>
          <a:xfrm>
            <a:off x="1246654" y="888623"/>
            <a:ext cx="969869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/>
              <a:t>1-8</a:t>
            </a:r>
            <a:r>
              <a:rPr lang="en-US" altLang="zh-CN" sz="2400" dirty="0"/>
              <a:t>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将下列十进制数分别用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位二进制数的原码、反码和补码表示。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-127	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-57	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6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-126	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68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BA917AC-637E-463D-9D2C-C95FEA4AC155}"/>
              </a:ext>
            </a:extLst>
          </p:cNvPr>
          <p:cNvSpPr txBox="1"/>
          <p:nvPr/>
        </p:nvSpPr>
        <p:spPr>
          <a:xfrm>
            <a:off x="907956" y="3429000"/>
            <a:ext cx="1037608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dirty="0"/>
              <a:t>（</a:t>
            </a:r>
            <a:r>
              <a:rPr lang="en-US" altLang="zh-CN" sz="2200" dirty="0"/>
              <a:t>2</a:t>
            </a:r>
            <a:r>
              <a:rPr lang="zh-CN" altLang="en-US" sz="2200" dirty="0"/>
              <a:t>）原码：</a:t>
            </a:r>
            <a:r>
              <a:rPr lang="en-US" altLang="zh-CN" sz="2200" dirty="0"/>
              <a:t>11111111		</a:t>
            </a:r>
            <a:r>
              <a:rPr lang="zh-CN" altLang="en-US" sz="2200" dirty="0"/>
              <a:t>反码：</a:t>
            </a:r>
            <a:r>
              <a:rPr lang="en-US" altLang="zh-CN" sz="2200" dirty="0"/>
              <a:t>10000000		</a:t>
            </a:r>
            <a:r>
              <a:rPr lang="zh-CN" altLang="en-US" sz="2200" dirty="0"/>
              <a:t>补码：</a:t>
            </a:r>
            <a:r>
              <a:rPr lang="en-US" altLang="zh-CN" sz="2200" dirty="0"/>
              <a:t>10000001</a:t>
            </a:r>
          </a:p>
          <a:p>
            <a:r>
              <a:rPr lang="zh-CN" altLang="en-US" sz="2200" dirty="0"/>
              <a:t>（</a:t>
            </a:r>
            <a:r>
              <a:rPr lang="en-US" altLang="zh-CN" sz="2200" dirty="0"/>
              <a:t>4</a:t>
            </a:r>
            <a:r>
              <a:rPr lang="zh-CN" altLang="en-US" sz="2200" dirty="0"/>
              <a:t>）原码：</a:t>
            </a:r>
            <a:r>
              <a:rPr lang="en-US" altLang="zh-CN" sz="2200" dirty="0"/>
              <a:t>10111001		</a:t>
            </a:r>
            <a:r>
              <a:rPr lang="zh-CN" altLang="en-US" sz="2200" dirty="0"/>
              <a:t>反码：</a:t>
            </a:r>
            <a:r>
              <a:rPr lang="en-US" altLang="zh-CN" sz="2200" dirty="0"/>
              <a:t>11000110		</a:t>
            </a:r>
            <a:r>
              <a:rPr lang="zh-CN" altLang="en-US" sz="2200" dirty="0"/>
              <a:t>补码：</a:t>
            </a:r>
            <a:r>
              <a:rPr lang="en-US" altLang="zh-CN" sz="2200" dirty="0"/>
              <a:t>11000111</a:t>
            </a:r>
          </a:p>
          <a:p>
            <a:r>
              <a:rPr lang="zh-CN" altLang="en-US" sz="2200" dirty="0"/>
              <a:t>（</a:t>
            </a:r>
            <a:r>
              <a:rPr lang="en-US" altLang="zh-CN" sz="2200" dirty="0"/>
              <a:t>6</a:t>
            </a:r>
            <a:r>
              <a:rPr lang="zh-CN" altLang="en-US" sz="2200" dirty="0"/>
              <a:t>）原码：</a:t>
            </a:r>
            <a:r>
              <a:rPr lang="en-US" altLang="zh-CN" sz="2200" dirty="0"/>
              <a:t>11111110		</a:t>
            </a:r>
            <a:r>
              <a:rPr lang="zh-CN" altLang="en-US" sz="2200" dirty="0"/>
              <a:t>反码：</a:t>
            </a:r>
            <a:r>
              <a:rPr lang="en-US" altLang="zh-CN" sz="2200" dirty="0"/>
              <a:t>10000001		</a:t>
            </a:r>
            <a:r>
              <a:rPr lang="zh-CN" altLang="en-US" sz="2200" dirty="0"/>
              <a:t>补码：</a:t>
            </a:r>
            <a:r>
              <a:rPr lang="en-US" altLang="zh-CN" sz="2200" dirty="0"/>
              <a:t>10000010</a:t>
            </a:r>
          </a:p>
          <a:p>
            <a:r>
              <a:rPr lang="zh-CN" altLang="en-US" sz="2200" dirty="0"/>
              <a:t>（</a:t>
            </a:r>
            <a:r>
              <a:rPr lang="en-US" altLang="zh-CN" sz="2200" dirty="0"/>
              <a:t>8</a:t>
            </a:r>
            <a:r>
              <a:rPr lang="zh-CN" altLang="en-US" sz="2200" dirty="0"/>
              <a:t>）原码：</a:t>
            </a:r>
            <a:r>
              <a:rPr lang="en-US" altLang="zh-CN" sz="2200" dirty="0"/>
              <a:t>01000100		</a:t>
            </a:r>
            <a:r>
              <a:rPr lang="zh-CN" altLang="en-US" sz="2200" dirty="0"/>
              <a:t>反码：</a:t>
            </a:r>
            <a:r>
              <a:rPr lang="en-US" altLang="zh-CN" sz="2200" dirty="0"/>
              <a:t>01000100		</a:t>
            </a:r>
            <a:r>
              <a:rPr lang="zh-CN" altLang="en-US" sz="2200" dirty="0"/>
              <a:t>补码：</a:t>
            </a:r>
            <a:r>
              <a:rPr lang="en-US" altLang="zh-CN" sz="2200" dirty="0"/>
              <a:t>01000100</a:t>
            </a:r>
            <a:endParaRPr lang="zh-CN" altLang="en-US" sz="2200" dirty="0"/>
          </a:p>
        </p:txBody>
      </p:sp>
    </p:spTree>
    <p:extLst>
      <p:ext uri="{BB962C8B-B14F-4D97-AF65-F5344CB8AC3E}">
        <p14:creationId xmlns:p14="http://schemas.microsoft.com/office/powerpoint/2010/main" val="1831805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22FFA90-E5C8-478C-BBF6-AC5CBB21FD2A}"/>
              </a:ext>
            </a:extLst>
          </p:cNvPr>
          <p:cNvSpPr txBox="1"/>
          <p:nvPr/>
        </p:nvSpPr>
        <p:spPr>
          <a:xfrm>
            <a:off x="1087272" y="798732"/>
            <a:ext cx="100174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/>
              <a:t>1-11</a:t>
            </a:r>
            <a:r>
              <a:rPr lang="zh-CN" altLang="en-US" sz="2400" b="1" dirty="0"/>
              <a:t>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计算机中有一个“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01100001”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编码，如果把它认为是无符号数，则转换为十进制数是什么？如果认为它是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BCD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码，则转换为十进制数是什么？如果它是某个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ASCII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码，则代表哪个字符？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98E1800-16DF-9D4D-997D-91BA260AA576}"/>
              </a:ext>
            </a:extLst>
          </p:cNvPr>
          <p:cNvSpPr txBox="1"/>
          <p:nvPr/>
        </p:nvSpPr>
        <p:spPr>
          <a:xfrm>
            <a:off x="4071886" y="2875002"/>
            <a:ext cx="404822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dirty="0"/>
              <a:t>十进制无符号数：</a:t>
            </a:r>
            <a:r>
              <a:rPr lang="en-US" altLang="zh-CN" sz="2200" dirty="0"/>
              <a:t>61H=97</a:t>
            </a:r>
          </a:p>
          <a:p>
            <a:r>
              <a:rPr lang="en-US" altLang="zh-CN" sz="2200" dirty="0"/>
              <a:t>BCD</a:t>
            </a:r>
            <a:r>
              <a:rPr lang="zh-CN" altLang="en-US" sz="2200" dirty="0"/>
              <a:t>码：</a:t>
            </a:r>
            <a:r>
              <a:rPr lang="en-US" altLang="zh-CN" sz="2200" dirty="0"/>
              <a:t>61</a:t>
            </a:r>
          </a:p>
          <a:p>
            <a:r>
              <a:rPr lang="en-US" altLang="zh-CN" sz="2200" dirty="0"/>
              <a:t>ASCII</a:t>
            </a:r>
            <a:r>
              <a:rPr lang="zh-CN" altLang="en-US" sz="2200" dirty="0"/>
              <a:t>码：</a:t>
            </a:r>
            <a:r>
              <a:rPr lang="en-US" altLang="zh-CN" sz="2200" dirty="0"/>
              <a:t>a</a:t>
            </a:r>
            <a:endParaRPr lang="zh-CN" altLang="en-US" sz="2200" dirty="0"/>
          </a:p>
        </p:txBody>
      </p:sp>
    </p:spTree>
    <p:extLst>
      <p:ext uri="{BB962C8B-B14F-4D97-AF65-F5344CB8AC3E}">
        <p14:creationId xmlns:p14="http://schemas.microsoft.com/office/powerpoint/2010/main" val="4194141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6F73A379-4591-D19A-BA6F-A6CF1227C84B}"/>
              </a:ext>
            </a:extLst>
          </p:cNvPr>
          <p:cNvSpPr txBox="1"/>
          <p:nvPr/>
        </p:nvSpPr>
        <p:spPr>
          <a:xfrm>
            <a:off x="762000" y="1027757"/>
            <a:ext cx="10668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/>
              <a:t>1</a:t>
            </a:r>
            <a:r>
              <a:rPr lang="en-US" altLang="zh-CN" sz="2400" b="1" dirty="0">
                <a:latin typeface="+mn-ea"/>
              </a:rPr>
              <a:t>-16</a:t>
            </a:r>
            <a:r>
              <a:rPr lang="en-US" altLang="zh-CN" sz="2400" dirty="0">
                <a:latin typeface="+mn-ea"/>
              </a:rPr>
              <a:t>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什么是标志？它有什么用途？状态标志和控制标志有什么区别？画出标志寄存器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FLAGS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，说明各标志的位置和含义。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0126BF2-6A8E-72BD-BE48-423631DB6745}"/>
              </a:ext>
            </a:extLst>
          </p:cNvPr>
          <p:cNvSpPr txBox="1"/>
          <p:nvPr/>
        </p:nvSpPr>
        <p:spPr>
          <a:xfrm>
            <a:off x="984739" y="2259746"/>
            <a:ext cx="1022252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dirty="0"/>
              <a:t>标志用于反映指令执行结果或控制指令执行形式。状态标志用来记录运行的结果的状态信息，许多指令的执行都将相应地设置它；控制标志位可由程序根据需要用指令设置，用来控制处理器执行指令的方式。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8738915-0CBA-62CE-6DDE-37B6F391CC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651" y="4086046"/>
            <a:ext cx="6315075" cy="10668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3BA0B278-1B34-E4B3-1641-EEC7167D8385}"/>
              </a:ext>
            </a:extLst>
          </p:cNvPr>
          <p:cNvSpPr txBox="1"/>
          <p:nvPr/>
        </p:nvSpPr>
        <p:spPr>
          <a:xfrm>
            <a:off x="7263981" y="4403358"/>
            <a:ext cx="451687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flag</a:t>
            </a:r>
            <a:r>
              <a:rPr lang="zh-CN" altLang="en-US" dirty="0"/>
              <a:t>寄存器在上图中显示空白的位，在</a:t>
            </a:r>
            <a:r>
              <a:rPr lang="en-US" altLang="zh-CN" dirty="0"/>
              <a:t>8086CPU</a:t>
            </a:r>
            <a:r>
              <a:rPr lang="zh-CN" altLang="en-US" dirty="0"/>
              <a:t>中没有被使用，因此不具有任何的含义；其他被标识的位都具有特殊的含义。</a:t>
            </a:r>
          </a:p>
        </p:txBody>
      </p:sp>
    </p:spTree>
    <p:extLst>
      <p:ext uri="{BB962C8B-B14F-4D97-AF65-F5344CB8AC3E}">
        <p14:creationId xmlns:p14="http://schemas.microsoft.com/office/powerpoint/2010/main" val="3685287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9671E58D-03ED-A36A-41FE-0A1F5E65FD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7527" y="526212"/>
            <a:ext cx="6315075" cy="10668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1C502757-E39F-45F4-7504-940D9CA9900B}"/>
              </a:ext>
            </a:extLst>
          </p:cNvPr>
          <p:cNvSpPr txBox="1"/>
          <p:nvPr/>
        </p:nvSpPr>
        <p:spPr>
          <a:xfrm>
            <a:off x="908649" y="2058837"/>
            <a:ext cx="1055298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0" dirty="0">
                <a:effectLst/>
                <a:latin typeface="-apple-system"/>
              </a:rPr>
              <a:t>OF</a:t>
            </a:r>
            <a:r>
              <a:rPr lang="zh-CN" altLang="en-US" b="0" i="0" dirty="0">
                <a:effectLst/>
                <a:latin typeface="-apple-system"/>
              </a:rPr>
              <a:t>（</a:t>
            </a:r>
            <a:r>
              <a:rPr lang="en-US" altLang="zh-CN" b="0" i="0" dirty="0">
                <a:effectLst/>
                <a:latin typeface="-apple-system"/>
              </a:rPr>
              <a:t>Overflow Flag</a:t>
            </a:r>
            <a:r>
              <a:rPr lang="zh-CN" altLang="en-US" b="0" i="0" dirty="0">
                <a:effectLst/>
                <a:latin typeface="-apple-system"/>
              </a:rPr>
              <a:t>）：溢出标志位，一般情况下，它记录了</a:t>
            </a:r>
            <a:r>
              <a:rPr lang="zh-CN" altLang="en-US" b="0" i="0" u="sng" dirty="0">
                <a:effectLst/>
                <a:latin typeface="-apple-system"/>
              </a:rPr>
              <a:t>有符号</a:t>
            </a:r>
            <a:r>
              <a:rPr lang="zh-CN" altLang="en-US" b="0" i="0" dirty="0">
                <a:effectLst/>
                <a:latin typeface="-apple-system"/>
              </a:rPr>
              <a:t>运算的结果是否发生了溢出。</a:t>
            </a:r>
            <a:endParaRPr lang="en-US" altLang="zh-CN" b="0" i="0" dirty="0">
              <a:effectLst/>
              <a:latin typeface="-apple-system"/>
            </a:endParaRPr>
          </a:p>
          <a:p>
            <a:r>
              <a:rPr lang="en-US" altLang="zh-CN" b="1" i="0" dirty="0">
                <a:effectLst/>
                <a:latin typeface="-apple-system"/>
              </a:rPr>
              <a:t>DF</a:t>
            </a:r>
            <a:r>
              <a:rPr lang="zh-CN" altLang="en-US" b="0" i="0" dirty="0">
                <a:effectLst/>
                <a:latin typeface="-apple-system"/>
              </a:rPr>
              <a:t>（</a:t>
            </a:r>
            <a:r>
              <a:rPr lang="en-US" altLang="zh-CN" b="0" i="0" dirty="0">
                <a:effectLst/>
                <a:latin typeface="-apple-system"/>
              </a:rPr>
              <a:t>Direction Flag</a:t>
            </a:r>
            <a:r>
              <a:rPr lang="zh-CN" altLang="en-US" b="0" i="0" dirty="0">
                <a:effectLst/>
                <a:latin typeface="-apple-system"/>
              </a:rPr>
              <a:t>）：方向标志位，在串行处理指令中，控制每次操作后</a:t>
            </a:r>
            <a:r>
              <a:rPr lang="en-US" altLang="zh-CN" b="0" i="0" dirty="0" err="1">
                <a:effectLst/>
                <a:latin typeface="-apple-system"/>
              </a:rPr>
              <a:t>si</a:t>
            </a:r>
            <a:r>
              <a:rPr lang="zh-CN" altLang="en-US" b="0" i="0" dirty="0">
                <a:effectLst/>
                <a:latin typeface="-apple-system"/>
              </a:rPr>
              <a:t>、</a:t>
            </a:r>
            <a:r>
              <a:rPr lang="en-US" altLang="zh-CN" b="0" i="0" dirty="0">
                <a:effectLst/>
                <a:latin typeface="-apple-system"/>
              </a:rPr>
              <a:t>di</a:t>
            </a:r>
            <a:r>
              <a:rPr lang="zh-CN" altLang="en-US" b="0" i="0" dirty="0">
                <a:effectLst/>
                <a:latin typeface="-apple-system"/>
              </a:rPr>
              <a:t>的增减。</a:t>
            </a:r>
            <a:endParaRPr lang="en-US" altLang="zh-CN" dirty="0">
              <a:latin typeface="-apple-system"/>
            </a:endParaRPr>
          </a:p>
          <a:p>
            <a:r>
              <a:rPr lang="en-US" altLang="zh-CN" b="1" i="0" dirty="0">
                <a:effectLst/>
                <a:latin typeface="-apple-system"/>
              </a:rPr>
              <a:t>IF</a:t>
            </a:r>
            <a:r>
              <a:rPr lang="zh-CN" altLang="en-US" b="0" i="0" dirty="0">
                <a:effectLst/>
                <a:latin typeface="-apple-system"/>
              </a:rPr>
              <a:t>（</a:t>
            </a:r>
            <a:r>
              <a:rPr lang="en-US" altLang="zh-CN" b="0" i="0" dirty="0">
                <a:effectLst/>
                <a:latin typeface="-apple-system"/>
              </a:rPr>
              <a:t>Interrupt Flag</a:t>
            </a:r>
            <a:r>
              <a:rPr lang="zh-CN" altLang="en-US" b="0" i="0" dirty="0">
                <a:effectLst/>
                <a:latin typeface="-apple-system"/>
              </a:rPr>
              <a:t>）：中断标志位。它用来控制</a:t>
            </a:r>
            <a:r>
              <a:rPr lang="en-US" altLang="zh-CN" b="0" i="0" dirty="0">
                <a:effectLst/>
                <a:latin typeface="-apple-system"/>
              </a:rPr>
              <a:t>8086</a:t>
            </a:r>
            <a:r>
              <a:rPr lang="zh-CN" altLang="en-US" b="0" i="0" dirty="0">
                <a:effectLst/>
                <a:latin typeface="-apple-system"/>
              </a:rPr>
              <a:t>是否允许接收外部中断请求。若</a:t>
            </a:r>
            <a:r>
              <a:rPr lang="en-US" altLang="zh-CN" b="0" i="0" dirty="0">
                <a:effectLst/>
                <a:latin typeface="-apple-system"/>
              </a:rPr>
              <a:t>IF=1</a:t>
            </a:r>
            <a:r>
              <a:rPr lang="zh-CN" altLang="en-US" b="0" i="0" dirty="0">
                <a:effectLst/>
                <a:latin typeface="-apple-system"/>
              </a:rPr>
              <a:t>，</a:t>
            </a:r>
            <a:r>
              <a:rPr lang="en-US" altLang="zh-CN" b="0" i="0" dirty="0">
                <a:effectLst/>
                <a:latin typeface="-apple-system"/>
              </a:rPr>
              <a:t>8086</a:t>
            </a:r>
            <a:r>
              <a:rPr lang="zh-CN" altLang="en-US" b="0" i="0" dirty="0">
                <a:effectLst/>
                <a:latin typeface="-apple-system"/>
              </a:rPr>
              <a:t>能响应外部中断，反之则屏蔽外部中断。</a:t>
            </a:r>
            <a:endParaRPr lang="en-US" altLang="zh-CN" b="0" i="0" dirty="0">
              <a:effectLst/>
              <a:latin typeface="-apple-system"/>
            </a:endParaRPr>
          </a:p>
          <a:p>
            <a:r>
              <a:rPr lang="en-US" altLang="zh-CN" b="1" i="0" dirty="0">
                <a:effectLst/>
                <a:latin typeface="-apple-system"/>
              </a:rPr>
              <a:t>SF</a:t>
            </a:r>
            <a:r>
              <a:rPr lang="zh-CN" altLang="en-US" b="0" i="0" dirty="0">
                <a:effectLst/>
                <a:latin typeface="-apple-system"/>
              </a:rPr>
              <a:t>（</a:t>
            </a:r>
            <a:r>
              <a:rPr lang="en-US" altLang="zh-CN" b="0" i="0" dirty="0">
                <a:effectLst/>
                <a:latin typeface="-apple-system"/>
              </a:rPr>
              <a:t>Signed Flag</a:t>
            </a:r>
            <a:r>
              <a:rPr lang="zh-CN" altLang="en-US" b="0" i="0" dirty="0">
                <a:effectLst/>
                <a:latin typeface="-apple-system"/>
              </a:rPr>
              <a:t>）：符号标志位，记录相关指令执行后，其结果是否为负，如果结果为负，则</a:t>
            </a:r>
            <a:r>
              <a:rPr lang="en-US" altLang="zh-CN" b="0" i="0" dirty="0">
                <a:effectLst/>
                <a:latin typeface="-apple-system"/>
              </a:rPr>
              <a:t>SF = 1</a:t>
            </a:r>
            <a:r>
              <a:rPr lang="zh-CN" altLang="en-US" b="0" i="0" dirty="0">
                <a:effectLst/>
                <a:latin typeface="-apple-system"/>
              </a:rPr>
              <a:t>，如果结果为非负，则</a:t>
            </a:r>
            <a:r>
              <a:rPr lang="en-US" altLang="zh-CN" b="0" i="0" dirty="0">
                <a:effectLst/>
                <a:latin typeface="-apple-system"/>
              </a:rPr>
              <a:t>SF = 0</a:t>
            </a:r>
            <a:r>
              <a:rPr lang="zh-CN" altLang="en-US" b="0" i="0" dirty="0">
                <a:effectLst/>
                <a:latin typeface="-apple-system"/>
              </a:rPr>
              <a:t>。</a:t>
            </a:r>
            <a:endParaRPr lang="en-US" altLang="zh-CN" dirty="0">
              <a:latin typeface="-apple-system"/>
            </a:endParaRPr>
          </a:p>
          <a:p>
            <a:r>
              <a:rPr lang="en-US" altLang="zh-CN" b="1" i="0" dirty="0">
                <a:effectLst/>
                <a:latin typeface="-apple-system"/>
              </a:rPr>
              <a:t>ZF</a:t>
            </a:r>
            <a:r>
              <a:rPr lang="zh-CN" altLang="en-US" b="0" i="0" dirty="0">
                <a:effectLst/>
                <a:latin typeface="-apple-system"/>
              </a:rPr>
              <a:t>（</a:t>
            </a:r>
            <a:r>
              <a:rPr lang="en-US" altLang="zh-CN" b="0" i="0" dirty="0">
                <a:effectLst/>
                <a:latin typeface="-apple-system"/>
              </a:rPr>
              <a:t>Zero Flag</a:t>
            </a:r>
            <a:r>
              <a:rPr lang="zh-CN" altLang="en-US" b="0" i="0" dirty="0">
                <a:effectLst/>
                <a:latin typeface="-apple-system"/>
              </a:rPr>
              <a:t>）：零标志位，记录相关指令执行后，其结果是否为</a:t>
            </a:r>
            <a:r>
              <a:rPr lang="en-US" altLang="zh-CN" b="0" i="0" dirty="0">
                <a:effectLst/>
                <a:latin typeface="-apple-system"/>
              </a:rPr>
              <a:t>0</a:t>
            </a:r>
            <a:r>
              <a:rPr lang="zh-CN" altLang="en-US" b="0" i="0" dirty="0">
                <a:effectLst/>
                <a:latin typeface="-apple-system"/>
              </a:rPr>
              <a:t>，如果结果为</a:t>
            </a:r>
            <a:r>
              <a:rPr lang="en-US" altLang="zh-CN" b="0" i="0" dirty="0">
                <a:effectLst/>
                <a:latin typeface="-apple-system"/>
              </a:rPr>
              <a:t>0</a:t>
            </a:r>
            <a:r>
              <a:rPr lang="zh-CN" altLang="en-US" b="0" i="0" dirty="0">
                <a:effectLst/>
                <a:latin typeface="-apple-system"/>
              </a:rPr>
              <a:t>，则</a:t>
            </a:r>
            <a:r>
              <a:rPr lang="en-US" altLang="zh-CN" b="0" i="0" dirty="0">
                <a:effectLst/>
                <a:latin typeface="-apple-system"/>
              </a:rPr>
              <a:t>ZF = 1</a:t>
            </a:r>
            <a:r>
              <a:rPr lang="zh-CN" altLang="en-US" b="0" i="0" dirty="0">
                <a:effectLst/>
                <a:latin typeface="-apple-system"/>
              </a:rPr>
              <a:t>，如果结果不为</a:t>
            </a:r>
            <a:r>
              <a:rPr lang="en-US" altLang="zh-CN" b="0" i="0" dirty="0">
                <a:effectLst/>
                <a:latin typeface="-apple-system"/>
              </a:rPr>
              <a:t>0</a:t>
            </a:r>
            <a:r>
              <a:rPr lang="zh-CN" altLang="en-US" b="0" i="0" dirty="0">
                <a:effectLst/>
                <a:latin typeface="-apple-system"/>
              </a:rPr>
              <a:t>，则</a:t>
            </a:r>
            <a:r>
              <a:rPr lang="en-US" altLang="zh-CN" b="0" i="0" dirty="0">
                <a:effectLst/>
                <a:latin typeface="-apple-system"/>
              </a:rPr>
              <a:t>ZF = 0</a:t>
            </a:r>
            <a:r>
              <a:rPr lang="zh-CN" altLang="en-US" b="0" i="0" dirty="0">
                <a:effectLst/>
                <a:latin typeface="-apple-system"/>
              </a:rPr>
              <a:t>。</a:t>
            </a:r>
            <a:endParaRPr lang="en-US" altLang="zh-CN" b="0" i="0" dirty="0">
              <a:effectLst/>
              <a:latin typeface="-apple-system"/>
            </a:endParaRPr>
          </a:p>
          <a:p>
            <a:r>
              <a:rPr lang="en-US" altLang="zh-CN" b="1" i="0" dirty="0">
                <a:effectLst/>
                <a:latin typeface="-apple-system"/>
              </a:rPr>
              <a:t>AF</a:t>
            </a:r>
            <a:r>
              <a:rPr lang="zh-CN" altLang="en-US" b="0" i="0" dirty="0">
                <a:effectLst/>
                <a:latin typeface="-apple-system"/>
              </a:rPr>
              <a:t>（</a:t>
            </a:r>
            <a:r>
              <a:rPr lang="en-US" altLang="zh-CN" b="0" i="0" dirty="0">
                <a:effectLst/>
                <a:latin typeface="-apple-system"/>
              </a:rPr>
              <a:t>Auxiliary </a:t>
            </a:r>
            <a:r>
              <a:rPr lang="en-US" altLang="zh-CN" b="0" i="0" dirty="0" err="1">
                <a:effectLst/>
                <a:latin typeface="-apple-system"/>
              </a:rPr>
              <a:t>carray</a:t>
            </a:r>
            <a:r>
              <a:rPr lang="en-US" altLang="zh-CN" b="0" i="0" dirty="0">
                <a:effectLst/>
                <a:latin typeface="-apple-system"/>
              </a:rPr>
              <a:t> flag</a:t>
            </a:r>
            <a:r>
              <a:rPr lang="zh-CN" altLang="en-US" b="0" i="0" dirty="0">
                <a:effectLst/>
                <a:latin typeface="-apple-system"/>
              </a:rPr>
              <a:t>）：辅助进位标志位，运算过程中看最后四位，不论长度为多少，最后四位向前有进位或者借位，</a:t>
            </a:r>
            <a:r>
              <a:rPr lang="en-US" altLang="zh-CN" b="0" i="0" dirty="0">
                <a:effectLst/>
                <a:latin typeface="-apple-system"/>
              </a:rPr>
              <a:t>AF = 1,</a:t>
            </a:r>
            <a:r>
              <a:rPr lang="zh-CN" altLang="en-US" b="0" i="0" dirty="0">
                <a:effectLst/>
                <a:latin typeface="-apple-system"/>
              </a:rPr>
              <a:t>否则</a:t>
            </a:r>
            <a:r>
              <a:rPr lang="en-US" altLang="zh-CN" b="0" i="0" dirty="0">
                <a:effectLst/>
                <a:latin typeface="-apple-system"/>
              </a:rPr>
              <a:t>AF = 0</a:t>
            </a:r>
            <a:endParaRPr lang="en-US" altLang="zh-CN" dirty="0">
              <a:latin typeface="-apple-system"/>
            </a:endParaRPr>
          </a:p>
          <a:p>
            <a:r>
              <a:rPr lang="en-US" altLang="zh-CN" b="1" i="0" dirty="0">
                <a:effectLst/>
                <a:latin typeface="-apple-system"/>
              </a:rPr>
              <a:t>PF</a:t>
            </a:r>
            <a:r>
              <a:rPr lang="zh-CN" altLang="en-US" b="0" i="0" dirty="0">
                <a:effectLst/>
                <a:latin typeface="-apple-system"/>
              </a:rPr>
              <a:t>（</a:t>
            </a:r>
            <a:r>
              <a:rPr lang="en-US" altLang="zh-CN" b="0" i="0" dirty="0">
                <a:effectLst/>
                <a:latin typeface="-apple-system"/>
              </a:rPr>
              <a:t>Parity Flag</a:t>
            </a:r>
            <a:r>
              <a:rPr lang="zh-CN" altLang="en-US" b="0" i="0" dirty="0">
                <a:effectLst/>
                <a:latin typeface="-apple-system"/>
              </a:rPr>
              <a:t>）：奇偶标志位，记录相关指令执行后，其结果所有的位中 </a:t>
            </a:r>
            <a:r>
              <a:rPr lang="en-US" altLang="zh-CN" b="0" i="0" dirty="0">
                <a:effectLst/>
                <a:latin typeface="-apple-system"/>
              </a:rPr>
              <a:t>1 </a:t>
            </a:r>
            <a:r>
              <a:rPr lang="zh-CN" altLang="en-US" b="0" i="0" dirty="0">
                <a:effectLst/>
                <a:latin typeface="-apple-system"/>
              </a:rPr>
              <a:t>的个数是否为偶数，如果 </a:t>
            </a:r>
            <a:r>
              <a:rPr lang="en-US" altLang="zh-CN" b="0" i="0" dirty="0">
                <a:effectLst/>
                <a:latin typeface="-apple-system"/>
              </a:rPr>
              <a:t>1 </a:t>
            </a:r>
            <a:r>
              <a:rPr lang="zh-CN" altLang="en-US" b="0" i="0" dirty="0">
                <a:effectLst/>
                <a:latin typeface="-apple-system"/>
              </a:rPr>
              <a:t>的个数为偶数，则</a:t>
            </a:r>
            <a:r>
              <a:rPr lang="en-US" altLang="zh-CN" dirty="0">
                <a:latin typeface="-apple-system"/>
              </a:rPr>
              <a:t>PF</a:t>
            </a:r>
            <a:r>
              <a:rPr lang="en-US" altLang="zh-CN" b="0" i="0" dirty="0">
                <a:effectLst/>
                <a:latin typeface="-apple-system"/>
              </a:rPr>
              <a:t> = 1</a:t>
            </a:r>
            <a:r>
              <a:rPr lang="zh-CN" altLang="en-US" b="0" i="0" dirty="0">
                <a:effectLst/>
                <a:latin typeface="-apple-system"/>
              </a:rPr>
              <a:t>，如果</a:t>
            </a:r>
            <a:r>
              <a:rPr lang="en-US" altLang="zh-CN" b="0" i="0" dirty="0">
                <a:effectLst/>
                <a:latin typeface="-apple-system"/>
              </a:rPr>
              <a:t>1</a:t>
            </a:r>
            <a:r>
              <a:rPr lang="zh-CN" altLang="en-US" b="0" i="0" dirty="0">
                <a:effectLst/>
                <a:latin typeface="-apple-system"/>
              </a:rPr>
              <a:t>的个数为奇数，则</a:t>
            </a:r>
            <a:r>
              <a:rPr lang="en-US" altLang="zh-CN" b="0" i="0" dirty="0">
                <a:effectLst/>
                <a:latin typeface="-apple-system"/>
              </a:rPr>
              <a:t>PF = 0</a:t>
            </a:r>
            <a:r>
              <a:rPr lang="zh-CN" altLang="en-US" b="0" i="0" dirty="0">
                <a:effectLst/>
                <a:latin typeface="-apple-system"/>
              </a:rPr>
              <a:t>。</a:t>
            </a:r>
            <a:endParaRPr lang="en-US" altLang="zh-CN" b="0" i="0" dirty="0">
              <a:effectLst/>
              <a:latin typeface="-apple-system"/>
            </a:endParaRPr>
          </a:p>
          <a:p>
            <a:r>
              <a:rPr lang="en-US" altLang="zh-CN" b="1" dirty="0">
                <a:latin typeface="-apple-system"/>
              </a:rPr>
              <a:t>CF</a:t>
            </a:r>
            <a:r>
              <a:rPr lang="zh-CN" altLang="en-US" b="0" i="0" dirty="0">
                <a:effectLst/>
                <a:latin typeface="-apple-system"/>
              </a:rPr>
              <a:t>（</a:t>
            </a:r>
            <a:r>
              <a:rPr lang="en-US" altLang="zh-CN" b="0" i="0" dirty="0">
                <a:effectLst/>
                <a:latin typeface="-apple-system"/>
              </a:rPr>
              <a:t>Carry Flag</a:t>
            </a:r>
            <a:r>
              <a:rPr lang="zh-CN" altLang="en-US" b="0" i="0" dirty="0">
                <a:effectLst/>
                <a:latin typeface="-apple-system"/>
              </a:rPr>
              <a:t>）：进位标志位，它一般记录了在做加法运算时，从最高有效位向更高位进位了；或做减法运算时，最高有效位向更高位借位了。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14527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AF2A52F5-EB23-B727-FA2A-25FD15DC28D5}"/>
              </a:ext>
            </a:extLst>
          </p:cNvPr>
          <p:cNvSpPr txBox="1"/>
          <p:nvPr/>
        </p:nvSpPr>
        <p:spPr>
          <a:xfrm>
            <a:off x="1125415" y="363859"/>
            <a:ext cx="994116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/>
              <a:t>1-19</a:t>
            </a:r>
            <a:r>
              <a:rPr lang="en-US" altLang="zh-CN" sz="2400" dirty="0"/>
              <a:t>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什么是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8086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中的逻辑地址和物理地址？逻辑地址如何转换成物理地址？请将如下逻辑地址用物理地址表达（表达地址默认采用十六进制数）：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FFFF:0		 	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40:17		</a:t>
            </a:r>
          </a:p>
          <a:p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2000:4500		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B821:4567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310FE5F-F2C8-158A-F792-C749E0810A4B}"/>
              </a:ext>
            </a:extLst>
          </p:cNvPr>
          <p:cNvSpPr txBox="1"/>
          <p:nvPr/>
        </p:nvSpPr>
        <p:spPr>
          <a:xfrm>
            <a:off x="529196" y="2382550"/>
            <a:ext cx="11283463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dirty="0"/>
              <a:t>在</a:t>
            </a:r>
            <a:r>
              <a:rPr lang="en-US" altLang="zh-CN" sz="2200" dirty="0"/>
              <a:t>8086</a:t>
            </a:r>
            <a:r>
              <a:rPr lang="zh-CN" altLang="en-US" sz="2200" dirty="0"/>
              <a:t>处理器中，对应每个物理存储单元都有一个唯一的</a:t>
            </a:r>
            <a:r>
              <a:rPr lang="en-US" altLang="zh-CN" sz="2200" dirty="0"/>
              <a:t>20</a:t>
            </a:r>
            <a:r>
              <a:rPr lang="zh-CN" altLang="en-US" sz="2200" dirty="0"/>
              <a:t>位编号，就是物理地址，从</a:t>
            </a:r>
            <a:r>
              <a:rPr lang="en-US" altLang="zh-CN" sz="2200" dirty="0"/>
              <a:t>00000H~FFFFFH</a:t>
            </a:r>
            <a:r>
              <a:rPr lang="zh-CN" altLang="en-US" sz="2200" dirty="0"/>
              <a:t>。 （因为</a:t>
            </a:r>
            <a:r>
              <a:rPr lang="en-US" altLang="zh-CN" sz="2200" dirty="0"/>
              <a:t>8086CPU</a:t>
            </a:r>
            <a:r>
              <a:rPr lang="zh-CN" altLang="en-US" sz="2200" dirty="0"/>
              <a:t>的地址线有</a:t>
            </a:r>
            <a:r>
              <a:rPr lang="en-US" altLang="zh-CN" sz="2200" dirty="0"/>
              <a:t>20</a:t>
            </a:r>
            <a:r>
              <a:rPr lang="zh-CN" altLang="en-US" sz="2200" dirty="0"/>
              <a:t>根，一次能传送</a:t>
            </a:r>
            <a:r>
              <a:rPr lang="en-US" altLang="zh-CN" sz="2200" dirty="0"/>
              <a:t>20</a:t>
            </a:r>
            <a:r>
              <a:rPr lang="zh-CN" altLang="en-US" sz="2200" dirty="0"/>
              <a:t>位地址信息）</a:t>
            </a:r>
            <a:endParaRPr lang="en-US" altLang="zh-CN" sz="2200" dirty="0"/>
          </a:p>
          <a:p>
            <a:r>
              <a:rPr lang="zh-CN" altLang="en-US" sz="2200" dirty="0"/>
              <a:t>在</a:t>
            </a:r>
            <a:r>
              <a:rPr lang="en-US" altLang="zh-CN" sz="2200" dirty="0"/>
              <a:t>8086</a:t>
            </a:r>
            <a:r>
              <a:rPr lang="zh-CN" altLang="en-US" sz="2200" dirty="0"/>
              <a:t>内部和用户编程时，采用的“段基地址</a:t>
            </a:r>
            <a:r>
              <a:rPr lang="en-US" altLang="zh-CN" sz="2200" dirty="0"/>
              <a:t>:</a:t>
            </a:r>
            <a:r>
              <a:rPr lang="zh-CN" altLang="en-US" sz="2200" dirty="0"/>
              <a:t>段内偏移地址”形式称为逻辑地址。</a:t>
            </a:r>
            <a:endParaRPr lang="en-US" altLang="zh-CN" sz="2200" dirty="0"/>
          </a:p>
          <a:p>
            <a:r>
              <a:rPr lang="zh-CN" altLang="en-US" sz="2200" dirty="0"/>
              <a:t>将逻辑地址中的段地址左移二进制四位（对应十六进制一位），加上偏移地址就得到</a:t>
            </a:r>
            <a:r>
              <a:rPr lang="en-US" altLang="zh-CN" sz="2200" dirty="0"/>
              <a:t>20</a:t>
            </a:r>
            <a:r>
              <a:rPr lang="zh-CN" altLang="en-US" sz="2200" dirty="0"/>
              <a:t>位物理地址。</a:t>
            </a:r>
            <a:endParaRPr lang="en-US" altLang="zh-CN" sz="2200" dirty="0"/>
          </a:p>
          <a:p>
            <a:r>
              <a:rPr lang="zh-CN" altLang="en-US" sz="2200" dirty="0"/>
              <a:t>如下逻辑地址用物理地址表达：</a:t>
            </a:r>
            <a:endParaRPr lang="en-US" altLang="zh-CN" sz="2200" dirty="0"/>
          </a:p>
          <a:p>
            <a:r>
              <a:rPr lang="en-US" altLang="zh-CN" sz="2200" dirty="0"/>
              <a:t>		</a:t>
            </a:r>
            <a:r>
              <a:rPr lang="zh-CN" altLang="en-US" sz="2200" dirty="0"/>
              <a:t>（</a:t>
            </a:r>
            <a:r>
              <a:rPr lang="en-US" altLang="zh-CN" sz="2200" dirty="0"/>
              <a:t>1</a:t>
            </a:r>
            <a:r>
              <a:rPr lang="zh-CN" altLang="en-US" sz="2200" dirty="0"/>
              <a:t>）</a:t>
            </a:r>
            <a:r>
              <a:rPr lang="en-US" altLang="zh-CN" sz="2200" dirty="0"/>
              <a:t>FFFF:0			FFFF0H</a:t>
            </a:r>
          </a:p>
          <a:p>
            <a:r>
              <a:rPr lang="en-US" altLang="zh-CN" sz="2200" dirty="0"/>
              <a:t>		</a:t>
            </a:r>
            <a:r>
              <a:rPr lang="zh-CN" altLang="en-US" sz="2200" dirty="0"/>
              <a:t>（</a:t>
            </a:r>
            <a:r>
              <a:rPr lang="en-US" altLang="zh-CN" sz="2200" dirty="0"/>
              <a:t>2</a:t>
            </a:r>
            <a:r>
              <a:rPr lang="zh-CN" altLang="en-US" sz="2200" dirty="0"/>
              <a:t>）</a:t>
            </a:r>
            <a:r>
              <a:rPr lang="en-US" altLang="zh-CN" sz="2200" dirty="0"/>
              <a:t>40:17			00417H</a:t>
            </a:r>
          </a:p>
          <a:p>
            <a:r>
              <a:rPr lang="en-US" altLang="zh-CN" sz="2200" dirty="0"/>
              <a:t>		</a:t>
            </a:r>
            <a:r>
              <a:rPr lang="zh-CN" altLang="en-US" sz="2200" dirty="0"/>
              <a:t>（</a:t>
            </a:r>
            <a:r>
              <a:rPr lang="en-US" altLang="zh-CN" sz="2200" dirty="0"/>
              <a:t>3</a:t>
            </a:r>
            <a:r>
              <a:rPr lang="zh-CN" altLang="en-US" sz="2200" dirty="0"/>
              <a:t>）</a:t>
            </a:r>
            <a:r>
              <a:rPr lang="en-US" altLang="zh-CN" sz="2200" dirty="0"/>
              <a:t>2000:4500		24500H</a:t>
            </a:r>
          </a:p>
          <a:p>
            <a:r>
              <a:rPr lang="en-US" altLang="zh-CN" sz="2200" dirty="0"/>
              <a:t>		</a:t>
            </a:r>
            <a:r>
              <a:rPr lang="zh-CN" altLang="en-US" sz="2200" dirty="0"/>
              <a:t>（</a:t>
            </a:r>
            <a:r>
              <a:rPr lang="en-US" altLang="zh-CN" sz="2200" dirty="0"/>
              <a:t>4</a:t>
            </a:r>
            <a:r>
              <a:rPr lang="zh-CN" altLang="en-US" sz="2200" dirty="0"/>
              <a:t>）</a:t>
            </a:r>
            <a:r>
              <a:rPr lang="en-US" altLang="zh-CN" sz="2200" dirty="0"/>
              <a:t>B821:4567		BC777H</a:t>
            </a:r>
            <a:endParaRPr lang="zh-CN" altLang="en-US" sz="2200" dirty="0"/>
          </a:p>
        </p:txBody>
      </p:sp>
    </p:spTree>
    <p:extLst>
      <p:ext uri="{BB962C8B-B14F-4D97-AF65-F5344CB8AC3E}">
        <p14:creationId xmlns:p14="http://schemas.microsoft.com/office/powerpoint/2010/main" val="4141069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26ABA76-1B29-3816-F90C-37FB5E8CCC74}"/>
              </a:ext>
            </a:extLst>
          </p:cNvPr>
          <p:cNvSpPr txBox="1"/>
          <p:nvPr/>
        </p:nvSpPr>
        <p:spPr>
          <a:xfrm>
            <a:off x="806017" y="652803"/>
            <a:ext cx="1084384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/>
              <a:t>1-24</a:t>
            </a:r>
            <a:r>
              <a:rPr lang="en-US" altLang="zh-CN" sz="2400" dirty="0"/>
              <a:t>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说明下列指令中源操作数的寻址方式？如果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BX=2000H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DI=40H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，给出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DX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的值或有效地址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EA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的值。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mov dx, [1234H]		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mov dx, 1234H</a:t>
            </a:r>
          </a:p>
          <a:p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mov dx, bx			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mov dx, [bx]</a:t>
            </a:r>
          </a:p>
          <a:p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mov dx, [bx+1234H]		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6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mov dx, [</a:t>
            </a:r>
            <a:r>
              <a:rPr lang="en-US" altLang="zh-CN" sz="2400" dirty="0" err="1">
                <a:latin typeface="黑体" panose="02010609060101010101" pitchFamily="49" charset="-122"/>
                <a:ea typeface="黑体" panose="02010609060101010101" pitchFamily="49" charset="-122"/>
              </a:rPr>
              <a:t>bx+di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]</a:t>
            </a:r>
          </a:p>
          <a:p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7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mov dx, [bx+di+1234H]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550E3-E4C4-3419-0AEA-836292C8F098}"/>
              </a:ext>
            </a:extLst>
          </p:cNvPr>
          <p:cNvSpPr txBox="1"/>
          <p:nvPr/>
        </p:nvSpPr>
        <p:spPr>
          <a:xfrm>
            <a:off x="1620694" y="3725411"/>
            <a:ext cx="895061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dirty="0"/>
              <a:t>（</a:t>
            </a:r>
            <a:r>
              <a:rPr lang="en-US" altLang="zh-CN" sz="2200" dirty="0"/>
              <a:t>1</a:t>
            </a:r>
            <a:r>
              <a:rPr lang="zh-CN" altLang="en-US" sz="2200" dirty="0"/>
              <a:t>）直接寻址，</a:t>
            </a:r>
            <a:r>
              <a:rPr lang="en-US" altLang="zh-CN" sz="2200" dirty="0"/>
              <a:t>EA=1234H		</a:t>
            </a:r>
            <a:r>
              <a:rPr lang="zh-CN" altLang="en-US" sz="2200" dirty="0"/>
              <a:t>（</a:t>
            </a:r>
            <a:r>
              <a:rPr lang="en-US" altLang="zh-CN" sz="2200" dirty="0"/>
              <a:t>2</a:t>
            </a:r>
            <a:r>
              <a:rPr lang="zh-CN" altLang="en-US" sz="2200" dirty="0"/>
              <a:t>）立即数寻址，</a:t>
            </a:r>
            <a:r>
              <a:rPr lang="en-US" altLang="zh-CN" sz="2200" dirty="0"/>
              <a:t>DX=1234H</a:t>
            </a:r>
          </a:p>
          <a:p>
            <a:r>
              <a:rPr lang="zh-CN" altLang="en-US" sz="2200" dirty="0"/>
              <a:t>（</a:t>
            </a:r>
            <a:r>
              <a:rPr lang="en-US" altLang="zh-CN" sz="2200" dirty="0"/>
              <a:t>3</a:t>
            </a:r>
            <a:r>
              <a:rPr lang="zh-CN" altLang="en-US" sz="2200" dirty="0"/>
              <a:t>）寄存器寻址，</a:t>
            </a:r>
            <a:r>
              <a:rPr lang="en-US" altLang="zh-CN" sz="2200" dirty="0"/>
              <a:t>DX=2000H	</a:t>
            </a:r>
            <a:r>
              <a:rPr lang="zh-CN" altLang="en-US" sz="2200" dirty="0"/>
              <a:t>（</a:t>
            </a:r>
            <a:r>
              <a:rPr lang="en-US" altLang="zh-CN" sz="2200" dirty="0"/>
              <a:t>4</a:t>
            </a:r>
            <a:r>
              <a:rPr lang="zh-CN" altLang="en-US" sz="2200" dirty="0"/>
              <a:t>）间接寻址，</a:t>
            </a:r>
            <a:r>
              <a:rPr lang="en-US" altLang="zh-CN" sz="2200" dirty="0"/>
              <a:t>EA=2000H</a:t>
            </a:r>
          </a:p>
          <a:p>
            <a:r>
              <a:rPr lang="zh-CN" altLang="en-US" sz="2200" dirty="0"/>
              <a:t>（</a:t>
            </a:r>
            <a:r>
              <a:rPr lang="en-US" altLang="zh-CN" sz="2200" dirty="0"/>
              <a:t>5</a:t>
            </a:r>
            <a:r>
              <a:rPr lang="zh-CN" altLang="en-US" sz="2200" dirty="0"/>
              <a:t>）基址寻址，</a:t>
            </a:r>
            <a:r>
              <a:rPr lang="en-US" altLang="zh-CN" sz="2200" dirty="0"/>
              <a:t>EA=3234H		</a:t>
            </a:r>
            <a:r>
              <a:rPr lang="zh-CN" altLang="en-US" sz="2200" dirty="0"/>
              <a:t>（</a:t>
            </a:r>
            <a:r>
              <a:rPr lang="en-US" altLang="zh-CN" sz="2200" dirty="0"/>
              <a:t>6</a:t>
            </a:r>
            <a:r>
              <a:rPr lang="zh-CN" altLang="en-US" sz="2200" dirty="0"/>
              <a:t>）基址变址寻址，</a:t>
            </a:r>
            <a:r>
              <a:rPr lang="en-US" altLang="zh-CN" sz="2200" dirty="0"/>
              <a:t>EA=2040H</a:t>
            </a:r>
          </a:p>
          <a:p>
            <a:r>
              <a:rPr lang="zh-CN" altLang="en-US" sz="2200" dirty="0"/>
              <a:t>（</a:t>
            </a:r>
            <a:r>
              <a:rPr lang="en-US" altLang="zh-CN" sz="2200" dirty="0"/>
              <a:t>7</a:t>
            </a:r>
            <a:r>
              <a:rPr lang="zh-CN" altLang="en-US" sz="2200" dirty="0"/>
              <a:t>）相对基址变址寻址，</a:t>
            </a:r>
            <a:r>
              <a:rPr lang="en-US" altLang="zh-CN" sz="2200" dirty="0"/>
              <a:t>EA=3274H</a:t>
            </a:r>
            <a:endParaRPr lang="zh-CN" altLang="en-US" sz="22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16F49D4-74B3-B246-E12A-B53D0E241FF7}"/>
              </a:ext>
            </a:extLst>
          </p:cNvPr>
          <p:cNvSpPr txBox="1"/>
          <p:nvPr/>
        </p:nvSpPr>
        <p:spPr>
          <a:xfrm>
            <a:off x="1835051" y="5566913"/>
            <a:ext cx="83263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基址寄存器：</a:t>
            </a:r>
            <a:r>
              <a:rPr lang="en-US" altLang="zh-CN" dirty="0">
                <a:solidFill>
                  <a:srgbClr val="FF0000"/>
                </a:solidFill>
              </a:rPr>
              <a:t>BX</a:t>
            </a:r>
            <a:r>
              <a:rPr lang="zh-CN" altLang="en-US" dirty="0">
                <a:solidFill>
                  <a:srgbClr val="FF0000"/>
                </a:solidFill>
              </a:rPr>
              <a:t>、</a:t>
            </a:r>
            <a:r>
              <a:rPr lang="en-US" altLang="zh-CN" dirty="0">
                <a:solidFill>
                  <a:srgbClr val="FF0000"/>
                </a:solidFill>
              </a:rPr>
              <a:t>BP</a:t>
            </a:r>
            <a:r>
              <a:rPr lang="zh-CN" altLang="en-US" dirty="0">
                <a:solidFill>
                  <a:srgbClr val="FF0000"/>
                </a:solidFill>
              </a:rPr>
              <a:t>（使用</a:t>
            </a:r>
            <a:r>
              <a:rPr lang="en-US" altLang="zh-CN" dirty="0">
                <a:solidFill>
                  <a:srgbClr val="FF0000"/>
                </a:solidFill>
              </a:rPr>
              <a:t>BX</a:t>
            </a:r>
            <a:r>
              <a:rPr lang="zh-CN" altLang="en-US" dirty="0">
                <a:solidFill>
                  <a:srgbClr val="FF0000"/>
                </a:solidFill>
              </a:rPr>
              <a:t>时，默认段是</a:t>
            </a:r>
            <a:r>
              <a:rPr lang="en-US" altLang="zh-CN" dirty="0">
                <a:solidFill>
                  <a:srgbClr val="FF0000"/>
                </a:solidFill>
              </a:rPr>
              <a:t>DS</a:t>
            </a:r>
            <a:r>
              <a:rPr lang="zh-CN" altLang="en-US" dirty="0">
                <a:solidFill>
                  <a:srgbClr val="FF0000"/>
                </a:solidFill>
              </a:rPr>
              <a:t>；使用</a:t>
            </a:r>
            <a:r>
              <a:rPr lang="en-US" altLang="zh-CN" dirty="0">
                <a:solidFill>
                  <a:srgbClr val="FF0000"/>
                </a:solidFill>
              </a:rPr>
              <a:t>BP</a:t>
            </a:r>
            <a:r>
              <a:rPr lang="zh-CN" altLang="en-US" dirty="0">
                <a:solidFill>
                  <a:srgbClr val="FF0000"/>
                </a:solidFill>
              </a:rPr>
              <a:t>时，默认段是</a:t>
            </a:r>
            <a:r>
              <a:rPr lang="en-US" altLang="zh-CN" dirty="0">
                <a:solidFill>
                  <a:srgbClr val="FF0000"/>
                </a:solidFill>
              </a:rPr>
              <a:t>SS</a:t>
            </a:r>
            <a:r>
              <a:rPr lang="zh-CN" altLang="en-US" dirty="0">
                <a:solidFill>
                  <a:srgbClr val="FF0000"/>
                </a:solidFill>
              </a:rPr>
              <a:t>）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变址寄存器：</a:t>
            </a:r>
            <a:r>
              <a:rPr lang="en-US" altLang="zh-CN" dirty="0">
                <a:solidFill>
                  <a:srgbClr val="FF0000"/>
                </a:solidFill>
              </a:rPr>
              <a:t>SI</a:t>
            </a:r>
            <a:r>
              <a:rPr lang="zh-CN" altLang="en-US" dirty="0">
                <a:solidFill>
                  <a:srgbClr val="FF0000"/>
                </a:solidFill>
              </a:rPr>
              <a:t>、</a:t>
            </a:r>
            <a:r>
              <a:rPr lang="en-US" altLang="zh-CN" dirty="0">
                <a:solidFill>
                  <a:srgbClr val="FF0000"/>
                </a:solidFill>
              </a:rPr>
              <a:t>DI</a:t>
            </a:r>
            <a:r>
              <a:rPr lang="zh-CN" altLang="en-US" dirty="0">
                <a:solidFill>
                  <a:srgbClr val="FF0000"/>
                </a:solidFill>
              </a:rPr>
              <a:t>（默认段都是</a:t>
            </a:r>
            <a:r>
              <a:rPr lang="en-US" altLang="zh-CN" dirty="0">
                <a:solidFill>
                  <a:srgbClr val="FF0000"/>
                </a:solidFill>
              </a:rPr>
              <a:t>DS</a:t>
            </a:r>
            <a:r>
              <a:rPr lang="zh-CN" altLang="en-US" dirty="0">
                <a:solidFill>
                  <a:srgbClr val="FF0000"/>
                </a:solidFill>
              </a:rPr>
              <a:t>）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相对基址变址寻址的情况下，默认是哪个段主要取决于所使用的基址寄存器</a:t>
            </a:r>
          </a:p>
        </p:txBody>
      </p:sp>
    </p:spTree>
    <p:extLst>
      <p:ext uri="{BB962C8B-B14F-4D97-AF65-F5344CB8AC3E}">
        <p14:creationId xmlns:p14="http://schemas.microsoft.com/office/powerpoint/2010/main" val="3616584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03FE81B8-210D-F613-3C9F-2F6F88EC90C0}"/>
              </a:ext>
            </a:extLst>
          </p:cNvPr>
          <p:cNvSpPr txBox="1"/>
          <p:nvPr/>
        </p:nvSpPr>
        <p:spPr>
          <a:xfrm>
            <a:off x="930327" y="515815"/>
            <a:ext cx="997633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/>
              <a:t>3.7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假设</a:t>
            </a:r>
            <a:r>
              <a:rPr lang="en-US" altLang="zh-CN" sz="2400" dirty="0" err="1">
                <a:latin typeface="黑体" panose="02010609060101010101" pitchFamily="49" charset="-122"/>
                <a:ea typeface="黑体" panose="02010609060101010101" pitchFamily="49" charset="-122"/>
              </a:rPr>
              <a:t>myword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是一个</a:t>
            </a:r>
            <a:r>
              <a:rPr lang="zh-CN" altLang="en-US" sz="2400" u="sng" dirty="0">
                <a:latin typeface="黑体" panose="02010609060101010101" pitchFamily="49" charset="-122"/>
                <a:ea typeface="黑体" panose="02010609060101010101" pitchFamily="49" charset="-122"/>
              </a:rPr>
              <a:t>字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变量，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mybyte1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mybyte2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个</a:t>
            </a:r>
            <a:r>
              <a:rPr lang="zh-CN" altLang="en-US" sz="2400" u="sng" dirty="0">
                <a:latin typeface="黑体" panose="02010609060101010101" pitchFamily="49" charset="-122"/>
                <a:ea typeface="黑体" panose="02010609060101010101" pitchFamily="49" charset="-122"/>
              </a:rPr>
              <a:t>字节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变量，指出下列语句中的错误原因。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mov  byte </a:t>
            </a:r>
            <a:r>
              <a:rPr lang="en-US" altLang="zh-CN" sz="2400" dirty="0" err="1">
                <a:latin typeface="黑体" panose="02010609060101010101" pitchFamily="49" charset="-122"/>
                <a:ea typeface="黑体" panose="02010609060101010101" pitchFamily="49" charset="-122"/>
              </a:rPr>
              <a:t>ptr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[bx], 1000	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mov  bx, offset </a:t>
            </a:r>
            <a:r>
              <a:rPr lang="en-US" altLang="zh-CN" sz="2400" dirty="0" err="1">
                <a:latin typeface="黑体" panose="02010609060101010101" pitchFamily="49" charset="-122"/>
                <a:ea typeface="黑体" panose="02010609060101010101" pitchFamily="49" charset="-122"/>
              </a:rPr>
              <a:t>myword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[</a:t>
            </a:r>
            <a:r>
              <a:rPr lang="en-US" altLang="zh-CN" sz="2400" dirty="0" err="1">
                <a:latin typeface="黑体" panose="02010609060101010101" pitchFamily="49" charset="-122"/>
                <a:ea typeface="黑体" panose="02010609060101010101" pitchFamily="49" charset="-122"/>
              </a:rPr>
              <a:t>si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]</a:t>
            </a:r>
          </a:p>
          <a:p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2400" dirty="0" err="1">
                <a:latin typeface="黑体" panose="02010609060101010101" pitchFamily="49" charset="-122"/>
                <a:ea typeface="黑体" panose="02010609060101010101" pitchFamily="49" charset="-122"/>
              </a:rPr>
              <a:t>cmp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  mybyte1, mybyte2	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mov  al, mybyte1+mybyte2</a:t>
            </a:r>
          </a:p>
          <a:p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sub  </a:t>
            </a:r>
            <a:r>
              <a:rPr lang="en-US" altLang="zh-CN" sz="2400" dirty="0" err="1">
                <a:latin typeface="黑体" panose="02010609060101010101" pitchFamily="49" charset="-122"/>
                <a:ea typeface="黑体" panose="02010609060101010101" pitchFamily="49" charset="-122"/>
              </a:rPr>
              <a:t>al,myword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		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6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2400" dirty="0" err="1">
                <a:latin typeface="黑体" panose="02010609060101010101" pitchFamily="49" charset="-122"/>
                <a:ea typeface="黑体" panose="02010609060101010101" pitchFamily="49" charset="-122"/>
              </a:rPr>
              <a:t>jnz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2400" dirty="0" err="1">
                <a:latin typeface="黑体" panose="02010609060101010101" pitchFamily="49" charset="-122"/>
                <a:ea typeface="黑体" panose="02010609060101010101" pitchFamily="49" charset="-122"/>
              </a:rPr>
              <a:t>myword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05C9829-1A67-FDC8-53B0-0CD155EB5E2F}"/>
              </a:ext>
            </a:extLst>
          </p:cNvPr>
          <p:cNvSpPr txBox="1"/>
          <p:nvPr/>
        </p:nvSpPr>
        <p:spPr>
          <a:xfrm>
            <a:off x="627184" y="3429000"/>
            <a:ext cx="10937631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dirty="0"/>
              <a:t>（</a:t>
            </a:r>
            <a:r>
              <a:rPr lang="en-US" altLang="zh-CN" sz="2200" dirty="0"/>
              <a:t>1</a:t>
            </a:r>
            <a:r>
              <a:rPr lang="zh-CN" altLang="en-US" sz="2200" dirty="0"/>
              <a:t>）</a:t>
            </a:r>
            <a:r>
              <a:rPr lang="en-US" altLang="zh-CN" sz="2200" dirty="0"/>
              <a:t>1000</a:t>
            </a:r>
            <a:r>
              <a:rPr lang="zh-CN" altLang="en-US" sz="2200" dirty="0"/>
              <a:t>超出了一个字节的范围（一个字节</a:t>
            </a:r>
            <a:r>
              <a:rPr lang="en-US" altLang="zh-CN" sz="2200" dirty="0"/>
              <a:t>8</a:t>
            </a:r>
            <a:r>
              <a:rPr lang="zh-CN" altLang="en-US" sz="2200" dirty="0"/>
              <a:t>位最多只能表示到</a:t>
            </a:r>
            <a:r>
              <a:rPr lang="en-US" altLang="zh-CN" sz="2200" dirty="0"/>
              <a:t>127</a:t>
            </a:r>
            <a:r>
              <a:rPr lang="zh-CN" altLang="en-US" sz="2200" dirty="0"/>
              <a:t>）</a:t>
            </a:r>
            <a:endParaRPr lang="en-US" altLang="zh-CN" sz="2200" dirty="0"/>
          </a:p>
          <a:p>
            <a:r>
              <a:rPr lang="zh-CN" altLang="en-US" sz="2200" dirty="0"/>
              <a:t>（</a:t>
            </a:r>
            <a:r>
              <a:rPr lang="en-US" altLang="zh-CN" sz="2200" dirty="0"/>
              <a:t>2</a:t>
            </a:r>
            <a:r>
              <a:rPr lang="zh-CN" altLang="en-US" sz="2200" dirty="0"/>
              <a:t>）寄存器的值只有程序执行时才能确定，而</a:t>
            </a:r>
            <a:r>
              <a:rPr lang="en-US" altLang="zh-CN" sz="2200" dirty="0"/>
              <a:t>offset</a:t>
            </a:r>
            <a:r>
              <a:rPr lang="zh-CN" altLang="en-US" sz="2200" dirty="0"/>
              <a:t>是汇编过程计算的偏移地址，无法确定，应改为</a:t>
            </a:r>
            <a:r>
              <a:rPr lang="en-US" altLang="zh-CN" sz="2200" dirty="0"/>
              <a:t>lea bx, </a:t>
            </a:r>
            <a:r>
              <a:rPr lang="en-US" altLang="zh-CN" sz="2200" dirty="0" err="1"/>
              <a:t>myword</a:t>
            </a:r>
            <a:r>
              <a:rPr lang="en-US" altLang="zh-CN" sz="2200" dirty="0"/>
              <a:t>[</a:t>
            </a:r>
            <a:r>
              <a:rPr lang="en-US" altLang="zh-CN" sz="2200" dirty="0" err="1"/>
              <a:t>si</a:t>
            </a:r>
            <a:r>
              <a:rPr lang="en-US" altLang="zh-CN" sz="2200" dirty="0"/>
              <a:t>]</a:t>
            </a:r>
            <a:r>
              <a:rPr lang="zh-CN" altLang="en-US" sz="2200" dirty="0"/>
              <a:t> </a:t>
            </a:r>
            <a:endParaRPr lang="en-US" altLang="zh-CN" sz="2200" dirty="0"/>
          </a:p>
          <a:p>
            <a:r>
              <a:rPr lang="zh-CN" altLang="en-US" sz="2200" dirty="0"/>
              <a:t>（</a:t>
            </a:r>
            <a:r>
              <a:rPr lang="en-US" altLang="zh-CN" sz="2200" dirty="0"/>
              <a:t>3</a:t>
            </a:r>
            <a:r>
              <a:rPr lang="zh-CN" altLang="en-US" sz="2200" dirty="0"/>
              <a:t>）两个都是存储单元，指令不允许</a:t>
            </a:r>
            <a:endParaRPr lang="en-US" altLang="zh-CN" sz="2200" dirty="0"/>
          </a:p>
          <a:p>
            <a:r>
              <a:rPr lang="zh-CN" altLang="en-US" sz="2200" dirty="0"/>
              <a:t>（</a:t>
            </a:r>
            <a:r>
              <a:rPr lang="en-US" altLang="zh-CN" sz="2200" dirty="0"/>
              <a:t>4</a:t>
            </a:r>
            <a:r>
              <a:rPr lang="zh-CN" altLang="en-US" sz="2200" dirty="0"/>
              <a:t>）变量值只有执行时才确定，汇编过程不能计算</a:t>
            </a:r>
            <a:endParaRPr lang="en-US" altLang="zh-CN" sz="2200" dirty="0"/>
          </a:p>
          <a:p>
            <a:r>
              <a:rPr lang="zh-CN" altLang="en-US" sz="2200" dirty="0"/>
              <a:t>（</a:t>
            </a:r>
            <a:r>
              <a:rPr lang="en-US" altLang="zh-CN" sz="2200" dirty="0"/>
              <a:t>5</a:t>
            </a:r>
            <a:r>
              <a:rPr lang="zh-CN" altLang="en-US" sz="2200" dirty="0"/>
              <a:t>）字节量</a:t>
            </a:r>
            <a:r>
              <a:rPr lang="en-US" altLang="zh-CN" sz="2200" dirty="0"/>
              <a:t>AL</a:t>
            </a:r>
            <a:r>
              <a:rPr lang="zh-CN" altLang="en-US" sz="2200" dirty="0"/>
              <a:t>与字量</a:t>
            </a:r>
            <a:r>
              <a:rPr lang="en-US" altLang="zh-CN" sz="2200" dirty="0" err="1"/>
              <a:t>myword</a:t>
            </a:r>
            <a:r>
              <a:rPr lang="zh-CN" altLang="en-US" sz="2200" dirty="0"/>
              <a:t>，类型不匹配</a:t>
            </a:r>
            <a:endParaRPr lang="en-US" altLang="zh-CN" sz="2200" dirty="0"/>
          </a:p>
          <a:p>
            <a:r>
              <a:rPr lang="zh-CN" altLang="en-US" sz="2200" dirty="0"/>
              <a:t>（</a:t>
            </a:r>
            <a:r>
              <a:rPr lang="en-US" altLang="zh-CN" sz="2200" dirty="0"/>
              <a:t>6</a:t>
            </a:r>
            <a:r>
              <a:rPr lang="zh-CN" altLang="en-US" sz="2200" dirty="0"/>
              <a:t>）</a:t>
            </a:r>
            <a:r>
              <a:rPr lang="en-US" altLang="zh-CN" sz="2200" dirty="0" err="1"/>
              <a:t>Jcc</a:t>
            </a:r>
            <a:r>
              <a:rPr lang="zh-CN" altLang="en-US" sz="2200" dirty="0"/>
              <a:t>指令（跳转指令的通用名称）只有相对寻址方式，不支持间接寻址方式</a:t>
            </a:r>
          </a:p>
        </p:txBody>
      </p:sp>
    </p:spTree>
    <p:extLst>
      <p:ext uri="{BB962C8B-B14F-4D97-AF65-F5344CB8AC3E}">
        <p14:creationId xmlns:p14="http://schemas.microsoft.com/office/powerpoint/2010/main" val="3936518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7524C07A-AD05-5217-BDC5-A933F4572262}"/>
              </a:ext>
            </a:extLst>
          </p:cNvPr>
          <p:cNvSpPr txBox="1"/>
          <p:nvPr/>
        </p:nvSpPr>
        <p:spPr>
          <a:xfrm>
            <a:off x="1146428" y="905691"/>
            <a:ext cx="1064010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/>
              <a:t>3.10</a:t>
            </a:r>
            <a:r>
              <a:rPr lang="en-US" altLang="zh-CN" sz="2400" dirty="0"/>
              <a:t>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画图说明下列语句分配的存储空间及初始化的数据值：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2400" dirty="0" err="1">
                <a:latin typeface="黑体" panose="02010609060101010101" pitchFamily="49" charset="-122"/>
                <a:ea typeface="黑体" panose="02010609060101010101" pitchFamily="49" charset="-122"/>
              </a:rPr>
              <a:t>byte_var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2400" dirty="0" err="1">
                <a:latin typeface="黑体" panose="02010609060101010101" pitchFamily="49" charset="-122"/>
                <a:ea typeface="黑体" panose="02010609060101010101" pitchFamily="49" charset="-122"/>
              </a:rPr>
              <a:t>db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  ‘abc’,10,10h,‘ef’,3 dup(-1, ?, 3 dup(4))</a:t>
            </a:r>
          </a:p>
          <a:p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2400" dirty="0" err="1">
                <a:latin typeface="黑体" panose="02010609060101010101" pitchFamily="49" charset="-122"/>
                <a:ea typeface="黑体" panose="02010609060101010101" pitchFamily="49" charset="-122"/>
              </a:rPr>
              <a:t>word_var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2400" dirty="0" err="1">
                <a:latin typeface="黑体" panose="02010609060101010101" pitchFamily="49" charset="-122"/>
                <a:ea typeface="黑体" panose="02010609060101010101" pitchFamily="49" charset="-122"/>
              </a:rPr>
              <a:t>dw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   10h,-5,‘ef’,3 dup(?)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A9F36E9-E855-C0E5-213E-5AF5B2E2BB8B}"/>
              </a:ext>
            </a:extLst>
          </p:cNvPr>
          <p:cNvSpPr txBox="1"/>
          <p:nvPr/>
        </p:nvSpPr>
        <p:spPr>
          <a:xfrm>
            <a:off x="679938" y="3056627"/>
            <a:ext cx="1121898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dirty="0"/>
              <a:t>（</a:t>
            </a:r>
            <a:r>
              <a:rPr lang="en-US" altLang="zh-CN" sz="2200" dirty="0"/>
              <a:t>1</a:t>
            </a:r>
            <a:r>
              <a:rPr lang="zh-CN" altLang="en-US" sz="2200" dirty="0"/>
              <a:t>）从低地址开始，依次是（十六进制表达）：</a:t>
            </a:r>
            <a:endParaRPr lang="en-US" altLang="zh-CN" sz="2200" dirty="0"/>
          </a:p>
          <a:p>
            <a:endParaRPr lang="en-US" altLang="zh-CN" sz="2200" dirty="0"/>
          </a:p>
          <a:p>
            <a:endParaRPr lang="en-US" altLang="zh-CN" sz="2200" dirty="0"/>
          </a:p>
          <a:p>
            <a:endParaRPr lang="en-US" altLang="zh-CN" sz="2200" dirty="0"/>
          </a:p>
          <a:p>
            <a:r>
              <a:rPr lang="zh-CN" altLang="en-US" sz="2200" dirty="0"/>
              <a:t>（</a:t>
            </a:r>
            <a:r>
              <a:rPr lang="en-US" altLang="zh-CN" sz="2200" dirty="0"/>
              <a:t>2</a:t>
            </a:r>
            <a:r>
              <a:rPr lang="zh-CN" altLang="en-US" sz="2200" dirty="0"/>
              <a:t>）从低地址开始，依次是（十六进制表达）：</a:t>
            </a:r>
            <a:endParaRPr lang="en-US" altLang="zh-CN" sz="2200" dirty="0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730C17A5-D1A5-2A8C-D4D6-FA0B4BFC10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2610288"/>
              </p:ext>
            </p:extLst>
          </p:nvPr>
        </p:nvGraphicFramePr>
        <p:xfrm>
          <a:off x="293527" y="3566383"/>
          <a:ext cx="11605396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7518">
                  <a:extLst>
                    <a:ext uri="{9D8B030D-6E8A-4147-A177-3AD203B41FA5}">
                      <a16:colId xmlns:a16="http://schemas.microsoft.com/office/drawing/2014/main" val="385645952"/>
                    </a:ext>
                  </a:extLst>
                </a:gridCol>
                <a:gridCol w="527518">
                  <a:extLst>
                    <a:ext uri="{9D8B030D-6E8A-4147-A177-3AD203B41FA5}">
                      <a16:colId xmlns:a16="http://schemas.microsoft.com/office/drawing/2014/main" val="424055457"/>
                    </a:ext>
                  </a:extLst>
                </a:gridCol>
                <a:gridCol w="527518">
                  <a:extLst>
                    <a:ext uri="{9D8B030D-6E8A-4147-A177-3AD203B41FA5}">
                      <a16:colId xmlns:a16="http://schemas.microsoft.com/office/drawing/2014/main" val="256394160"/>
                    </a:ext>
                  </a:extLst>
                </a:gridCol>
                <a:gridCol w="459032">
                  <a:extLst>
                    <a:ext uri="{9D8B030D-6E8A-4147-A177-3AD203B41FA5}">
                      <a16:colId xmlns:a16="http://schemas.microsoft.com/office/drawing/2014/main" val="3285302039"/>
                    </a:ext>
                  </a:extLst>
                </a:gridCol>
                <a:gridCol w="596004">
                  <a:extLst>
                    <a:ext uri="{9D8B030D-6E8A-4147-A177-3AD203B41FA5}">
                      <a16:colId xmlns:a16="http://schemas.microsoft.com/office/drawing/2014/main" val="2178959921"/>
                    </a:ext>
                  </a:extLst>
                </a:gridCol>
                <a:gridCol w="527518">
                  <a:extLst>
                    <a:ext uri="{9D8B030D-6E8A-4147-A177-3AD203B41FA5}">
                      <a16:colId xmlns:a16="http://schemas.microsoft.com/office/drawing/2014/main" val="17026234"/>
                    </a:ext>
                  </a:extLst>
                </a:gridCol>
                <a:gridCol w="527518">
                  <a:extLst>
                    <a:ext uri="{9D8B030D-6E8A-4147-A177-3AD203B41FA5}">
                      <a16:colId xmlns:a16="http://schemas.microsoft.com/office/drawing/2014/main" val="1723949818"/>
                    </a:ext>
                  </a:extLst>
                </a:gridCol>
                <a:gridCol w="527518">
                  <a:extLst>
                    <a:ext uri="{9D8B030D-6E8A-4147-A177-3AD203B41FA5}">
                      <a16:colId xmlns:a16="http://schemas.microsoft.com/office/drawing/2014/main" val="1073420966"/>
                    </a:ext>
                  </a:extLst>
                </a:gridCol>
                <a:gridCol w="527518">
                  <a:extLst>
                    <a:ext uri="{9D8B030D-6E8A-4147-A177-3AD203B41FA5}">
                      <a16:colId xmlns:a16="http://schemas.microsoft.com/office/drawing/2014/main" val="1398675016"/>
                    </a:ext>
                  </a:extLst>
                </a:gridCol>
                <a:gridCol w="527518">
                  <a:extLst>
                    <a:ext uri="{9D8B030D-6E8A-4147-A177-3AD203B41FA5}">
                      <a16:colId xmlns:a16="http://schemas.microsoft.com/office/drawing/2014/main" val="1742438634"/>
                    </a:ext>
                  </a:extLst>
                </a:gridCol>
                <a:gridCol w="527518">
                  <a:extLst>
                    <a:ext uri="{9D8B030D-6E8A-4147-A177-3AD203B41FA5}">
                      <a16:colId xmlns:a16="http://schemas.microsoft.com/office/drawing/2014/main" val="1769212586"/>
                    </a:ext>
                  </a:extLst>
                </a:gridCol>
                <a:gridCol w="527518">
                  <a:extLst>
                    <a:ext uri="{9D8B030D-6E8A-4147-A177-3AD203B41FA5}">
                      <a16:colId xmlns:a16="http://schemas.microsoft.com/office/drawing/2014/main" val="3452938899"/>
                    </a:ext>
                  </a:extLst>
                </a:gridCol>
                <a:gridCol w="527518">
                  <a:extLst>
                    <a:ext uri="{9D8B030D-6E8A-4147-A177-3AD203B41FA5}">
                      <a16:colId xmlns:a16="http://schemas.microsoft.com/office/drawing/2014/main" val="1576228313"/>
                    </a:ext>
                  </a:extLst>
                </a:gridCol>
                <a:gridCol w="527518">
                  <a:extLst>
                    <a:ext uri="{9D8B030D-6E8A-4147-A177-3AD203B41FA5}">
                      <a16:colId xmlns:a16="http://schemas.microsoft.com/office/drawing/2014/main" val="3506830774"/>
                    </a:ext>
                  </a:extLst>
                </a:gridCol>
                <a:gridCol w="527518">
                  <a:extLst>
                    <a:ext uri="{9D8B030D-6E8A-4147-A177-3AD203B41FA5}">
                      <a16:colId xmlns:a16="http://schemas.microsoft.com/office/drawing/2014/main" val="423006608"/>
                    </a:ext>
                  </a:extLst>
                </a:gridCol>
                <a:gridCol w="527518">
                  <a:extLst>
                    <a:ext uri="{9D8B030D-6E8A-4147-A177-3AD203B41FA5}">
                      <a16:colId xmlns:a16="http://schemas.microsoft.com/office/drawing/2014/main" val="2174853694"/>
                    </a:ext>
                  </a:extLst>
                </a:gridCol>
                <a:gridCol w="527518">
                  <a:extLst>
                    <a:ext uri="{9D8B030D-6E8A-4147-A177-3AD203B41FA5}">
                      <a16:colId xmlns:a16="http://schemas.microsoft.com/office/drawing/2014/main" val="4091137248"/>
                    </a:ext>
                  </a:extLst>
                </a:gridCol>
                <a:gridCol w="527518">
                  <a:extLst>
                    <a:ext uri="{9D8B030D-6E8A-4147-A177-3AD203B41FA5}">
                      <a16:colId xmlns:a16="http://schemas.microsoft.com/office/drawing/2014/main" val="380235720"/>
                    </a:ext>
                  </a:extLst>
                </a:gridCol>
                <a:gridCol w="527518">
                  <a:extLst>
                    <a:ext uri="{9D8B030D-6E8A-4147-A177-3AD203B41FA5}">
                      <a16:colId xmlns:a16="http://schemas.microsoft.com/office/drawing/2014/main" val="4094119513"/>
                    </a:ext>
                  </a:extLst>
                </a:gridCol>
                <a:gridCol w="527518">
                  <a:extLst>
                    <a:ext uri="{9D8B030D-6E8A-4147-A177-3AD203B41FA5}">
                      <a16:colId xmlns:a16="http://schemas.microsoft.com/office/drawing/2014/main" val="2553255711"/>
                    </a:ext>
                  </a:extLst>
                </a:gridCol>
                <a:gridCol w="527518">
                  <a:extLst>
                    <a:ext uri="{9D8B030D-6E8A-4147-A177-3AD203B41FA5}">
                      <a16:colId xmlns:a16="http://schemas.microsoft.com/office/drawing/2014/main" val="3896364611"/>
                    </a:ext>
                  </a:extLst>
                </a:gridCol>
                <a:gridCol w="527518">
                  <a:extLst>
                    <a:ext uri="{9D8B030D-6E8A-4147-A177-3AD203B41FA5}">
                      <a16:colId xmlns:a16="http://schemas.microsoft.com/office/drawing/2014/main" val="41824877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61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62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63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0a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65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66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ff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04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04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04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ff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04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04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04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ff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04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04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04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67159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10h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2481802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6356BE30-6AD8-AE43-75CE-A03870CEC6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0873674"/>
              </p:ext>
            </p:extLst>
          </p:nvPr>
        </p:nvGraphicFramePr>
        <p:xfrm>
          <a:off x="2036794" y="4983187"/>
          <a:ext cx="8118411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7748">
                  <a:extLst>
                    <a:ext uri="{9D8B030D-6E8A-4147-A177-3AD203B41FA5}">
                      <a16:colId xmlns:a16="http://schemas.microsoft.com/office/drawing/2014/main" val="322487144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20539069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02701467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1069865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20569069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33281450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34358232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43510092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1009582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37490676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33899032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485294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fb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ff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66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65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2057269"/>
                  </a:ext>
                </a:extLst>
              </a:tr>
              <a:tr h="268194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10h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7521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35312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729C955E-45E1-BF85-5920-742800D005C1}"/>
              </a:ext>
            </a:extLst>
          </p:cNvPr>
          <p:cNvSpPr txBox="1"/>
          <p:nvPr/>
        </p:nvSpPr>
        <p:spPr>
          <a:xfrm>
            <a:off x="902677" y="904074"/>
            <a:ext cx="106211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/>
              <a:t>3.18</a:t>
            </a:r>
            <a:r>
              <a:rPr lang="en-US" altLang="zh-CN" sz="2400" dirty="0"/>
              <a:t>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在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SMALL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存储模型下，简化段定义格式的代码段、数据段和堆栈段的默认段名、定位、组合以及类别属性分别是什么？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26CB0AAE-2855-1E4C-22E3-FE19914BAF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003697"/>
              </p:ext>
            </p:extLst>
          </p:nvPr>
        </p:nvGraphicFramePr>
        <p:xfrm>
          <a:off x="931178" y="2438401"/>
          <a:ext cx="10334699" cy="28721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2877">
                  <a:extLst>
                    <a:ext uri="{9D8B030D-6E8A-4147-A177-3AD203B41FA5}">
                      <a16:colId xmlns:a16="http://schemas.microsoft.com/office/drawing/2014/main" val="888674883"/>
                    </a:ext>
                  </a:extLst>
                </a:gridCol>
                <a:gridCol w="1460804">
                  <a:extLst>
                    <a:ext uri="{9D8B030D-6E8A-4147-A177-3AD203B41FA5}">
                      <a16:colId xmlns:a16="http://schemas.microsoft.com/office/drawing/2014/main" val="4091843566"/>
                    </a:ext>
                  </a:extLst>
                </a:gridCol>
                <a:gridCol w="1609166">
                  <a:extLst>
                    <a:ext uri="{9D8B030D-6E8A-4147-A177-3AD203B41FA5}">
                      <a16:colId xmlns:a16="http://schemas.microsoft.com/office/drawing/2014/main" val="986829899"/>
                    </a:ext>
                  </a:extLst>
                </a:gridCol>
                <a:gridCol w="1620579">
                  <a:extLst>
                    <a:ext uri="{9D8B030D-6E8A-4147-A177-3AD203B41FA5}">
                      <a16:colId xmlns:a16="http://schemas.microsoft.com/office/drawing/2014/main" val="3098696897"/>
                    </a:ext>
                  </a:extLst>
                </a:gridCol>
                <a:gridCol w="1437981">
                  <a:extLst>
                    <a:ext uri="{9D8B030D-6E8A-4147-A177-3AD203B41FA5}">
                      <a16:colId xmlns:a16="http://schemas.microsoft.com/office/drawing/2014/main" val="1970843394"/>
                    </a:ext>
                  </a:extLst>
                </a:gridCol>
                <a:gridCol w="1723292">
                  <a:extLst>
                    <a:ext uri="{9D8B030D-6E8A-4147-A177-3AD203B41FA5}">
                      <a16:colId xmlns:a16="http://schemas.microsoft.com/office/drawing/2014/main" val="853350116"/>
                    </a:ext>
                  </a:extLst>
                </a:gridCol>
              </a:tblGrid>
              <a:tr h="574431">
                <a:tc>
                  <a:txBody>
                    <a:bodyPr/>
                    <a:lstStyle/>
                    <a:p>
                      <a:r>
                        <a:rPr lang="zh-CN" altLang="en-US" sz="2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段定义伪指令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段名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定位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组合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类别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组名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4769176"/>
                  </a:ext>
                </a:extLst>
              </a:tr>
              <a:tr h="574431">
                <a:tc>
                  <a:txBody>
                    <a:bodyPr/>
                    <a:lstStyle/>
                    <a:p>
                      <a:r>
                        <a:rPr lang="en-US" altLang="zh-CN" sz="2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.CODE</a:t>
                      </a:r>
                      <a:endParaRPr lang="zh-CN" altLang="en-US" sz="2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_TEXT</a:t>
                      </a:r>
                      <a:endParaRPr lang="zh-CN" altLang="en-US" sz="2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WORD</a:t>
                      </a:r>
                      <a:endParaRPr lang="zh-CN" altLang="en-US" sz="2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PUBLIC</a:t>
                      </a:r>
                      <a:endParaRPr lang="zh-CN" altLang="en-US" sz="2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‘CODE’</a:t>
                      </a:r>
                      <a:endParaRPr lang="zh-CN" altLang="en-US" sz="2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2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2699422"/>
                  </a:ext>
                </a:extLst>
              </a:tr>
              <a:tr h="574431">
                <a:tc>
                  <a:txBody>
                    <a:bodyPr/>
                    <a:lstStyle/>
                    <a:p>
                      <a:r>
                        <a:rPr lang="en-US" altLang="zh-CN" sz="2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.DATA</a:t>
                      </a:r>
                      <a:endParaRPr lang="zh-CN" altLang="en-US" sz="2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_DATA</a:t>
                      </a:r>
                      <a:endParaRPr lang="zh-CN" altLang="en-US" sz="2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WORD</a:t>
                      </a:r>
                      <a:endParaRPr lang="zh-CN" altLang="en-US" sz="2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PUBLIC</a:t>
                      </a:r>
                      <a:endParaRPr lang="zh-CN" altLang="en-US" sz="2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‘DATA’</a:t>
                      </a:r>
                      <a:endParaRPr lang="zh-CN" altLang="en-US" sz="2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DGROUP</a:t>
                      </a:r>
                      <a:endParaRPr lang="zh-CN" altLang="en-US" sz="2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0767218"/>
                  </a:ext>
                </a:extLst>
              </a:tr>
              <a:tr h="574431">
                <a:tc>
                  <a:txBody>
                    <a:bodyPr/>
                    <a:lstStyle/>
                    <a:p>
                      <a:r>
                        <a:rPr lang="en-US" altLang="zh-CN" sz="2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.DATA?</a:t>
                      </a:r>
                      <a:endParaRPr lang="zh-CN" altLang="en-US" sz="2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_BSS</a:t>
                      </a:r>
                      <a:endParaRPr lang="zh-CN" altLang="en-US" sz="2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WORD</a:t>
                      </a:r>
                      <a:endParaRPr lang="zh-CN" altLang="en-US" sz="2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PUBLIC</a:t>
                      </a:r>
                      <a:endParaRPr lang="zh-CN" altLang="en-US" sz="2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‘BSS’</a:t>
                      </a:r>
                      <a:endParaRPr lang="zh-CN" altLang="en-US" sz="2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DGROUP</a:t>
                      </a:r>
                      <a:endParaRPr lang="zh-CN" altLang="en-US" sz="2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23495"/>
                  </a:ext>
                </a:extLst>
              </a:tr>
              <a:tr h="574431">
                <a:tc>
                  <a:txBody>
                    <a:bodyPr/>
                    <a:lstStyle/>
                    <a:p>
                      <a:r>
                        <a:rPr lang="en-US" altLang="zh-CN" sz="2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.STACK</a:t>
                      </a:r>
                      <a:endParaRPr lang="zh-CN" altLang="en-US" sz="2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STACK</a:t>
                      </a:r>
                      <a:endParaRPr lang="zh-CN" altLang="en-US" sz="2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PARA</a:t>
                      </a:r>
                      <a:endParaRPr lang="zh-CN" altLang="en-US" sz="2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STACK</a:t>
                      </a:r>
                      <a:endParaRPr lang="zh-CN" altLang="en-US" sz="2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‘STACK’</a:t>
                      </a:r>
                      <a:endParaRPr lang="zh-CN" altLang="en-US" sz="2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DGROUP</a:t>
                      </a:r>
                      <a:endParaRPr lang="zh-CN" altLang="en-US" sz="2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6115287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83C9F2C9-F6F9-494C-A0C3-115F4F47E6F6}"/>
              </a:ext>
            </a:extLst>
          </p:cNvPr>
          <p:cNvSpPr txBox="1"/>
          <p:nvPr/>
        </p:nvSpPr>
        <p:spPr>
          <a:xfrm>
            <a:off x="902677" y="5644554"/>
            <a:ext cx="1882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第五版书 </a:t>
            </a:r>
            <a:r>
              <a:rPr lang="en-US" altLang="zh-CN" dirty="0"/>
              <a:t>p100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123878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FA36F05E-CFBA-97AB-04CF-A73996DDCE47}"/>
              </a:ext>
            </a:extLst>
          </p:cNvPr>
          <p:cNvSpPr txBox="1"/>
          <p:nvPr/>
        </p:nvSpPr>
        <p:spPr>
          <a:xfrm>
            <a:off x="717319" y="137719"/>
            <a:ext cx="10527323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b="1" dirty="0"/>
              <a:t>3.21</a:t>
            </a:r>
            <a:r>
              <a:rPr lang="en-US" altLang="zh-CN" sz="2200" dirty="0"/>
              <a:t>  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按下面要求写一个简化段定义格式的源程序。</a:t>
            </a:r>
            <a:endParaRPr lang="en-US" altLang="zh-CN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）定义常量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NUM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，其值为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；数据段中定义字数组变量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DATALIST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，它的前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个字单元 中依次存放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-1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，最后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个单元初值不定。</a:t>
            </a:r>
            <a:endParaRPr lang="en-US" altLang="zh-CN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）代码段中的程序将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DATALIST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中前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NUM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个数的累加和存入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DATALIST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的最后一个字单元中。</a:t>
            </a:r>
            <a:endParaRPr lang="en-US" altLang="zh-CN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8280EDC-3813-FE30-55FD-847C70341E86}"/>
              </a:ext>
            </a:extLst>
          </p:cNvPr>
          <p:cNvSpPr txBox="1"/>
          <p:nvPr/>
        </p:nvSpPr>
        <p:spPr>
          <a:xfrm>
            <a:off x="4111038" y="1960813"/>
            <a:ext cx="373988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.model small</a:t>
            </a: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.stack</a:t>
            </a: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.data</a:t>
            </a: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num 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</a:t>
            </a: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datalist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dw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-1, 0, 2, 5, 4, ?</a:t>
            </a: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.code</a:t>
            </a: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.startup</a:t>
            </a: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mov bx, offset 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datalist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mov cx, num</a:t>
            </a: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xor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ax, ax</a:t>
            </a: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again: 	add ax, [bx]</a:t>
            </a: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bx</a:t>
            </a: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bx</a:t>
            </a: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loop again</a:t>
            </a: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mov [bx], ax</a:t>
            </a: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.exit 0</a:t>
            </a: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5602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707</TotalTime>
  <Words>1836</Words>
  <Application>Microsoft Office PowerPoint</Application>
  <PresentationFormat>宽屏</PresentationFormat>
  <Paragraphs>192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-apple-system</vt:lpstr>
      <vt:lpstr>等线</vt:lpstr>
      <vt:lpstr>等线 Light</vt:lpstr>
      <vt:lpstr>黑体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danping chen</dc:creator>
  <cp:lastModifiedBy>danping chen</cp:lastModifiedBy>
  <cp:revision>21</cp:revision>
  <dcterms:created xsi:type="dcterms:W3CDTF">2024-12-13T05:40:02Z</dcterms:created>
  <dcterms:modified xsi:type="dcterms:W3CDTF">2024-12-18T02:44:54Z</dcterms:modified>
</cp:coreProperties>
</file>