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Lst>
  <p:notesMasterIdLst>
    <p:notesMasterId r:id="rId35"/>
  </p:notesMasterIdLst>
  <p:sldIdLst>
    <p:sldId id="256" r:id="rId3"/>
    <p:sldId id="257" r:id="rId4"/>
    <p:sldId id="258" r:id="rId5"/>
    <p:sldId id="259" r:id="rId6"/>
    <p:sldId id="260" r:id="rId7"/>
    <p:sldId id="261" r:id="rId8"/>
    <p:sldId id="287" r:id="rId9"/>
    <p:sldId id="262" r:id="rId10"/>
    <p:sldId id="263" r:id="rId11"/>
    <p:sldId id="273" r:id="rId12"/>
    <p:sldId id="274" r:id="rId13"/>
    <p:sldId id="275" r:id="rId14"/>
    <p:sldId id="276" r:id="rId15"/>
    <p:sldId id="277" r:id="rId16"/>
    <p:sldId id="264" r:id="rId17"/>
    <p:sldId id="278" r:id="rId18"/>
    <p:sldId id="265" r:id="rId19"/>
    <p:sldId id="266" r:id="rId20"/>
    <p:sldId id="279" r:id="rId21"/>
    <p:sldId id="280" r:id="rId22"/>
    <p:sldId id="281" r:id="rId23"/>
    <p:sldId id="267" r:id="rId24"/>
    <p:sldId id="282" r:id="rId25"/>
    <p:sldId id="283" r:id="rId26"/>
    <p:sldId id="284" r:id="rId27"/>
    <p:sldId id="268" r:id="rId28"/>
    <p:sldId id="285" r:id="rId29"/>
    <p:sldId id="269" r:id="rId30"/>
    <p:sldId id="270" r:id="rId31"/>
    <p:sldId id="286" r:id="rId32"/>
    <p:sldId id="271" r:id="rId33"/>
    <p:sldId id="272" r:id="rId34"/>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9" d="100"/>
          <a:sy n="89" d="100"/>
        </p:scale>
        <p:origin x="12" y="28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将为大家汇报一项关于基于大数据的SSD设备故障分析与预测的研究。随着数据中心规模的不断扩大，SSD的可靠性问题日益凸显。本次研究旨在通过大数据技术，深入挖掘SSD故障的内在规律，并构建有效的预测模型，为构建高可靠的智能存储架构提供支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六个部分。首先，我们将介绍项目的背景与面临的挑战。接着，会详细说明我们的研究方案，包括使用的数据集和技术架构。之后，我们会展示数据处理与特征工程的过程。第四部分是本次研究的核心发现，通过统计分析揭示故障规律。第五部分将介绍我们构建的故障预测模型。最后，在第六部分，我们将总结研究结论并提出高可靠存储架构的建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首先，让我们进入第一部分，了解本项目的背景以及我们所面临的挑战。随着SSD在数据中心的大规模部署，其可靠性问题已成为影响系统稳定性的关键因素。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大型数据中心，SSD已广泛应用，但闪存的物理特性决定了其寿命有限。在高负载场景下，故障风险显著增加。我们面临的核心问题是如何从海量的SMART日志中挖掘价值，预测故障。因此，本研究设定了四个目标：构建数据处理流水线、挖掘故障规律、构建预测模型，并最终为存储集群的优化提供决策支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接下来，我们将进入第二部分，详细介绍本次研究采用的方案，包括我们使用的数据集和核心技术架构。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这是我们设计的大数据处理技术架构。整个流程从数据采集开始，通过Flume和Kafka实时收集各类日志。数据存储在HDFS中，保证了高可用性和扩展性。在处理层，我们结合了MapReduce、Spark和Hive等多种工具，分别用于数据清洗、模型训练和统计分析。最终，通过结果输出层，将分析结果以可视化报表和API的形式呈现，为运维决策提供支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D97D6-A054-43E6-8C11-28892CED3F3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A527B32-4CB4-0E8A-EA30-866B228E881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095AF0A-2219-3904-0F0C-B1E2E2ED03D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538FDA0-599C-BAD9-AC0B-DFECB43CA80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616A5A5-82D0-0ADB-07B5-23D9CF0E7A9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zh-CN" altLang="en-US" sz="1400" b="0" i="0" u="none" strike="noStrike" dirty="0">
                <a:solidFill>
                  <a:srgbClr val="000000"/>
                </a:solidFill>
              </a:rPr>
              <a:t>数据集来源是这个，然后环境是</a:t>
            </a:r>
            <a:r>
              <a:rPr lang="en-US" altLang="zh-CN" sz="1400" b="0" i="0" u="none" strike="noStrike" dirty="0" err="1">
                <a:solidFill>
                  <a:srgbClr val="000000"/>
                </a:solidFill>
              </a:rPr>
              <a:t>centOS</a:t>
            </a:r>
            <a:r>
              <a:rPr lang="zh-CN" altLang="en-US" sz="1400" b="0" i="0" u="none" strike="noStrike" dirty="0">
                <a:solidFill>
                  <a:srgbClr val="000000"/>
                </a:solidFill>
              </a:rPr>
              <a:t>，</a:t>
            </a:r>
            <a:r>
              <a:rPr lang="en-US" altLang="zh-CN" sz="1400" b="0" i="0" u="none" strike="noStrike" dirty="0">
                <a:solidFill>
                  <a:srgbClr val="000000"/>
                </a:solidFill>
              </a:rPr>
              <a:t>hive</a:t>
            </a:r>
            <a:r>
              <a:rPr lang="zh-CN" altLang="en-US" sz="1400" b="0" i="0" u="none" strike="noStrike" dirty="0">
                <a:solidFill>
                  <a:srgbClr val="000000"/>
                </a:solidFill>
              </a:rPr>
              <a:t>数据库</a:t>
            </a:r>
            <a:r>
              <a:rPr lang="en-US" sz="1400" b="0" i="0" u="none" strike="noStrike" dirty="0">
                <a:solidFill>
                  <a:srgbClr val="000000"/>
                </a:solidFill>
              </a:rPr>
              <a:t>。</a:t>
            </a:r>
          </a:p>
        </p:txBody>
      </p:sp>
      <p:sp>
        <p:nvSpPr>
          <p:cNvPr id="6" name="Footer Placeholder 5">
            <a:extLst>
              <a:ext uri="{FF2B5EF4-FFF2-40B4-BE49-F238E27FC236}">
                <a16:creationId xmlns:a16="http://schemas.microsoft.com/office/drawing/2014/main" id="{5486361F-4B78-BAA4-6771-388BE43D949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D37C999-5C2D-CE72-A143-271DFDFF85D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105086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第三部分，我们将探讨数据处理与特征工程的细节。高质量的数据是分析的基础，这一步至关重要。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在数据处理阶段，我们首先进行了严格的质量评估和清洗。对于缺失值，我们采用中位数填充；对于异常值，我们使用IQR方法检测并进行Winsorize截断。随后，我们进行了特征工程，包括对关键特征进行分箱处理，对分类特征进行编码，以及对所有特征进行标准化，为后续的模型训练做好了充分准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现在进入最核心的第四部分，我们将展示通过统计分析得到的一系列关键发现。这些发现揭示了SSD故障的内在规律。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第一个关键发现是关于应用场景与故障的关联。如图所示，WSM应用场景的故障数占比最高，达到了48.5%。进一步分析年化故障率（AFR）发现，写密集型业务的AFR远高于其他类型业务，最高达到7.59%。这有力地证明了写密集型负载是导致SSD早期损坏的核心原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通过对故障时间的分析，我们发现了几个有趣的趋势。从年度来看，故障数随时间增长，符合设备老化的规律。从月度来看，夏季8月份是故障高峰，这提示我们环境温度对SSD可靠性有重要影响。而在日内，故障集中在凌晨2-3点，这可能与夜间的批处理任务或系统GC有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第五部分，我们将介绍为预测SSD故障而构建的机器学习模型。我们采用了多种模型来从不同角度识别风险。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我们使用随机森林模型来识别导致故障的关键因素。模型的分类准确率达到了80.10%，表现良好。</a:t>
            </a:r>
          </a:p>
          <a:p>
            <a:pPr marL="0" indent="0" algn="l">
              <a:lnSpc>
                <a:spcPct val="100000"/>
              </a:lnSpc>
            </a:pPr>
            <a:r>
              <a:rPr lang="en-US" sz="1400" b="0" i="0" u="none" strike="noStrike">
                <a:solidFill>
                  <a:srgbClr val="000000"/>
                </a:solidFill>
              </a:rPr>
              <a:t>通过对模型输出的特征重要性进行分析，我们筛选出了排名前三的关键预测因子：</a:t>
            </a:r>
          </a:p>
          <a:p>
            <a:pPr marL="0" indent="0" algn="l">
              <a:lnSpc>
                <a:spcPct val="100000"/>
              </a:lnSpc>
            </a:pPr>
            <a:r>
              <a:rPr lang="en-US" sz="1400" b="0" i="0" u="none" strike="noStrike">
                <a:solidFill>
                  <a:srgbClr val="000000"/>
                </a:solidFill>
              </a:rPr>
              <a:t>第一是“磨损度”，贡献度超过25%，说明物理损耗是故障的最主要原因；第二是“通电时间”，第三是“坏块计数”。</a:t>
            </a:r>
          </a:p>
          <a:p>
            <a:pPr marL="0" indent="0" algn="l">
              <a:lnSpc>
                <a:spcPct val="100000"/>
              </a:lnSpc>
            </a:pPr>
            <a:r>
              <a:rPr lang="en-US" sz="1400" b="0" i="0" u="none" strike="noStrike">
                <a:solidFill>
                  <a:srgbClr val="000000"/>
                </a:solidFill>
              </a:rPr>
              <a:t>这三个指标合计贡献了超过58%的预测重要性，这为我们理解SSD故障的根源提供了明确的量化依据。在后续的运维监控中，我们应当重点关注这三个指标的异常波动。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最后，我们将对整个研究进行总结，并基于我们的发现，提出构建高可靠存储架构的具体建议。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我们的研究结论。首先，我们明确了当前数据中心的SSD故障现状，识别出了高发的型号和应用场景。其次，我们找到了预测故障的三大核心SMART属性。第三，我们证实了写密集型工作负载是导致故障的根本原因。最后，我们构建的模型证明了通过大数据分析进行故障预测的可行性和有效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基于以上结论，我们提出了一个高可靠的存储预警与智能调度架构。这是一个“监控-预测-调度”的闭环系统。</a:t>
            </a:r>
          </a:p>
          <a:p>
            <a:pPr marL="0" indent="0" algn="l">
              <a:lnSpc>
                <a:spcPct val="100000"/>
              </a:lnSpc>
            </a:pPr>
            <a:r>
              <a:rPr lang="en-US" sz="1400" b="0" i="0" u="none" strike="noStrike">
                <a:solidFill>
                  <a:srgbClr val="000000"/>
                </a:solidFill>
              </a:rPr>
              <a:t>首先，通过实时感知层采集SMART和负载数据并进行AFR趋势预测，实现对风险的“看见”；</a:t>
            </a:r>
          </a:p>
          <a:p>
            <a:pPr marL="0" indent="0" algn="l">
              <a:lnSpc>
                <a:spcPct val="100000"/>
              </a:lnSpc>
            </a:pPr>
            <a:r>
              <a:rPr lang="en-US" sz="1400" b="0" i="0" u="none" strike="noStrike">
                <a:solidFill>
                  <a:srgbClr val="000000"/>
                </a:solidFill>
              </a:rPr>
              <a:t>然后，智能调度层根据预测结果执行负载隔离和损耗均衡，实现对风险的“化解”；</a:t>
            </a:r>
          </a:p>
          <a:p>
            <a:pPr marL="0" indent="0" algn="l">
              <a:lnSpc>
                <a:spcPct val="100000"/>
              </a:lnSpc>
            </a:pPr>
            <a:r>
              <a:rPr lang="en-US" sz="1400" b="0" i="0" u="none" strike="noStrike">
                <a:solidFill>
                  <a:srgbClr val="000000"/>
                </a:solidFill>
              </a:rPr>
              <a:t>最后，物理执行层根据风险等级动态调整数据冗余，并在必要时自动进行故障盘隔离和数据重建，实现对风险的“兜底”。</a:t>
            </a:r>
          </a:p>
          <a:p>
            <a:pPr marL="0" indent="0" algn="l">
              <a:lnSpc>
                <a:spcPct val="100000"/>
              </a:lnSpc>
            </a:pPr>
            <a:r>
              <a:rPr lang="en-US" sz="1400" b="0" i="0" u="none" strike="noStrike">
                <a:solidFill>
                  <a:srgbClr val="000000"/>
                </a:solidFill>
              </a:rPr>
              <a:t>这套架构旨在帮助系统实现从被动响应到主动预防的根本性转变。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我的汇报到此结束，感谢大家的聆听。</a:t>
            </a:r>
          </a:p>
          <a:p>
            <a:pPr marL="0" indent="0" algn="l">
              <a:lnSpc>
                <a:spcPct val="100000"/>
              </a:lnSpc>
            </a:pPr>
            <a:r>
              <a:rPr lang="en-US" sz="1400" b="0" i="0" u="none" strike="noStrike">
                <a:solidFill>
                  <a:srgbClr val="000000"/>
                </a:solidFill>
              </a:rPr>
              <a:t>现在是问答环节，欢迎大家提问。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jpeg"/><Relationship Id="rId7" Type="http://schemas.openxmlformats.org/officeDocument/2006/relationships/image" Target="../media/image14.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4.svg"/><Relationship Id="rId4" Type="http://schemas.openxmlformats.org/officeDocument/2006/relationships/image" Target="../media/image12.sv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3.svg"/></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12.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2.xml"/><Relationship Id="rId5" Type="http://schemas.openxmlformats.org/officeDocument/2006/relationships/image" Target="../media/image40.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44.jpeg"/></Relationships>
</file>

<file path=ppt/slides/_rels/slide1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54.svg"/><Relationship Id="rId4" Type="http://schemas.openxmlformats.org/officeDocument/2006/relationships/image" Target="../media/image14.svg"/></Relationships>
</file>

<file path=ppt/slides/_rels/slide2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57.svg"/><Relationship Id="rId5" Type="http://schemas.openxmlformats.org/officeDocument/2006/relationships/image" Target="../media/image56.svg"/><Relationship Id="rId4" Type="http://schemas.openxmlformats.org/officeDocument/2006/relationships/image" Target="../media/image13.svg"/></Relationships>
</file>

<file path=ppt/slides/_rels/slide3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2286000"/>
            <a:ext cx="10414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基于大数据的SSD设备故障分析与预测</a:t>
            </a:r>
            <a:endParaRPr lang="en-US" sz="1100"/>
          </a:p>
        </p:txBody>
      </p:sp>
      <p:sp>
        <p:nvSpPr>
          <p:cNvPr id="4" name="AutoShape 4"/>
          <p:cNvSpPr/>
          <p:nvPr/>
        </p:nvSpPr>
        <p:spPr>
          <a:xfrm>
            <a:off x="1016000" y="4191000"/>
            <a:ext cx="1016000" cy="762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4826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0" i="0" u="none" strike="noStrike" dirty="0" err="1">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a:t>
            </a:r>
            <a:r>
              <a:rPr lang="en-US" sz="2600" b="0" i="0" u="none" strike="noStrike" dirty="0">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2600" b="0" i="0" u="none" strike="noStrike" dirty="0">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苏一涵 陈琮翰</a:t>
            </a:r>
          </a:p>
        </p:txBody>
      </p:sp>
      <p:sp>
        <p:nvSpPr>
          <p:cNvPr id="6" name="AutoShape 6"/>
          <p:cNvSpPr/>
          <p:nvPr/>
        </p:nvSpPr>
        <p:spPr>
          <a:xfrm>
            <a:off x="1016000" y="5715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dirty="0">
                <a:solidFill>
                  <a:srgbClr val="FFFFFF">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2026年5月25</a:t>
            </a:r>
            <a:endParaRPr lang="en-US" sz="1100" dirty="0"/>
          </a:p>
        </p:txBody>
      </p:sp>
      <p:graphicFrame>
        <p:nvGraphicFramePr>
          <p:cNvPr id="7" name="表格 6">
            <a:extLst>
              <a:ext uri="{FF2B5EF4-FFF2-40B4-BE49-F238E27FC236}">
                <a16:creationId xmlns:a16="http://schemas.microsoft.com/office/drawing/2014/main" id="{D778B04C-9B98-135F-D4F4-CCF80B2378C2}"/>
              </a:ext>
            </a:extLst>
          </p:cNvPr>
          <p:cNvGraphicFramePr>
            <a:graphicFrameLocks noGrp="1"/>
          </p:cNvGraphicFramePr>
          <p:nvPr>
            <p:extLst>
              <p:ext uri="{D42A27DB-BD31-4B8C-83A1-F6EECF244321}">
                <p14:modId xmlns:p14="http://schemas.microsoft.com/office/powerpoint/2010/main" val="1284919232"/>
              </p:ext>
            </p:extLst>
          </p:nvPr>
        </p:nvGraphicFramePr>
        <p:xfrm>
          <a:off x="5664200" y="3879374"/>
          <a:ext cx="863600" cy="243840"/>
        </p:xfrm>
        <a:graphic>
          <a:graphicData uri="http://schemas.openxmlformats.org/drawingml/2006/table">
            <a:tbl>
              <a:tblPr/>
              <a:tblGrid>
                <a:gridCol w="863600">
                  <a:extLst>
                    <a:ext uri="{9D8B030D-6E8A-4147-A177-3AD203B41FA5}">
                      <a16:colId xmlns:a16="http://schemas.microsoft.com/office/drawing/2014/main" val="770791401"/>
                    </a:ext>
                  </a:extLst>
                </a:gridCol>
              </a:tblGrid>
              <a:tr h="152400">
                <a:tc>
                  <a:txBody>
                    <a:bodyPr/>
                    <a:lstStyle/>
                    <a:p>
                      <a:pPr algn="l" fontAlgn="ctr" latinLnBrk="0">
                        <a:buNone/>
                      </a:pPr>
                      <a:endParaRPr lang="zh-CN" altLang="en-US" sz="1000" dirty="0">
                        <a:solidFill>
                          <a:srgbClr val="000000"/>
                        </a:solidFill>
                        <a:effectLst/>
                      </a:endParaRPr>
                    </a:p>
                  </a:txBody>
                  <a:tcPr anchor="ctr">
                    <a:lnL>
                      <a:noFill/>
                    </a:lnL>
                    <a:lnR>
                      <a:noFill/>
                    </a:lnR>
                    <a:lnT>
                      <a:noFill/>
                    </a:lnT>
                    <a:lnB>
                      <a:noFill/>
                    </a:lnB>
                    <a:noFill/>
                  </a:tcPr>
                </a:tc>
                <a:extLst>
                  <a:ext uri="{0D108BD9-81ED-4DB2-BD59-A6C34878D82A}">
                    <a16:rowId xmlns:a16="http://schemas.microsoft.com/office/drawing/2014/main" val="2663184289"/>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254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a:t>
            </a:r>
            <a:endParaRPr lang="en-US" sz="1100"/>
          </a:p>
        </p:txBody>
      </p:sp>
      <p:sp>
        <p:nvSpPr>
          <p:cNvPr id="4" name="AutoShape 4"/>
          <p:cNvSpPr/>
          <p:nvPr/>
        </p:nvSpPr>
        <p:spPr>
          <a:xfrm>
            <a:off x="2032000" y="736600"/>
            <a:ext cx="317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0" i="0" u="none" strike="noStrike" spc="200">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CONTENTS</a:t>
            </a:r>
            <a:endParaRPr lang="en-US" sz="1100"/>
          </a:p>
        </p:txBody>
      </p:sp>
      <p:sp>
        <p:nvSpPr>
          <p:cNvPr id="5" name="AutoShape 5"/>
          <p:cNvSpPr/>
          <p:nvPr/>
        </p:nvSpPr>
        <p:spPr>
          <a:xfrm>
            <a:off x="762000" y="1778000"/>
            <a:ext cx="5207000" cy="1460500"/>
          </a:xfrm>
          <a:prstGeom prst="roundRect">
            <a:avLst>
              <a:gd name="adj" fmla="val 10434"/>
            </a:avLst>
          </a:prstGeom>
          <a:solidFill>
            <a:srgbClr val="FFFFFF">
              <a:alpha val="95000"/>
            </a:srgbClr>
          </a:solidFill>
          <a:ln w="12700" cap="flat" cmpd="sng">
            <a:solidFill>
              <a:srgbClr val="E6E6E6">
                <a:alpha val="7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952500" y="2032000"/>
            <a:ext cx="889000" cy="952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p:nvPr/>
        </p:nvSpPr>
        <p:spPr>
          <a:xfrm>
            <a:off x="2032000" y="1968500"/>
            <a:ext cx="368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项目背景与挑战</a:t>
            </a:r>
            <a:endParaRPr lang="en-US" sz="1100"/>
          </a:p>
          <a:p>
            <a:pPr marL="0" indent="0" algn="l">
              <a:lnSpc>
                <a:spcPct val="108000"/>
              </a:lnSpc>
              <a:spcBef>
                <a:spcPts val="600"/>
              </a:spcBef>
            </a:pPr>
            <a:r>
              <a:rPr lang="en-US" sz="13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大规模SSD部署的可靠性困境与研究目标</a:t>
            </a:r>
          </a:p>
        </p:txBody>
      </p:sp>
      <p:sp>
        <p:nvSpPr>
          <p:cNvPr id="8" name="AutoShape 8"/>
          <p:cNvSpPr/>
          <p:nvPr/>
        </p:nvSpPr>
        <p:spPr>
          <a:xfrm>
            <a:off x="762000" y="3429000"/>
            <a:ext cx="5207000" cy="1460500"/>
          </a:xfrm>
          <a:prstGeom prst="roundRect">
            <a:avLst>
              <a:gd name="adj" fmla="val 10434"/>
            </a:avLst>
          </a:prstGeom>
          <a:solidFill>
            <a:srgbClr val="FFFFFF">
              <a:alpha val="95000"/>
            </a:srgbClr>
          </a:solidFill>
          <a:ln w="12700" cap="flat" cmpd="sng">
            <a:solidFill>
              <a:srgbClr val="E6E6E6">
                <a:alpha val="7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952500" y="3683000"/>
            <a:ext cx="889000" cy="952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0" name="AutoShape 10"/>
          <p:cNvSpPr/>
          <p:nvPr/>
        </p:nvSpPr>
        <p:spPr>
          <a:xfrm>
            <a:off x="2032000" y="3619500"/>
            <a:ext cx="368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研究方案：数据与技术</a:t>
            </a:r>
            <a:endParaRPr lang="en-US" sz="1100"/>
          </a:p>
          <a:p>
            <a:pPr marL="0" indent="0" algn="l">
              <a:lnSpc>
                <a:spcPct val="108000"/>
              </a:lnSpc>
              <a:spcBef>
                <a:spcPts val="600"/>
              </a:spcBef>
            </a:pPr>
            <a:r>
              <a:rPr lang="en-US" sz="13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数据集概览与大数据处理技术架构</a:t>
            </a:r>
          </a:p>
        </p:txBody>
      </p:sp>
      <p:sp>
        <p:nvSpPr>
          <p:cNvPr id="11" name="AutoShape 11"/>
          <p:cNvSpPr/>
          <p:nvPr/>
        </p:nvSpPr>
        <p:spPr>
          <a:xfrm>
            <a:off x="762000" y="5080000"/>
            <a:ext cx="5207000" cy="1460500"/>
          </a:xfrm>
          <a:prstGeom prst="roundRect">
            <a:avLst>
              <a:gd name="adj" fmla="val 10434"/>
            </a:avLst>
          </a:prstGeom>
          <a:solidFill>
            <a:srgbClr val="FFFFFF">
              <a:alpha val="95000"/>
            </a:srgbClr>
          </a:solidFill>
          <a:ln w="12700" cap="flat" cmpd="sng">
            <a:solidFill>
              <a:srgbClr val="E6E6E6">
                <a:alpha val="7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2" name="AutoShape 12"/>
          <p:cNvSpPr/>
          <p:nvPr/>
        </p:nvSpPr>
        <p:spPr>
          <a:xfrm>
            <a:off x="952500" y="5334000"/>
            <a:ext cx="889000" cy="952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3" name="AutoShape 13"/>
          <p:cNvSpPr/>
          <p:nvPr/>
        </p:nvSpPr>
        <p:spPr>
          <a:xfrm>
            <a:off x="2032000" y="5270500"/>
            <a:ext cx="368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数据处理与特征工程</a:t>
            </a:r>
            <a:endParaRPr lang="en-US" sz="1100"/>
          </a:p>
          <a:p>
            <a:pPr marL="0" indent="0" algn="l">
              <a:lnSpc>
                <a:spcPct val="108000"/>
              </a:lnSpc>
              <a:spcBef>
                <a:spcPts val="600"/>
              </a:spcBef>
            </a:pPr>
            <a:r>
              <a:rPr lang="en-US" sz="13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数据清洗、特征变换与工程方法</a:t>
            </a:r>
          </a:p>
        </p:txBody>
      </p:sp>
      <p:sp>
        <p:nvSpPr>
          <p:cNvPr id="14" name="AutoShape 14"/>
          <p:cNvSpPr/>
          <p:nvPr/>
        </p:nvSpPr>
        <p:spPr>
          <a:xfrm>
            <a:off x="6223000" y="1778000"/>
            <a:ext cx="5207000" cy="1460500"/>
          </a:xfrm>
          <a:prstGeom prst="roundRect">
            <a:avLst>
              <a:gd name="adj" fmla="val 10434"/>
            </a:avLst>
          </a:prstGeom>
          <a:solidFill>
            <a:srgbClr val="FFFFFF">
              <a:alpha val="95000"/>
            </a:srgbClr>
          </a:solidFill>
          <a:ln w="12700" cap="flat" cmpd="sng">
            <a:solidFill>
              <a:srgbClr val="E6E6E6">
                <a:alpha val="7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6413500" y="2032000"/>
            <a:ext cx="889000" cy="952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16" name="AutoShape 16"/>
          <p:cNvSpPr/>
          <p:nvPr/>
        </p:nvSpPr>
        <p:spPr>
          <a:xfrm>
            <a:off x="7493000" y="1968500"/>
            <a:ext cx="368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核心发现：统计分析</a:t>
            </a:r>
            <a:endParaRPr lang="en-US" sz="1100"/>
          </a:p>
          <a:p>
            <a:pPr marL="0" indent="0" algn="l">
              <a:lnSpc>
                <a:spcPct val="108000"/>
              </a:lnSpc>
              <a:spcBef>
                <a:spcPts val="600"/>
              </a:spcBef>
            </a:pPr>
            <a:r>
              <a:rPr lang="en-US" sz="13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故障概况、应用关联、时间趋势与属性相关性</a:t>
            </a:r>
          </a:p>
        </p:txBody>
      </p:sp>
      <p:sp>
        <p:nvSpPr>
          <p:cNvPr id="17" name="AutoShape 17"/>
          <p:cNvSpPr/>
          <p:nvPr/>
        </p:nvSpPr>
        <p:spPr>
          <a:xfrm>
            <a:off x="6223000" y="3429000"/>
            <a:ext cx="5207000" cy="1460500"/>
          </a:xfrm>
          <a:prstGeom prst="roundRect">
            <a:avLst>
              <a:gd name="adj" fmla="val 10434"/>
            </a:avLst>
          </a:prstGeom>
          <a:solidFill>
            <a:srgbClr val="FFFFFF">
              <a:alpha val="95000"/>
            </a:srgbClr>
          </a:solidFill>
          <a:ln w="12700" cap="flat" cmpd="sng">
            <a:solidFill>
              <a:srgbClr val="E6E6E6">
                <a:alpha val="7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8" name="AutoShape 18"/>
          <p:cNvSpPr/>
          <p:nvPr/>
        </p:nvSpPr>
        <p:spPr>
          <a:xfrm>
            <a:off x="6413500" y="3683000"/>
            <a:ext cx="889000" cy="952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19" name="AutoShape 19"/>
          <p:cNvSpPr/>
          <p:nvPr/>
        </p:nvSpPr>
        <p:spPr>
          <a:xfrm>
            <a:off x="7493000" y="3619500"/>
            <a:ext cx="368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故障预测模型</a:t>
            </a:r>
            <a:endParaRPr lang="en-US" sz="1100"/>
          </a:p>
          <a:p>
            <a:pPr marL="0" indent="0" algn="l">
              <a:lnSpc>
                <a:spcPct val="108000"/>
              </a:lnSpc>
              <a:spcBef>
                <a:spcPts val="600"/>
              </a:spcBef>
            </a:pPr>
            <a:r>
              <a:rPr lang="en-US" sz="13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随机森林与孤立森林模型的应用与效果</a:t>
            </a:r>
          </a:p>
        </p:txBody>
      </p:sp>
      <p:sp>
        <p:nvSpPr>
          <p:cNvPr id="20" name="AutoShape 20"/>
          <p:cNvSpPr/>
          <p:nvPr/>
        </p:nvSpPr>
        <p:spPr>
          <a:xfrm>
            <a:off x="6223000" y="5080000"/>
            <a:ext cx="5207000" cy="1460500"/>
          </a:xfrm>
          <a:prstGeom prst="roundRect">
            <a:avLst>
              <a:gd name="adj" fmla="val 10434"/>
            </a:avLst>
          </a:prstGeom>
          <a:solidFill>
            <a:srgbClr val="FFFFFF">
              <a:alpha val="95000"/>
            </a:srgbClr>
          </a:solidFill>
          <a:ln w="12700" cap="flat" cmpd="sng">
            <a:solidFill>
              <a:srgbClr val="E6E6E6">
                <a:alpha val="7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1" name="AutoShape 21"/>
          <p:cNvSpPr/>
          <p:nvPr/>
        </p:nvSpPr>
        <p:spPr>
          <a:xfrm>
            <a:off x="6413500" y="5334000"/>
            <a:ext cx="889000" cy="952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sp>
        <p:nvSpPr>
          <p:cNvPr id="22" name="AutoShape 22"/>
          <p:cNvSpPr/>
          <p:nvPr/>
        </p:nvSpPr>
        <p:spPr>
          <a:xfrm>
            <a:off x="7493000" y="5270500"/>
            <a:ext cx="368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结论与高可靠存储架构建议</a:t>
            </a:r>
            <a:endParaRPr lang="en-US" sz="1100"/>
          </a:p>
          <a:p>
            <a:pPr marL="0" indent="0" algn="l">
              <a:lnSpc>
                <a:spcPct val="108000"/>
              </a:lnSpc>
              <a:spcBef>
                <a:spcPts val="600"/>
              </a:spcBef>
            </a:pPr>
            <a:r>
              <a:rPr lang="en-US" sz="13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研究总结与智能调度架构设计</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524000"/>
            <a:ext cx="12192000" cy="177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4" name="AutoShape 4"/>
          <p:cNvSpPr/>
          <p:nvPr/>
        </p:nvSpPr>
        <p:spPr>
          <a:xfrm>
            <a:off x="0" y="3556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项目背景与挑战</a:t>
            </a:r>
            <a:endParaRPr lang="en-US" sz="1100"/>
          </a:p>
        </p:txBody>
      </p:sp>
      <p:sp>
        <p:nvSpPr>
          <p:cNvPr id="5" name="AutoShape 5"/>
          <p:cNvSpPr/>
          <p:nvPr/>
        </p:nvSpPr>
        <p:spPr>
          <a:xfrm>
            <a:off x="5588000" y="4953000"/>
            <a:ext cx="1016000" cy="508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0" y="5461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spc="300">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PROJECT BACKGROUND &amp; CHALLENGES</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项目背景与挑战</a:t>
            </a:r>
            <a:endParaRPr lang="en-US" sz="1100"/>
          </a:p>
        </p:txBody>
      </p:sp>
      <p:sp>
        <p:nvSpPr>
          <p:cNvPr id="3" name="AutoShape 3"/>
          <p:cNvSpPr/>
          <p:nvPr/>
        </p:nvSpPr>
        <p:spPr>
          <a:xfrm>
            <a:off x="762000" y="1778000"/>
            <a:ext cx="5207000" cy="4572000"/>
          </a:xfrm>
          <a:prstGeom prst="roundRect">
            <a:avLst>
              <a:gd name="adj" fmla="val 3333"/>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66800" y="2032000"/>
            <a:ext cx="45974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大规模SSD部署的可靠性困境</a:t>
            </a:r>
            <a:endParaRPr lang="en-US" sz="1100"/>
          </a:p>
        </p:txBody>
      </p:sp>
      <p:sp>
        <p:nvSpPr>
          <p:cNvPr id="5" name="AutoShape 5"/>
          <p:cNvSpPr/>
          <p:nvPr/>
        </p:nvSpPr>
        <p:spPr>
          <a:xfrm>
            <a:off x="1066800" y="2794000"/>
            <a:ext cx="4597400" cy="1079500"/>
          </a:xfrm>
          <a:prstGeom prst="roundRect">
            <a:avLst>
              <a:gd name="adj" fmla="val 941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57300" y="3022600"/>
            <a:ext cx="406400" cy="406400"/>
          </a:xfrm>
          <a:prstGeom prst="rect">
            <a:avLst/>
          </a:prstGeom>
        </p:spPr>
      </p:pic>
      <p:sp>
        <p:nvSpPr>
          <p:cNvPr id="7" name="AutoShape 7"/>
          <p:cNvSpPr/>
          <p:nvPr/>
        </p:nvSpPr>
        <p:spPr>
          <a:xfrm>
            <a:off x="1905000" y="2921000"/>
            <a:ext cx="355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现状：主流存储介质</a:t>
            </a:r>
            <a:endParaRPr lang="en-US" sz="1100"/>
          </a:p>
          <a:p>
            <a:pPr marL="0" indent="0" algn="l">
              <a:lnSpc>
                <a:spcPct val="100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在大型互联网数据中心，SSD已凭借高性能和低延迟优势，全面取代传统机械硬盘(HDD)成为主流存储介质。</a:t>
            </a:r>
          </a:p>
        </p:txBody>
      </p:sp>
      <p:sp>
        <p:nvSpPr>
          <p:cNvPr id="8" name="AutoShape 8"/>
          <p:cNvSpPr/>
          <p:nvPr/>
        </p:nvSpPr>
        <p:spPr>
          <a:xfrm>
            <a:off x="1066800" y="4000500"/>
            <a:ext cx="4597400" cy="1079500"/>
          </a:xfrm>
          <a:prstGeom prst="roundRect">
            <a:avLst>
              <a:gd name="adj" fmla="val 941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300" y="4229100"/>
            <a:ext cx="406400" cy="406400"/>
          </a:xfrm>
          <a:prstGeom prst="rect">
            <a:avLst/>
          </a:prstGeom>
        </p:spPr>
      </p:pic>
      <p:sp>
        <p:nvSpPr>
          <p:cNvPr id="10" name="AutoShape 10"/>
          <p:cNvSpPr/>
          <p:nvPr/>
        </p:nvSpPr>
        <p:spPr>
          <a:xfrm>
            <a:off x="1905000" y="4127500"/>
            <a:ext cx="355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挑战：物理瓶颈与高负载</a:t>
            </a:r>
            <a:endParaRPr lang="en-US" sz="1100"/>
          </a:p>
          <a:p>
            <a:pPr marL="0" indent="0" algn="l">
              <a:lnSpc>
                <a:spcPct val="100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闪存介质受限于P/E Cycles擦写次数。海量数据并发读写场景下，硬件损耗加剧，故障率显著上升，可靠性风险高。</a:t>
            </a:r>
          </a:p>
        </p:txBody>
      </p:sp>
      <p:sp>
        <p:nvSpPr>
          <p:cNvPr id="11" name="AutoShape 11"/>
          <p:cNvSpPr/>
          <p:nvPr/>
        </p:nvSpPr>
        <p:spPr>
          <a:xfrm>
            <a:off x="1066800" y="5207000"/>
            <a:ext cx="4597400" cy="1079500"/>
          </a:xfrm>
          <a:prstGeom prst="roundRect">
            <a:avLst>
              <a:gd name="adj" fmla="val 941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300" y="5435600"/>
            <a:ext cx="406400" cy="406400"/>
          </a:xfrm>
          <a:prstGeom prst="rect">
            <a:avLst/>
          </a:prstGeom>
        </p:spPr>
      </p:pic>
      <p:sp>
        <p:nvSpPr>
          <p:cNvPr id="13" name="AutoShape 13"/>
          <p:cNvSpPr/>
          <p:nvPr/>
        </p:nvSpPr>
        <p:spPr>
          <a:xfrm>
            <a:off x="1905000" y="5334000"/>
            <a:ext cx="355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痛点：海量日志价值挖掘</a:t>
            </a:r>
            <a:endParaRPr lang="en-US" sz="1100"/>
          </a:p>
          <a:p>
            <a:pPr marL="0" indent="0" algn="l">
              <a:lnSpc>
                <a:spcPct val="100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面对高吞吐量、高维度的SMART监测日志，如何快速提取特征、发现故障规律并实现提前预警，是行业核心痛点。</a:t>
            </a:r>
          </a:p>
        </p:txBody>
      </p:sp>
      <p:sp>
        <p:nvSpPr>
          <p:cNvPr id="14" name="AutoShape 14"/>
          <p:cNvSpPr/>
          <p:nvPr/>
        </p:nvSpPr>
        <p:spPr>
          <a:xfrm>
            <a:off x="6223000" y="1778000"/>
            <a:ext cx="5207000" cy="4572000"/>
          </a:xfrm>
          <a:prstGeom prst="roundRect">
            <a:avLst>
              <a:gd name="adj" fmla="val 3333"/>
            </a:avLst>
          </a:prstGeom>
          <a:solidFill>
            <a:srgbClr val="ECFDF5">
              <a:alpha val="100000"/>
            </a:srgbClr>
          </a:solidFill>
          <a:ln w="12700" cap="flat" cmpd="sng">
            <a:solidFill>
              <a:srgbClr val="A7F3D0">
                <a:alpha val="10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527800" y="2032000"/>
            <a:ext cx="45974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本研究四大核心目标</a:t>
            </a:r>
            <a:endParaRPr lang="en-US" sz="1100"/>
          </a:p>
        </p:txBody>
      </p:sp>
      <p:sp>
        <p:nvSpPr>
          <p:cNvPr id="16" name="AutoShape 16"/>
          <p:cNvSpPr/>
          <p:nvPr/>
        </p:nvSpPr>
        <p:spPr>
          <a:xfrm>
            <a:off x="6477000" y="2794000"/>
            <a:ext cx="2413000" cy="1778000"/>
          </a:xfrm>
          <a:prstGeom prst="roundRect">
            <a:avLst>
              <a:gd name="adj" fmla="val 571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67500" y="2984500"/>
            <a:ext cx="355600" cy="355600"/>
          </a:xfrm>
          <a:prstGeom prst="rect">
            <a:avLst/>
          </a:prstGeom>
        </p:spPr>
      </p:pic>
      <p:sp>
        <p:nvSpPr>
          <p:cNvPr id="18" name="AutoShape 18"/>
          <p:cNvSpPr/>
          <p:nvPr/>
        </p:nvSpPr>
        <p:spPr>
          <a:xfrm>
            <a:off x="7175500" y="2946400"/>
            <a:ext cx="152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数据处理流水线</a:t>
            </a:r>
            <a:endParaRPr lang="en-US" sz="1100"/>
          </a:p>
        </p:txBody>
      </p:sp>
      <p:sp>
        <p:nvSpPr>
          <p:cNvPr id="19" name="AutoShape 19"/>
          <p:cNvSpPr/>
          <p:nvPr/>
        </p:nvSpPr>
        <p:spPr>
          <a:xfrm>
            <a:off x="6667500" y="3556000"/>
            <a:ext cx="203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构建端到端的海量日志采集、清洗、存储与特征处理方案，解决数据规模大、格式复杂难题。</a:t>
            </a:r>
            <a:endParaRPr lang="en-US" sz="1100"/>
          </a:p>
        </p:txBody>
      </p:sp>
      <p:sp>
        <p:nvSpPr>
          <p:cNvPr id="20" name="AutoShape 20"/>
          <p:cNvSpPr/>
          <p:nvPr/>
        </p:nvSpPr>
        <p:spPr>
          <a:xfrm>
            <a:off x="9017000" y="2794000"/>
            <a:ext cx="2413000" cy="1778000"/>
          </a:xfrm>
          <a:prstGeom prst="roundRect">
            <a:avLst>
              <a:gd name="adj" fmla="val 571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07500" y="2984500"/>
            <a:ext cx="355600" cy="355600"/>
          </a:xfrm>
          <a:prstGeom prst="rect">
            <a:avLst/>
          </a:prstGeom>
        </p:spPr>
      </p:pic>
      <p:sp>
        <p:nvSpPr>
          <p:cNvPr id="22" name="AutoShape 22"/>
          <p:cNvSpPr/>
          <p:nvPr/>
        </p:nvSpPr>
        <p:spPr>
          <a:xfrm>
            <a:off x="9715500" y="2946400"/>
            <a:ext cx="152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挖掘故障规律</a:t>
            </a:r>
            <a:endParaRPr lang="en-US" sz="1100"/>
          </a:p>
        </p:txBody>
      </p:sp>
      <p:sp>
        <p:nvSpPr>
          <p:cNvPr id="23" name="AutoShape 23"/>
          <p:cNvSpPr/>
          <p:nvPr/>
        </p:nvSpPr>
        <p:spPr>
          <a:xfrm>
            <a:off x="9207500" y="3556000"/>
            <a:ext cx="203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基于统计分析，深入探究SSD故障的时间分布特征与空间相关性，揭示设备失效的内在逻辑。</a:t>
            </a:r>
            <a:endParaRPr lang="en-US" sz="1100"/>
          </a:p>
        </p:txBody>
      </p:sp>
      <p:sp>
        <p:nvSpPr>
          <p:cNvPr id="24" name="AutoShape 24"/>
          <p:cNvSpPr/>
          <p:nvPr/>
        </p:nvSpPr>
        <p:spPr>
          <a:xfrm>
            <a:off x="6477000" y="4699000"/>
            <a:ext cx="2413000" cy="1524000"/>
          </a:xfrm>
          <a:prstGeom prst="roundRect">
            <a:avLst>
              <a:gd name="adj" fmla="val 666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67500" y="4889500"/>
            <a:ext cx="355600" cy="355600"/>
          </a:xfrm>
          <a:prstGeom prst="rect">
            <a:avLst/>
          </a:prstGeom>
        </p:spPr>
      </p:pic>
      <p:sp>
        <p:nvSpPr>
          <p:cNvPr id="26" name="AutoShape 26"/>
          <p:cNvSpPr/>
          <p:nvPr/>
        </p:nvSpPr>
        <p:spPr>
          <a:xfrm>
            <a:off x="7175500" y="4851400"/>
            <a:ext cx="152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预测模型构建</a:t>
            </a:r>
            <a:endParaRPr lang="en-US" sz="1100" dirty="0"/>
          </a:p>
        </p:txBody>
      </p:sp>
      <p:sp>
        <p:nvSpPr>
          <p:cNvPr id="27" name="AutoShape 27"/>
          <p:cNvSpPr/>
          <p:nvPr/>
        </p:nvSpPr>
        <p:spPr>
          <a:xfrm>
            <a:off x="6667500" y="5461000"/>
            <a:ext cx="203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应用机器学习识别高危隐患，量化业务负载对硬件寿命的实际影响，实现精准故障预警。</a:t>
            </a:r>
            <a:endParaRPr lang="en-US" sz="1100"/>
          </a:p>
        </p:txBody>
      </p:sp>
      <p:sp>
        <p:nvSpPr>
          <p:cNvPr id="28" name="AutoShape 28"/>
          <p:cNvSpPr/>
          <p:nvPr/>
        </p:nvSpPr>
        <p:spPr>
          <a:xfrm>
            <a:off x="9017000" y="4699000"/>
            <a:ext cx="2413000" cy="1524000"/>
          </a:xfrm>
          <a:prstGeom prst="roundRect">
            <a:avLst>
              <a:gd name="adj" fmla="val 666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29" name="Picture 2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207500" y="4889500"/>
            <a:ext cx="355600" cy="355600"/>
          </a:xfrm>
          <a:prstGeom prst="rect">
            <a:avLst/>
          </a:prstGeom>
        </p:spPr>
      </p:pic>
      <p:sp>
        <p:nvSpPr>
          <p:cNvPr id="30" name="AutoShape 30"/>
          <p:cNvSpPr/>
          <p:nvPr/>
        </p:nvSpPr>
        <p:spPr>
          <a:xfrm>
            <a:off x="9715500" y="4851400"/>
            <a:ext cx="152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提供决策支持</a:t>
            </a:r>
            <a:endParaRPr lang="en-US" sz="1100"/>
          </a:p>
        </p:txBody>
      </p:sp>
      <p:sp>
        <p:nvSpPr>
          <p:cNvPr id="31" name="AutoShape 31"/>
          <p:cNvSpPr/>
          <p:nvPr/>
        </p:nvSpPr>
        <p:spPr>
          <a:xfrm>
            <a:off x="9207500" y="5461000"/>
            <a:ext cx="203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为存储集群的硬件运维策略优化、数据分级存储与风险防护提供科学的量化依据。</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651000"/>
            <a:ext cx="12192000" cy="177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4" name="AutoShape 4"/>
          <p:cNvSpPr/>
          <p:nvPr/>
        </p:nvSpPr>
        <p:spPr>
          <a:xfrm>
            <a:off x="5588000" y="3683000"/>
            <a:ext cx="1016000" cy="508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4318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研究方案：数据与技术</a:t>
            </a:r>
            <a:endParaRPr lang="en-US" sz="1100"/>
          </a:p>
        </p:txBody>
      </p:sp>
      <p:sp>
        <p:nvSpPr>
          <p:cNvPr id="6" name="AutoShape 6"/>
          <p:cNvSpPr/>
          <p:nvPr/>
        </p:nvSpPr>
        <p:spPr>
          <a:xfrm>
            <a:off x="0" y="5461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spc="200">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RESEARCH SCHEME: DATA &amp; TECHNOLOGY</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大数据处理技术架构</a:t>
            </a:r>
            <a:r>
              <a:rPr lang="zh-CN" altLang="en-US" sz="32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a:t>
            </a:r>
          </a:p>
        </p:txBody>
      </p:sp>
      <p:pic>
        <p:nvPicPr>
          <p:cNvPr id="3" name="Picture 3"/>
          <p:cNvPicPr>
            <a:picLocks noChangeAspect="1"/>
          </p:cNvPicPr>
          <p:nvPr/>
        </p:nvPicPr>
        <p:blipFill>
          <a:blip r:embed="rId3"/>
          <a:srcRect t="4848" b="4848"/>
          <a:stretch>
            <a:fillRect/>
          </a:stretch>
        </p:blipFill>
        <p:spPr>
          <a:xfrm>
            <a:off x="762000" y="1778000"/>
            <a:ext cx="4508967" cy="4258469"/>
          </a:xfrm>
          <a:prstGeom prst="roundRect">
            <a:avLst>
              <a:gd name="adj" fmla="val 3529"/>
            </a:avLst>
          </a:prstGeom>
          <a:no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pic>
      <p:sp>
        <p:nvSpPr>
          <p:cNvPr id="4" name="AutoShape 4"/>
          <p:cNvSpPr/>
          <p:nvPr/>
        </p:nvSpPr>
        <p:spPr>
          <a:xfrm>
            <a:off x="5842000" y="1778000"/>
            <a:ext cx="5588000" cy="1079500"/>
          </a:xfrm>
          <a:prstGeom prst="roundRect">
            <a:avLst>
              <a:gd name="adj" fmla="val 9411"/>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5842000" y="1778000"/>
            <a:ext cx="76200" cy="1079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59500" y="2032000"/>
            <a:ext cx="355600" cy="355600"/>
          </a:xfrm>
          <a:prstGeom prst="rect">
            <a:avLst/>
          </a:prstGeom>
        </p:spPr>
      </p:pic>
      <p:sp>
        <p:nvSpPr>
          <p:cNvPr id="7" name="AutoShape 7"/>
          <p:cNvSpPr/>
          <p:nvPr/>
        </p:nvSpPr>
        <p:spPr>
          <a:xfrm>
            <a:off x="6731000" y="1905000"/>
            <a:ext cx="444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数据采集层</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 Flume / Kafka 实时采集 SMART 日志、故障工单、拓扑信息等多源异构数据。</a:t>
            </a:r>
          </a:p>
        </p:txBody>
      </p:sp>
      <p:sp>
        <p:nvSpPr>
          <p:cNvPr id="8" name="AutoShape 8"/>
          <p:cNvSpPr/>
          <p:nvPr/>
        </p:nvSpPr>
        <p:spPr>
          <a:xfrm>
            <a:off x="5842000" y="3048000"/>
            <a:ext cx="5588000" cy="1079500"/>
          </a:xfrm>
          <a:prstGeom prst="roundRect">
            <a:avLst>
              <a:gd name="adj" fmla="val 9411"/>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5842000" y="3048000"/>
            <a:ext cx="76200" cy="1079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59500" y="3302000"/>
            <a:ext cx="355600" cy="355600"/>
          </a:xfrm>
          <a:prstGeom prst="rect">
            <a:avLst/>
          </a:prstGeom>
        </p:spPr>
      </p:pic>
      <p:sp>
        <p:nvSpPr>
          <p:cNvPr id="11" name="AutoShape 11"/>
          <p:cNvSpPr/>
          <p:nvPr/>
        </p:nvSpPr>
        <p:spPr>
          <a:xfrm>
            <a:off x="6731000" y="3175000"/>
            <a:ext cx="444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数据存储层</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 HDFS 分布式文件系统，按日分区高效存储设备位置、SMART 快照及故障标签数据。</a:t>
            </a:r>
          </a:p>
        </p:txBody>
      </p:sp>
      <p:sp>
        <p:nvSpPr>
          <p:cNvPr id="12" name="AutoShape 12"/>
          <p:cNvSpPr/>
          <p:nvPr/>
        </p:nvSpPr>
        <p:spPr>
          <a:xfrm>
            <a:off x="5842000" y="4191000"/>
            <a:ext cx="5588000" cy="1079500"/>
          </a:xfrm>
          <a:prstGeom prst="roundRect">
            <a:avLst>
              <a:gd name="adj" fmla="val 9411"/>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5842000" y="4191000"/>
            <a:ext cx="76200" cy="1079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159500" y="4445000"/>
            <a:ext cx="355600" cy="355600"/>
          </a:xfrm>
          <a:prstGeom prst="rect">
            <a:avLst/>
          </a:prstGeom>
        </p:spPr>
      </p:pic>
      <p:sp>
        <p:nvSpPr>
          <p:cNvPr id="15" name="AutoShape 15"/>
          <p:cNvSpPr/>
          <p:nvPr/>
        </p:nvSpPr>
        <p:spPr>
          <a:xfrm>
            <a:off x="6731000" y="4318000"/>
            <a:ext cx="444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数据处理层</a:t>
            </a:r>
            <a:endParaRPr lang="en-US" sz="1100" dirty="0"/>
          </a:p>
          <a:p>
            <a:pPr marL="0" indent="0" algn="l">
              <a:lnSpc>
                <a:spcPct val="108000"/>
              </a:lnSpc>
            </a:pP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MapReduce 做 ETL </a:t>
            </a: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清洗，Spark</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负责特征工程与模型训练，Hive</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SQL </a:t>
            </a: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支撑多维统计分析</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16" name="AutoShape 16"/>
          <p:cNvSpPr/>
          <p:nvPr/>
        </p:nvSpPr>
        <p:spPr>
          <a:xfrm>
            <a:off x="5842000" y="5334000"/>
            <a:ext cx="5588000" cy="1079500"/>
          </a:xfrm>
          <a:prstGeom prst="roundRect">
            <a:avLst>
              <a:gd name="adj" fmla="val 9411"/>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5842000" y="5334000"/>
            <a:ext cx="76200" cy="10795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159500" y="5588000"/>
            <a:ext cx="355600" cy="355600"/>
          </a:xfrm>
          <a:prstGeom prst="rect">
            <a:avLst/>
          </a:prstGeom>
        </p:spPr>
      </p:pic>
      <p:sp>
        <p:nvSpPr>
          <p:cNvPr id="19" name="AutoShape 19"/>
          <p:cNvSpPr/>
          <p:nvPr/>
        </p:nvSpPr>
        <p:spPr>
          <a:xfrm>
            <a:off x="6731000" y="5461000"/>
            <a:ext cx="444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结果输出层</a:t>
            </a:r>
            <a:endParaRPr lang="en-US" sz="1100" dirty="0"/>
          </a:p>
          <a:p>
            <a:pPr marL="0" indent="0" algn="l">
              <a:lnSpc>
                <a:spcPct val="108000"/>
              </a:lnSpc>
            </a:pP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生成可视化分析报表、开放预测API接口，并联动实时告警系统，辅助智能化运维决策</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pic>
        <p:nvPicPr>
          <p:cNvPr id="1026" name="Picture 2">
            <a:extLst>
              <a:ext uri="{FF2B5EF4-FFF2-40B4-BE49-F238E27FC236}">
                <a16:creationId xmlns:a16="http://schemas.microsoft.com/office/drawing/2014/main" id="{A7182F49-7819-7958-3893-AE2838C81D4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0087" y="1512185"/>
            <a:ext cx="4570879" cy="4844221"/>
          </a:xfrm>
          <a:prstGeom prst="rect">
            <a:avLst/>
          </a:prstGeom>
          <a:noFill/>
          <a:extLst>
            <a:ext uri="{909E8E84-426E-40DD-AFC4-6F175D3DCCD1}">
              <a14:hiddenFill xmlns:a14="http://schemas.microsoft.com/office/drawing/2010/main">
                <a:solidFill>
                  <a:srgbClr val="FFFFFF"/>
                </a:solidFill>
              </a14:hiddenFill>
            </a:ext>
          </a:extLst>
        </p:spPr>
      </p:pic>
      <p:pic>
        <p:nvPicPr>
          <p:cNvPr id="21" name="图片 20">
            <a:extLst>
              <a:ext uri="{FF2B5EF4-FFF2-40B4-BE49-F238E27FC236}">
                <a16:creationId xmlns:a16="http://schemas.microsoft.com/office/drawing/2014/main" id="{02D2B805-CEC2-0F97-17BC-0BC4FD96A741}"/>
              </a:ext>
            </a:extLst>
          </p:cNvPr>
          <p:cNvPicPr>
            <a:picLocks noChangeAspect="1"/>
          </p:cNvPicPr>
          <p:nvPr/>
        </p:nvPicPr>
        <p:blipFill>
          <a:blip r:embed="rId9"/>
          <a:srcRect b="12409"/>
          <a:stretch>
            <a:fillRect/>
          </a:stretch>
        </p:blipFill>
        <p:spPr>
          <a:xfrm>
            <a:off x="36036" y="1959887"/>
            <a:ext cx="6002814" cy="39488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21"/>
                                        </p:tgtEl>
                                      </p:cBhvr>
                                    </p:animEffect>
                                    <p:set>
                                      <p:cBhvr>
                                        <p:cTn id="7"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a:extLst>
            <a:ext uri="{FF2B5EF4-FFF2-40B4-BE49-F238E27FC236}">
              <a16:creationId xmlns:a16="http://schemas.microsoft.com/office/drawing/2014/main" id="{7DAF958F-076E-90F6-8C81-57F28AC9721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75D3FF3-4B7C-D7BF-08BC-D930ADCE1385}"/>
              </a:ext>
            </a:extLst>
          </p:cNvPr>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大数据处理</a:t>
            </a:r>
            <a:r>
              <a:rPr lang="zh-CN" altLang="en-US" sz="3200" b="1" i="0" u="none" strike="noStrike" dirty="0">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数据集及环境配置</a:t>
            </a:r>
          </a:p>
        </p:txBody>
      </p:sp>
      <p:pic>
        <p:nvPicPr>
          <p:cNvPr id="14" name="Picture 14">
            <a:extLst>
              <a:ext uri="{FF2B5EF4-FFF2-40B4-BE49-F238E27FC236}">
                <a16:creationId xmlns:a16="http://schemas.microsoft.com/office/drawing/2014/main" id="{6F5FB8EF-DDDB-9AE8-9E7E-0542620E609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53200" y="1605062"/>
            <a:ext cx="355600" cy="355600"/>
          </a:xfrm>
          <a:prstGeom prst="rect">
            <a:avLst/>
          </a:prstGeom>
        </p:spPr>
      </p:pic>
      <p:sp>
        <p:nvSpPr>
          <p:cNvPr id="15" name="AutoShape 15">
            <a:extLst>
              <a:ext uri="{FF2B5EF4-FFF2-40B4-BE49-F238E27FC236}">
                <a16:creationId xmlns:a16="http://schemas.microsoft.com/office/drawing/2014/main" id="{3A3C9269-201D-9943-4333-319E4C6E80F4}"/>
              </a:ext>
            </a:extLst>
          </p:cNvPr>
          <p:cNvSpPr/>
          <p:nvPr/>
        </p:nvSpPr>
        <p:spPr>
          <a:xfrm>
            <a:off x="6942665" y="1579662"/>
            <a:ext cx="4445000" cy="41275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环境配置</a:t>
            </a:r>
            <a:endParaRPr lang="en-US" sz="1100" dirty="0"/>
          </a:p>
        </p:txBody>
      </p:sp>
      <p:sp>
        <p:nvSpPr>
          <p:cNvPr id="21" name="文本框 20">
            <a:extLst>
              <a:ext uri="{FF2B5EF4-FFF2-40B4-BE49-F238E27FC236}">
                <a16:creationId xmlns:a16="http://schemas.microsoft.com/office/drawing/2014/main" id="{903F0D62-978B-1C48-0B94-CECA9920F8AD}"/>
              </a:ext>
            </a:extLst>
          </p:cNvPr>
          <p:cNvSpPr txBox="1"/>
          <p:nvPr/>
        </p:nvSpPr>
        <p:spPr>
          <a:xfrm>
            <a:off x="141392" y="1605062"/>
            <a:ext cx="6801273" cy="307777"/>
          </a:xfrm>
          <a:prstGeom prst="rect">
            <a:avLst/>
          </a:prstGeom>
          <a:noFill/>
        </p:spPr>
        <p:txBody>
          <a:bodyPr wrap="square">
            <a:spAutoFit/>
          </a:bodyPr>
          <a:lstStyle/>
          <a:p>
            <a:r>
              <a:rPr lang="zh-CN" altLang="en-US" b="1" dirty="0"/>
              <a:t>数据集</a:t>
            </a:r>
            <a:r>
              <a:rPr lang="zh-CN" altLang="en-US" dirty="0"/>
              <a:t>：</a:t>
            </a:r>
            <a:r>
              <a:rPr lang="en-US" altLang="zh-CN" dirty="0"/>
              <a:t>https://github.com/alibaba-edu/dcbrain/tree/master/ssd_open_data</a:t>
            </a:r>
            <a:endParaRPr lang="zh-CN" altLang="en-US" dirty="0"/>
          </a:p>
        </p:txBody>
      </p:sp>
      <p:pic>
        <p:nvPicPr>
          <p:cNvPr id="23" name="图片 22">
            <a:extLst>
              <a:ext uri="{FF2B5EF4-FFF2-40B4-BE49-F238E27FC236}">
                <a16:creationId xmlns:a16="http://schemas.microsoft.com/office/drawing/2014/main" id="{7A56833A-C498-7E78-32BF-402812996F5B}"/>
              </a:ext>
            </a:extLst>
          </p:cNvPr>
          <p:cNvPicPr>
            <a:picLocks noChangeAspect="1"/>
          </p:cNvPicPr>
          <p:nvPr/>
        </p:nvPicPr>
        <p:blipFill>
          <a:blip r:embed="rId4"/>
          <a:stretch>
            <a:fillRect/>
          </a:stretch>
        </p:blipFill>
        <p:spPr>
          <a:xfrm>
            <a:off x="226906" y="1992412"/>
            <a:ext cx="5527888" cy="3396873"/>
          </a:xfrm>
          <a:prstGeom prst="rect">
            <a:avLst/>
          </a:prstGeom>
        </p:spPr>
      </p:pic>
      <p:pic>
        <p:nvPicPr>
          <p:cNvPr id="25" name="图片 24">
            <a:extLst>
              <a:ext uri="{FF2B5EF4-FFF2-40B4-BE49-F238E27FC236}">
                <a16:creationId xmlns:a16="http://schemas.microsoft.com/office/drawing/2014/main" id="{CA52F287-10AD-6802-3E4E-EF7CC463D6BD}"/>
              </a:ext>
            </a:extLst>
          </p:cNvPr>
          <p:cNvPicPr>
            <a:picLocks noChangeAspect="1"/>
          </p:cNvPicPr>
          <p:nvPr/>
        </p:nvPicPr>
        <p:blipFill>
          <a:blip r:embed="rId5"/>
          <a:stretch>
            <a:fillRect/>
          </a:stretch>
        </p:blipFill>
        <p:spPr>
          <a:xfrm>
            <a:off x="6908800" y="2017812"/>
            <a:ext cx="4013200" cy="3992442"/>
          </a:xfrm>
          <a:prstGeom prst="rect">
            <a:avLst/>
          </a:prstGeom>
        </p:spPr>
      </p:pic>
      <p:pic>
        <p:nvPicPr>
          <p:cNvPr id="27" name="图片 26">
            <a:extLst>
              <a:ext uri="{FF2B5EF4-FFF2-40B4-BE49-F238E27FC236}">
                <a16:creationId xmlns:a16="http://schemas.microsoft.com/office/drawing/2014/main" id="{53104137-B963-0652-8870-A0DA17D257C4}"/>
              </a:ext>
            </a:extLst>
          </p:cNvPr>
          <p:cNvPicPr>
            <a:picLocks noChangeAspect="1"/>
          </p:cNvPicPr>
          <p:nvPr/>
        </p:nvPicPr>
        <p:blipFill>
          <a:blip r:embed="rId6"/>
          <a:stretch>
            <a:fillRect/>
          </a:stretch>
        </p:blipFill>
        <p:spPr>
          <a:xfrm>
            <a:off x="7510794" y="5606370"/>
            <a:ext cx="862844" cy="1017714"/>
          </a:xfrm>
          <a:prstGeom prst="rect">
            <a:avLst/>
          </a:prstGeom>
        </p:spPr>
      </p:pic>
    </p:spTree>
    <p:extLst>
      <p:ext uri="{BB962C8B-B14F-4D97-AF65-F5344CB8AC3E}">
        <p14:creationId xmlns:p14="http://schemas.microsoft.com/office/powerpoint/2010/main" val="2638127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651000"/>
            <a:ext cx="12192000" cy="177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4" name="AutoShape 4"/>
          <p:cNvSpPr/>
          <p:nvPr/>
        </p:nvSpPr>
        <p:spPr>
          <a:xfrm>
            <a:off x="5461000" y="3683000"/>
            <a:ext cx="1270000" cy="508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4191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数据处理与特征工程</a:t>
            </a:r>
            <a:endParaRPr lang="en-US" sz="1100"/>
          </a:p>
        </p:txBody>
      </p:sp>
      <p:sp>
        <p:nvSpPr>
          <p:cNvPr id="6" name="AutoShape 6"/>
          <p:cNvSpPr/>
          <p:nvPr/>
        </p:nvSpPr>
        <p:spPr>
          <a:xfrm>
            <a:off x="0" y="5461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spc="300">
                <a:solidFill>
                  <a:srgbClr val="FFFFFF">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PROCESSING AND FEATURE ENGINEERING</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数据处理与特征工程</a:t>
            </a:r>
            <a:endParaRPr lang="en-US" sz="1100"/>
          </a:p>
        </p:txBody>
      </p:sp>
      <p:sp>
        <p:nvSpPr>
          <p:cNvPr id="3" name="AutoShape 3"/>
          <p:cNvSpPr/>
          <p:nvPr/>
        </p:nvSpPr>
        <p:spPr>
          <a:xfrm>
            <a:off x="762000" y="1778000"/>
            <a:ext cx="5207000" cy="4318000"/>
          </a:xfrm>
          <a:prstGeom prst="roundRect">
            <a:avLst>
              <a:gd name="adj" fmla="val 3529"/>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778000"/>
            <a:ext cx="5207000" cy="762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2159000"/>
            <a:ext cx="355600" cy="355600"/>
          </a:xfrm>
          <a:prstGeom prst="rect">
            <a:avLst/>
          </a:prstGeom>
        </p:spPr>
      </p:pic>
      <p:sp>
        <p:nvSpPr>
          <p:cNvPr id="6" name="AutoShape 6"/>
          <p:cNvSpPr/>
          <p:nvPr/>
        </p:nvSpPr>
        <p:spPr>
          <a:xfrm>
            <a:off x="1574800" y="2133600"/>
            <a:ext cx="4064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数据质量评估与清洗</a:t>
            </a:r>
            <a:endParaRPr lang="en-US" sz="1100"/>
          </a:p>
        </p:txBody>
      </p:sp>
      <p:sp>
        <p:nvSpPr>
          <p:cNvPr id="7" name="AutoShape 7"/>
          <p:cNvSpPr/>
          <p:nvPr/>
        </p:nvSpPr>
        <p:spPr>
          <a:xfrm>
            <a:off x="1016000" y="2921000"/>
            <a:ext cx="4699000" cy="1016000"/>
          </a:xfrm>
          <a:prstGeom prst="roundRect">
            <a:avLst>
              <a:gd name="adj" fmla="val 10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1219200" y="3073400"/>
            <a:ext cx="42926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缺失值处理 · 中位数填充</a:t>
            </a:r>
            <a:endParaRPr lang="en-US" sz="1100"/>
          </a:p>
          <a:p>
            <a:pPr marL="0" indent="0" algn="l">
              <a:lnSpc>
                <a:spcPct val="108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针对跨厂商属性不兼容导致的缺失(如n_175缺失率78.6%)，填充处理</a:t>
            </a:r>
            <a:r>
              <a:rPr lang="en-US" sz="1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86,818</a:t>
            </a: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个缺失值，确保数据完整性。</a:t>
            </a:r>
          </a:p>
        </p:txBody>
      </p:sp>
      <p:sp>
        <p:nvSpPr>
          <p:cNvPr id="9" name="AutoShape 9"/>
          <p:cNvSpPr/>
          <p:nvPr/>
        </p:nvSpPr>
        <p:spPr>
          <a:xfrm>
            <a:off x="1016000" y="4064000"/>
            <a:ext cx="4699000" cy="1016000"/>
          </a:xfrm>
          <a:prstGeom prst="roundRect">
            <a:avLst>
              <a:gd name="adj" fmla="val 10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1219200" y="4216400"/>
            <a:ext cx="42926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异常值处理 · IQR检测 + Winsorize截断</a:t>
            </a:r>
            <a:endParaRPr lang="en-US" sz="1100"/>
          </a:p>
          <a:p>
            <a:pPr marL="0" indent="0" algn="l">
              <a:lnSpc>
                <a:spcPct val="108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精准识别并平滑极端值，有效处理了关键的</a:t>
            </a:r>
            <a:r>
              <a:rPr lang="en-US" sz="1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29个</a:t>
            </a: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核心SMART特征的异常分布。</a:t>
            </a:r>
          </a:p>
        </p:txBody>
      </p:sp>
      <p:sp>
        <p:nvSpPr>
          <p:cNvPr id="11" name="AutoShape 11"/>
          <p:cNvSpPr/>
          <p:nvPr/>
        </p:nvSpPr>
        <p:spPr>
          <a:xfrm>
            <a:off x="1016000" y="5207000"/>
            <a:ext cx="4699000" cy="1016000"/>
          </a:xfrm>
          <a:prstGeom prst="roundRect">
            <a:avLst>
              <a:gd name="adj" fmla="val 10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2" name="AutoShape 12"/>
          <p:cNvSpPr/>
          <p:nvPr/>
        </p:nvSpPr>
        <p:spPr>
          <a:xfrm>
            <a:off x="1219200" y="5359400"/>
            <a:ext cx="42926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数据一致性 · 参照完整性校验</a:t>
            </a:r>
            <a:endParaRPr lang="en-US" sz="1100"/>
          </a:p>
          <a:p>
            <a:pPr marL="0" indent="0" algn="l">
              <a:lnSpc>
                <a:spcPct val="108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交叉验证故障SSD与位置信息表记录，确保全量数据逻辑一致，无孤岛数据。</a:t>
            </a:r>
          </a:p>
        </p:txBody>
      </p:sp>
      <p:sp>
        <p:nvSpPr>
          <p:cNvPr id="13" name="AutoShape 13"/>
          <p:cNvSpPr/>
          <p:nvPr/>
        </p:nvSpPr>
        <p:spPr>
          <a:xfrm>
            <a:off x="6223000" y="1778000"/>
            <a:ext cx="5207000" cy="4318000"/>
          </a:xfrm>
          <a:prstGeom prst="roundRect">
            <a:avLst>
              <a:gd name="adj" fmla="val 3529"/>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223000" y="1778000"/>
            <a:ext cx="5207000" cy="762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27800" y="2159000"/>
            <a:ext cx="355600" cy="355600"/>
          </a:xfrm>
          <a:prstGeom prst="rect">
            <a:avLst/>
          </a:prstGeom>
        </p:spPr>
      </p:pic>
      <p:sp>
        <p:nvSpPr>
          <p:cNvPr id="16" name="AutoShape 16"/>
          <p:cNvSpPr/>
          <p:nvPr/>
        </p:nvSpPr>
        <p:spPr>
          <a:xfrm>
            <a:off x="7035800" y="2133600"/>
            <a:ext cx="4064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特征工程与变换</a:t>
            </a:r>
            <a:endParaRPr lang="en-US" sz="1100"/>
          </a:p>
        </p:txBody>
      </p:sp>
      <p:sp>
        <p:nvSpPr>
          <p:cNvPr id="17" name="AutoShape 17"/>
          <p:cNvSpPr/>
          <p:nvPr/>
        </p:nvSpPr>
        <p:spPr>
          <a:xfrm>
            <a:off x="6477000" y="2921000"/>
            <a:ext cx="4699000" cy="1016000"/>
          </a:xfrm>
          <a:prstGeom prst="roundRect">
            <a:avLst>
              <a:gd name="adj" fmla="val 10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8" name="AutoShape 18"/>
          <p:cNvSpPr/>
          <p:nvPr/>
        </p:nvSpPr>
        <p:spPr>
          <a:xfrm>
            <a:off x="6680200" y="3073400"/>
            <a:ext cx="42926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数据分箱 · 磨损度等级划分</a:t>
            </a:r>
            <a:endParaRPr lang="en-US" sz="1100"/>
          </a:p>
          <a:p>
            <a:pPr marL="0" indent="0" algn="l">
              <a:lnSpc>
                <a:spcPct val="108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对关键特征</a:t>
            </a:r>
            <a:r>
              <a:rPr lang="en-US" sz="1200" b="1"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n_wearout</a:t>
            </a: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执行等频分箱，将其量化为“极低”到“极高”五个风险等级，提升可解释性。</a:t>
            </a:r>
          </a:p>
        </p:txBody>
      </p:sp>
      <p:sp>
        <p:nvSpPr>
          <p:cNvPr id="19" name="AutoShape 19"/>
          <p:cNvSpPr/>
          <p:nvPr/>
        </p:nvSpPr>
        <p:spPr>
          <a:xfrm>
            <a:off x="6477000" y="4064000"/>
            <a:ext cx="4699000" cy="1016000"/>
          </a:xfrm>
          <a:prstGeom prst="roundRect">
            <a:avLst>
              <a:gd name="adj" fmla="val 10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6680200" y="4216400"/>
            <a:ext cx="42926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分类编码 · Label Encoding</a:t>
            </a:r>
            <a:endParaRPr lang="en-US" sz="1100"/>
          </a:p>
          <a:p>
            <a:pPr marL="0" indent="0" algn="l">
              <a:lnSpc>
                <a:spcPct val="108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将SSD硬件型号等非数值型分类特征，统一转换为数值向量，适配机器学习算法输入要求。</a:t>
            </a:r>
          </a:p>
        </p:txBody>
      </p:sp>
      <p:sp>
        <p:nvSpPr>
          <p:cNvPr id="21" name="AutoShape 21"/>
          <p:cNvSpPr/>
          <p:nvPr/>
        </p:nvSpPr>
        <p:spPr>
          <a:xfrm>
            <a:off x="6477000" y="5207000"/>
            <a:ext cx="4699000" cy="1016000"/>
          </a:xfrm>
          <a:prstGeom prst="roundRect">
            <a:avLst>
              <a:gd name="adj" fmla="val 10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2" name="AutoShape 22"/>
          <p:cNvSpPr/>
          <p:nvPr/>
        </p:nvSpPr>
        <p:spPr>
          <a:xfrm>
            <a:off x="6680200" y="5359400"/>
            <a:ext cx="42926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特征标准化 · Z-Score归一化</a:t>
            </a:r>
            <a:endParaRPr lang="en-US" sz="1100"/>
          </a:p>
          <a:p>
            <a:pPr marL="0" indent="0" algn="l">
              <a:lnSpc>
                <a:spcPct val="108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消除不同SMART属性间的量纲差异，将数据分布统一为标准正态分布，提升模型收敛速度。</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80670" y="267335"/>
            <a:ext cx="9259570" cy="943610"/>
          </a:xfrm>
          <a:prstGeom prst="rect">
            <a:avLst/>
          </a:prstGeom>
          <a:noFill/>
        </p:spPr>
        <p:txBody>
          <a:bodyPr wrap="square" rtlCol="0">
            <a:noAutofit/>
          </a:bodyPr>
          <a:lstStyle/>
          <a:p>
            <a:r>
              <a:rPr lang="en-US" altLang="zh-CN" sz="2400" b="1">
                <a:latin typeface="Noto Sans SC" panose="020B0200000000000000" charset="-122"/>
                <a:ea typeface="Noto Sans SC" panose="020B0200000000000000" charset="-122"/>
                <a:cs typeface="Noto Sans SC" panose="020B0200000000000000" charset="-122"/>
              </a:rPr>
              <a:t>MapReduce </a:t>
            </a:r>
            <a:r>
              <a:rPr lang="zh-CN" altLang="en-US" sz="2400" b="1">
                <a:latin typeface="Noto Sans SC" panose="020B0200000000000000" charset="-122"/>
                <a:ea typeface="Noto Sans SC" panose="020B0200000000000000" charset="-122"/>
                <a:cs typeface="Noto Sans SC" panose="020B0200000000000000" charset="-122"/>
              </a:rPr>
              <a:t>是什么？</a:t>
            </a:r>
          </a:p>
          <a:p>
            <a:endParaRPr lang="zh-CN" altLang="en-US" sz="2400" b="1">
              <a:latin typeface="Noto Sans SC" panose="020B0200000000000000" charset="-122"/>
              <a:ea typeface="Noto Sans SC" panose="020B0200000000000000" charset="-122"/>
              <a:cs typeface="Noto Sans SC" panose="020B0200000000000000" charset="-122"/>
            </a:endParaRPr>
          </a:p>
          <a:p>
            <a:r>
              <a:rPr lang="en-US" altLang="zh-CN" sz="2400" b="1">
                <a:latin typeface="Noto Sans SC" panose="020B0200000000000000" charset="-122"/>
                <a:ea typeface="Noto Sans SC" panose="020B0200000000000000" charset="-122"/>
                <a:cs typeface="Noto Sans SC" panose="020B0200000000000000" charset="-122"/>
              </a:rPr>
              <a:t>MapReduce </a:t>
            </a:r>
            <a:r>
              <a:rPr lang="zh-CN" altLang="en-US" sz="2400" b="1">
                <a:latin typeface="Noto Sans SC" panose="020B0200000000000000" charset="-122"/>
                <a:ea typeface="Noto Sans SC" panose="020B0200000000000000" charset="-122"/>
                <a:cs typeface="Noto Sans SC" panose="020B0200000000000000" charset="-122"/>
              </a:rPr>
              <a:t>是一种分布式计算模型，专门用来处理海量数据</a:t>
            </a:r>
          </a:p>
        </p:txBody>
      </p:sp>
      <p:sp>
        <p:nvSpPr>
          <p:cNvPr id="4" name="AutoShape 4"/>
          <p:cNvSpPr/>
          <p:nvPr/>
        </p:nvSpPr>
        <p:spPr>
          <a:xfrm>
            <a:off x="280670" y="840105"/>
            <a:ext cx="5207000" cy="762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 name="图片 2"/>
          <p:cNvPicPr>
            <a:picLocks noChangeAspect="1"/>
          </p:cNvPicPr>
          <p:nvPr/>
        </p:nvPicPr>
        <p:blipFill>
          <a:blip r:embed="rId2"/>
          <a:stretch>
            <a:fillRect/>
          </a:stretch>
        </p:blipFill>
        <p:spPr>
          <a:xfrm>
            <a:off x="1164590" y="2990850"/>
            <a:ext cx="9073515" cy="3867150"/>
          </a:xfrm>
          <a:prstGeom prst="rect">
            <a:avLst/>
          </a:prstGeom>
        </p:spPr>
      </p:pic>
      <p:sp>
        <p:nvSpPr>
          <p:cNvPr id="5" name="文本框 4"/>
          <p:cNvSpPr txBox="1"/>
          <p:nvPr/>
        </p:nvSpPr>
        <p:spPr>
          <a:xfrm>
            <a:off x="280670" y="1422400"/>
            <a:ext cx="11510010" cy="1568450"/>
          </a:xfrm>
          <a:prstGeom prst="rect">
            <a:avLst/>
          </a:prstGeom>
          <a:noFill/>
        </p:spPr>
        <p:txBody>
          <a:bodyPr wrap="square" rtlCol="0">
            <a:spAutoFit/>
          </a:bodyPr>
          <a:lstStyle/>
          <a:p>
            <a:r>
              <a:rPr lang="en-US" altLang="zh-CN" sz="2400" b="1">
                <a:latin typeface="Noto Sans SC" panose="020B0200000000000000" charset="-122"/>
                <a:ea typeface="Noto Sans SC" panose="020B0200000000000000" charset="-122"/>
                <a:cs typeface="Noto Sans SC" panose="020B0200000000000000" charset="-122"/>
              </a:rPr>
              <a:t>                                  MapReduce </a:t>
            </a:r>
            <a:r>
              <a:rPr lang="zh-CN" altLang="en-US" sz="2400" b="1">
                <a:latin typeface="Noto Sans SC" panose="020B0200000000000000" charset="-122"/>
                <a:ea typeface="Noto Sans SC" panose="020B0200000000000000" charset="-122"/>
                <a:cs typeface="Noto Sans SC" panose="020B0200000000000000" charset="-122"/>
              </a:rPr>
              <a:t>在大数据清洗中的应用 </a:t>
            </a:r>
          </a:p>
          <a:p>
            <a:r>
              <a:rPr lang="en-US" altLang="zh-CN" sz="2400" b="1">
                <a:latin typeface="Noto Sans SC" panose="020B0200000000000000" charset="-122"/>
                <a:ea typeface="Noto Sans SC" panose="020B0200000000000000" charset="-122"/>
                <a:cs typeface="Noto Sans SC" panose="020B0200000000000000" charset="-122"/>
              </a:rPr>
              <a:t>MapReduce </a:t>
            </a:r>
            <a:r>
              <a:rPr lang="zh-CN" altLang="en-US" sz="2400" b="1">
                <a:latin typeface="Noto Sans SC" panose="020B0200000000000000" charset="-122"/>
                <a:ea typeface="Noto Sans SC" panose="020B0200000000000000" charset="-122"/>
                <a:cs typeface="Noto Sans SC" panose="020B0200000000000000" charset="-122"/>
              </a:rPr>
              <a:t>编程模型是 </a:t>
            </a:r>
            <a:r>
              <a:rPr lang="en-US" altLang="zh-CN" sz="2400" b="1">
                <a:latin typeface="Noto Sans SC" panose="020B0200000000000000" charset="-122"/>
                <a:ea typeface="Noto Sans SC" panose="020B0200000000000000" charset="-122"/>
                <a:cs typeface="Noto Sans SC" panose="020B0200000000000000" charset="-122"/>
              </a:rPr>
              <a:t>Hadoop </a:t>
            </a:r>
            <a:r>
              <a:rPr lang="zh-CN" altLang="en-US" sz="2400" b="1">
                <a:latin typeface="Noto Sans SC" panose="020B0200000000000000" charset="-122"/>
                <a:ea typeface="Noto Sans SC" panose="020B0200000000000000" charset="-122"/>
                <a:cs typeface="Noto Sans SC" panose="020B0200000000000000" charset="-122"/>
              </a:rPr>
              <a:t>的核心计算抽象，其 </a:t>
            </a:r>
            <a:r>
              <a:rPr lang="en-US" altLang="zh-CN" sz="2400" b="1">
                <a:latin typeface="Noto Sans SC" panose="020B0200000000000000" charset="-122"/>
                <a:ea typeface="Noto Sans SC" panose="020B0200000000000000" charset="-122"/>
                <a:cs typeface="Noto Sans SC" panose="020B0200000000000000" charset="-122"/>
              </a:rPr>
              <a:t>Map </a:t>
            </a:r>
            <a:r>
              <a:rPr lang="zh-CN" altLang="en-US" sz="2400" b="1">
                <a:latin typeface="Noto Sans SC" panose="020B0200000000000000" charset="-122"/>
                <a:ea typeface="Noto Sans SC" panose="020B0200000000000000" charset="-122"/>
                <a:cs typeface="Noto Sans SC" panose="020B0200000000000000" charset="-122"/>
              </a:rPr>
              <a:t>阶段 对每条数据独立处理，</a:t>
            </a:r>
            <a:r>
              <a:rPr lang="en-US" altLang="zh-CN" sz="2400" b="1">
                <a:latin typeface="Noto Sans SC" panose="020B0200000000000000" charset="-122"/>
                <a:ea typeface="Noto Sans SC" panose="020B0200000000000000" charset="-122"/>
                <a:cs typeface="Noto Sans SC" panose="020B0200000000000000" charset="-122"/>
              </a:rPr>
              <a:t>Reduce </a:t>
            </a:r>
            <a:r>
              <a:rPr lang="zh-CN" altLang="en-US" sz="2400" b="1">
                <a:latin typeface="Noto Sans SC" panose="020B0200000000000000" charset="-122"/>
                <a:ea typeface="Noto Sans SC" panose="020B0200000000000000" charset="-122"/>
                <a:cs typeface="Noto Sans SC" panose="020B0200000000000000" charset="-122"/>
              </a:rPr>
              <a:t>阶段 对中间结果进行聚合。在本实验中，数据清洗的各步骤均可映射为</a:t>
            </a:r>
            <a:r>
              <a:rPr lang="en-US" altLang="zh-CN" sz="2400" b="1">
                <a:latin typeface="Noto Sans SC" panose="020B0200000000000000" charset="-122"/>
                <a:ea typeface="Noto Sans SC" panose="020B0200000000000000" charset="-122"/>
                <a:cs typeface="Noto Sans SC" panose="020B0200000000000000" charset="-122"/>
              </a:rPr>
              <a:t>MapReduce </a:t>
            </a:r>
            <a:r>
              <a:rPr lang="zh-CN" altLang="en-US" sz="2400" b="1">
                <a:latin typeface="Noto Sans SC" panose="020B0200000000000000" charset="-122"/>
                <a:ea typeface="Noto Sans SC" panose="020B0200000000000000" charset="-122"/>
                <a:cs typeface="Noto Sans SC" panose="020B0200000000000000" charset="-122"/>
              </a:rPr>
              <a:t>操作：</a:t>
            </a:r>
            <a:r>
              <a:rPr lang="zh-CN" altLang="en-US" sz="2400">
                <a:latin typeface="Noto Sans SC" panose="020B0200000000000000" charset="-122"/>
                <a:ea typeface="Noto Sans SC" panose="020B0200000000000000" charset="-122"/>
                <a:cs typeface="Noto Sans SC" panose="020B0200000000000000" charset="-122"/>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67360" y="229235"/>
            <a:ext cx="2357755" cy="460375"/>
          </a:xfrm>
          <a:prstGeom prst="rect">
            <a:avLst/>
          </a:prstGeom>
          <a:noFill/>
        </p:spPr>
        <p:txBody>
          <a:bodyPr wrap="square" rtlCol="0">
            <a:spAutoFit/>
          </a:bodyPr>
          <a:lstStyle/>
          <a:p>
            <a:r>
              <a:rPr lang="zh-CN" altLang="en-US" sz="2400" b="1">
                <a:latin typeface="Noto Sans SC" panose="020B0200000000000000" charset="-122"/>
                <a:ea typeface="Noto Sans SC" panose="020B0200000000000000" charset="-122"/>
              </a:rPr>
              <a:t>数据采集与加载</a:t>
            </a:r>
          </a:p>
        </p:txBody>
      </p:sp>
      <p:sp>
        <p:nvSpPr>
          <p:cNvPr id="3" name="文本框 2"/>
          <p:cNvSpPr txBox="1"/>
          <p:nvPr/>
        </p:nvSpPr>
        <p:spPr>
          <a:xfrm>
            <a:off x="336550" y="822325"/>
            <a:ext cx="10327640" cy="461665"/>
          </a:xfrm>
          <a:prstGeom prst="rect">
            <a:avLst/>
          </a:prstGeom>
          <a:noFill/>
        </p:spPr>
        <p:txBody>
          <a:bodyPr wrap="square" rtlCol="0">
            <a:spAutoFit/>
          </a:bodyPr>
          <a:lstStyle/>
          <a:p>
            <a:r>
              <a:rPr lang="zh-CN" altLang="en-US" sz="2400" b="1" dirty="0">
                <a:latin typeface="Noto Sans SC" panose="020B0200000000000000" charset="-122"/>
                <a:ea typeface="Noto Sans SC" panose="020B0200000000000000" charset="-122"/>
                <a:cs typeface="Noto Sans SC" panose="020B0200000000000000" charset="-122"/>
              </a:rPr>
              <a:t>从 </a:t>
            </a:r>
            <a:r>
              <a:rPr lang="en-US" altLang="zh-CN" sz="2400" b="1" dirty="0">
                <a:latin typeface="Noto Sans SC" panose="020B0200000000000000" charset="-122"/>
                <a:ea typeface="Noto Sans SC" panose="020B0200000000000000" charset="-122"/>
                <a:cs typeface="Noto Sans SC" panose="020B0200000000000000" charset="-122"/>
              </a:rPr>
              <a:t>HDFS </a:t>
            </a:r>
            <a:r>
              <a:rPr lang="zh-CN" altLang="en-US" sz="2400" b="1" dirty="0">
                <a:latin typeface="Noto Sans SC" panose="020B0200000000000000" charset="-122"/>
                <a:ea typeface="Noto Sans SC" panose="020B0200000000000000" charset="-122"/>
                <a:cs typeface="Noto Sans SC" panose="020B0200000000000000" charset="-122"/>
              </a:rPr>
              <a:t>分布式文件系统中加载 </a:t>
            </a:r>
            <a:r>
              <a:rPr lang="en-US" altLang="zh-CN" sz="2400" b="1" dirty="0">
                <a:latin typeface="Noto Sans SC" panose="020B0200000000000000" charset="-122"/>
                <a:ea typeface="Noto Sans SC" panose="020B0200000000000000" charset="-122"/>
                <a:cs typeface="Noto Sans SC" panose="020B0200000000000000" charset="-122"/>
              </a:rPr>
              <a:t>CSV </a:t>
            </a:r>
            <a:r>
              <a:rPr lang="zh-CN" altLang="en-US" sz="2400" b="1" dirty="0">
                <a:latin typeface="Noto Sans SC" panose="020B0200000000000000" charset="-122"/>
                <a:ea typeface="Noto Sans SC" panose="020B0200000000000000" charset="-122"/>
                <a:cs typeface="Noto Sans SC" panose="020B0200000000000000" charset="-122"/>
              </a:rPr>
              <a:t>格式的快照数据</a:t>
            </a:r>
          </a:p>
        </p:txBody>
      </p:sp>
      <p:pic>
        <p:nvPicPr>
          <p:cNvPr id="4" name="图片 3"/>
          <p:cNvPicPr>
            <a:picLocks noChangeAspect="1"/>
          </p:cNvPicPr>
          <p:nvPr/>
        </p:nvPicPr>
        <p:blipFill>
          <a:blip r:embed="rId2"/>
          <a:stretch>
            <a:fillRect/>
          </a:stretch>
        </p:blipFill>
        <p:spPr>
          <a:xfrm>
            <a:off x="635635" y="3359362"/>
            <a:ext cx="9607550" cy="3498215"/>
          </a:xfrm>
          <a:prstGeom prst="rect">
            <a:avLst/>
          </a:prstGeom>
        </p:spPr>
      </p:pic>
      <p:sp>
        <p:nvSpPr>
          <p:cNvPr id="5" name="AutoShape 4"/>
          <p:cNvSpPr/>
          <p:nvPr/>
        </p:nvSpPr>
        <p:spPr>
          <a:xfrm>
            <a:off x="336550" y="763905"/>
            <a:ext cx="5207000" cy="762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图片 6">
            <a:extLst>
              <a:ext uri="{FF2B5EF4-FFF2-40B4-BE49-F238E27FC236}">
                <a16:creationId xmlns:a16="http://schemas.microsoft.com/office/drawing/2014/main" id="{228F3404-ACF0-A77F-5710-FF3091896B77}"/>
              </a:ext>
            </a:extLst>
          </p:cNvPr>
          <p:cNvPicPr>
            <a:picLocks noChangeAspect="1"/>
          </p:cNvPicPr>
          <p:nvPr/>
        </p:nvPicPr>
        <p:blipFill>
          <a:blip r:embed="rId3"/>
          <a:srcRect t="29270" b="47967"/>
          <a:stretch>
            <a:fillRect/>
          </a:stretch>
        </p:blipFill>
        <p:spPr>
          <a:xfrm>
            <a:off x="635636" y="1878370"/>
            <a:ext cx="5677112" cy="583013"/>
          </a:xfrm>
          <a:prstGeom prst="rect">
            <a:avLst/>
          </a:prstGeom>
        </p:spPr>
      </p:pic>
      <p:pic>
        <p:nvPicPr>
          <p:cNvPr id="9" name="图片 8">
            <a:extLst>
              <a:ext uri="{FF2B5EF4-FFF2-40B4-BE49-F238E27FC236}">
                <a16:creationId xmlns:a16="http://schemas.microsoft.com/office/drawing/2014/main" id="{5E36A7F6-DC0B-2B74-99E2-0D136A342331}"/>
              </a:ext>
            </a:extLst>
          </p:cNvPr>
          <p:cNvPicPr>
            <a:picLocks noChangeAspect="1"/>
          </p:cNvPicPr>
          <p:nvPr/>
        </p:nvPicPr>
        <p:blipFill>
          <a:blip r:embed="rId3"/>
          <a:srcRect t="63544" b="14574"/>
          <a:stretch>
            <a:fillRect/>
          </a:stretch>
        </p:blipFill>
        <p:spPr>
          <a:xfrm>
            <a:off x="635635" y="2685838"/>
            <a:ext cx="6049645" cy="597217"/>
          </a:xfrm>
          <a:prstGeom prst="rect">
            <a:avLst/>
          </a:prstGeom>
        </p:spPr>
      </p:pic>
      <p:sp>
        <p:nvSpPr>
          <p:cNvPr id="11" name="文本框 10">
            <a:extLst>
              <a:ext uri="{FF2B5EF4-FFF2-40B4-BE49-F238E27FC236}">
                <a16:creationId xmlns:a16="http://schemas.microsoft.com/office/drawing/2014/main" id="{7452711C-464A-2FC2-5432-1001DD8102BF}"/>
              </a:ext>
            </a:extLst>
          </p:cNvPr>
          <p:cNvSpPr txBox="1"/>
          <p:nvPr/>
        </p:nvSpPr>
        <p:spPr>
          <a:xfrm>
            <a:off x="336550" y="1287654"/>
            <a:ext cx="7423572" cy="1477328"/>
          </a:xfrm>
          <a:prstGeom prst="rect">
            <a:avLst/>
          </a:prstGeom>
          <a:noFill/>
        </p:spPr>
        <p:txBody>
          <a:bodyPr wrap="square">
            <a:spAutoFit/>
          </a:bodyPr>
          <a:lstStyle/>
          <a:p>
            <a:r>
              <a:rPr lang="en-US" altLang="zh-CN" sz="1800" b="1" dirty="0">
                <a:latin typeface="Noto Sans SC" panose="020B0200000000000000" charset="-122"/>
                <a:ea typeface="Noto Sans SC" panose="020B0200000000000000" charset="-122"/>
                <a:cs typeface="Noto Sans SC" panose="020B0200000000000000" charset="-122"/>
              </a:rPr>
              <a:t> </a:t>
            </a:r>
            <a:r>
              <a:rPr lang="zh-CN" altLang="en-US" sz="1600" b="1" dirty="0">
                <a:latin typeface="Noto Sans SC" panose="020B0200000000000000" charset="-122"/>
                <a:ea typeface="Noto Sans SC" panose="020B0200000000000000" charset="-122"/>
                <a:cs typeface="Noto Sans SC" panose="020B0200000000000000" charset="-122"/>
              </a:rPr>
              <a:t>读取两张核心数据表：</a:t>
            </a:r>
          </a:p>
          <a:p>
            <a:r>
              <a:rPr lang="en-US" altLang="zh-CN" sz="1800" b="1" dirty="0">
                <a:latin typeface="Noto Sans SC" panose="020B0200000000000000" charset="-122"/>
                <a:ea typeface="Noto Sans SC" panose="020B0200000000000000" charset="-122"/>
                <a:cs typeface="Noto Sans SC" panose="020B0200000000000000" charset="-122"/>
              </a:rPr>
              <a:t>    </a:t>
            </a:r>
            <a:r>
              <a:rPr lang="en-US" altLang="zh-CN" sz="1600" b="1" dirty="0" err="1">
                <a:latin typeface="Noto Sans SC" panose="020B0200000000000000" charset="-122"/>
                <a:ea typeface="Noto Sans SC" panose="020B0200000000000000" charset="-122"/>
                <a:cs typeface="Noto Sans SC" panose="020B0200000000000000" charset="-122"/>
              </a:rPr>
              <a:t>location_info_of_ssd.csv：SSD</a:t>
            </a:r>
            <a:r>
              <a:rPr lang="en-US" altLang="zh-CN" sz="1600" b="1" dirty="0">
                <a:latin typeface="Noto Sans SC" panose="020B0200000000000000" charset="-122"/>
                <a:ea typeface="Noto Sans SC" panose="020B0200000000000000" charset="-122"/>
                <a:cs typeface="Noto Sans SC" panose="020B0200000000000000" charset="-122"/>
              </a:rPr>
              <a:t> </a:t>
            </a:r>
            <a:r>
              <a:rPr lang="zh-CN" altLang="en-US" sz="1600" b="1" dirty="0">
                <a:latin typeface="Noto Sans SC" panose="020B0200000000000000" charset="-122"/>
                <a:ea typeface="Noto Sans SC" panose="020B0200000000000000" charset="-122"/>
                <a:cs typeface="Noto Sans SC" panose="020B0200000000000000" charset="-122"/>
              </a:rPr>
              <a:t>位置信息表</a:t>
            </a:r>
            <a:endParaRPr lang="en-US" altLang="zh-CN" sz="1600" b="1" dirty="0">
              <a:latin typeface="Noto Sans SC" panose="020B0200000000000000" charset="-122"/>
              <a:ea typeface="Noto Sans SC" panose="020B0200000000000000" charset="-122"/>
              <a:cs typeface="Noto Sans SC" panose="020B0200000000000000" charset="-122"/>
            </a:endParaRPr>
          </a:p>
          <a:p>
            <a:endParaRPr lang="en-US" altLang="zh-CN" sz="1800" b="1" dirty="0">
              <a:latin typeface="Noto Sans SC" panose="020B0200000000000000" charset="-122"/>
              <a:ea typeface="Noto Sans SC" panose="020B0200000000000000" charset="-122"/>
              <a:cs typeface="Noto Sans SC" panose="020B0200000000000000" charset="-122"/>
            </a:endParaRPr>
          </a:p>
          <a:p>
            <a:endParaRPr lang="zh-CN" altLang="en-US" sz="1800" b="1" dirty="0">
              <a:latin typeface="Noto Sans SC" panose="020B0200000000000000" charset="-122"/>
              <a:ea typeface="Noto Sans SC" panose="020B0200000000000000" charset="-122"/>
              <a:cs typeface="Noto Sans SC" panose="020B0200000000000000" charset="-122"/>
            </a:endParaRPr>
          </a:p>
          <a:p>
            <a:r>
              <a:rPr lang="en-US" altLang="zh-CN" sz="1800" b="1" dirty="0">
                <a:latin typeface="Noto Sans SC" panose="020B0200000000000000" charset="-122"/>
                <a:ea typeface="Noto Sans SC" panose="020B0200000000000000" charset="-122"/>
                <a:cs typeface="Noto Sans SC" panose="020B0200000000000000" charset="-122"/>
              </a:rPr>
              <a:t>    </a:t>
            </a:r>
            <a:r>
              <a:rPr lang="en-US" altLang="zh-CN" sz="1600" b="1" dirty="0" err="1">
                <a:latin typeface="Noto Sans SC" panose="020B0200000000000000" charset="-122"/>
                <a:ea typeface="Noto Sans SC" panose="020B0200000000000000" charset="-122"/>
                <a:cs typeface="Noto Sans SC" panose="020B0200000000000000" charset="-122"/>
              </a:rPr>
              <a:t>ssd_failure_tag.csv：SSD</a:t>
            </a:r>
            <a:r>
              <a:rPr lang="en-US" altLang="zh-CN" sz="1600" b="1" dirty="0">
                <a:latin typeface="Noto Sans SC" panose="020B0200000000000000" charset="-122"/>
                <a:ea typeface="Noto Sans SC" panose="020B0200000000000000" charset="-122"/>
                <a:cs typeface="Noto Sans SC" panose="020B0200000000000000" charset="-122"/>
              </a:rPr>
              <a:t> </a:t>
            </a:r>
            <a:r>
              <a:rPr lang="zh-CN" altLang="en-US" sz="1600" b="1" dirty="0">
                <a:latin typeface="Noto Sans SC" panose="020B0200000000000000" charset="-122"/>
                <a:ea typeface="Noto Sans SC" panose="020B0200000000000000" charset="-122"/>
                <a:cs typeface="Noto Sans SC" panose="020B0200000000000000" charset="-122"/>
              </a:rPr>
              <a:t>故障标签表</a:t>
            </a:r>
            <a:endParaRPr lang="zh-CN" alt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37185"/>
            <a:ext cx="4795520" cy="460375"/>
          </a:xfrm>
          <a:prstGeom prst="rect">
            <a:avLst/>
          </a:prstGeom>
          <a:noFill/>
        </p:spPr>
        <p:txBody>
          <a:bodyPr wrap="square" rtlCol="0">
            <a:spAutoFit/>
          </a:bodyPr>
          <a:lstStyle/>
          <a:p>
            <a:r>
              <a:rPr lang="zh-CN" altLang="en-US" sz="2400" b="1">
                <a:latin typeface="Noto Sans SC" panose="020B0200000000000000" charset="-122"/>
                <a:ea typeface="Noto Sans SC" panose="020B0200000000000000" charset="-122"/>
                <a:cs typeface="Noto Sans SC" panose="020B0200000000000000" charset="-122"/>
              </a:rPr>
              <a:t> 数据质量评估（</a:t>
            </a:r>
            <a:r>
              <a:rPr lang="en-US" altLang="zh-CN" sz="2400" b="1">
                <a:latin typeface="Noto Sans SC" panose="020B0200000000000000" charset="-122"/>
                <a:ea typeface="Noto Sans SC" panose="020B0200000000000000" charset="-122"/>
                <a:cs typeface="Noto Sans SC" panose="020B0200000000000000" charset="-122"/>
              </a:rPr>
              <a:t>Data Profiling）</a:t>
            </a:r>
          </a:p>
        </p:txBody>
      </p:sp>
      <p:sp>
        <p:nvSpPr>
          <p:cNvPr id="5" name="AutoShape 4"/>
          <p:cNvSpPr/>
          <p:nvPr/>
        </p:nvSpPr>
        <p:spPr>
          <a:xfrm>
            <a:off x="336550" y="972185"/>
            <a:ext cx="5207000" cy="762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 name="图片 2"/>
          <p:cNvPicPr>
            <a:picLocks noChangeAspect="1"/>
          </p:cNvPicPr>
          <p:nvPr/>
        </p:nvPicPr>
        <p:blipFill>
          <a:blip r:embed="rId2"/>
          <a:stretch>
            <a:fillRect/>
          </a:stretch>
        </p:blipFill>
        <p:spPr>
          <a:xfrm>
            <a:off x="452120" y="1048385"/>
            <a:ext cx="3589020" cy="2537460"/>
          </a:xfrm>
          <a:prstGeom prst="rect">
            <a:avLst/>
          </a:prstGeom>
        </p:spPr>
      </p:pic>
      <p:pic>
        <p:nvPicPr>
          <p:cNvPr id="4" name="图片 3"/>
          <p:cNvPicPr>
            <a:picLocks noChangeAspect="1"/>
          </p:cNvPicPr>
          <p:nvPr/>
        </p:nvPicPr>
        <p:blipFill>
          <a:blip r:embed="rId3"/>
          <a:stretch>
            <a:fillRect/>
          </a:stretch>
        </p:blipFill>
        <p:spPr>
          <a:xfrm>
            <a:off x="5543550" y="1048385"/>
            <a:ext cx="3815080" cy="2642870"/>
          </a:xfrm>
          <a:prstGeom prst="rect">
            <a:avLst/>
          </a:prstGeom>
        </p:spPr>
      </p:pic>
      <p:sp>
        <p:nvSpPr>
          <p:cNvPr id="6" name="文本框 5"/>
          <p:cNvSpPr txBox="1"/>
          <p:nvPr/>
        </p:nvSpPr>
        <p:spPr>
          <a:xfrm>
            <a:off x="2965450" y="3940175"/>
            <a:ext cx="4064000" cy="306705"/>
          </a:xfrm>
          <a:prstGeom prst="rect">
            <a:avLst/>
          </a:prstGeom>
          <a:noFill/>
        </p:spPr>
        <p:txBody>
          <a:bodyPr wrap="square" rtlCol="0">
            <a:spAutoFit/>
          </a:bodyPr>
          <a:lstStyle/>
          <a:p>
            <a:r>
              <a:rPr lang="zh-CN" altLang="en-US" b="1"/>
              <a:t>零方差特征（常数列）检测 </a:t>
            </a:r>
          </a:p>
        </p:txBody>
      </p:sp>
      <p:pic>
        <p:nvPicPr>
          <p:cNvPr id="7" name="图片 6"/>
          <p:cNvPicPr>
            <a:picLocks noChangeAspect="1"/>
          </p:cNvPicPr>
          <p:nvPr/>
        </p:nvPicPr>
        <p:blipFill>
          <a:blip r:embed="rId4"/>
          <a:stretch>
            <a:fillRect/>
          </a:stretch>
        </p:blipFill>
        <p:spPr>
          <a:xfrm>
            <a:off x="2840355" y="4225290"/>
            <a:ext cx="4692650" cy="23774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7200" y="342900"/>
            <a:ext cx="2357755" cy="460375"/>
          </a:xfrm>
          <a:prstGeom prst="rect">
            <a:avLst/>
          </a:prstGeom>
          <a:noFill/>
        </p:spPr>
        <p:txBody>
          <a:bodyPr wrap="square" rtlCol="0">
            <a:spAutoFit/>
          </a:bodyPr>
          <a:lstStyle/>
          <a:p>
            <a:r>
              <a:rPr lang="zh-CN" altLang="en-US" sz="2400" b="1">
                <a:latin typeface="Noto Sans SC" panose="020B0200000000000000" charset="-122"/>
                <a:ea typeface="Noto Sans SC" panose="020B0200000000000000" charset="-122"/>
              </a:rPr>
              <a:t>数据清洗逻辑链</a:t>
            </a:r>
          </a:p>
        </p:txBody>
      </p:sp>
      <p:pic>
        <p:nvPicPr>
          <p:cNvPr id="3" name="图片 2"/>
          <p:cNvPicPr>
            <a:picLocks noChangeAspect="1"/>
          </p:cNvPicPr>
          <p:nvPr/>
        </p:nvPicPr>
        <p:blipFill>
          <a:blip r:embed="rId2"/>
          <a:srcRect t="32346" b="31242"/>
          <a:stretch>
            <a:fillRect/>
          </a:stretch>
        </p:blipFill>
        <p:spPr>
          <a:xfrm>
            <a:off x="300355" y="1030605"/>
            <a:ext cx="11665585" cy="764858"/>
          </a:xfrm>
          <a:prstGeom prst="rect">
            <a:avLst/>
          </a:prstGeom>
        </p:spPr>
      </p:pic>
      <p:pic>
        <p:nvPicPr>
          <p:cNvPr id="4" name="图片 3"/>
          <p:cNvPicPr>
            <a:picLocks noChangeAspect="1"/>
          </p:cNvPicPr>
          <p:nvPr/>
        </p:nvPicPr>
        <p:blipFill>
          <a:blip r:embed="rId3"/>
          <a:srcRect l="23350" t="66298"/>
          <a:stretch>
            <a:fillRect/>
          </a:stretch>
        </p:blipFill>
        <p:spPr>
          <a:xfrm>
            <a:off x="-31750" y="2157174"/>
            <a:ext cx="2971800" cy="1306830"/>
          </a:xfrm>
          <a:prstGeom prst="rect">
            <a:avLst/>
          </a:prstGeom>
        </p:spPr>
      </p:pic>
      <p:sp>
        <p:nvSpPr>
          <p:cNvPr id="5" name="文本框 4"/>
          <p:cNvSpPr txBox="1"/>
          <p:nvPr/>
        </p:nvSpPr>
        <p:spPr>
          <a:xfrm>
            <a:off x="236061" y="1805147"/>
            <a:ext cx="4064000" cy="521970"/>
          </a:xfrm>
          <a:prstGeom prst="rect">
            <a:avLst/>
          </a:prstGeom>
          <a:noFill/>
        </p:spPr>
        <p:txBody>
          <a:bodyPr wrap="square" rtlCol="0">
            <a:spAutoFit/>
          </a:bodyPr>
          <a:lstStyle/>
          <a:p>
            <a:r>
              <a:rPr lang="en-US" altLang="zh-CN" b="1" dirty="0"/>
              <a:t>step1 </a:t>
            </a:r>
            <a:r>
              <a:rPr lang="zh-CN" altLang="en-US" b="1" dirty="0">
                <a:ea typeface="宋体" panose="02010600030101010101" pitchFamily="2" charset="-122"/>
              </a:rPr>
              <a:t>重复值检测与去除</a:t>
            </a:r>
          </a:p>
          <a:p>
            <a:r>
              <a:rPr lang="zh-CN" altLang="en-US" b="1" dirty="0">
                <a:ea typeface="宋体" panose="02010600030101010101" pitchFamily="2" charset="-122"/>
              </a:rPr>
              <a:t>全表去重（利用哈希表）</a:t>
            </a:r>
          </a:p>
        </p:txBody>
      </p:sp>
      <p:sp>
        <p:nvSpPr>
          <p:cNvPr id="6" name="文本框 5"/>
          <p:cNvSpPr txBox="1"/>
          <p:nvPr/>
        </p:nvSpPr>
        <p:spPr>
          <a:xfrm>
            <a:off x="3142615" y="1823403"/>
            <a:ext cx="4064000" cy="306705"/>
          </a:xfrm>
          <a:prstGeom prst="rect">
            <a:avLst/>
          </a:prstGeom>
          <a:noFill/>
        </p:spPr>
        <p:txBody>
          <a:bodyPr wrap="square" rtlCol="0">
            <a:spAutoFit/>
          </a:bodyPr>
          <a:lstStyle/>
          <a:p>
            <a:r>
              <a:rPr lang="en-US" altLang="zh-CN" b="1" dirty="0"/>
              <a:t>step2 </a:t>
            </a:r>
            <a:r>
              <a:rPr lang="zh-CN" altLang="en-US" b="1" dirty="0">
                <a:ea typeface="宋体" panose="02010600030101010101" pitchFamily="2" charset="-122"/>
              </a:rPr>
              <a:t>数据类型校验与转换</a:t>
            </a:r>
          </a:p>
        </p:txBody>
      </p:sp>
      <p:sp>
        <p:nvSpPr>
          <p:cNvPr id="9" name="文本框 8"/>
          <p:cNvSpPr txBox="1"/>
          <p:nvPr/>
        </p:nvSpPr>
        <p:spPr>
          <a:xfrm>
            <a:off x="8350964" y="1755776"/>
            <a:ext cx="4064000" cy="306705"/>
          </a:xfrm>
          <a:prstGeom prst="rect">
            <a:avLst/>
          </a:prstGeom>
          <a:noFill/>
        </p:spPr>
        <p:txBody>
          <a:bodyPr wrap="square" rtlCol="0">
            <a:spAutoFit/>
          </a:bodyPr>
          <a:lstStyle/>
          <a:p>
            <a:r>
              <a:rPr lang="en-US" altLang="zh-CN" b="1" dirty="0"/>
              <a:t>Step 3: </a:t>
            </a:r>
            <a:r>
              <a:rPr lang="zh-CN" altLang="en-US" b="1" dirty="0"/>
              <a:t>缺失值分析与处理 </a:t>
            </a:r>
          </a:p>
        </p:txBody>
      </p:sp>
      <p:pic>
        <p:nvPicPr>
          <p:cNvPr id="10" name="图片 9"/>
          <p:cNvPicPr>
            <a:picLocks noChangeAspect="1"/>
          </p:cNvPicPr>
          <p:nvPr/>
        </p:nvPicPr>
        <p:blipFill>
          <a:blip r:embed="rId4"/>
          <a:stretch>
            <a:fillRect/>
          </a:stretch>
        </p:blipFill>
        <p:spPr>
          <a:xfrm>
            <a:off x="8350963" y="2006758"/>
            <a:ext cx="3623655" cy="1816685"/>
          </a:xfrm>
          <a:prstGeom prst="rect">
            <a:avLst/>
          </a:prstGeom>
        </p:spPr>
      </p:pic>
      <p:sp>
        <p:nvSpPr>
          <p:cNvPr id="11" name="文本框 10"/>
          <p:cNvSpPr txBox="1"/>
          <p:nvPr/>
        </p:nvSpPr>
        <p:spPr>
          <a:xfrm>
            <a:off x="0" y="3756064"/>
            <a:ext cx="3195320" cy="321945"/>
          </a:xfrm>
          <a:prstGeom prst="rect">
            <a:avLst/>
          </a:prstGeom>
          <a:noFill/>
        </p:spPr>
        <p:txBody>
          <a:bodyPr wrap="square" rtlCol="0">
            <a:noAutofit/>
          </a:bodyPr>
          <a:lstStyle/>
          <a:p>
            <a:r>
              <a:rPr lang="en-US" altLang="zh-CN" b="1" dirty="0"/>
              <a:t>Step 4: </a:t>
            </a:r>
            <a:r>
              <a:rPr lang="zh-CN" altLang="en-US" b="1" dirty="0"/>
              <a:t>异常值（</a:t>
            </a:r>
            <a:r>
              <a:rPr lang="en-US" altLang="zh-CN" b="1" dirty="0"/>
              <a:t>Outlier）</a:t>
            </a:r>
            <a:r>
              <a:rPr lang="zh-CN" altLang="en-US" b="1" dirty="0"/>
              <a:t>检测与处理</a:t>
            </a:r>
          </a:p>
        </p:txBody>
      </p:sp>
      <p:pic>
        <p:nvPicPr>
          <p:cNvPr id="12" name="图片 11"/>
          <p:cNvPicPr>
            <a:picLocks noChangeAspect="1"/>
          </p:cNvPicPr>
          <p:nvPr/>
        </p:nvPicPr>
        <p:blipFill>
          <a:blip r:embed="rId5"/>
          <a:stretch>
            <a:fillRect/>
          </a:stretch>
        </p:blipFill>
        <p:spPr>
          <a:xfrm>
            <a:off x="69455" y="4178250"/>
            <a:ext cx="3147539" cy="1732915"/>
          </a:xfrm>
          <a:prstGeom prst="rect">
            <a:avLst/>
          </a:prstGeom>
        </p:spPr>
      </p:pic>
      <p:sp>
        <p:nvSpPr>
          <p:cNvPr id="13" name="文本框 12"/>
          <p:cNvSpPr txBox="1"/>
          <p:nvPr/>
        </p:nvSpPr>
        <p:spPr>
          <a:xfrm>
            <a:off x="3281125" y="4078009"/>
            <a:ext cx="3449320" cy="306705"/>
          </a:xfrm>
          <a:prstGeom prst="rect">
            <a:avLst/>
          </a:prstGeom>
          <a:noFill/>
        </p:spPr>
        <p:txBody>
          <a:bodyPr wrap="square" rtlCol="0">
            <a:noAutofit/>
          </a:bodyPr>
          <a:lstStyle/>
          <a:p>
            <a:r>
              <a:rPr lang="en-US" altLang="zh-CN" b="1" dirty="0"/>
              <a:t>Step 5: </a:t>
            </a:r>
            <a:r>
              <a:rPr lang="zh-CN" altLang="en-US" b="1" dirty="0"/>
              <a:t>数据一致性校验（跨表关联验证）</a:t>
            </a:r>
          </a:p>
        </p:txBody>
      </p:sp>
      <p:pic>
        <p:nvPicPr>
          <p:cNvPr id="14" name="图片 13"/>
          <p:cNvPicPr>
            <a:picLocks noChangeAspect="1"/>
          </p:cNvPicPr>
          <p:nvPr/>
        </p:nvPicPr>
        <p:blipFill>
          <a:blip r:embed="rId6"/>
          <a:stretch>
            <a:fillRect/>
          </a:stretch>
        </p:blipFill>
        <p:spPr>
          <a:xfrm>
            <a:off x="3872032" y="4717732"/>
            <a:ext cx="2115503" cy="2115503"/>
          </a:xfrm>
          <a:prstGeom prst="rect">
            <a:avLst/>
          </a:prstGeom>
        </p:spPr>
      </p:pic>
      <p:pic>
        <p:nvPicPr>
          <p:cNvPr id="15" name="图片 14"/>
          <p:cNvPicPr>
            <a:picLocks noChangeAspect="1"/>
          </p:cNvPicPr>
          <p:nvPr/>
        </p:nvPicPr>
        <p:blipFill>
          <a:blip r:embed="rId7"/>
          <a:stretch>
            <a:fillRect/>
          </a:stretch>
        </p:blipFill>
        <p:spPr>
          <a:xfrm>
            <a:off x="7400766" y="4949666"/>
            <a:ext cx="2500472" cy="1917402"/>
          </a:xfrm>
          <a:prstGeom prst="rect">
            <a:avLst/>
          </a:prstGeom>
        </p:spPr>
      </p:pic>
      <p:sp>
        <p:nvSpPr>
          <p:cNvPr id="16" name="文本框 15"/>
          <p:cNvSpPr txBox="1"/>
          <p:nvPr/>
        </p:nvSpPr>
        <p:spPr>
          <a:xfrm>
            <a:off x="7330440" y="4564380"/>
            <a:ext cx="4064000" cy="306705"/>
          </a:xfrm>
          <a:prstGeom prst="rect">
            <a:avLst/>
          </a:prstGeom>
          <a:noFill/>
        </p:spPr>
        <p:txBody>
          <a:bodyPr wrap="square" rtlCol="0">
            <a:spAutoFit/>
          </a:bodyPr>
          <a:lstStyle/>
          <a:p>
            <a:r>
              <a:rPr lang="zh-CN" altLang="en-US" b="1">
                <a:solidFill>
                  <a:srgbClr val="FF0000"/>
                </a:solidFill>
              </a:rPr>
              <a:t>总清除效果</a:t>
            </a:r>
          </a:p>
        </p:txBody>
      </p:sp>
      <p:sp>
        <p:nvSpPr>
          <p:cNvPr id="17" name="AutoShape 4"/>
          <p:cNvSpPr/>
          <p:nvPr/>
        </p:nvSpPr>
        <p:spPr>
          <a:xfrm>
            <a:off x="336550" y="763905"/>
            <a:ext cx="5207000" cy="762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图片 17">
            <a:extLst>
              <a:ext uri="{FF2B5EF4-FFF2-40B4-BE49-F238E27FC236}">
                <a16:creationId xmlns:a16="http://schemas.microsoft.com/office/drawing/2014/main" id="{AAD4C29D-004F-D1DF-A814-04B2ABCB6921}"/>
              </a:ext>
            </a:extLst>
          </p:cNvPr>
          <p:cNvPicPr>
            <a:picLocks noChangeAspect="1"/>
          </p:cNvPicPr>
          <p:nvPr/>
        </p:nvPicPr>
        <p:blipFill>
          <a:blip r:embed="rId8"/>
          <a:stretch>
            <a:fillRect/>
          </a:stretch>
        </p:blipFill>
        <p:spPr>
          <a:xfrm>
            <a:off x="3176745" y="2202571"/>
            <a:ext cx="4162109" cy="1816686"/>
          </a:xfrm>
          <a:prstGeom prst="rect">
            <a:avLst/>
          </a:prstGeom>
        </p:spPr>
      </p:pic>
      <p:pic>
        <p:nvPicPr>
          <p:cNvPr id="20" name="图片 19">
            <a:extLst>
              <a:ext uri="{FF2B5EF4-FFF2-40B4-BE49-F238E27FC236}">
                <a16:creationId xmlns:a16="http://schemas.microsoft.com/office/drawing/2014/main" id="{564F6BF1-81CC-FFE6-CF83-B5E4CADB57E7}"/>
              </a:ext>
            </a:extLst>
          </p:cNvPr>
          <p:cNvPicPr>
            <a:picLocks noChangeAspect="1"/>
          </p:cNvPicPr>
          <p:nvPr/>
        </p:nvPicPr>
        <p:blipFill>
          <a:blip r:embed="rId9"/>
          <a:stretch>
            <a:fillRect/>
          </a:stretch>
        </p:blipFill>
        <p:spPr>
          <a:xfrm>
            <a:off x="26036" y="4091720"/>
            <a:ext cx="3346190" cy="2423380"/>
          </a:xfrm>
          <a:prstGeom prst="rect">
            <a:avLst/>
          </a:prstGeom>
        </p:spPr>
      </p:pic>
      <p:sp>
        <p:nvSpPr>
          <p:cNvPr id="24" name="文本框 23">
            <a:extLst>
              <a:ext uri="{FF2B5EF4-FFF2-40B4-BE49-F238E27FC236}">
                <a16:creationId xmlns:a16="http://schemas.microsoft.com/office/drawing/2014/main" id="{293AF363-59E9-56BC-8992-0D8A63CACFFB}"/>
              </a:ext>
            </a:extLst>
          </p:cNvPr>
          <p:cNvSpPr txBox="1"/>
          <p:nvPr/>
        </p:nvSpPr>
        <p:spPr>
          <a:xfrm>
            <a:off x="3281125" y="4384714"/>
            <a:ext cx="3621881" cy="430887"/>
          </a:xfrm>
          <a:prstGeom prst="rect">
            <a:avLst/>
          </a:prstGeom>
          <a:noFill/>
        </p:spPr>
        <p:txBody>
          <a:bodyPr wrap="square" rtlCol="0">
            <a:spAutoFit/>
          </a:bodyPr>
          <a:lstStyle/>
          <a:p>
            <a:r>
              <a:rPr lang="zh-CN" altLang="en-US" sz="1100" dirty="0"/>
              <a:t>为保证挖掘对象物理实体的客观存在性，必须对位置资源池信息表与最终故障标签发文表进行严格关联参照：</a:t>
            </a:r>
          </a:p>
        </p:txBody>
      </p:sp>
      <p:pic>
        <p:nvPicPr>
          <p:cNvPr id="28" name="图片 27">
            <a:extLst>
              <a:ext uri="{FF2B5EF4-FFF2-40B4-BE49-F238E27FC236}">
                <a16:creationId xmlns:a16="http://schemas.microsoft.com/office/drawing/2014/main" id="{AE50D513-6C3C-1963-6655-18EE82B1CEB5}"/>
              </a:ext>
            </a:extLst>
          </p:cNvPr>
          <p:cNvPicPr>
            <a:picLocks noChangeAspect="1"/>
          </p:cNvPicPr>
          <p:nvPr/>
        </p:nvPicPr>
        <p:blipFill>
          <a:blip r:embed="rId10"/>
          <a:stretch>
            <a:fillRect/>
          </a:stretch>
        </p:blipFill>
        <p:spPr>
          <a:xfrm>
            <a:off x="3432015" y="2106062"/>
            <a:ext cx="2613580" cy="1942571"/>
          </a:xfrm>
          <a:prstGeom prst="rect">
            <a:avLst/>
          </a:prstGeom>
        </p:spPr>
      </p:pic>
      <p:pic>
        <p:nvPicPr>
          <p:cNvPr id="30" name="图片 29">
            <a:extLst>
              <a:ext uri="{FF2B5EF4-FFF2-40B4-BE49-F238E27FC236}">
                <a16:creationId xmlns:a16="http://schemas.microsoft.com/office/drawing/2014/main" id="{EE846C22-A4E3-9D8C-D1CE-F8F5E7BD3377}"/>
              </a:ext>
            </a:extLst>
          </p:cNvPr>
          <p:cNvPicPr>
            <a:picLocks noChangeAspect="1"/>
          </p:cNvPicPr>
          <p:nvPr/>
        </p:nvPicPr>
        <p:blipFill>
          <a:blip r:embed="rId11"/>
          <a:stretch>
            <a:fillRect/>
          </a:stretch>
        </p:blipFill>
        <p:spPr>
          <a:xfrm>
            <a:off x="7338854" y="2202571"/>
            <a:ext cx="4853146" cy="15554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33400" y="281940"/>
            <a:ext cx="4064000" cy="460375"/>
          </a:xfrm>
          <a:prstGeom prst="rect">
            <a:avLst/>
          </a:prstGeom>
          <a:noFill/>
        </p:spPr>
        <p:txBody>
          <a:bodyPr wrap="square" rtlCol="0">
            <a:spAutoFit/>
          </a:bodyPr>
          <a:lstStyle/>
          <a:p>
            <a:r>
              <a:rPr lang="zh-CN" altLang="en-US" sz="2400" b="1">
                <a:latin typeface="Noto Sans SC" panose="020B0200000000000000" charset="-122"/>
                <a:ea typeface="Noto Sans SC" panose="020B0200000000000000" charset="-122"/>
                <a:cs typeface="Noto Sans SC" panose="020B0200000000000000" charset="-122"/>
              </a:rPr>
              <a:t>数据变换与特征工程 </a:t>
            </a:r>
          </a:p>
        </p:txBody>
      </p:sp>
      <p:sp>
        <p:nvSpPr>
          <p:cNvPr id="17" name="AutoShape 4"/>
          <p:cNvSpPr/>
          <p:nvPr/>
        </p:nvSpPr>
        <p:spPr>
          <a:xfrm>
            <a:off x="336550" y="763905"/>
            <a:ext cx="5207000" cy="762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文本框 2"/>
          <p:cNvSpPr txBox="1"/>
          <p:nvPr/>
        </p:nvSpPr>
        <p:spPr>
          <a:xfrm>
            <a:off x="336550" y="1089660"/>
            <a:ext cx="3204210" cy="1168400"/>
          </a:xfrm>
          <a:prstGeom prst="rect">
            <a:avLst/>
          </a:prstGeom>
          <a:noFill/>
        </p:spPr>
        <p:txBody>
          <a:bodyPr wrap="square" rtlCol="0">
            <a:spAutoFit/>
          </a:bodyPr>
          <a:lstStyle/>
          <a:p>
            <a:r>
              <a:rPr lang="en-US" altLang="zh-CN" dirty="0">
                <a:latin typeface="Noto Sans SC" panose="020B0200000000000000" charset="-122"/>
                <a:ea typeface="Noto Sans SC" panose="020B0200000000000000" charset="-122"/>
                <a:cs typeface="Noto Sans SC" panose="020B0200000000000000" charset="-122"/>
              </a:rPr>
              <a:t>1.</a:t>
            </a:r>
            <a:r>
              <a:rPr lang="zh-CN" altLang="en-US" dirty="0">
                <a:latin typeface="Noto Sans SC" panose="020B0200000000000000" charset="-122"/>
                <a:ea typeface="Noto Sans SC" panose="020B0200000000000000" charset="-122"/>
                <a:cs typeface="Noto Sans SC" panose="020B0200000000000000" charset="-122"/>
              </a:rPr>
              <a:t> 数据分箱（</a:t>
            </a:r>
            <a:r>
              <a:rPr lang="en-US" altLang="zh-CN" dirty="0">
                <a:latin typeface="Noto Sans SC" panose="020B0200000000000000" charset="-122"/>
                <a:ea typeface="Noto Sans SC" panose="020B0200000000000000" charset="-122"/>
                <a:cs typeface="Noto Sans SC" panose="020B0200000000000000" charset="-122"/>
              </a:rPr>
              <a:t>Binning） </a:t>
            </a:r>
          </a:p>
          <a:p>
            <a:r>
              <a:rPr lang="zh-CN" altLang="en-US" dirty="0">
                <a:latin typeface="Noto Sans SC" panose="020B0200000000000000" charset="-122"/>
                <a:ea typeface="Noto Sans SC" panose="020B0200000000000000" charset="-122"/>
                <a:cs typeface="Noto Sans SC" panose="020B0200000000000000" charset="-122"/>
              </a:rPr>
              <a:t>数据分箱属于降低非平稳噪音干扰与深挖阶段特征技术，是大数据预处理中常用的降维和特征提取技术，将连续变量划分为若干离散区间。</a:t>
            </a:r>
          </a:p>
        </p:txBody>
      </p:sp>
      <p:pic>
        <p:nvPicPr>
          <p:cNvPr id="4" name="图片 3"/>
          <p:cNvPicPr>
            <a:picLocks noChangeAspect="1"/>
          </p:cNvPicPr>
          <p:nvPr/>
        </p:nvPicPr>
        <p:blipFill>
          <a:blip r:embed="rId2"/>
          <a:stretch>
            <a:fillRect/>
          </a:stretch>
        </p:blipFill>
        <p:spPr>
          <a:xfrm>
            <a:off x="336550" y="3557746"/>
            <a:ext cx="2750185" cy="2912745"/>
          </a:xfrm>
          <a:prstGeom prst="rect">
            <a:avLst/>
          </a:prstGeom>
        </p:spPr>
      </p:pic>
      <p:sp>
        <p:nvSpPr>
          <p:cNvPr id="5" name="文本框 4"/>
          <p:cNvSpPr txBox="1"/>
          <p:nvPr/>
        </p:nvSpPr>
        <p:spPr>
          <a:xfrm>
            <a:off x="6096000" y="1290954"/>
            <a:ext cx="3625850" cy="737235"/>
          </a:xfrm>
          <a:prstGeom prst="rect">
            <a:avLst/>
          </a:prstGeom>
          <a:noFill/>
        </p:spPr>
        <p:txBody>
          <a:bodyPr wrap="square" rtlCol="0">
            <a:spAutoFit/>
          </a:bodyPr>
          <a:lstStyle/>
          <a:p>
            <a:r>
              <a:rPr lang="en-US" altLang="zh-CN" dirty="0">
                <a:latin typeface="Noto Sans SC" panose="020B0200000000000000" charset="-122"/>
                <a:ea typeface="Noto Sans SC" panose="020B0200000000000000" charset="-122"/>
                <a:cs typeface="Noto Sans SC" panose="020B0200000000000000" charset="-122"/>
              </a:rPr>
              <a:t>2.</a:t>
            </a:r>
            <a:r>
              <a:rPr lang="zh-CN" altLang="en-US" dirty="0">
                <a:latin typeface="Noto Sans SC" panose="020B0200000000000000" charset="-122"/>
                <a:ea typeface="Noto Sans SC" panose="020B0200000000000000" charset="-122"/>
                <a:cs typeface="Noto Sans SC" panose="020B0200000000000000" charset="-122"/>
              </a:rPr>
              <a:t>分类特征编码 </a:t>
            </a:r>
          </a:p>
          <a:p>
            <a:r>
              <a:rPr lang="zh-CN" altLang="en-US" dirty="0">
                <a:latin typeface="Noto Sans SC" panose="020B0200000000000000" charset="-122"/>
                <a:ea typeface="Noto Sans SC" panose="020B0200000000000000" charset="-122"/>
                <a:cs typeface="Noto Sans SC" panose="020B0200000000000000" charset="-122"/>
              </a:rPr>
              <a:t>采用 </a:t>
            </a:r>
            <a:r>
              <a:rPr lang="en-US" altLang="zh-CN" dirty="0">
                <a:latin typeface="Noto Sans SC" panose="020B0200000000000000" charset="-122"/>
                <a:ea typeface="Noto Sans SC" panose="020B0200000000000000" charset="-122"/>
                <a:cs typeface="Noto Sans SC" panose="020B0200000000000000" charset="-122"/>
              </a:rPr>
              <a:t>Label Encoding </a:t>
            </a:r>
            <a:r>
              <a:rPr lang="zh-CN" altLang="en-US" dirty="0">
                <a:latin typeface="Noto Sans SC" panose="020B0200000000000000" charset="-122"/>
                <a:ea typeface="Noto Sans SC" panose="020B0200000000000000" charset="-122"/>
                <a:cs typeface="Noto Sans SC" panose="020B0200000000000000" charset="-122"/>
              </a:rPr>
              <a:t>实现将 </a:t>
            </a:r>
            <a:r>
              <a:rPr lang="en-US" altLang="zh-CN" dirty="0">
                <a:latin typeface="Noto Sans SC" panose="020B0200000000000000" charset="-122"/>
                <a:ea typeface="Noto Sans SC" panose="020B0200000000000000" charset="-122"/>
                <a:cs typeface="Noto Sans SC" panose="020B0200000000000000" charset="-122"/>
              </a:rPr>
              <a:t>SSD </a:t>
            </a:r>
            <a:r>
              <a:rPr lang="zh-CN" altLang="en-US" dirty="0">
                <a:latin typeface="Noto Sans SC" panose="020B0200000000000000" charset="-122"/>
                <a:ea typeface="Noto Sans SC" panose="020B0200000000000000" charset="-122"/>
                <a:cs typeface="Noto Sans SC" panose="020B0200000000000000" charset="-122"/>
              </a:rPr>
              <a:t>型号从字符串映射为整数：</a:t>
            </a:r>
          </a:p>
        </p:txBody>
      </p:sp>
      <p:sp>
        <p:nvSpPr>
          <p:cNvPr id="6" name="文本框 5"/>
          <p:cNvSpPr txBox="1"/>
          <p:nvPr/>
        </p:nvSpPr>
        <p:spPr>
          <a:xfrm>
            <a:off x="6217444" y="3724275"/>
            <a:ext cx="4064000" cy="307777"/>
          </a:xfrm>
          <a:prstGeom prst="rect">
            <a:avLst/>
          </a:prstGeom>
          <a:noFill/>
        </p:spPr>
        <p:txBody>
          <a:bodyPr wrap="square" rtlCol="0">
            <a:spAutoFit/>
          </a:bodyPr>
          <a:lstStyle/>
          <a:p>
            <a:r>
              <a:rPr lang="en-US" altLang="zh-CN" dirty="0">
                <a:latin typeface="Noto Sans SC" panose="020B0200000000000000" charset="-122"/>
                <a:ea typeface="Noto Sans SC" panose="020B0200000000000000" charset="-122"/>
                <a:cs typeface="Noto Sans SC" panose="020B0200000000000000" charset="-122"/>
              </a:rPr>
              <a:t>3,</a:t>
            </a:r>
            <a:r>
              <a:rPr lang="zh-CN" altLang="en-US" dirty="0">
                <a:latin typeface="Noto Sans SC" panose="020B0200000000000000" charset="-122"/>
                <a:ea typeface="Noto Sans SC" panose="020B0200000000000000" charset="-122"/>
                <a:cs typeface="Noto Sans SC" panose="020B0200000000000000" charset="-122"/>
              </a:rPr>
              <a:t>。特征标准化（</a:t>
            </a:r>
            <a:r>
              <a:rPr lang="en-US" altLang="zh-CN" dirty="0" err="1">
                <a:latin typeface="Noto Sans SC" panose="020B0200000000000000" charset="-122"/>
                <a:ea typeface="Noto Sans SC" panose="020B0200000000000000" charset="-122"/>
                <a:cs typeface="Noto Sans SC" panose="020B0200000000000000" charset="-122"/>
              </a:rPr>
              <a:t>ZScore</a:t>
            </a:r>
            <a:r>
              <a:rPr lang="en-US" altLang="zh-CN" dirty="0">
                <a:latin typeface="Noto Sans SC" panose="020B0200000000000000" charset="-122"/>
                <a:ea typeface="Noto Sans SC" panose="020B0200000000000000" charset="-122"/>
                <a:cs typeface="Noto Sans SC" panose="020B0200000000000000" charset="-122"/>
              </a:rPr>
              <a:t> Standardization） </a:t>
            </a:r>
          </a:p>
        </p:txBody>
      </p:sp>
      <p:pic>
        <p:nvPicPr>
          <p:cNvPr id="14" name="图片 13">
            <a:extLst>
              <a:ext uri="{FF2B5EF4-FFF2-40B4-BE49-F238E27FC236}">
                <a16:creationId xmlns:a16="http://schemas.microsoft.com/office/drawing/2014/main" id="{6B952C6A-759D-C38B-A361-E6428889C89F}"/>
              </a:ext>
            </a:extLst>
          </p:cNvPr>
          <p:cNvPicPr>
            <a:picLocks noChangeAspect="1"/>
          </p:cNvPicPr>
          <p:nvPr/>
        </p:nvPicPr>
        <p:blipFill>
          <a:blip r:embed="rId3"/>
          <a:stretch>
            <a:fillRect/>
          </a:stretch>
        </p:blipFill>
        <p:spPr>
          <a:xfrm>
            <a:off x="287337" y="2370518"/>
            <a:ext cx="5305425" cy="1187228"/>
          </a:xfrm>
          <a:prstGeom prst="rect">
            <a:avLst/>
          </a:prstGeom>
        </p:spPr>
      </p:pic>
      <p:pic>
        <p:nvPicPr>
          <p:cNvPr id="16" name="图片 15">
            <a:extLst>
              <a:ext uri="{FF2B5EF4-FFF2-40B4-BE49-F238E27FC236}">
                <a16:creationId xmlns:a16="http://schemas.microsoft.com/office/drawing/2014/main" id="{8758D07E-FF51-205A-B211-1C73EAD90169}"/>
              </a:ext>
            </a:extLst>
          </p:cNvPr>
          <p:cNvPicPr>
            <a:picLocks noChangeAspect="1"/>
          </p:cNvPicPr>
          <p:nvPr/>
        </p:nvPicPr>
        <p:blipFill>
          <a:blip r:embed="rId4"/>
          <a:stretch>
            <a:fillRect/>
          </a:stretch>
        </p:blipFill>
        <p:spPr>
          <a:xfrm>
            <a:off x="6096000" y="2028189"/>
            <a:ext cx="5207794" cy="922344"/>
          </a:xfrm>
          <a:prstGeom prst="rect">
            <a:avLst/>
          </a:prstGeom>
        </p:spPr>
      </p:pic>
      <p:pic>
        <p:nvPicPr>
          <p:cNvPr id="19" name="图片 18">
            <a:extLst>
              <a:ext uri="{FF2B5EF4-FFF2-40B4-BE49-F238E27FC236}">
                <a16:creationId xmlns:a16="http://schemas.microsoft.com/office/drawing/2014/main" id="{02059241-861D-8DE5-FCD8-E9547F6BDA36}"/>
              </a:ext>
            </a:extLst>
          </p:cNvPr>
          <p:cNvPicPr>
            <a:picLocks noChangeAspect="1"/>
          </p:cNvPicPr>
          <p:nvPr/>
        </p:nvPicPr>
        <p:blipFill>
          <a:blip r:embed="rId5"/>
          <a:stretch>
            <a:fillRect/>
          </a:stretch>
        </p:blipFill>
        <p:spPr>
          <a:xfrm>
            <a:off x="6217444" y="4161472"/>
            <a:ext cx="5011737" cy="181614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651000"/>
            <a:ext cx="12192000" cy="177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4" name="AutoShape 4"/>
          <p:cNvSpPr/>
          <p:nvPr/>
        </p:nvSpPr>
        <p:spPr>
          <a:xfrm>
            <a:off x="5588000" y="3683000"/>
            <a:ext cx="1016000" cy="508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4318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核心发现：统计分析</a:t>
            </a:r>
            <a:endParaRPr lang="en-US" sz="1100"/>
          </a:p>
        </p:txBody>
      </p:sp>
      <p:sp>
        <p:nvSpPr>
          <p:cNvPr id="6" name="AutoShape 6"/>
          <p:cNvSpPr/>
          <p:nvPr/>
        </p:nvSpPr>
        <p:spPr>
          <a:xfrm>
            <a:off x="0" y="5461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spc="300">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KEY FINDINGS: STATISTICAL ANALYSIS</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52450" y="344170"/>
            <a:ext cx="4617085" cy="1938020"/>
          </a:xfrm>
          <a:prstGeom prst="rect">
            <a:avLst/>
          </a:prstGeom>
          <a:noFill/>
        </p:spPr>
        <p:txBody>
          <a:bodyPr wrap="square" rtlCol="0">
            <a:spAutoFit/>
          </a:bodyPr>
          <a:lstStyle/>
          <a:p>
            <a:r>
              <a:rPr lang="zh-CN" altLang="en-US" sz="2400" b="1">
                <a:latin typeface="Noto Sans SC" panose="020B0200000000000000" charset="-122"/>
                <a:ea typeface="Noto Sans SC" panose="020B0200000000000000" charset="-122"/>
                <a:cs typeface="Noto Sans SC" panose="020B0200000000000000" charset="-122"/>
              </a:rPr>
              <a:t> 整体故障概况</a:t>
            </a:r>
            <a:r>
              <a:rPr lang="zh-CN" altLang="en-US" sz="2400">
                <a:latin typeface="Noto Sans SC" panose="020B0200000000000000" charset="-122"/>
                <a:ea typeface="Noto Sans SC" panose="020B0200000000000000" charset="-122"/>
                <a:cs typeface="Noto Sans SC" panose="020B0200000000000000" charset="-122"/>
              </a:rPr>
              <a:t> </a:t>
            </a:r>
          </a:p>
          <a:p>
            <a:r>
              <a:rPr lang="en-US" altLang="zh-CN" sz="2400">
                <a:latin typeface="Noto Sans SC" panose="020B0200000000000000" charset="-122"/>
                <a:ea typeface="Noto Sans SC" panose="020B0200000000000000" charset="-122"/>
                <a:cs typeface="Noto Sans SC" panose="020B0200000000000000" charset="-122"/>
              </a:rPr>
              <a:t>SSD </a:t>
            </a:r>
            <a:r>
              <a:rPr lang="zh-CN" altLang="en-US" sz="2400">
                <a:latin typeface="Noto Sans SC" panose="020B0200000000000000" charset="-122"/>
                <a:ea typeface="Noto Sans SC" panose="020B0200000000000000" charset="-122"/>
                <a:cs typeface="Noto Sans SC" panose="020B0200000000000000" charset="-122"/>
              </a:rPr>
              <a:t>设备总数：965,495 块 录得故障数：18,387 块 </a:t>
            </a:r>
          </a:p>
          <a:p>
            <a:r>
              <a:rPr lang="zh-CN" altLang="en-US" sz="2400">
                <a:latin typeface="Noto Sans SC" panose="020B0200000000000000" charset="-122"/>
                <a:ea typeface="Noto Sans SC" panose="020B0200000000000000" charset="-122"/>
                <a:cs typeface="Noto Sans SC" panose="020B0200000000000000" charset="-122"/>
              </a:rPr>
              <a:t>当前健康数目：947,108 块 对应故障灾损率： 1.90%</a:t>
            </a:r>
            <a:r>
              <a:rPr lang="zh-CN" altLang="en-US" sz="2400"/>
              <a:t> </a:t>
            </a:r>
          </a:p>
        </p:txBody>
      </p:sp>
      <p:pic>
        <p:nvPicPr>
          <p:cNvPr id="3" name="图片 2"/>
          <p:cNvPicPr>
            <a:picLocks noChangeAspect="1"/>
          </p:cNvPicPr>
          <p:nvPr/>
        </p:nvPicPr>
        <p:blipFill>
          <a:blip r:embed="rId2"/>
          <a:stretch>
            <a:fillRect/>
          </a:stretch>
        </p:blipFill>
        <p:spPr>
          <a:xfrm>
            <a:off x="552450" y="2431415"/>
            <a:ext cx="7044055" cy="3159760"/>
          </a:xfrm>
          <a:prstGeom prst="rect">
            <a:avLst/>
          </a:prstGeom>
        </p:spPr>
      </p:pic>
      <p:pic>
        <p:nvPicPr>
          <p:cNvPr id="4" name="图片 3"/>
          <p:cNvPicPr>
            <a:picLocks noChangeAspect="1"/>
          </p:cNvPicPr>
          <p:nvPr/>
        </p:nvPicPr>
        <p:blipFill>
          <a:blip r:embed="rId3"/>
          <a:stretch>
            <a:fillRect/>
          </a:stretch>
        </p:blipFill>
        <p:spPr>
          <a:xfrm>
            <a:off x="8096250" y="1988820"/>
            <a:ext cx="2514600" cy="4044315"/>
          </a:xfrm>
          <a:prstGeom prst="rect">
            <a:avLst/>
          </a:prstGeom>
        </p:spPr>
      </p:pic>
      <p:sp>
        <p:nvSpPr>
          <p:cNvPr id="5" name="文本框 4"/>
          <p:cNvSpPr txBox="1"/>
          <p:nvPr/>
        </p:nvSpPr>
        <p:spPr>
          <a:xfrm>
            <a:off x="8305800" y="1620520"/>
            <a:ext cx="4064000" cy="368300"/>
          </a:xfrm>
          <a:prstGeom prst="rect">
            <a:avLst/>
          </a:prstGeom>
          <a:noFill/>
        </p:spPr>
        <p:txBody>
          <a:bodyPr wrap="square" rtlCol="0">
            <a:spAutoFit/>
          </a:bodyPr>
          <a:lstStyle/>
          <a:p>
            <a:r>
              <a:rPr lang="zh-CN" altLang="en-US" sz="1800" b="1">
                <a:latin typeface="Noto Sans SC Black" panose="020B0200000000000000" charset="-122"/>
                <a:ea typeface="Noto Sans SC Black" panose="020B0200000000000000" charset="-122"/>
              </a:rPr>
              <a:t>型号故障分布</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核心发现：应用场景与故障关联</a:t>
            </a:r>
            <a:endParaRPr lang="en-US" sz="1100"/>
          </a:p>
        </p:txBody>
      </p:sp>
      <p:sp>
        <p:nvSpPr>
          <p:cNvPr id="3" name="AutoShape 3"/>
          <p:cNvSpPr/>
          <p:nvPr/>
        </p:nvSpPr>
        <p:spPr>
          <a:xfrm>
            <a:off x="762000" y="1651000"/>
            <a:ext cx="5207000" cy="4572000"/>
          </a:xfrm>
          <a:prstGeom prst="roundRect">
            <a:avLst>
              <a:gd name="adj" fmla="val 3333"/>
            </a:avLst>
          </a:prstGeom>
          <a:solidFill>
            <a:srgbClr val="F9FAFB">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t="5637" b="5637"/>
          <a:stretch>
            <a:fillRect/>
          </a:stretch>
        </p:blipFill>
        <p:spPr>
          <a:xfrm>
            <a:off x="1016000" y="1905000"/>
            <a:ext cx="4699000" cy="1905000"/>
          </a:xfrm>
          <a:prstGeom prst="roundRect">
            <a:avLst>
              <a:gd name="adj" fmla="val 5333"/>
            </a:avLst>
          </a:prstGeom>
          <a:noFill/>
          <a:ln w="25400" cap="flat" cmpd="sng">
            <a:noFill/>
            <a:prstDash val="solid"/>
            <a:round/>
          </a:ln>
        </p:spPr>
      </p:pic>
      <p:sp>
        <p:nvSpPr>
          <p:cNvPr id="5" name="AutoShape 5"/>
          <p:cNvSpPr/>
          <p:nvPr/>
        </p:nvSpPr>
        <p:spPr>
          <a:xfrm>
            <a:off x="1016000" y="4064000"/>
            <a:ext cx="4699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9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写密集型负载是主因</a:t>
            </a:r>
            <a:endParaRPr lang="en-US" sz="1100"/>
          </a:p>
          <a:p>
            <a:pPr marL="0" indent="0" algn="l">
              <a:lnSpc>
                <a:spcPct val="125000"/>
              </a:lnSpc>
              <a:spcBef>
                <a:spcPts val="12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WSM (Web Service Manager) 应用场景故障数最多，占比高达</a:t>
            </a: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48.5%</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。该场景工作负载的核心特征为“高频随机写入”，是导致SSD寿命消耗过快的重要因素。</a:t>
            </a:r>
          </a:p>
        </p:txBody>
      </p:sp>
      <p:sp>
        <p:nvSpPr>
          <p:cNvPr id="6" name="AutoShape 6"/>
          <p:cNvSpPr/>
          <p:nvPr/>
        </p:nvSpPr>
        <p:spPr>
          <a:xfrm>
            <a:off x="6223000" y="1651000"/>
            <a:ext cx="5207000" cy="4572000"/>
          </a:xfrm>
          <a:prstGeom prst="roundRect">
            <a:avLst>
              <a:gd name="adj" fmla="val 3333"/>
            </a:avLst>
          </a:prstGeom>
          <a:solidFill>
            <a:srgbClr val="F9FAFB">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srcRect t="6573" b="6573"/>
          <a:stretch>
            <a:fillRect/>
          </a:stretch>
        </p:blipFill>
        <p:spPr>
          <a:xfrm>
            <a:off x="6477000" y="1905000"/>
            <a:ext cx="4699000" cy="1905000"/>
          </a:xfrm>
          <a:prstGeom prst="roundRect">
            <a:avLst>
              <a:gd name="adj" fmla="val 5333"/>
            </a:avLst>
          </a:prstGeom>
          <a:noFill/>
          <a:ln w="25400" cap="flat" cmpd="sng">
            <a:noFill/>
            <a:prstDash val="solid"/>
            <a:round/>
          </a:ln>
        </p:spPr>
      </p:pic>
      <p:sp>
        <p:nvSpPr>
          <p:cNvPr id="8" name="AutoShape 8"/>
          <p:cNvSpPr/>
          <p:nvPr/>
        </p:nvSpPr>
        <p:spPr>
          <a:xfrm>
            <a:off x="6477000" y="4064000"/>
            <a:ext cx="4699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9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AFR分析验证</a:t>
            </a:r>
            <a:endParaRPr lang="en-US" sz="1100"/>
          </a:p>
          <a:p>
            <a:pPr marL="0" indent="0" algn="l">
              <a:lnSpc>
                <a:spcPct val="125000"/>
              </a:lnSpc>
              <a:spcBef>
                <a:spcPts val="12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数据显示，DAE、WSM等写密集型业务的年化故障率（AFR）远高于读密集型或低IOPS业务，最高可达</a:t>
            </a: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7.59%</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，有力证实了“大量非顺序写入会加速硬件老化”的业界共识。</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核心发现：故障时间趋势分析</a:t>
            </a:r>
            <a:endParaRPr lang="en-US" sz="1100"/>
          </a:p>
        </p:txBody>
      </p:sp>
      <p:sp>
        <p:nvSpPr>
          <p:cNvPr id="3" name="AutoShape 3"/>
          <p:cNvSpPr/>
          <p:nvPr/>
        </p:nvSpPr>
        <p:spPr>
          <a:xfrm>
            <a:off x="762000" y="1778000"/>
            <a:ext cx="5207000" cy="1397000"/>
          </a:xfrm>
          <a:prstGeom prst="roundRect">
            <a:avLst>
              <a:gd name="adj" fmla="val 727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778000"/>
            <a:ext cx="76200" cy="1397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92200" y="1930400"/>
            <a:ext cx="457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01 / 年度趋势：设备老化效应显著</a:t>
            </a:r>
            <a:endParaRPr lang="en-US" sz="1100"/>
          </a:p>
          <a:p>
            <a:pPr marL="0" indent="0" algn="l">
              <a:lnSpc>
                <a:spcPct val="117000"/>
              </a:lnSpc>
              <a:spcBef>
                <a:spcPts val="800"/>
              </a:spcBef>
            </a:pPr>
            <a:r>
              <a:rPr lang="en-US" sz="1300" b="0" i="0" u="none" strike="noStrike">
                <a:solidFill>
                  <a:srgbClr val="5C5C5C"/>
                </a:solidFill>
                <a:latin typeface="Noto Sans SC" panose="020B0200000000000000" charset="-122"/>
                <a:ea typeface="Noto Sans SC" panose="020B0200000000000000" charset="-122"/>
                <a:cs typeface="Noto Sans SC" panose="020B0200000000000000" charset="-122"/>
                <a:sym typeface="Noto Sans SC" panose="020B0200000000000000" charset="-122"/>
              </a:rPr>
              <a:t>2019年故障数较2018年呈现显著上升趋势，数据直观反映出硬件随使用时间增加而出现的自然老化现象，是故障增加的核心诱因。</a:t>
            </a:r>
          </a:p>
        </p:txBody>
      </p:sp>
      <p:sp>
        <p:nvSpPr>
          <p:cNvPr id="6" name="AutoShape 6"/>
          <p:cNvSpPr/>
          <p:nvPr/>
        </p:nvSpPr>
        <p:spPr>
          <a:xfrm>
            <a:off x="762000" y="3429000"/>
            <a:ext cx="5207000" cy="1397000"/>
          </a:xfrm>
          <a:prstGeom prst="roundRect">
            <a:avLst>
              <a:gd name="adj" fmla="val 727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3429000"/>
            <a:ext cx="76200" cy="1397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92200" y="3581400"/>
            <a:ext cx="457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02 / 月度趋势：高温加速故障发生</a:t>
            </a:r>
            <a:endParaRPr lang="en-US" sz="1100"/>
          </a:p>
          <a:p>
            <a:pPr marL="0" indent="0" algn="l">
              <a:lnSpc>
                <a:spcPct val="117000"/>
              </a:lnSpc>
              <a:spcBef>
                <a:spcPts val="800"/>
              </a:spcBef>
            </a:pPr>
            <a:r>
              <a:rPr lang="en-US" sz="1300" b="0" i="0" u="none" strike="noStrike">
                <a:solidFill>
                  <a:srgbClr val="5C5C5C"/>
                </a:solidFill>
                <a:latin typeface="Noto Sans SC" panose="020B0200000000000000" charset="-122"/>
                <a:ea typeface="Noto Sans SC" panose="020B0200000000000000" charset="-122"/>
                <a:cs typeface="Noto Sans SC" panose="020B0200000000000000" charset="-122"/>
                <a:sym typeface="Noto Sans SC" panose="020B0200000000000000" charset="-122"/>
              </a:rPr>
              <a:t>故障高峰集中出现在夏季的8月份，表明机房或设备工作环境的温度控制至关重要，高温环境对SSD的电子元件可靠性产生了显著负面影响。</a:t>
            </a:r>
          </a:p>
        </p:txBody>
      </p:sp>
      <p:sp>
        <p:nvSpPr>
          <p:cNvPr id="9" name="AutoShape 9"/>
          <p:cNvSpPr/>
          <p:nvPr/>
        </p:nvSpPr>
        <p:spPr>
          <a:xfrm>
            <a:off x="762000" y="5080000"/>
            <a:ext cx="5207000" cy="1397000"/>
          </a:xfrm>
          <a:prstGeom prst="roundRect">
            <a:avLst>
              <a:gd name="adj" fmla="val 727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762000" y="5080000"/>
            <a:ext cx="76200" cy="1397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092200" y="5232400"/>
            <a:ext cx="457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03 / 日内趋势：负载峰值引发宕机</a:t>
            </a:r>
            <a:endParaRPr lang="en-US" sz="1100"/>
          </a:p>
          <a:p>
            <a:pPr marL="0" indent="0" algn="l">
              <a:lnSpc>
                <a:spcPct val="117000"/>
              </a:lnSpc>
              <a:spcBef>
                <a:spcPts val="800"/>
              </a:spcBef>
            </a:pPr>
            <a:r>
              <a:rPr lang="en-US" sz="1300" b="0" i="0" u="none" strike="noStrike">
                <a:solidFill>
                  <a:srgbClr val="5C5C5C"/>
                </a:solidFill>
                <a:latin typeface="Noto Sans SC" panose="020B0200000000000000" charset="-122"/>
                <a:ea typeface="Noto Sans SC" panose="020B0200000000000000" charset="-122"/>
                <a:cs typeface="Noto Sans SC" panose="020B0200000000000000" charset="-122"/>
                <a:sym typeface="Noto Sans SC" panose="020B0200000000000000" charset="-122"/>
              </a:rPr>
              <a:t>故障爆发的高频时段为凌晨2-3点，推测与该时段集中执行的夜间批处理任务、或系统自动触发的GC（垃圾回收）操作产生的瞬时IO与算力峰值压力直接相关。</a:t>
            </a:r>
          </a:p>
        </p:txBody>
      </p:sp>
      <p:pic>
        <p:nvPicPr>
          <p:cNvPr id="12" name="Picture 12"/>
          <p:cNvPicPr>
            <a:picLocks noChangeAspect="1"/>
          </p:cNvPicPr>
          <p:nvPr/>
        </p:nvPicPr>
        <p:blipFill>
          <a:blip r:embed="rId3"/>
          <a:srcRect l="10191" r="10191"/>
          <a:stretch>
            <a:fillRect/>
          </a:stretch>
        </p:blipFill>
        <p:spPr>
          <a:xfrm>
            <a:off x="6350000" y="1905000"/>
            <a:ext cx="4953000" cy="4445000"/>
          </a:xfrm>
          <a:prstGeom prst="roundRect">
            <a:avLst>
              <a:gd name="adj" fmla="val 3428"/>
            </a:avLst>
          </a:prstGeom>
          <a:no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52450" y="447675"/>
            <a:ext cx="4064000" cy="583565"/>
          </a:xfrm>
          <a:prstGeom prst="rect">
            <a:avLst/>
          </a:prstGeom>
          <a:noFill/>
        </p:spPr>
        <p:txBody>
          <a:bodyPr wrap="square" rtlCol="0">
            <a:spAutoFit/>
          </a:bodyPr>
          <a:lstStyle/>
          <a:p>
            <a:r>
              <a:rPr lang="en-US" altLang="zh-CN" sz="3200" b="1">
                <a:latin typeface="Noto Sans SC" panose="020B0200000000000000" charset="-122"/>
                <a:ea typeface="Noto Sans SC" panose="020B0200000000000000" charset="-122"/>
                <a:cs typeface="Noto Sans SC" panose="020B0200000000000000" charset="-122"/>
              </a:rPr>
              <a:t>smart</a:t>
            </a:r>
            <a:r>
              <a:rPr lang="zh-CN" altLang="en-US" sz="3200" b="1">
                <a:latin typeface="Noto Sans SC" panose="020B0200000000000000" charset="-122"/>
                <a:ea typeface="Noto Sans SC" panose="020B0200000000000000" charset="-122"/>
                <a:cs typeface="Noto Sans SC" panose="020B0200000000000000" charset="-122"/>
              </a:rPr>
              <a:t>属性分析</a:t>
            </a:r>
          </a:p>
        </p:txBody>
      </p:sp>
      <p:pic>
        <p:nvPicPr>
          <p:cNvPr id="3" name="图片 2"/>
          <p:cNvPicPr>
            <a:picLocks noChangeAspect="1"/>
          </p:cNvPicPr>
          <p:nvPr/>
        </p:nvPicPr>
        <p:blipFill>
          <a:blip r:embed="rId2"/>
          <a:stretch>
            <a:fillRect/>
          </a:stretch>
        </p:blipFill>
        <p:spPr>
          <a:xfrm>
            <a:off x="990600" y="1398270"/>
            <a:ext cx="9178290" cy="45770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19100" y="390525"/>
            <a:ext cx="5397500" cy="583565"/>
          </a:xfrm>
          <a:prstGeom prst="rect">
            <a:avLst/>
          </a:prstGeom>
          <a:noFill/>
        </p:spPr>
        <p:txBody>
          <a:bodyPr wrap="square" rtlCol="0">
            <a:spAutoFit/>
          </a:bodyPr>
          <a:lstStyle/>
          <a:p>
            <a:r>
              <a:rPr lang="en-US" altLang="zh-CN" sz="3200" b="1">
                <a:latin typeface="Noto Sans SC" panose="020B0200000000000000" charset="-122"/>
                <a:ea typeface="Noto Sans SC" panose="020B0200000000000000" charset="-122"/>
                <a:cs typeface="Noto Sans SC" panose="020B0200000000000000" charset="-122"/>
              </a:rPr>
              <a:t>Pearson </a:t>
            </a:r>
            <a:r>
              <a:rPr lang="zh-CN" altLang="en-US" sz="3200" b="1">
                <a:latin typeface="Noto Sans SC" panose="020B0200000000000000" charset="-122"/>
                <a:ea typeface="Noto Sans SC" panose="020B0200000000000000" charset="-122"/>
                <a:cs typeface="Noto Sans SC" panose="020B0200000000000000" charset="-122"/>
              </a:rPr>
              <a:t>内生相关性分析</a:t>
            </a:r>
          </a:p>
        </p:txBody>
      </p:sp>
      <p:pic>
        <p:nvPicPr>
          <p:cNvPr id="8" name="图片 7"/>
          <p:cNvPicPr>
            <a:picLocks noChangeAspect="1"/>
          </p:cNvPicPr>
          <p:nvPr/>
        </p:nvPicPr>
        <p:blipFill>
          <a:blip r:embed="rId2"/>
          <a:stretch>
            <a:fillRect/>
          </a:stretch>
        </p:blipFill>
        <p:spPr>
          <a:xfrm>
            <a:off x="2138680" y="1303020"/>
            <a:ext cx="6694170" cy="2903855"/>
          </a:xfrm>
          <a:prstGeom prst="rect">
            <a:avLst/>
          </a:prstGeom>
        </p:spPr>
      </p:pic>
      <p:sp>
        <p:nvSpPr>
          <p:cNvPr id="9" name="文本框 8"/>
          <p:cNvSpPr txBox="1"/>
          <p:nvPr/>
        </p:nvSpPr>
        <p:spPr>
          <a:xfrm>
            <a:off x="301625" y="4772025"/>
            <a:ext cx="10748645" cy="1322070"/>
          </a:xfrm>
          <a:prstGeom prst="rect">
            <a:avLst/>
          </a:prstGeom>
          <a:noFill/>
        </p:spPr>
        <p:txBody>
          <a:bodyPr wrap="square" rtlCol="0">
            <a:spAutoFit/>
          </a:bodyPr>
          <a:lstStyle/>
          <a:p>
            <a:r>
              <a:rPr lang="en-US" altLang="zh-CN" sz="2000">
                <a:latin typeface="Noto Sans SC" panose="020B0200000000000000" charset="-122"/>
                <a:ea typeface="Noto Sans SC" panose="020B0200000000000000" charset="-122"/>
                <a:cs typeface="Noto Sans SC" panose="020B0200000000000000" charset="-122"/>
              </a:rPr>
              <a:t> </a:t>
            </a:r>
          </a:p>
          <a:p>
            <a:r>
              <a:rPr lang="zh-CN" altLang="en-US" sz="2000">
                <a:latin typeface="Noto Sans SC" panose="020B0200000000000000" charset="-122"/>
                <a:ea typeface="Noto Sans SC" panose="020B0200000000000000" charset="-122"/>
                <a:cs typeface="Noto Sans SC" panose="020B0200000000000000" charset="-122"/>
              </a:rPr>
              <a:t>零 方 差 特 征 处 理：在计算相关性之前，需排除常数列（标准差为 0）。本数据集中 31 个 </a:t>
            </a:r>
            <a:r>
              <a:rPr lang="en-US" altLang="zh-CN" sz="2000">
                <a:latin typeface="Noto Sans SC" panose="020B0200000000000000" charset="-122"/>
                <a:ea typeface="Noto Sans SC" panose="020B0200000000000000" charset="-122"/>
                <a:cs typeface="Noto Sans SC" panose="020B0200000000000000" charset="-122"/>
              </a:rPr>
              <a:t>SMART </a:t>
            </a:r>
            <a:r>
              <a:rPr lang="zh-CN" altLang="en-US" sz="2000">
                <a:latin typeface="Noto Sans SC" panose="020B0200000000000000" charset="-122"/>
                <a:ea typeface="Noto Sans SC" panose="020B0200000000000000" charset="-122"/>
                <a:cs typeface="Noto Sans SC" panose="020B0200000000000000" charset="-122"/>
              </a:rPr>
              <a:t>特征有 26 个为常数列（如 </a:t>
            </a:r>
            <a:r>
              <a:rPr lang="en-US" altLang="zh-CN" sz="2000">
                <a:latin typeface="Noto Sans SC" panose="020B0200000000000000" charset="-122"/>
                <a:ea typeface="Noto Sans SC" panose="020B0200000000000000" charset="-122"/>
                <a:cs typeface="Noto Sans SC" panose="020B0200000000000000" charset="-122"/>
              </a:rPr>
              <a:t>r_183 </a:t>
            </a:r>
            <a:r>
              <a:rPr lang="zh-CN" altLang="en-US" sz="2000">
                <a:latin typeface="Noto Sans SC" panose="020B0200000000000000" charset="-122"/>
                <a:ea typeface="Noto Sans SC" panose="020B0200000000000000" charset="-122"/>
                <a:cs typeface="Noto Sans SC" panose="020B0200000000000000" charset="-122"/>
              </a:rPr>
              <a:t>全部为 0，</a:t>
            </a:r>
            <a:r>
              <a:rPr lang="en-US" altLang="zh-CN" sz="2000">
                <a:latin typeface="Noto Sans SC" panose="020B0200000000000000" charset="-122"/>
                <a:ea typeface="Noto Sans SC" panose="020B0200000000000000" charset="-122"/>
                <a:cs typeface="Noto Sans SC" panose="020B0200000000000000" charset="-122"/>
              </a:rPr>
              <a:t>n_183 </a:t>
            </a:r>
            <a:r>
              <a:rPr lang="zh-CN" altLang="en-US" sz="2000">
                <a:latin typeface="Noto Sans SC" panose="020B0200000000000000" charset="-122"/>
                <a:ea typeface="Noto Sans SC" panose="020B0200000000000000" charset="-122"/>
                <a:cs typeface="Noto Sans SC" panose="020B0200000000000000" charset="-122"/>
              </a:rPr>
              <a:t>全部为 100），这些列对相关性分析无信息贡献，且会导致分母为 0 产生 </a:t>
            </a:r>
            <a:r>
              <a:rPr lang="en-US" altLang="zh-CN" sz="2000">
                <a:latin typeface="Noto Sans SC" panose="020B0200000000000000" charset="-122"/>
                <a:ea typeface="Noto Sans SC" panose="020B0200000000000000" charset="-122"/>
                <a:cs typeface="Noto Sans SC" panose="020B0200000000000000" charset="-122"/>
              </a:rPr>
              <a:t>NaN。</a:t>
            </a:r>
            <a:r>
              <a:rPr lang="zh-CN" altLang="en-US" sz="2000">
                <a:latin typeface="Noto Sans SC" panose="020B0200000000000000" charset="-122"/>
                <a:ea typeface="Noto Sans SC" panose="020B0200000000000000" charset="-122"/>
                <a:cs typeface="Noto Sans SC" panose="020B0200000000000000" charset="-122"/>
              </a:rPr>
              <a:t>下图中仅保留 5 个有效 </a:t>
            </a:r>
            <a:r>
              <a:rPr lang="en-US" altLang="zh-CN" sz="2000">
                <a:latin typeface="Noto Sans SC" panose="020B0200000000000000" charset="-122"/>
                <a:ea typeface="Noto Sans SC" panose="020B0200000000000000" charset="-122"/>
                <a:cs typeface="Noto Sans SC" panose="020B0200000000000000" charset="-122"/>
              </a:rPr>
              <a:t>SMART </a:t>
            </a:r>
            <a:r>
              <a:rPr lang="zh-CN" altLang="en-US" sz="2000">
                <a:latin typeface="Noto Sans SC" panose="020B0200000000000000" charset="-122"/>
                <a:ea typeface="Noto Sans SC" panose="020B0200000000000000" charset="-122"/>
                <a:cs typeface="Noto Sans SC" panose="020B0200000000000000" charset="-122"/>
              </a:rPr>
              <a:t>特征参与计算。</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448050" y="304800"/>
            <a:ext cx="5029200" cy="622681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524000"/>
            <a:ext cx="12192000" cy="203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4" name="AutoShape 4"/>
          <p:cNvSpPr/>
          <p:nvPr/>
        </p:nvSpPr>
        <p:spPr>
          <a:xfrm>
            <a:off x="0" y="3810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故障预测模型</a:t>
            </a:r>
            <a:endParaRPr lang="en-US" sz="1100"/>
          </a:p>
        </p:txBody>
      </p:sp>
      <p:sp>
        <p:nvSpPr>
          <p:cNvPr id="5" name="AutoShape 5"/>
          <p:cNvSpPr/>
          <p:nvPr/>
        </p:nvSpPr>
        <p:spPr>
          <a:xfrm>
            <a:off x="0" y="5207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spc="300">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FAULT PREDICTION MODEL</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19150" y="619125"/>
            <a:ext cx="4064000" cy="583565"/>
          </a:xfrm>
          <a:prstGeom prst="rect">
            <a:avLst/>
          </a:prstGeom>
          <a:noFill/>
        </p:spPr>
        <p:txBody>
          <a:bodyPr wrap="square" rtlCol="0">
            <a:spAutoFit/>
          </a:bodyPr>
          <a:lstStyle/>
          <a:p>
            <a:r>
              <a:rPr lang="zh-CN" altLang="en-US" sz="3200" b="1">
                <a:latin typeface="Noto Sans SC" panose="020B0200000000000000" charset="-122"/>
                <a:ea typeface="Noto Sans SC" panose="020B0200000000000000" charset="-122"/>
              </a:rPr>
              <a:t>设计思路</a:t>
            </a:r>
          </a:p>
        </p:txBody>
      </p:sp>
      <p:pic>
        <p:nvPicPr>
          <p:cNvPr id="3" name="图片 2"/>
          <p:cNvPicPr>
            <a:picLocks noChangeAspect="1"/>
          </p:cNvPicPr>
          <p:nvPr/>
        </p:nvPicPr>
        <p:blipFill>
          <a:blip r:embed="rId2"/>
          <a:stretch>
            <a:fillRect/>
          </a:stretch>
        </p:blipFill>
        <p:spPr>
          <a:xfrm>
            <a:off x="1485900" y="2034540"/>
            <a:ext cx="7972425" cy="304419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33400" y="466725"/>
            <a:ext cx="4064000" cy="583565"/>
          </a:xfrm>
          <a:prstGeom prst="rect">
            <a:avLst/>
          </a:prstGeom>
          <a:noFill/>
        </p:spPr>
        <p:txBody>
          <a:bodyPr wrap="square" rtlCol="0">
            <a:spAutoFit/>
          </a:bodyPr>
          <a:lstStyle/>
          <a:p>
            <a:r>
              <a:rPr lang="zh-CN" altLang="en-US" sz="3200" b="1">
                <a:latin typeface="Noto Sans SC" panose="020B0200000000000000" charset="-122"/>
                <a:ea typeface="Noto Sans SC" panose="020B0200000000000000" charset="-122"/>
              </a:rPr>
              <a:t>随机森林实验</a:t>
            </a:r>
          </a:p>
        </p:txBody>
      </p:sp>
      <p:sp>
        <p:nvSpPr>
          <p:cNvPr id="3" name="文本框 2"/>
          <p:cNvSpPr txBox="1"/>
          <p:nvPr/>
        </p:nvSpPr>
        <p:spPr>
          <a:xfrm>
            <a:off x="533400" y="1050290"/>
            <a:ext cx="11207115" cy="1938020"/>
          </a:xfrm>
          <a:prstGeom prst="rect">
            <a:avLst/>
          </a:prstGeom>
          <a:noFill/>
        </p:spPr>
        <p:txBody>
          <a:bodyPr wrap="square" rtlCol="0">
            <a:spAutoFit/>
          </a:bodyPr>
          <a:lstStyle/>
          <a:p>
            <a:r>
              <a:rPr lang="zh-CN" altLang="en-US" sz="2000">
                <a:latin typeface="Noto Sans SC" panose="020B0200000000000000" charset="-122"/>
                <a:ea typeface="Noto Sans SC" panose="020B0200000000000000" charset="-122"/>
                <a:cs typeface="Noto Sans SC" panose="020B0200000000000000" charset="-122"/>
              </a:rPr>
              <a:t>核心定义</a:t>
            </a:r>
          </a:p>
          <a:p>
            <a:r>
              <a:rPr lang="zh-CN" altLang="en-US" sz="2000">
                <a:latin typeface="Noto Sans SC" panose="020B0200000000000000" charset="-122"/>
                <a:ea typeface="Noto Sans SC" panose="020B0200000000000000" charset="-122"/>
                <a:cs typeface="Noto Sans SC" panose="020B0200000000000000" charset="-122"/>
              </a:rPr>
              <a:t>随机森林是</a:t>
            </a:r>
            <a:r>
              <a:rPr lang="en-US" altLang="zh-CN" sz="2000">
                <a:latin typeface="Noto Sans SC" panose="020B0200000000000000" charset="-122"/>
                <a:ea typeface="Noto Sans SC" panose="020B0200000000000000" charset="-122"/>
                <a:cs typeface="Noto Sans SC" panose="020B0200000000000000" charset="-122"/>
              </a:rPr>
              <a:t>Bagging </a:t>
            </a:r>
            <a:r>
              <a:rPr lang="zh-CN" altLang="en-US" sz="2000">
                <a:latin typeface="Noto Sans SC" panose="020B0200000000000000" charset="-122"/>
                <a:ea typeface="Noto Sans SC" panose="020B0200000000000000" charset="-122"/>
                <a:cs typeface="Noto Sans SC" panose="020B0200000000000000" charset="-122"/>
              </a:rPr>
              <a:t>集成学习算法，由多棵独立决策树组合而成，通过集体决策提升预测效果。</a:t>
            </a:r>
          </a:p>
          <a:p>
            <a:r>
              <a:rPr lang="zh-CN" altLang="en-US" sz="2000">
                <a:latin typeface="Noto Sans SC" panose="020B0200000000000000" charset="-122"/>
                <a:ea typeface="Noto Sans SC" panose="020B0200000000000000" charset="-122"/>
                <a:cs typeface="Noto Sans SC" panose="020B0200000000000000" charset="-122"/>
              </a:rPr>
              <a:t>核心三步流程</a:t>
            </a:r>
          </a:p>
          <a:p>
            <a:r>
              <a:rPr lang="en-US" altLang="zh-CN" sz="2000">
                <a:latin typeface="Noto Sans SC" panose="020B0200000000000000" charset="-122"/>
                <a:ea typeface="Noto Sans SC" panose="020B0200000000000000" charset="-122"/>
                <a:cs typeface="Noto Sans SC" panose="020B0200000000000000" charset="-122"/>
              </a:rPr>
              <a:t>Bootstrap </a:t>
            </a:r>
            <a:r>
              <a:rPr lang="zh-CN" altLang="en-US" sz="2000">
                <a:latin typeface="Noto Sans SC" panose="020B0200000000000000" charset="-122"/>
                <a:ea typeface="Noto Sans SC" panose="020B0200000000000000" charset="-122"/>
                <a:cs typeface="Noto Sans SC" panose="020B0200000000000000" charset="-122"/>
              </a:rPr>
              <a:t>采样：有放回随机抽样，生成多个不同训练子集</a:t>
            </a:r>
          </a:p>
          <a:p>
            <a:r>
              <a:rPr lang="zh-CN" altLang="en-US" sz="2000">
                <a:latin typeface="Noto Sans SC" panose="020B0200000000000000" charset="-122"/>
                <a:ea typeface="Noto Sans SC" panose="020B0200000000000000" charset="-122"/>
                <a:cs typeface="Noto Sans SC" panose="020B0200000000000000" charset="-122"/>
              </a:rPr>
              <a:t>随机特征决策树：每棵树训练时，随机选取部分特征分裂节点</a:t>
            </a:r>
          </a:p>
          <a:p>
            <a:r>
              <a:rPr lang="zh-CN" altLang="en-US" sz="2000">
                <a:latin typeface="Noto Sans SC" panose="020B0200000000000000" charset="-122"/>
                <a:ea typeface="Noto Sans SC" panose="020B0200000000000000" charset="-122"/>
                <a:cs typeface="Noto Sans SC" panose="020B0200000000000000" charset="-122"/>
              </a:rPr>
              <a:t>多数投票：所有树预测结果投票，多数类别为最终输出</a:t>
            </a:r>
          </a:p>
        </p:txBody>
      </p:sp>
      <p:sp>
        <p:nvSpPr>
          <p:cNvPr id="4" name="文本框 3"/>
          <p:cNvSpPr txBox="1"/>
          <p:nvPr/>
        </p:nvSpPr>
        <p:spPr>
          <a:xfrm>
            <a:off x="533400" y="3229610"/>
            <a:ext cx="4064000" cy="398780"/>
          </a:xfrm>
          <a:prstGeom prst="rect">
            <a:avLst/>
          </a:prstGeom>
          <a:noFill/>
        </p:spPr>
        <p:txBody>
          <a:bodyPr wrap="square" rtlCol="0">
            <a:spAutoFit/>
          </a:bodyPr>
          <a:lstStyle/>
          <a:p>
            <a:r>
              <a:rPr lang="zh-CN" altLang="en-US" sz="2000" b="1">
                <a:latin typeface="Noto Sans SC" panose="020B0200000000000000" charset="-122"/>
                <a:ea typeface="Noto Sans SC" panose="020B0200000000000000" charset="-122"/>
              </a:rPr>
              <a:t>模型一测试结果</a:t>
            </a:r>
          </a:p>
        </p:txBody>
      </p:sp>
      <p:pic>
        <p:nvPicPr>
          <p:cNvPr id="5" name="图片 4"/>
          <p:cNvPicPr>
            <a:picLocks noChangeAspect="1"/>
          </p:cNvPicPr>
          <p:nvPr/>
        </p:nvPicPr>
        <p:blipFill>
          <a:blip r:embed="rId2"/>
          <a:stretch>
            <a:fillRect/>
          </a:stretch>
        </p:blipFill>
        <p:spPr>
          <a:xfrm>
            <a:off x="1177290" y="3628390"/>
            <a:ext cx="4484370" cy="274066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52450" y="504825"/>
            <a:ext cx="7568565" cy="583565"/>
          </a:xfrm>
          <a:prstGeom prst="rect">
            <a:avLst/>
          </a:prstGeom>
          <a:noFill/>
        </p:spPr>
        <p:txBody>
          <a:bodyPr wrap="square" rtlCol="0">
            <a:spAutoFit/>
          </a:bodyPr>
          <a:lstStyle/>
          <a:p>
            <a:r>
              <a:rPr lang="en-US" altLang="zh-CN" sz="3200" b="1">
                <a:latin typeface="Noto Sans SC" panose="020B0200000000000000" charset="-122"/>
                <a:ea typeface="Noto Sans SC" panose="020B0200000000000000" charset="-122"/>
                <a:cs typeface="Noto Sans SC" panose="020B0200000000000000" charset="-122"/>
              </a:rPr>
              <a:t>Isolation Forest（</a:t>
            </a:r>
            <a:r>
              <a:rPr lang="zh-CN" altLang="en-US" sz="3200" b="1">
                <a:latin typeface="Noto Sans SC" panose="020B0200000000000000" charset="-122"/>
                <a:ea typeface="Noto Sans SC" panose="020B0200000000000000" charset="-122"/>
                <a:cs typeface="Noto Sans SC" panose="020B0200000000000000" charset="-122"/>
              </a:rPr>
              <a:t>无监督孤立森林排雷） </a:t>
            </a:r>
          </a:p>
        </p:txBody>
      </p:sp>
      <p:pic>
        <p:nvPicPr>
          <p:cNvPr id="3" name="图片 2"/>
          <p:cNvPicPr>
            <a:picLocks noChangeAspect="1"/>
          </p:cNvPicPr>
          <p:nvPr/>
        </p:nvPicPr>
        <p:blipFill>
          <a:blip r:embed="rId2"/>
          <a:stretch>
            <a:fillRect/>
          </a:stretch>
        </p:blipFill>
        <p:spPr>
          <a:xfrm>
            <a:off x="248285" y="1766570"/>
            <a:ext cx="5848350" cy="3664585"/>
          </a:xfrm>
          <a:prstGeom prst="rect">
            <a:avLst/>
          </a:prstGeom>
        </p:spPr>
      </p:pic>
      <p:sp>
        <p:nvSpPr>
          <p:cNvPr id="4" name="文本框 3"/>
          <p:cNvSpPr txBox="1"/>
          <p:nvPr/>
        </p:nvSpPr>
        <p:spPr>
          <a:xfrm>
            <a:off x="7715250" y="1628775"/>
            <a:ext cx="4064000" cy="398780"/>
          </a:xfrm>
          <a:prstGeom prst="rect">
            <a:avLst/>
          </a:prstGeom>
          <a:noFill/>
        </p:spPr>
        <p:txBody>
          <a:bodyPr wrap="square" rtlCol="0">
            <a:spAutoFit/>
          </a:bodyPr>
          <a:lstStyle/>
          <a:p>
            <a:r>
              <a:rPr lang="zh-CN" altLang="en-US" sz="2000" b="1">
                <a:latin typeface="Noto Sans SC" panose="020B0200000000000000" charset="-122"/>
                <a:ea typeface="Noto Sans SC" panose="020B0200000000000000" charset="-122"/>
              </a:rPr>
              <a:t>检测结果</a:t>
            </a:r>
          </a:p>
        </p:txBody>
      </p:sp>
      <p:pic>
        <p:nvPicPr>
          <p:cNvPr id="5" name="图片 4"/>
          <p:cNvPicPr>
            <a:picLocks noChangeAspect="1"/>
          </p:cNvPicPr>
          <p:nvPr/>
        </p:nvPicPr>
        <p:blipFill>
          <a:blip r:embed="rId3"/>
          <a:stretch>
            <a:fillRect/>
          </a:stretch>
        </p:blipFill>
        <p:spPr>
          <a:xfrm>
            <a:off x="7292340" y="2594610"/>
            <a:ext cx="2922270" cy="272097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故障预测模型：关键因子识别</a:t>
            </a:r>
            <a:endParaRPr lang="en-US" sz="1100"/>
          </a:p>
        </p:txBody>
      </p:sp>
      <p:pic>
        <p:nvPicPr>
          <p:cNvPr id="3" name="Picture 3"/>
          <p:cNvPicPr>
            <a:picLocks noChangeAspect="1"/>
          </p:cNvPicPr>
          <p:nvPr/>
        </p:nvPicPr>
        <p:blipFill>
          <a:blip r:embed="rId3"/>
          <a:srcRect l="2191" r="2191"/>
          <a:stretch>
            <a:fillRect/>
          </a:stretch>
        </p:blipFill>
        <p:spPr>
          <a:xfrm>
            <a:off x="762000" y="1905000"/>
            <a:ext cx="4572000" cy="4064000"/>
          </a:xfrm>
          <a:prstGeom prst="roundRect">
            <a:avLst>
              <a:gd name="adj" fmla="val 3750"/>
            </a:avLst>
          </a:prstGeom>
          <a:noFill/>
          <a:ln w="25400" cap="flat" cmpd="sng">
            <a:noFill/>
            <a:prstDash val="solid"/>
            <a:round/>
          </a:ln>
          <a:effectLst>
            <a:outerShdw blurRad="444500" dist="190500" dir="2700000" algn="tl" rotWithShape="0">
              <a:srgbClr val="000000">
                <a:alpha val="25000"/>
              </a:srgbClr>
            </a:outerShdw>
          </a:effectLst>
        </p:spPr>
      </p:pic>
      <p:sp>
        <p:nvSpPr>
          <p:cNvPr id="4" name="AutoShape 4"/>
          <p:cNvSpPr/>
          <p:nvPr/>
        </p:nvSpPr>
        <p:spPr>
          <a:xfrm>
            <a:off x="5842000" y="1905000"/>
            <a:ext cx="5588000" cy="1270000"/>
          </a:xfrm>
          <a:prstGeom prst="roundRect">
            <a:avLst>
              <a:gd name="adj" fmla="val 1200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96000" y="2159000"/>
            <a:ext cx="457200" cy="457200"/>
          </a:xfrm>
          <a:prstGeom prst="rect">
            <a:avLst/>
          </a:prstGeom>
        </p:spPr>
      </p:pic>
      <p:sp>
        <p:nvSpPr>
          <p:cNvPr id="6" name="AutoShape 6"/>
          <p:cNvSpPr/>
          <p:nvPr/>
        </p:nvSpPr>
        <p:spPr>
          <a:xfrm>
            <a:off x="6858000" y="2032000"/>
            <a:ext cx="431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随机森林模型分类准确率</a:t>
            </a:r>
            <a:endParaRPr lang="en-US" sz="1100"/>
          </a:p>
          <a:p>
            <a:pPr marL="0" indent="0" algn="l">
              <a:lnSpc>
                <a:spcPct val="125000"/>
              </a:lnSpc>
            </a:pPr>
            <a:r>
              <a:rPr lang="en-US" sz="36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80.10%</a:t>
            </a:r>
            <a:r>
              <a:rPr lang="en-US" sz="1400" b="0"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(模型效果验证通过)</a:t>
            </a:r>
          </a:p>
        </p:txBody>
      </p:sp>
      <p:sp>
        <p:nvSpPr>
          <p:cNvPr id="7" name="AutoShape 7"/>
          <p:cNvSpPr/>
          <p:nvPr/>
        </p:nvSpPr>
        <p:spPr>
          <a:xfrm>
            <a:off x="5842000" y="3429000"/>
            <a:ext cx="1714500" cy="1651000"/>
          </a:xfrm>
          <a:prstGeom prst="roundRect">
            <a:avLst>
              <a:gd name="adj" fmla="val 6153"/>
            </a:avLst>
          </a:prstGeom>
          <a:solidFill>
            <a:srgbClr val="F0FDF4">
              <a:alpha val="10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5969000" y="3619500"/>
            <a:ext cx="14605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25.31%</a:t>
            </a:r>
            <a:endParaRPr lang="en-US" sz="1100"/>
          </a:p>
          <a:p>
            <a:pPr marL="0" indent="0" algn="ctr">
              <a:lnSpc>
                <a:spcPct val="100000"/>
              </a:lnSpc>
            </a:pPr>
            <a:r>
              <a:rPr lang="en-US" sz="14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n_wearout</a:t>
            </a:r>
          </a:p>
          <a:p>
            <a:pPr marL="0" indent="0" algn="ctr">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磨损度 (No.1)</a:t>
            </a:r>
          </a:p>
        </p:txBody>
      </p:sp>
      <p:sp>
        <p:nvSpPr>
          <p:cNvPr id="9" name="AutoShape 9"/>
          <p:cNvSpPr/>
          <p:nvPr/>
        </p:nvSpPr>
        <p:spPr>
          <a:xfrm>
            <a:off x="7747000" y="3429000"/>
            <a:ext cx="1714500" cy="1651000"/>
          </a:xfrm>
          <a:prstGeom prst="roundRect">
            <a:avLst>
              <a:gd name="adj" fmla="val 6153"/>
            </a:avLst>
          </a:prstGeom>
          <a:solidFill>
            <a:srgbClr val="F0FDF4">
              <a:alpha val="10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7874000" y="3619500"/>
            <a:ext cx="14605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16.76%</a:t>
            </a:r>
            <a:endParaRPr lang="en-US" sz="1100"/>
          </a:p>
          <a:p>
            <a:pPr marL="0" indent="0" algn="ctr">
              <a:lnSpc>
                <a:spcPct val="100000"/>
              </a:lnSpc>
            </a:pPr>
            <a:r>
              <a:rPr lang="en-US" sz="14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n_9</a:t>
            </a:r>
          </a:p>
          <a:p>
            <a:pPr marL="0" indent="0" algn="ctr">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通电时间 (No.2)</a:t>
            </a:r>
          </a:p>
        </p:txBody>
      </p:sp>
      <p:sp>
        <p:nvSpPr>
          <p:cNvPr id="11" name="AutoShape 11"/>
          <p:cNvSpPr/>
          <p:nvPr/>
        </p:nvSpPr>
        <p:spPr>
          <a:xfrm>
            <a:off x="9652000" y="3429000"/>
            <a:ext cx="1714500" cy="1651000"/>
          </a:xfrm>
          <a:prstGeom prst="roundRect">
            <a:avLst>
              <a:gd name="adj" fmla="val 6153"/>
            </a:avLst>
          </a:prstGeom>
          <a:solidFill>
            <a:srgbClr val="F0FDF4">
              <a:alpha val="10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9779000" y="3619500"/>
            <a:ext cx="14605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16.08%</a:t>
            </a:r>
            <a:endParaRPr lang="en-US" sz="1100"/>
          </a:p>
          <a:p>
            <a:pPr marL="0" indent="0" algn="ctr">
              <a:lnSpc>
                <a:spcPct val="100000"/>
              </a:lnSpc>
            </a:pPr>
            <a:r>
              <a:rPr lang="en-US" sz="14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n_blocks</a:t>
            </a:r>
          </a:p>
          <a:p>
            <a:pPr marL="0" indent="0" algn="ctr">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坏块计数 (No.3)</a:t>
            </a:r>
          </a:p>
        </p:txBody>
      </p:sp>
      <p:sp>
        <p:nvSpPr>
          <p:cNvPr id="13" name="AutoShape 13"/>
          <p:cNvSpPr/>
          <p:nvPr/>
        </p:nvSpPr>
        <p:spPr>
          <a:xfrm>
            <a:off x="5842000" y="5334000"/>
            <a:ext cx="5588000" cy="1143000"/>
          </a:xfrm>
          <a:prstGeom prst="roundRect">
            <a:avLst>
              <a:gd name="adj" fmla="val 13333"/>
            </a:avLst>
          </a:prstGeom>
          <a:solidFill>
            <a:srgbClr val="2C2C2C">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32500" y="5588000"/>
            <a:ext cx="406400" cy="406400"/>
          </a:xfrm>
          <a:prstGeom prst="rect">
            <a:avLst/>
          </a:prstGeom>
        </p:spPr>
      </p:pic>
      <p:sp>
        <p:nvSpPr>
          <p:cNvPr id="15" name="AutoShape 15"/>
          <p:cNvSpPr/>
          <p:nvPr/>
        </p:nvSpPr>
        <p:spPr>
          <a:xfrm>
            <a:off x="6604000" y="55245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磨损、通电积累、坏块激增是SSD故障的三大核心驱动因子，三者合计贡献了</a:t>
            </a:r>
            <a:r>
              <a:rPr lang="en-US" sz="13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58.15%</a:t>
            </a: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的预测重要性，可作为监控重点。</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71500" y="485775"/>
            <a:ext cx="4064000" cy="583565"/>
          </a:xfrm>
          <a:prstGeom prst="rect">
            <a:avLst/>
          </a:prstGeom>
          <a:noFill/>
        </p:spPr>
        <p:txBody>
          <a:bodyPr wrap="square" rtlCol="0">
            <a:spAutoFit/>
          </a:bodyPr>
          <a:lstStyle/>
          <a:p>
            <a:r>
              <a:rPr lang="zh-CN" altLang="en-US" sz="3200" b="1">
                <a:latin typeface="Noto Sans SC" panose="020B0200000000000000" charset="-122"/>
                <a:ea typeface="Noto Sans SC" panose="020B0200000000000000" charset="-122"/>
              </a:rPr>
              <a:t>预测能力复盘汇总</a:t>
            </a:r>
          </a:p>
        </p:txBody>
      </p:sp>
      <p:pic>
        <p:nvPicPr>
          <p:cNvPr id="3" name="图片 2"/>
          <p:cNvPicPr>
            <a:picLocks noChangeAspect="1"/>
          </p:cNvPicPr>
          <p:nvPr/>
        </p:nvPicPr>
        <p:blipFill>
          <a:blip r:embed="rId2"/>
          <a:stretch>
            <a:fillRect/>
          </a:stretch>
        </p:blipFill>
        <p:spPr>
          <a:xfrm>
            <a:off x="800100" y="1550670"/>
            <a:ext cx="10241280" cy="402717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524000"/>
            <a:ext cx="12192000" cy="190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sp>
        <p:nvSpPr>
          <p:cNvPr id="4" name="AutoShape 4"/>
          <p:cNvSpPr/>
          <p:nvPr/>
        </p:nvSpPr>
        <p:spPr>
          <a:xfrm>
            <a:off x="0" y="3683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结论与高可靠存储架构建议</a:t>
            </a:r>
            <a:endParaRPr lang="en-US" sz="1100"/>
          </a:p>
        </p:txBody>
      </p:sp>
      <p:sp>
        <p:nvSpPr>
          <p:cNvPr id="5" name="AutoShape 5"/>
          <p:cNvSpPr/>
          <p:nvPr/>
        </p:nvSpPr>
        <p:spPr>
          <a:xfrm>
            <a:off x="5588000" y="4953000"/>
            <a:ext cx="1016000" cy="508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0" y="5461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spc="100">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CONCLUSIONS &amp; HIGH-RELIABILITY STORAGE ARCHITECTURE RECOMMENDATIONS</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研究结论总结</a:t>
            </a:r>
            <a:endParaRPr lang="en-US" sz="1100"/>
          </a:p>
        </p:txBody>
      </p:sp>
      <p:sp>
        <p:nvSpPr>
          <p:cNvPr id="3" name="AutoShape 3"/>
          <p:cNvSpPr/>
          <p:nvPr/>
        </p:nvSpPr>
        <p:spPr>
          <a:xfrm>
            <a:off x="762000" y="1778000"/>
            <a:ext cx="5207000" cy="2159000"/>
          </a:xfrm>
          <a:prstGeom prst="roundRect">
            <a:avLst>
              <a:gd name="adj" fmla="val 7058"/>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778000"/>
            <a:ext cx="76200" cy="2159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3000" y="2222500"/>
            <a:ext cx="711200" cy="711200"/>
          </a:xfrm>
          <a:prstGeom prst="rect">
            <a:avLst/>
          </a:prstGeom>
        </p:spPr>
      </p:pic>
      <p:sp>
        <p:nvSpPr>
          <p:cNvPr id="6" name="AutoShape 6"/>
          <p:cNvSpPr/>
          <p:nvPr/>
        </p:nvSpPr>
        <p:spPr>
          <a:xfrm>
            <a:off x="2159000" y="2095500"/>
            <a:ext cx="3429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01 / 故障现状</a:t>
            </a:r>
            <a:endParaRPr lang="en-US" sz="1100"/>
          </a:p>
          <a:p>
            <a:pPr marL="0" indent="0" algn="l">
              <a:lnSpc>
                <a:spcPct val="117000"/>
              </a:lnSpc>
              <a:spcBef>
                <a:spcPts val="12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阿里云数据中心SSD整体故障率为</a:t>
            </a: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1.90%</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，其中</a:t>
            </a:r>
            <a:r>
              <a:rPr lang="en-US" sz="13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C1型号</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和</a:t>
            </a:r>
            <a:r>
              <a:rPr lang="en-US" sz="13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WSM应用</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被识别为主要的故障高发区。</a:t>
            </a:r>
          </a:p>
        </p:txBody>
      </p:sp>
      <p:sp>
        <p:nvSpPr>
          <p:cNvPr id="7" name="AutoShape 7"/>
          <p:cNvSpPr/>
          <p:nvPr/>
        </p:nvSpPr>
        <p:spPr>
          <a:xfrm>
            <a:off x="6223000" y="1778000"/>
            <a:ext cx="5207000" cy="2159000"/>
          </a:xfrm>
          <a:prstGeom prst="roundRect">
            <a:avLst>
              <a:gd name="adj" fmla="val 7058"/>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223000" y="1778000"/>
            <a:ext cx="76200" cy="2159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2222500"/>
            <a:ext cx="711200" cy="711200"/>
          </a:xfrm>
          <a:prstGeom prst="rect">
            <a:avLst/>
          </a:prstGeom>
        </p:spPr>
      </p:pic>
      <p:sp>
        <p:nvSpPr>
          <p:cNvPr id="10" name="AutoShape 10"/>
          <p:cNvSpPr/>
          <p:nvPr/>
        </p:nvSpPr>
        <p:spPr>
          <a:xfrm>
            <a:off x="7620000" y="2095500"/>
            <a:ext cx="3429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02 / 核心因子</a:t>
            </a:r>
            <a:endParaRPr lang="en-US" sz="1100"/>
          </a:p>
          <a:p>
            <a:pPr marL="0" indent="0" algn="l">
              <a:lnSpc>
                <a:spcPct val="117000"/>
              </a:lnSpc>
              <a:spcBef>
                <a:spcPts val="12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经过特征筛选与相关性分析，确定了</a:t>
            </a:r>
            <a:r>
              <a:rPr lang="en-US" sz="13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n_wearout、n_9、n_blocks</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这三个SMART属性是预测SSD故障的最关键指标。</a:t>
            </a:r>
          </a:p>
        </p:txBody>
      </p:sp>
      <p:sp>
        <p:nvSpPr>
          <p:cNvPr id="11" name="AutoShape 11"/>
          <p:cNvSpPr/>
          <p:nvPr/>
        </p:nvSpPr>
        <p:spPr>
          <a:xfrm>
            <a:off x="762000" y="4191000"/>
            <a:ext cx="5207000" cy="2159000"/>
          </a:xfrm>
          <a:prstGeom prst="roundRect">
            <a:avLst>
              <a:gd name="adj" fmla="val 7058"/>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762000" y="4191000"/>
            <a:ext cx="76200" cy="2159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3000" y="4635500"/>
            <a:ext cx="711200" cy="711200"/>
          </a:xfrm>
          <a:prstGeom prst="rect">
            <a:avLst/>
          </a:prstGeom>
        </p:spPr>
      </p:pic>
      <p:sp>
        <p:nvSpPr>
          <p:cNvPr id="14" name="AutoShape 14"/>
          <p:cNvSpPr/>
          <p:nvPr/>
        </p:nvSpPr>
        <p:spPr>
          <a:xfrm>
            <a:off x="2159000" y="4508500"/>
            <a:ext cx="3429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03 / 根本原因</a:t>
            </a:r>
            <a:endParaRPr lang="en-US" sz="1100"/>
          </a:p>
          <a:p>
            <a:pPr marL="0" indent="0" algn="l">
              <a:lnSpc>
                <a:spcPct val="117000"/>
              </a:lnSpc>
              <a:spcBef>
                <a:spcPts val="12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研究证实，高强度的</a:t>
            </a:r>
            <a:r>
              <a:rPr lang="en-US" sz="13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写密集型工作负载 (Write-Intensive Workloads)</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是导致SSD内部磨损加剧、寿命快速衰竭及整体故障率升高的核心驱动因素。</a:t>
            </a:r>
          </a:p>
        </p:txBody>
      </p:sp>
      <p:sp>
        <p:nvSpPr>
          <p:cNvPr id="15" name="AutoShape 15"/>
          <p:cNvSpPr/>
          <p:nvPr/>
        </p:nvSpPr>
        <p:spPr>
          <a:xfrm>
            <a:off x="6223000" y="4191000"/>
            <a:ext cx="5207000" cy="2159000"/>
          </a:xfrm>
          <a:prstGeom prst="roundRect">
            <a:avLst>
              <a:gd name="adj" fmla="val 7058"/>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223000" y="4191000"/>
            <a:ext cx="76200" cy="2159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4635500"/>
            <a:ext cx="711200" cy="711200"/>
          </a:xfrm>
          <a:prstGeom prst="rect">
            <a:avLst/>
          </a:prstGeom>
        </p:spPr>
      </p:pic>
      <p:sp>
        <p:nvSpPr>
          <p:cNvPr id="18" name="AutoShape 18"/>
          <p:cNvSpPr/>
          <p:nvPr/>
        </p:nvSpPr>
        <p:spPr>
          <a:xfrm>
            <a:off x="7620000" y="4508500"/>
            <a:ext cx="3429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04 / 预测能力</a:t>
            </a:r>
            <a:endParaRPr lang="en-US" sz="1100"/>
          </a:p>
          <a:p>
            <a:pPr marL="0" indent="0" algn="l">
              <a:lnSpc>
                <a:spcPct val="117000"/>
              </a:lnSpc>
              <a:spcBef>
                <a:spcPts val="12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基于历史数据构建的预测模型在测试集中表现优异，具备了良好的故障预测与异常检测能力，能有效支撑数据中心的</a:t>
            </a:r>
            <a:r>
              <a:rPr lang="en-US" sz="13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智能化运维(AIOps)</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52450" y="428625"/>
            <a:ext cx="6934200" cy="583565"/>
          </a:xfrm>
          <a:prstGeom prst="rect">
            <a:avLst/>
          </a:prstGeom>
          <a:noFill/>
        </p:spPr>
        <p:txBody>
          <a:bodyPr wrap="square" rtlCol="0">
            <a:spAutoFit/>
          </a:bodyPr>
          <a:lstStyle/>
          <a:p>
            <a:r>
              <a:rPr lang="en-US" altLang="zh-CN" sz="3200" b="1">
                <a:latin typeface="Noto Sans SC" panose="020B0200000000000000" charset="-122"/>
                <a:ea typeface="Noto Sans SC" panose="020B0200000000000000" charset="-122"/>
                <a:cs typeface="Noto Sans SC" panose="020B0200000000000000" charset="-122"/>
              </a:rPr>
              <a:t>SMART </a:t>
            </a:r>
            <a:r>
              <a:rPr lang="zh-CN" altLang="en-US" sz="3200" b="1">
                <a:latin typeface="Noto Sans SC" panose="020B0200000000000000" charset="-122"/>
                <a:ea typeface="Noto Sans SC" panose="020B0200000000000000" charset="-122"/>
                <a:cs typeface="Noto Sans SC" panose="020B0200000000000000" charset="-122"/>
              </a:rPr>
              <a:t>生命周期监控告警阈值建议</a:t>
            </a:r>
          </a:p>
        </p:txBody>
      </p:sp>
      <p:sp>
        <p:nvSpPr>
          <p:cNvPr id="5" name="文本框 4"/>
          <p:cNvSpPr txBox="1"/>
          <p:nvPr/>
        </p:nvSpPr>
        <p:spPr>
          <a:xfrm>
            <a:off x="552450" y="1171575"/>
            <a:ext cx="11110595" cy="706755"/>
          </a:xfrm>
          <a:prstGeom prst="rect">
            <a:avLst/>
          </a:prstGeom>
          <a:noFill/>
        </p:spPr>
        <p:txBody>
          <a:bodyPr wrap="square" rtlCol="0">
            <a:spAutoFit/>
          </a:bodyPr>
          <a:lstStyle/>
          <a:p>
            <a:r>
              <a:rPr lang="zh-CN" altLang="en-US" sz="2000">
                <a:latin typeface="Noto Sans SC" panose="020B0200000000000000" charset="-122"/>
                <a:ea typeface="Noto Sans SC" panose="020B0200000000000000" charset="-122"/>
                <a:cs typeface="Noto Sans SC" panose="020B0200000000000000" charset="-122"/>
              </a:rPr>
              <a:t>结合系统层的拦截调度规则与特征重要性（主要是 </a:t>
            </a:r>
            <a:r>
              <a:rPr lang="en-US" altLang="zh-CN" sz="2000">
                <a:latin typeface="Noto Sans SC" panose="020B0200000000000000" charset="-122"/>
                <a:ea typeface="Noto Sans SC" panose="020B0200000000000000" charset="-122"/>
                <a:cs typeface="Noto Sans SC" panose="020B0200000000000000" charset="-122"/>
              </a:rPr>
              <a:t>n_wearout </a:t>
            </a:r>
            <a:r>
              <a:rPr lang="zh-CN" altLang="en-US" sz="2000">
                <a:latin typeface="Noto Sans SC" panose="020B0200000000000000" charset="-122"/>
                <a:ea typeface="Noto Sans SC" panose="020B0200000000000000" charset="-122"/>
                <a:cs typeface="Noto Sans SC" panose="020B0200000000000000" charset="-122"/>
              </a:rPr>
              <a:t>和 </a:t>
            </a:r>
            <a:r>
              <a:rPr lang="en-US" altLang="zh-CN" sz="2000">
                <a:latin typeface="Noto Sans SC" panose="020B0200000000000000" charset="-122"/>
                <a:ea typeface="Noto Sans SC" panose="020B0200000000000000" charset="-122"/>
                <a:cs typeface="Noto Sans SC" panose="020B0200000000000000" charset="-122"/>
              </a:rPr>
              <a:t>n_blocks），</a:t>
            </a:r>
            <a:r>
              <a:rPr lang="zh-CN" altLang="en-US" sz="2000">
                <a:latin typeface="Noto Sans SC" panose="020B0200000000000000" charset="-122"/>
                <a:ea typeface="Noto Sans SC" panose="020B0200000000000000" charset="-122"/>
                <a:cs typeface="Noto Sans SC" panose="020B0200000000000000" charset="-122"/>
              </a:rPr>
              <a:t>在此给出针对第一架构层的触发建议：</a:t>
            </a:r>
          </a:p>
        </p:txBody>
      </p:sp>
      <p:pic>
        <p:nvPicPr>
          <p:cNvPr id="6" name="图片 5"/>
          <p:cNvPicPr>
            <a:picLocks noChangeAspect="1"/>
          </p:cNvPicPr>
          <p:nvPr/>
        </p:nvPicPr>
        <p:blipFill>
          <a:blip r:embed="rId2"/>
          <a:stretch>
            <a:fillRect/>
          </a:stretch>
        </p:blipFill>
        <p:spPr>
          <a:xfrm>
            <a:off x="2678430" y="2037715"/>
            <a:ext cx="6370320" cy="425259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C2C2C"/>
                </a:solidFill>
                <a:latin typeface="Noto Sans SC" panose="020B0200000000000000" charset="-122"/>
                <a:ea typeface="Noto Sans SC" panose="020B0200000000000000" charset="-122"/>
                <a:cs typeface="Noto Sans SC" panose="020B0200000000000000" charset="-122"/>
                <a:sym typeface="Noto Sans SC" panose="020B0200000000000000" charset="-122"/>
              </a:rPr>
              <a:t>高可靠存储预警与智能调度架构</a:t>
            </a:r>
            <a:endParaRPr lang="en-US" sz="1100"/>
          </a:p>
        </p:txBody>
      </p:sp>
      <p:pic>
        <p:nvPicPr>
          <p:cNvPr id="3" name="Picture 3"/>
          <p:cNvPicPr>
            <a:picLocks noChangeAspect="1"/>
          </p:cNvPicPr>
          <p:nvPr/>
        </p:nvPicPr>
        <p:blipFill>
          <a:blip r:embed="rId3"/>
          <a:srcRect l="2622" r="2622"/>
          <a:stretch>
            <a:fillRect/>
          </a:stretch>
        </p:blipFill>
        <p:spPr>
          <a:xfrm>
            <a:off x="762000" y="1778000"/>
            <a:ext cx="3683000" cy="4318000"/>
          </a:xfrm>
          <a:prstGeom prst="rect">
            <a:avLst/>
          </a:prstGeom>
          <a:noFill/>
          <a:ln w="25400" cap="flat" cmpd="sng">
            <a:noFill/>
            <a:prstDash val="solid"/>
            <a:round/>
          </a:ln>
          <a:effectLst>
            <a:outerShdw blurRad="444500" dist="190500" dir="2700000" algn="tl" rotWithShape="0">
              <a:srgbClr val="000000">
                <a:alpha val="25000"/>
              </a:srgbClr>
            </a:outerShdw>
          </a:effectLst>
        </p:spPr>
      </p:pic>
      <p:sp>
        <p:nvSpPr>
          <p:cNvPr id="4" name="AutoShape 4"/>
          <p:cNvSpPr/>
          <p:nvPr/>
        </p:nvSpPr>
        <p:spPr>
          <a:xfrm>
            <a:off x="4953000" y="1778000"/>
            <a:ext cx="6477000" cy="1397000"/>
          </a:xfrm>
          <a:prstGeom prst="roundRect">
            <a:avLst>
              <a:gd name="adj" fmla="val 727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4953000" y="1778000"/>
            <a:ext cx="76200" cy="1397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270500" y="1968500"/>
            <a:ext cx="889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p:nvPr/>
        </p:nvSpPr>
        <p:spPr>
          <a:xfrm>
            <a:off x="6350000" y="1968500"/>
            <a:ext cx="482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实时感知与预警层</a:t>
            </a:r>
            <a:endParaRPr lang="en-US" sz="1100"/>
          </a:p>
          <a:p>
            <a:pPr marL="0" indent="0" algn="l">
              <a:lnSpc>
                <a:spcPct val="117000"/>
              </a:lnSpc>
              <a:spcBef>
                <a:spcPts val="8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通过大数据流水线实时采集SMART和负载数据，动态计算AFR趋势并输入预测模型，精准输出高危故障预测结果。</a:t>
            </a:r>
          </a:p>
        </p:txBody>
      </p:sp>
      <p:sp>
        <p:nvSpPr>
          <p:cNvPr id="8" name="AutoShape 8"/>
          <p:cNvSpPr/>
          <p:nvPr/>
        </p:nvSpPr>
        <p:spPr>
          <a:xfrm>
            <a:off x="4953000" y="3429000"/>
            <a:ext cx="6477000" cy="1397000"/>
          </a:xfrm>
          <a:prstGeom prst="roundRect">
            <a:avLst>
              <a:gd name="adj" fmla="val 727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4953000" y="3429000"/>
            <a:ext cx="76200" cy="1397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5270500" y="3619500"/>
            <a:ext cx="889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1" name="AutoShape 11"/>
          <p:cNvSpPr/>
          <p:nvPr/>
        </p:nvSpPr>
        <p:spPr>
          <a:xfrm>
            <a:off x="6350000" y="3619500"/>
            <a:ext cx="482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智能调度与存储路由层</a:t>
            </a:r>
            <a:endParaRPr lang="en-US" sz="1100"/>
          </a:p>
          <a:p>
            <a:pPr marL="0" indent="0" algn="l">
              <a:lnSpc>
                <a:spcPct val="117000"/>
              </a:lnSpc>
              <a:spcBef>
                <a:spcPts val="8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基于故障预测结果，自动执行工作负载隔离策略，防止风险扩散；同时进行跨盘损耗均衡调度，延长集群整体寿命。</a:t>
            </a:r>
          </a:p>
        </p:txBody>
      </p:sp>
      <p:sp>
        <p:nvSpPr>
          <p:cNvPr id="12" name="AutoShape 12"/>
          <p:cNvSpPr/>
          <p:nvPr/>
        </p:nvSpPr>
        <p:spPr>
          <a:xfrm>
            <a:off x="4953000" y="5080000"/>
            <a:ext cx="6477000" cy="1397000"/>
          </a:xfrm>
          <a:prstGeom prst="roundRect">
            <a:avLst>
              <a:gd name="adj" fmla="val 727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4953000" y="5080000"/>
            <a:ext cx="76200" cy="1397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5270500" y="5270500"/>
            <a:ext cx="889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5" name="AutoShape 15"/>
          <p:cNvSpPr/>
          <p:nvPr/>
        </p:nvSpPr>
        <p:spPr>
          <a:xfrm>
            <a:off x="6350000" y="5270500"/>
            <a:ext cx="482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高可靠物理执行层</a:t>
            </a:r>
            <a:endParaRPr lang="en-US" sz="1100"/>
          </a:p>
          <a:p>
            <a:pPr marL="0" indent="0" algn="l">
              <a:lnSpc>
                <a:spcPct val="117000"/>
              </a:lnSpc>
              <a:spcBef>
                <a:spcPts val="800"/>
              </a:spcBef>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根据风险等级自适应调整数据冗余策略；在触发紧急告警时，毫秒级自动隔离故障盘并启动数据重建流程，保障数据零丢失。</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3020795"/>
            <a:ext cx="12192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TotalTime>
  <Words>1590</Words>
  <Application>Microsoft Office PowerPoint</Application>
  <PresentationFormat>宽屏</PresentationFormat>
  <Paragraphs>243</Paragraphs>
  <Slides>32</Slides>
  <Notes>18</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32</vt:i4>
      </vt:variant>
    </vt:vector>
  </HeadingPairs>
  <TitlesOfParts>
    <vt:vector size="38" baseType="lpstr">
      <vt:lpstr>Noto Sans SC</vt:lpstr>
      <vt:lpstr>Noto Sans SC Black</vt:lpstr>
      <vt:lpstr>宋体</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一涵 苏</cp:lastModifiedBy>
  <cp:revision>11</cp:revision>
  <dcterms:created xsi:type="dcterms:W3CDTF">2026-05-24T11:49:00Z</dcterms:created>
  <dcterms:modified xsi:type="dcterms:W3CDTF">2026-05-25T05:25:35Z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EF2C09B7508B4ACC857B9872BAE352FC_12</vt:lpwstr>
  </property>
  <property fmtid="{D5CDD505-2E9C-101B-9397-08002B2CF9AE}" pid="3" name="KSOProductBuildVer">
    <vt:lpwstr>2052-12.1.0.26375</vt:lpwstr>
  </property>
</Properties>
</file>