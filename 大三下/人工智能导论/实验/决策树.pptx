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22.svg" ContentType="image/svg+xml"/>
  <Override PartName="/ppt/media/image2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56" r:id="rId3"/>
    <p:sldId id="2035" r:id="rId5"/>
    <p:sldId id="2050" r:id="rId6"/>
    <p:sldId id="2051" r:id="rId7"/>
    <p:sldId id="2057" r:id="rId8"/>
    <p:sldId id="2058" r:id="rId9"/>
    <p:sldId id="2059" r:id="rId10"/>
    <p:sldId id="2062" r:id="rId11"/>
    <p:sldId id="2063" r:id="rId12"/>
    <p:sldId id="2064" r:id="rId13"/>
    <p:sldId id="2065" r:id="rId14"/>
    <p:sldId id="2060" r:id="rId15"/>
    <p:sldId id="2061" r:id="rId16"/>
    <p:sldId id="2067" r:id="rId17"/>
    <p:sldId id="2068" r:id="rId18"/>
    <p:sldId id="2069" r:id="rId19"/>
    <p:sldId id="2070" r:id="rId20"/>
    <p:sldId id="2071" r:id="rId21"/>
    <p:sldId id="1756" r:id="rId22"/>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9" userDrawn="1">
          <p15:clr>
            <a:srgbClr val="A4A3A4"/>
          </p15:clr>
        </p15:guide>
        <p15:guide id="2" pos="383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D269"/>
    <a:srgbClr val="FCEAB2"/>
    <a:srgbClr val="7F08A3"/>
    <a:srgbClr val="ADCA63"/>
    <a:srgbClr val="EECF64"/>
    <a:srgbClr val="1DD3CD"/>
    <a:srgbClr val="CC4B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57" autoAdjust="0"/>
    <p:restoredTop sz="92522" autoAdjust="0"/>
  </p:normalViewPr>
  <p:slideViewPr>
    <p:cSldViewPr snapToGrid="0" showGuides="1">
      <p:cViewPr varScale="1">
        <p:scale>
          <a:sx n="79" d="100"/>
          <a:sy n="79" d="100"/>
        </p:scale>
        <p:origin x="355" y="62"/>
      </p:cViewPr>
      <p:guideLst>
        <p:guide orient="horz" pos="2309"/>
        <p:guide pos="383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gs" Target="tags/tag5.xml"/><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AF90BC-B506-4944-94E0-74770609E59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3EF182-2FCB-4867-99A2-224514D135E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idx="10"/>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idx="10"/>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www.officeplus.cn/Template/Home.shtml"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www.officeplus.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Freeform 7"/>
          <p:cNvSpPr/>
          <p:nvPr/>
        </p:nvSpPr>
        <p:spPr bwMode="auto">
          <a:xfrm>
            <a:off x="1" y="0"/>
            <a:ext cx="5086350" cy="6858000"/>
          </a:xfrm>
          <a:prstGeom prst="parallelogram">
            <a:avLst>
              <a:gd name="adj" fmla="val 18186"/>
            </a:avLst>
          </a:prstGeom>
          <a:solidFill>
            <a:schemeClr val="accent1">
              <a:alpha val="60000"/>
            </a:schemeClr>
          </a:solidFill>
          <a:ln>
            <a:noFill/>
          </a:ln>
        </p:spPr>
        <p:txBody>
          <a:bodyPr vert="horz" wrap="square" lIns="91440" tIns="45720" rIns="91440" bIns="45720" numCol="1" anchor="t" anchorCtr="0" compatLnSpc="1"/>
          <a:lstStyle/>
          <a:p>
            <a:endParaRPr lang="zh-CN" altLang="en-US"/>
          </a:p>
        </p:txBody>
      </p:sp>
      <p:sp>
        <p:nvSpPr>
          <p:cNvPr id="6" name="AutoShape 3"/>
          <p:cNvSpPr>
            <a:spLocks noChangeAspect="1" noChangeArrowheads="1" noTextEdit="1"/>
          </p:cNvSpPr>
          <p:nvPr/>
        </p:nvSpPr>
        <p:spPr bwMode="auto">
          <a:xfrm>
            <a:off x="0" y="0"/>
            <a:ext cx="122174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 name="Freeform 8"/>
          <p:cNvSpPr/>
          <p:nvPr/>
        </p:nvSpPr>
        <p:spPr bwMode="auto">
          <a:xfrm>
            <a:off x="0" y="31750"/>
            <a:ext cx="5845175" cy="6826250"/>
          </a:xfrm>
          <a:custGeom>
            <a:avLst/>
            <a:gdLst>
              <a:gd name="T0" fmla="*/ 2709 w 3682"/>
              <a:gd name="T1" fmla="*/ 4300 h 4300"/>
              <a:gd name="T2" fmla="*/ 0 w 3682"/>
              <a:gd name="T3" fmla="*/ 4300 h 4300"/>
              <a:gd name="T4" fmla="*/ 0 w 3682"/>
              <a:gd name="T5" fmla="*/ 0 h 4300"/>
              <a:gd name="T6" fmla="*/ 3682 w 3682"/>
              <a:gd name="T7" fmla="*/ 0 h 4300"/>
              <a:gd name="T8" fmla="*/ 2709 w 3682"/>
              <a:gd name="T9" fmla="*/ 4300 h 4300"/>
            </a:gdLst>
            <a:ahLst/>
            <a:cxnLst>
              <a:cxn ang="0">
                <a:pos x="T0" y="T1"/>
              </a:cxn>
              <a:cxn ang="0">
                <a:pos x="T2" y="T3"/>
              </a:cxn>
              <a:cxn ang="0">
                <a:pos x="T4" y="T5"/>
              </a:cxn>
              <a:cxn ang="0">
                <a:pos x="T6" y="T7"/>
              </a:cxn>
              <a:cxn ang="0">
                <a:pos x="T8" y="T9"/>
              </a:cxn>
            </a:cxnLst>
            <a:rect l="0" t="0" r="r" b="b"/>
            <a:pathLst>
              <a:path w="3682" h="4300">
                <a:moveTo>
                  <a:pt x="2709" y="4300"/>
                </a:moveTo>
                <a:lnTo>
                  <a:pt x="0" y="4300"/>
                </a:lnTo>
                <a:lnTo>
                  <a:pt x="0" y="0"/>
                </a:lnTo>
                <a:lnTo>
                  <a:pt x="3682" y="0"/>
                </a:lnTo>
                <a:lnTo>
                  <a:pt x="2709" y="43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0"/>
          <p:cNvSpPr/>
          <p:nvPr/>
        </p:nvSpPr>
        <p:spPr bwMode="auto">
          <a:xfrm>
            <a:off x="117475" y="0"/>
            <a:ext cx="5426075" cy="6826250"/>
          </a:xfrm>
          <a:custGeom>
            <a:avLst/>
            <a:gdLst>
              <a:gd name="T0" fmla="*/ 2447 w 3418"/>
              <a:gd name="T1" fmla="*/ 4300 h 4300"/>
              <a:gd name="T2" fmla="*/ 0 w 3418"/>
              <a:gd name="T3" fmla="*/ 4300 h 4300"/>
              <a:gd name="T4" fmla="*/ 0 w 3418"/>
              <a:gd name="T5" fmla="*/ 0 h 4300"/>
              <a:gd name="T6" fmla="*/ 3418 w 3418"/>
              <a:gd name="T7" fmla="*/ 0 h 4300"/>
              <a:gd name="T8" fmla="*/ 2447 w 3418"/>
              <a:gd name="T9" fmla="*/ 4300 h 4300"/>
            </a:gdLst>
            <a:ahLst/>
            <a:cxnLst>
              <a:cxn ang="0">
                <a:pos x="T0" y="T1"/>
              </a:cxn>
              <a:cxn ang="0">
                <a:pos x="T2" y="T3"/>
              </a:cxn>
              <a:cxn ang="0">
                <a:pos x="T4" y="T5"/>
              </a:cxn>
              <a:cxn ang="0">
                <a:pos x="T6" y="T7"/>
              </a:cxn>
              <a:cxn ang="0">
                <a:pos x="T8" y="T9"/>
              </a:cxn>
            </a:cxnLst>
            <a:rect l="0" t="0" r="r" b="b"/>
            <a:pathLst>
              <a:path w="3418" h="4300">
                <a:moveTo>
                  <a:pt x="2447" y="4300"/>
                </a:moveTo>
                <a:lnTo>
                  <a:pt x="0" y="4300"/>
                </a:lnTo>
                <a:lnTo>
                  <a:pt x="0" y="0"/>
                </a:lnTo>
                <a:lnTo>
                  <a:pt x="3418" y="0"/>
                </a:lnTo>
                <a:lnTo>
                  <a:pt x="2447" y="43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 name="副标题 2"/>
          <p:cNvSpPr>
            <a:spLocks noGrp="1"/>
          </p:cNvSpPr>
          <p:nvPr>
            <p:ph type="subTitle" idx="1" hasCustomPrompt="1"/>
          </p:nvPr>
        </p:nvSpPr>
        <p:spPr>
          <a:xfrm>
            <a:off x="6192585" y="2574648"/>
            <a:ext cx="5304089" cy="558799"/>
          </a:xfrm>
        </p:spPr>
        <p:txBody>
          <a:bodyPr anchor="ctr">
            <a:normAutofit/>
          </a:bodyPr>
          <a:lstStyle>
            <a:lvl1pPr marL="0" indent="0" algn="r">
              <a:buNone/>
              <a:defRPr sz="1600" baseline="0">
                <a:solidFill>
                  <a:sysClr val="windowText" lastClr="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单击添加学院名称 </a:t>
            </a:r>
            <a:r>
              <a:rPr lang="en-US" altLang="zh-CN" dirty="0"/>
              <a:t>/ </a:t>
            </a:r>
            <a:r>
              <a:rPr lang="zh-CN" altLang="en-US" dirty="0"/>
              <a:t>专业名称</a:t>
            </a:r>
            <a:endParaRPr lang="zh-CN" altLang="en-US" dirty="0"/>
          </a:p>
        </p:txBody>
      </p:sp>
      <p:sp>
        <p:nvSpPr>
          <p:cNvPr id="2" name="标题 1"/>
          <p:cNvSpPr>
            <a:spLocks noGrp="1"/>
          </p:cNvSpPr>
          <p:nvPr>
            <p:ph type="ctrTitle" hasCustomPrompt="1"/>
          </p:nvPr>
        </p:nvSpPr>
        <p:spPr>
          <a:xfrm>
            <a:off x="6192585" y="1446245"/>
            <a:ext cx="5304089" cy="1128403"/>
          </a:xfrm>
        </p:spPr>
        <p:txBody>
          <a:bodyPr anchor="ctr">
            <a:normAutofit/>
          </a:bodyPr>
          <a:lstStyle>
            <a:lvl1pPr algn="r">
              <a:defRPr sz="3600">
                <a:solidFill>
                  <a:sysClr val="windowText" lastClr="000000"/>
                </a:solidFill>
              </a:defRPr>
            </a:lvl1pPr>
          </a:lstStyle>
          <a:p>
            <a:r>
              <a:rPr lang="zh-CN" altLang="en-US" dirty="0"/>
              <a:t>毕业论文答辩</a:t>
            </a:r>
            <a:r>
              <a:rPr lang="en-US" altLang="zh-CN" dirty="0"/>
              <a:t>PPT</a:t>
            </a:r>
            <a:r>
              <a:rPr lang="zh-CN" altLang="en-US" dirty="0"/>
              <a:t>模板</a:t>
            </a:r>
            <a:endParaRPr lang="zh-CN" altLang="en-US" dirty="0"/>
          </a:p>
        </p:txBody>
      </p:sp>
      <p:grpSp>
        <p:nvGrpSpPr>
          <p:cNvPr id="5" name="组合 4"/>
          <p:cNvGrpSpPr/>
          <p:nvPr userDrawn="1"/>
        </p:nvGrpSpPr>
        <p:grpSpPr>
          <a:xfrm>
            <a:off x="1" y="0"/>
            <a:ext cx="5471859" cy="6858001"/>
            <a:chOff x="1" y="0"/>
            <a:chExt cx="5471859" cy="6858001"/>
          </a:xfrm>
        </p:grpSpPr>
        <p:sp>
          <p:nvSpPr>
            <p:cNvPr id="17" name="Freeform 7"/>
            <p:cNvSpPr/>
            <p:nvPr userDrawn="1"/>
          </p:nvSpPr>
          <p:spPr bwMode="auto">
            <a:xfrm>
              <a:off x="161926" y="0"/>
              <a:ext cx="5309934" cy="6858000"/>
            </a:xfrm>
            <a:prstGeom prst="parallelogram">
              <a:avLst>
                <a:gd name="adj" fmla="val 31121"/>
              </a:avLst>
            </a:prstGeom>
            <a:solidFill>
              <a:schemeClr val="accent1">
                <a:lumMod val="75000"/>
                <a:alpha val="16000"/>
              </a:schemeClr>
            </a:solidFill>
            <a:ln>
              <a:noFill/>
            </a:ln>
          </p:spPr>
          <p:txBody>
            <a:bodyPr vert="horz" wrap="square" lIns="91440" tIns="45720" rIns="91440" bIns="45720" numCol="1" anchor="t" anchorCtr="0" compatLnSpc="1"/>
            <a:lstStyle/>
            <a:p>
              <a:endParaRPr lang="zh-CN" altLang="en-US"/>
            </a:p>
          </p:txBody>
        </p:sp>
        <p:sp>
          <p:nvSpPr>
            <p:cNvPr id="11" name="Freeform 9"/>
            <p:cNvSpPr/>
            <p:nvPr/>
          </p:nvSpPr>
          <p:spPr bwMode="auto">
            <a:xfrm>
              <a:off x="1" y="1"/>
              <a:ext cx="5010508" cy="6858000"/>
            </a:xfrm>
            <a:custGeom>
              <a:avLst/>
              <a:gdLst>
                <a:gd name="T0" fmla="*/ 2447 w 3418"/>
                <a:gd name="T1" fmla="*/ 4300 h 4300"/>
                <a:gd name="T2" fmla="*/ 0 w 3418"/>
                <a:gd name="T3" fmla="*/ 4300 h 4300"/>
                <a:gd name="T4" fmla="*/ 0 w 3418"/>
                <a:gd name="T5" fmla="*/ 0 h 4300"/>
                <a:gd name="T6" fmla="*/ 3418 w 3418"/>
                <a:gd name="T7" fmla="*/ 0 h 4300"/>
                <a:gd name="T8" fmla="*/ 2447 w 3418"/>
                <a:gd name="T9" fmla="*/ 4300 h 4300"/>
              </a:gdLst>
              <a:ahLst/>
              <a:cxnLst>
                <a:cxn ang="0">
                  <a:pos x="T0" y="T1"/>
                </a:cxn>
                <a:cxn ang="0">
                  <a:pos x="T2" y="T3"/>
                </a:cxn>
                <a:cxn ang="0">
                  <a:pos x="T4" y="T5"/>
                </a:cxn>
                <a:cxn ang="0">
                  <a:pos x="T6" y="T7"/>
                </a:cxn>
                <a:cxn ang="0">
                  <a:pos x="T8" y="T9"/>
                </a:cxn>
              </a:cxnLst>
              <a:rect l="0" t="0" r="r" b="b"/>
              <a:pathLst>
                <a:path w="3418" h="4300">
                  <a:moveTo>
                    <a:pt x="2447" y="4300"/>
                  </a:moveTo>
                  <a:lnTo>
                    <a:pt x="0" y="4300"/>
                  </a:lnTo>
                  <a:lnTo>
                    <a:pt x="0" y="0"/>
                  </a:lnTo>
                  <a:lnTo>
                    <a:pt x="3418" y="0"/>
                  </a:lnTo>
                  <a:lnTo>
                    <a:pt x="2447" y="4300"/>
                  </a:lnTo>
                  <a:close/>
                </a:path>
              </a:pathLst>
            </a:custGeom>
            <a:solidFill>
              <a:schemeClr val="tx2">
                <a:lumMod val="75000"/>
              </a:schemeClr>
            </a:solidFill>
            <a:ln>
              <a:noFill/>
            </a:ln>
          </p:spPr>
          <p:txBody>
            <a:bodyPr vert="horz" wrap="square" lIns="91440" tIns="45720" rIns="91440" bIns="45720" numCol="1" anchor="t" anchorCtr="0" compatLnSpc="1"/>
            <a:lstStyle/>
            <a:p>
              <a:endParaRPr lang="zh-CN" altLang="en-US"/>
            </a:p>
          </p:txBody>
        </p:sp>
      </p:grpSp>
      <p:sp>
        <p:nvSpPr>
          <p:cNvPr id="14" name="文本占位符 13"/>
          <p:cNvSpPr>
            <a:spLocks noGrp="1"/>
          </p:cNvSpPr>
          <p:nvPr>
            <p:ph type="body" sz="quarter" idx="10" hasCustomPrompt="1"/>
          </p:nvPr>
        </p:nvSpPr>
        <p:spPr>
          <a:xfrm>
            <a:off x="6192838" y="4176346"/>
            <a:ext cx="5303837" cy="271829"/>
          </a:xfrm>
        </p:spPr>
        <p:txBody>
          <a:bodyPr anchor="ctr">
            <a:normAutofit/>
          </a:bodyPr>
          <a:lstStyle>
            <a:lvl1pPr marL="0" indent="0" algn="r">
              <a:buNone/>
              <a:defRPr sz="1050" b="0"/>
            </a:lvl1pPr>
            <a:lvl2pPr marL="457200" indent="0">
              <a:buNone/>
              <a:defRPr/>
            </a:lvl2pPr>
            <a:lvl3pPr marL="914400" indent="0">
              <a:buNone/>
              <a:defRPr/>
            </a:lvl3pPr>
            <a:lvl4pPr marL="1371600" indent="0">
              <a:buNone/>
              <a:defRPr/>
            </a:lvl4pPr>
            <a:lvl5pPr marL="1828800" indent="0">
              <a:buNone/>
              <a:defRPr/>
            </a:lvl5pPr>
          </a:lstStyle>
          <a:p>
            <a:pPr lvl="0"/>
            <a:r>
              <a:rPr lang="zh-CN" altLang="en-US"/>
              <a:t>答辩人</a:t>
            </a:r>
            <a:endParaRPr lang="zh-CN" altLang="en-US"/>
          </a:p>
        </p:txBody>
      </p:sp>
      <p:sp>
        <p:nvSpPr>
          <p:cNvPr id="22" name="文本占位符 13"/>
          <p:cNvSpPr>
            <a:spLocks noGrp="1"/>
          </p:cNvSpPr>
          <p:nvPr>
            <p:ph type="body" sz="quarter" idx="11" hasCustomPrompt="1"/>
          </p:nvPr>
        </p:nvSpPr>
        <p:spPr>
          <a:xfrm>
            <a:off x="6192838" y="4448176"/>
            <a:ext cx="5303837" cy="271830"/>
          </a:xfrm>
        </p:spPr>
        <p:txBody>
          <a:bodyPr anchor="ctr">
            <a:normAutofit/>
          </a:bodyPr>
          <a:lstStyle>
            <a:lvl1pPr marL="0" indent="0" algn="r">
              <a:buNone/>
              <a:defRPr sz="1050" b="0"/>
            </a:lvl1pPr>
            <a:lvl2pPr marL="457200" indent="0">
              <a:buNone/>
              <a:defRPr/>
            </a:lvl2pPr>
            <a:lvl3pPr marL="914400" indent="0">
              <a:buNone/>
              <a:defRPr/>
            </a:lvl3pPr>
            <a:lvl4pPr marL="1371600" indent="0">
              <a:buNone/>
              <a:defRPr/>
            </a:lvl4pPr>
            <a:lvl5pPr marL="1828800" indent="0">
              <a:buNone/>
              <a:defRPr/>
            </a:lvl5pPr>
          </a:lstStyle>
          <a:p>
            <a:pPr lvl="0"/>
            <a:r>
              <a:rPr lang="zh-CN" altLang="en-US"/>
              <a:t>指导老师</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p:cSld name="节标题">
    <p:bg>
      <p:bgPr>
        <a:solidFill>
          <a:schemeClr val="bg1">
            <a:lumMod val="95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636349" y="2624071"/>
            <a:ext cx="7860325" cy="428625"/>
          </a:xfrm>
        </p:spPr>
        <p:txBody>
          <a:bodyPr anchor="ctr">
            <a:normAutofit/>
          </a:bodyPr>
          <a:lstStyle>
            <a:lvl1pPr>
              <a:defRPr sz="2400" b="1">
                <a:solidFill>
                  <a:schemeClr val="tx1"/>
                </a:solidFill>
              </a:defRPr>
            </a:lvl1pPr>
          </a:lstStyle>
          <a:p>
            <a:r>
              <a:rPr lang="zh-CN" altLang="en-US" dirty="0"/>
              <a:t>单击此处添加幻灯片章节标题</a:t>
            </a:r>
            <a:endParaRPr lang="zh-CN" altLang="en-US" dirty="0"/>
          </a:p>
        </p:txBody>
      </p:sp>
      <p:sp>
        <p:nvSpPr>
          <p:cNvPr id="3" name="文本占位符 2"/>
          <p:cNvSpPr>
            <a:spLocks noGrp="1"/>
          </p:cNvSpPr>
          <p:nvPr>
            <p:ph type="body" idx="1"/>
          </p:nvPr>
        </p:nvSpPr>
        <p:spPr>
          <a:xfrm>
            <a:off x="3636349" y="3142297"/>
            <a:ext cx="7860325" cy="1095375"/>
          </a:xfrm>
        </p:spPr>
        <p:txBody>
          <a:bodyPr anchor="t">
            <a:norm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grpSp>
        <p:nvGrpSpPr>
          <p:cNvPr id="45" name="组合 44"/>
          <p:cNvGrpSpPr/>
          <p:nvPr/>
        </p:nvGrpSpPr>
        <p:grpSpPr>
          <a:xfrm>
            <a:off x="760822" y="1885950"/>
            <a:ext cx="2727446" cy="2463919"/>
            <a:chOff x="423090" y="994900"/>
            <a:chExt cx="5333987" cy="4818615"/>
          </a:xfrm>
        </p:grpSpPr>
        <p:pic>
          <p:nvPicPr>
            <p:cNvPr id="46" name="图片 45"/>
            <p:cNvPicPr>
              <a:picLocks noChangeAspect="1"/>
            </p:cNvPicPr>
            <p:nvPr/>
          </p:nvPicPr>
          <p:blipFill>
            <a:blip/>
            <a:stretch>
              <a:fillRect/>
            </a:stretch>
          </p:blipFill>
          <p:spPr>
            <a:xfrm>
              <a:off x="909400" y="994900"/>
              <a:ext cx="4634944" cy="4628714"/>
            </a:xfrm>
            <a:prstGeom prst="rect">
              <a:avLst/>
            </a:prstGeom>
          </p:spPr>
        </p:pic>
        <p:pic>
          <p:nvPicPr>
            <p:cNvPr id="47" name="图片 46"/>
            <p:cNvPicPr>
              <a:picLocks noChangeAspect="1"/>
            </p:cNvPicPr>
            <p:nvPr/>
          </p:nvPicPr>
          <p:blipFill>
            <a:blip/>
            <a:stretch>
              <a:fillRect/>
            </a:stretch>
          </p:blipFill>
          <p:spPr>
            <a:xfrm>
              <a:off x="423090" y="2857547"/>
              <a:ext cx="5333987" cy="2955968"/>
            </a:xfrm>
            <a:prstGeom prst="rect">
              <a:avLst/>
            </a:prstGeom>
          </p:spPr>
        </p:pic>
      </p:grpSp>
      <p:sp>
        <p:nvSpPr>
          <p:cNvPr id="7" name="日期占位符 6"/>
          <p:cNvSpPr>
            <a:spLocks noGrp="1"/>
          </p:cNvSpPr>
          <p:nvPr>
            <p:ph type="dt" sz="half" idx="10"/>
          </p:nvPr>
        </p:nvSpPr>
        <p:spPr/>
        <p:txBody>
          <a:bodyPr/>
          <a:lstStyle/>
          <a:p>
            <a:fld id="{6489D9C7-5DC6-4263-87FF-7C99F6FB63C3}" type="datetime1">
              <a:rPr lang="zh-CN" altLang="en-US" smtClean="0"/>
            </a:fld>
            <a:endParaRPr lang="zh-CN" altLang="en-US"/>
          </a:p>
        </p:txBody>
      </p:sp>
      <p:sp>
        <p:nvSpPr>
          <p:cNvPr id="8" name="页脚占位符 7"/>
          <p:cNvSpPr>
            <a:spLocks noGrp="1"/>
          </p:cNvSpPr>
          <p:nvPr>
            <p:ph type="ftr" sz="quarter" idx="11"/>
          </p:nvPr>
        </p:nvSpPr>
        <p:spPr/>
        <p:txBody>
          <a:bodyPr/>
          <a:lstStyle/>
          <a:p>
            <a:r>
              <a:rPr lang="en-US" altLang="zh-CN"/>
              <a:t>www.islide.cc</a:t>
            </a:r>
            <a:endParaRPr lang="zh-CN" altLang="en-US" dirty="0"/>
          </a:p>
        </p:txBody>
      </p:sp>
      <p:sp>
        <p:nvSpPr>
          <p:cNvPr id="9" name="灯片编号占位符 8"/>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标题 3"/>
          <p:cNvSpPr>
            <a:spLocks noGrp="1"/>
          </p:cNvSpPr>
          <p:nvPr>
            <p:ph type="title"/>
          </p:nvPr>
        </p:nvSpPr>
        <p:spPr/>
        <p:txBody>
          <a:bodyPr/>
          <a:lstStyle/>
          <a:p>
            <a:r>
              <a:rPr lang="zh-CN" altLang="en-US"/>
              <a:t>单击此处编辑母版标题样式</a:t>
            </a:r>
            <a:endParaRPr lang="zh-CN" altLang="en-US"/>
          </a:p>
        </p:txBody>
      </p:sp>
      <p:sp>
        <p:nvSpPr>
          <p:cNvPr id="11" name="日期占位符 10"/>
          <p:cNvSpPr>
            <a:spLocks noGrp="1"/>
          </p:cNvSpPr>
          <p:nvPr>
            <p:ph type="dt" sz="half" idx="10"/>
          </p:nvPr>
        </p:nvSpPr>
        <p:spPr/>
        <p:txBody>
          <a:bodyPr/>
          <a:lstStyle/>
          <a:p>
            <a:fld id="{6489D9C7-5DC6-4263-87FF-7C99F6FB63C3}" type="datetime1">
              <a:rPr lang="zh-CN" altLang="en-US" smtClean="0"/>
            </a:fld>
            <a:endParaRPr lang="zh-CN" altLang="en-US"/>
          </a:p>
        </p:txBody>
      </p:sp>
      <p:sp>
        <p:nvSpPr>
          <p:cNvPr id="12" name="页脚占位符 11"/>
          <p:cNvSpPr>
            <a:spLocks noGrp="1"/>
          </p:cNvSpPr>
          <p:nvPr>
            <p:ph type="ftr" sz="quarter" idx="11"/>
          </p:nvPr>
        </p:nvSpPr>
        <p:spPr/>
        <p:txBody>
          <a:bodyPr/>
          <a:lstStyle/>
          <a:p>
            <a:r>
              <a:rPr lang="en-US" altLang="zh-CN"/>
              <a:t>www.islide.cc</a:t>
            </a:r>
            <a:endParaRPr lang="zh-CN" altLang="en-US" dirty="0"/>
          </a:p>
        </p:txBody>
      </p:sp>
      <p:sp>
        <p:nvSpPr>
          <p:cNvPr id="13" name="灯片编号占位符 12"/>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仅标题">
    <p:spTree>
      <p:nvGrpSpPr>
        <p:cNvPr id="1" name=""/>
        <p:cNvGrpSpPr/>
        <p:nvPr/>
      </p:nvGrpSpPr>
      <p:grpSpPr>
        <a:xfrm>
          <a:off x="0" y="0"/>
          <a:ext cx="0" cy="0"/>
          <a:chOff x="0" y="0"/>
          <a:chExt cx="0" cy="0"/>
        </a:xfrm>
      </p:grpSpPr>
      <p:sp>
        <p:nvSpPr>
          <p:cNvPr id="9" name="직사각형 45"/>
          <p:cNvSpPr/>
          <p:nvPr userDrawn="1"/>
        </p:nvSpPr>
        <p:spPr>
          <a:xfrm>
            <a:off x="695324" y="1028700"/>
            <a:ext cx="10825163" cy="8767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0" name="标题 9"/>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6489D9C7-5DC6-4263-87FF-7C99F6FB63C3}"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a:t>www.islide.cc</a:t>
            </a:r>
            <a:endParaRPr lang="zh-CN" altLang="en-US" dirty="0"/>
          </a:p>
        </p:txBody>
      </p:sp>
      <p:sp>
        <p:nvSpPr>
          <p:cNvPr id="7" name="灯片编号占位符 6"/>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p:cSld name="末尾幻灯片">
    <p:bg>
      <p:bgPr>
        <a:solidFill>
          <a:schemeClr val="bg1"/>
        </a:solidFill>
        <a:effectLst/>
      </p:bgPr>
    </p:bg>
    <p:spTree>
      <p:nvGrpSpPr>
        <p:cNvPr id="1" name=""/>
        <p:cNvGrpSpPr/>
        <p:nvPr/>
      </p:nvGrpSpPr>
      <p:grpSpPr>
        <a:xfrm>
          <a:off x="0" y="0"/>
          <a:ext cx="0" cy="0"/>
          <a:chOff x="0" y="0"/>
          <a:chExt cx="0" cy="0"/>
        </a:xfrm>
      </p:grpSpPr>
      <p:grpSp>
        <p:nvGrpSpPr>
          <p:cNvPr id="10" name="组合 9"/>
          <p:cNvGrpSpPr/>
          <p:nvPr userDrawn="1"/>
        </p:nvGrpSpPr>
        <p:grpSpPr>
          <a:xfrm rot="5400000">
            <a:off x="3995736" y="-3995735"/>
            <a:ext cx="4200526" cy="12192000"/>
            <a:chOff x="1" y="0"/>
            <a:chExt cx="5471859" cy="6858001"/>
          </a:xfrm>
        </p:grpSpPr>
        <p:sp>
          <p:nvSpPr>
            <p:cNvPr id="11" name="Freeform 7"/>
            <p:cNvSpPr/>
            <p:nvPr userDrawn="1"/>
          </p:nvSpPr>
          <p:spPr bwMode="auto">
            <a:xfrm>
              <a:off x="161926" y="0"/>
              <a:ext cx="5309934" cy="6858000"/>
            </a:xfrm>
            <a:prstGeom prst="parallelogram">
              <a:avLst>
                <a:gd name="adj" fmla="val 31121"/>
              </a:avLst>
            </a:prstGeom>
            <a:solidFill>
              <a:schemeClr val="accent1">
                <a:lumMod val="75000"/>
                <a:alpha val="16000"/>
              </a:schemeClr>
            </a:solidFill>
            <a:ln>
              <a:noFill/>
            </a:ln>
          </p:spPr>
          <p:txBody>
            <a:bodyPr vert="horz" wrap="square" lIns="91440" tIns="45720" rIns="91440" bIns="45720" numCol="1" anchor="t" anchorCtr="0" compatLnSpc="1"/>
            <a:lstStyle/>
            <a:p>
              <a:endParaRPr lang="zh-CN" altLang="en-US"/>
            </a:p>
          </p:txBody>
        </p:sp>
        <p:sp>
          <p:nvSpPr>
            <p:cNvPr id="12" name="Freeform 9"/>
            <p:cNvSpPr/>
            <p:nvPr/>
          </p:nvSpPr>
          <p:spPr bwMode="auto">
            <a:xfrm>
              <a:off x="1" y="1"/>
              <a:ext cx="5010508" cy="6858000"/>
            </a:xfrm>
            <a:custGeom>
              <a:avLst/>
              <a:gdLst>
                <a:gd name="T0" fmla="*/ 2447 w 3418"/>
                <a:gd name="T1" fmla="*/ 4300 h 4300"/>
                <a:gd name="T2" fmla="*/ 0 w 3418"/>
                <a:gd name="T3" fmla="*/ 4300 h 4300"/>
                <a:gd name="T4" fmla="*/ 0 w 3418"/>
                <a:gd name="T5" fmla="*/ 0 h 4300"/>
                <a:gd name="T6" fmla="*/ 3418 w 3418"/>
                <a:gd name="T7" fmla="*/ 0 h 4300"/>
                <a:gd name="T8" fmla="*/ 2447 w 3418"/>
                <a:gd name="T9" fmla="*/ 4300 h 4300"/>
              </a:gdLst>
              <a:ahLst/>
              <a:cxnLst>
                <a:cxn ang="0">
                  <a:pos x="T0" y="T1"/>
                </a:cxn>
                <a:cxn ang="0">
                  <a:pos x="T2" y="T3"/>
                </a:cxn>
                <a:cxn ang="0">
                  <a:pos x="T4" y="T5"/>
                </a:cxn>
                <a:cxn ang="0">
                  <a:pos x="T6" y="T7"/>
                </a:cxn>
                <a:cxn ang="0">
                  <a:pos x="T8" y="T9"/>
                </a:cxn>
              </a:cxnLst>
              <a:rect l="0" t="0" r="r" b="b"/>
              <a:pathLst>
                <a:path w="3418" h="4300">
                  <a:moveTo>
                    <a:pt x="2447" y="4300"/>
                  </a:moveTo>
                  <a:lnTo>
                    <a:pt x="0" y="4300"/>
                  </a:lnTo>
                  <a:lnTo>
                    <a:pt x="0" y="0"/>
                  </a:lnTo>
                  <a:lnTo>
                    <a:pt x="3418" y="0"/>
                  </a:lnTo>
                  <a:lnTo>
                    <a:pt x="2447" y="4300"/>
                  </a:lnTo>
                  <a:close/>
                </a:path>
              </a:pathLst>
            </a:custGeom>
            <a:solidFill>
              <a:schemeClr val="tx2">
                <a:lumMod val="75000"/>
              </a:schemeClr>
            </a:solidFill>
            <a:ln>
              <a:noFill/>
            </a:ln>
          </p:spPr>
          <p:txBody>
            <a:bodyPr vert="horz" wrap="square" lIns="91440" tIns="45720" rIns="91440" bIns="45720" numCol="1" anchor="t" anchorCtr="0" compatLnSpc="1"/>
            <a:lstStyle/>
            <a:p>
              <a:endParaRPr lang="zh-CN" altLang="en-US"/>
            </a:p>
          </p:txBody>
        </p:sp>
      </p:grpSp>
      <p:sp>
        <p:nvSpPr>
          <p:cNvPr id="2" name="标题 1"/>
          <p:cNvSpPr>
            <a:spLocks noGrp="1"/>
          </p:cNvSpPr>
          <p:nvPr>
            <p:ph type="ctrTitle" hasCustomPrompt="1"/>
          </p:nvPr>
        </p:nvSpPr>
        <p:spPr>
          <a:xfrm>
            <a:off x="669925" y="3970671"/>
            <a:ext cx="10850564" cy="945734"/>
          </a:xfrm>
        </p:spPr>
        <p:txBody>
          <a:bodyPr anchor="ctr">
            <a:normAutofit/>
          </a:bodyPr>
          <a:lstStyle>
            <a:lvl1pPr marL="0" indent="0" algn="ctr">
              <a:buFont typeface="Arial" panose="020B0604020202020204" pitchFamily="34" charset="0"/>
              <a:buNone/>
              <a:defRPr sz="3200">
                <a:solidFill>
                  <a:schemeClr val="tx1"/>
                </a:solidFill>
              </a:defRPr>
            </a:lvl1pPr>
          </a:lstStyle>
          <a:p>
            <a:r>
              <a:rPr lang="zh-CN" altLang="en-US"/>
              <a:t>致谢 感恩</a:t>
            </a:r>
            <a:endParaRPr lang="zh-CN" altLang="en-US" dirty="0"/>
          </a:p>
        </p:txBody>
      </p:sp>
      <p:sp>
        <p:nvSpPr>
          <p:cNvPr id="63" name="文本占位符 62"/>
          <p:cNvSpPr>
            <a:spLocks noGrp="1"/>
          </p:cNvSpPr>
          <p:nvPr>
            <p:ph type="body" sz="quarter" idx="17" hasCustomPrompt="1"/>
          </p:nvPr>
        </p:nvSpPr>
        <p:spPr>
          <a:xfrm>
            <a:off x="669925" y="5215495"/>
            <a:ext cx="10850564" cy="310871"/>
          </a:xfrm>
        </p:spPr>
        <p:txBody>
          <a:bodyPr vert="horz" lIns="91440" tIns="45720" rIns="91440" bIns="45720" rtlCol="0">
            <a:normAutofit/>
          </a:bodyPr>
          <a:lstStyle>
            <a:lvl1pPr marL="0" indent="0" algn="ctr">
              <a:buNone/>
              <a:defRPr lang="zh-CN" altLang="en-US" sz="1600" smtClean="0"/>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a:t>署名</a:t>
            </a:r>
            <a:endParaRPr lang="en-US" altLang="zh-CN" dirty="0"/>
          </a:p>
        </p:txBody>
      </p:sp>
      <p:sp>
        <p:nvSpPr>
          <p:cNvPr id="13" name="文本占位符 62"/>
          <p:cNvSpPr>
            <a:spLocks noGrp="1"/>
          </p:cNvSpPr>
          <p:nvPr>
            <p:ph type="body" sz="quarter" idx="18" hasCustomPrompt="1"/>
          </p:nvPr>
        </p:nvSpPr>
        <p:spPr>
          <a:xfrm>
            <a:off x="669925" y="5531129"/>
            <a:ext cx="10850564" cy="310871"/>
          </a:xfrm>
        </p:spPr>
        <p:txBody>
          <a:bodyPr vert="horz" lIns="91440" tIns="45720" rIns="91440" bIns="45720" rtlCol="0">
            <a:normAutofit/>
          </a:bodyPr>
          <a:lstStyle>
            <a:lvl1pPr marL="0" indent="0" algn="ctr">
              <a:buNone/>
              <a:defRPr lang="zh-CN" altLang="en-US" sz="1600" smtClean="0"/>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fld id="{6F2F4490-F068-4919-AEB0-E87C65EBDA2A}" type="datetime2">
              <a:rPr lang="zh-CN" altLang="en-US" smtClean="0"/>
            </a:fld>
            <a:endParaRPr lang="en-US" altLang="zh-C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489D9C7-5DC6-4263-87FF-7C99F6FB63C3}" type="datetime1">
              <a:rPr lang="zh-CN" altLang="en-US" smtClean="0"/>
            </a:fld>
            <a:endParaRPr lang="zh-CN" altLang="en-US"/>
          </a:p>
        </p:txBody>
      </p:sp>
      <p:sp>
        <p:nvSpPr>
          <p:cNvPr id="4" name="页脚占位符 3"/>
          <p:cNvSpPr>
            <a:spLocks noGrp="1"/>
          </p:cNvSpPr>
          <p:nvPr>
            <p:ph type="ftr" sz="quarter" idx="11"/>
          </p:nvPr>
        </p:nvSpPr>
        <p:spPr/>
        <p:txBody>
          <a:bodyPr/>
          <a:lstStyle/>
          <a:p>
            <a:r>
              <a:rPr lang="en-US" altLang="zh-CN"/>
              <a:t>www.islide.cc</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关注服务号">
    <p:spTree>
      <p:nvGrpSpPr>
        <p:cNvPr id="1" name=""/>
        <p:cNvGrpSpPr/>
        <p:nvPr/>
      </p:nvGrpSpPr>
      <p:grpSpPr>
        <a:xfrm>
          <a:off x="0" y="0"/>
          <a:ext cx="0" cy="0"/>
          <a:chOff x="0" y="0"/>
          <a:chExt cx="0" cy="0"/>
        </a:xfrm>
      </p:grpSpPr>
      <p:sp>
        <p:nvSpPr>
          <p:cNvPr id="3" name="矩形 2"/>
          <p:cNvSpPr/>
          <p:nvPr userDrawn="1"/>
        </p:nvSpPr>
        <p:spPr>
          <a:xfrm>
            <a:off x="0" y="3429000"/>
            <a:ext cx="12192000" cy="3429000"/>
          </a:xfrm>
          <a:prstGeom prst="rect">
            <a:avLst/>
          </a:prstGeom>
          <a:solidFill>
            <a:srgbClr val="E73A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sp>
        <p:nvSpPr>
          <p:cNvPr id="4" name="矩形: 圆角 3"/>
          <p:cNvSpPr/>
          <p:nvPr userDrawn="1"/>
        </p:nvSpPr>
        <p:spPr>
          <a:xfrm>
            <a:off x="1079465" y="1527629"/>
            <a:ext cx="3802742" cy="3802742"/>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pic>
        <p:nvPicPr>
          <p:cNvPr id="5" name="图片 4" descr="图片包含 纵横字谜, 文字&#10;&#10;已生成极高可信度的说明"/>
          <p:cNvPicPr>
            <a:picLocks noChangeAspect="1"/>
          </p:cNvPicPr>
          <p:nvPr userDrawn="1"/>
        </p:nvPicPr>
        <p:blipFill>
          <a:blip/>
          <a:stretch>
            <a:fillRect/>
          </a:stretch>
        </p:blipFill>
        <p:spPr>
          <a:xfrm>
            <a:off x="1308065" y="1756229"/>
            <a:ext cx="3345542" cy="3345542"/>
          </a:xfrm>
          <a:prstGeom prst="rect">
            <a:avLst/>
          </a:prstGeom>
        </p:spPr>
      </p:pic>
      <p:sp>
        <p:nvSpPr>
          <p:cNvPr id="6" name="文本框 5"/>
          <p:cNvSpPr txBox="1"/>
          <p:nvPr userDrawn="1"/>
        </p:nvSpPr>
        <p:spPr>
          <a:xfrm>
            <a:off x="5239657" y="1566506"/>
            <a:ext cx="6013185" cy="3549241"/>
          </a:xfrm>
          <a:prstGeom prst="rect">
            <a:avLst/>
          </a:prstGeom>
          <a:noFill/>
        </p:spPr>
        <p:txBody>
          <a:bodyPr wrap="none" rtlCol="0">
            <a:spAutoFit/>
          </a:bodyPr>
          <a:lstStyle/>
          <a:p>
            <a:pPr>
              <a:lnSpc>
                <a:spcPct val="150000"/>
              </a:lnSpc>
              <a:spcBef>
                <a:spcPts val="600"/>
              </a:spcBef>
            </a:pPr>
            <a:r>
              <a:rPr lang="zh-CN" altLang="en-US" sz="3600" b="1" ker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办公模板更新</a:t>
            </a:r>
            <a:endParaRPr lang="en-US" altLang="zh-CN" sz="3600" b="1" ker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nSpc>
                <a:spcPct val="150000"/>
              </a:lnSpc>
              <a:spcBef>
                <a:spcPts val="600"/>
              </a:spcBef>
            </a:pPr>
            <a:r>
              <a:rPr lang="zh-CN" altLang="en-US" sz="3600" b="1" ker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微软</a:t>
            </a:r>
            <a:endParaRPr lang="en-US" altLang="zh-CN" sz="3600" b="1" ker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nSpc>
                <a:spcPct val="150000"/>
              </a:lnSpc>
              <a:spcBef>
                <a:spcPts val="600"/>
              </a:spcBef>
            </a:pPr>
            <a:r>
              <a:rPr lang="zh-CN" altLang="en-US"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微信扫码关注</a:t>
            </a:r>
            <a:endParaRPr lang="en-US" altLang="zh-CN"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nSpc>
                <a:spcPct val="150000"/>
              </a:lnSpc>
              <a:spcBef>
                <a:spcPts val="600"/>
              </a:spcBef>
            </a:pPr>
            <a:r>
              <a:rPr lang="zh-CN" altLang="en-US"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 微软</a:t>
            </a:r>
            <a:r>
              <a:rPr lang="en-US" altLang="zh-CN"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Office</a:t>
            </a:r>
            <a:r>
              <a:rPr lang="zh-CN" altLang="en-US"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文档 」服务号</a:t>
            </a:r>
            <a:endParaRPr lang="en-US" altLang="zh-CN"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pic>
        <p:nvPicPr>
          <p:cNvPr id="7" name="图片 6">
            <a:hlinkClick r:id="rId2"/>
          </p:cNvPr>
          <p:cNvPicPr>
            <a:picLocks noChangeAspect="1"/>
          </p:cNvPicPr>
          <p:nvPr userDrawn="1"/>
        </p:nvPicPr>
        <p:blipFill>
          <a:blip/>
          <a:stretch>
            <a:fillRect/>
          </a:stretch>
        </p:blipFill>
        <p:spPr>
          <a:xfrm>
            <a:off x="5239657" y="6345797"/>
            <a:ext cx="1712686" cy="2260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使用小程序">
    <p:spTree>
      <p:nvGrpSpPr>
        <p:cNvPr id="1" name=""/>
        <p:cNvGrpSpPr/>
        <p:nvPr/>
      </p:nvGrpSpPr>
      <p:grpSpPr>
        <a:xfrm>
          <a:off x="0" y="0"/>
          <a:ext cx="0" cy="0"/>
          <a:chOff x="0" y="0"/>
          <a:chExt cx="0" cy="0"/>
        </a:xfrm>
      </p:grpSpPr>
      <p:cxnSp>
        <p:nvCxnSpPr>
          <p:cNvPr id="4" name="直接连接符 3"/>
          <p:cNvCxnSpPr/>
          <p:nvPr userDrawn="1"/>
        </p:nvCxnSpPr>
        <p:spPr>
          <a:xfrm>
            <a:off x="0" y="657288"/>
            <a:ext cx="12192000" cy="0"/>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3091547"/>
            <a:ext cx="12192000" cy="3766453"/>
          </a:xfrm>
          <a:prstGeom prst="rect">
            <a:avLst/>
          </a:prstGeom>
          <a:solidFill>
            <a:srgbClr val="E73A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sp>
        <p:nvSpPr>
          <p:cNvPr id="8" name="矩形: 圆角 7"/>
          <p:cNvSpPr/>
          <p:nvPr userDrawn="1"/>
        </p:nvSpPr>
        <p:spPr>
          <a:xfrm>
            <a:off x="621395"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sp>
        <p:nvSpPr>
          <p:cNvPr id="9" name="矩形: 圆角 8"/>
          <p:cNvSpPr/>
          <p:nvPr userDrawn="1"/>
        </p:nvSpPr>
        <p:spPr>
          <a:xfrm>
            <a:off x="4374467"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sp>
        <p:nvSpPr>
          <p:cNvPr id="10" name="文本框 9"/>
          <p:cNvSpPr txBox="1"/>
          <p:nvPr userDrawn="1"/>
        </p:nvSpPr>
        <p:spPr>
          <a:xfrm>
            <a:off x="1656327" y="286129"/>
            <a:ext cx="8879354" cy="670120"/>
          </a:xfrm>
          <a:prstGeom prst="rect">
            <a:avLst/>
          </a:prstGeom>
          <a:solidFill>
            <a:schemeClr val="bg1"/>
          </a:solidFill>
        </p:spPr>
        <p:txBody>
          <a:bodyPr wrap="none" rtlCol="0">
            <a:spAutoFit/>
          </a:bodyPr>
          <a:lstStyle/>
          <a:p>
            <a:pPr algn="ctr">
              <a:lnSpc>
                <a:spcPct val="130000"/>
              </a:lnSpc>
              <a:spcBef>
                <a:spcPts val="600"/>
              </a:spcBef>
            </a:pPr>
            <a:r>
              <a:rPr lang="zh-CN" altLang="en-US" sz="3200" b="1" kern="0">
                <a:latin typeface="微软雅黑" panose="020B0503020204020204" pitchFamily="34" charset="-122"/>
                <a:ea typeface="微软雅黑" panose="020B0503020204020204" pitchFamily="34" charset="-122"/>
                <a:cs typeface="+mn-ea"/>
                <a:sym typeface="+mn-lt"/>
              </a:rPr>
              <a:t> 微信扫描小程序码，使用微软移动办公黑科技 </a:t>
            </a:r>
            <a:endParaRPr lang="en-US" sz="3200" b="1" kern="0" dirty="0">
              <a:latin typeface="微软雅黑" panose="020B0503020204020204" pitchFamily="34" charset="-122"/>
              <a:ea typeface="微软雅黑" panose="020B0503020204020204" pitchFamily="34" charset="-122"/>
              <a:cs typeface="+mn-ea"/>
              <a:sym typeface="+mn-lt"/>
            </a:endParaRPr>
          </a:p>
        </p:txBody>
      </p:sp>
      <p:cxnSp>
        <p:nvCxnSpPr>
          <p:cNvPr id="11" name="直接连接符 10"/>
          <p:cNvCxnSpPr/>
          <p:nvPr userDrawn="1"/>
        </p:nvCxnSpPr>
        <p:spPr>
          <a:xfrm flipH="1">
            <a:off x="1523089" y="369629"/>
            <a:ext cx="266460" cy="622048"/>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flipH="1">
            <a:off x="10402443" y="369629"/>
            <a:ext cx="266460" cy="622048"/>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sp>
        <p:nvSpPr>
          <p:cNvPr id="13" name="矩形: 圆角 12"/>
          <p:cNvSpPr/>
          <p:nvPr userDrawn="1"/>
        </p:nvSpPr>
        <p:spPr>
          <a:xfrm>
            <a:off x="8159751"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pic>
        <p:nvPicPr>
          <p:cNvPr id="14" name="图片 13"/>
          <p:cNvPicPr>
            <a:picLocks noChangeAspect="1"/>
          </p:cNvPicPr>
          <p:nvPr userDrawn="1"/>
        </p:nvPicPr>
        <p:blipFill rotWithShape="1">
          <a:blip/>
          <a:srcRect l="13924" t="13924" r="13924" b="13924"/>
          <a:stretch>
            <a:fillRect/>
          </a:stretch>
        </p:blipFill>
        <p:spPr>
          <a:xfrm>
            <a:off x="4705130" y="1673081"/>
            <a:ext cx="2743200" cy="2743200"/>
          </a:xfrm>
          <a:prstGeom prst="rect">
            <a:avLst/>
          </a:prstGeom>
        </p:spPr>
      </p:pic>
      <p:pic>
        <p:nvPicPr>
          <p:cNvPr id="15" name="图片 14"/>
          <p:cNvPicPr>
            <a:picLocks noChangeAspect="1"/>
          </p:cNvPicPr>
          <p:nvPr userDrawn="1"/>
        </p:nvPicPr>
        <p:blipFill rotWithShape="1">
          <a:blip/>
          <a:srcRect l="14439" r="14439"/>
          <a:stretch>
            <a:fillRect/>
          </a:stretch>
        </p:blipFill>
        <p:spPr>
          <a:xfrm>
            <a:off x="8519321" y="1673081"/>
            <a:ext cx="2743200" cy="2743200"/>
          </a:xfrm>
          <a:prstGeom prst="rect">
            <a:avLst/>
          </a:prstGeom>
        </p:spPr>
      </p:pic>
      <p:pic>
        <p:nvPicPr>
          <p:cNvPr id="16" name="图片 15"/>
          <p:cNvPicPr>
            <a:picLocks noChangeAspect="1"/>
          </p:cNvPicPr>
          <p:nvPr userDrawn="1"/>
        </p:nvPicPr>
        <p:blipFill>
          <a:blip/>
          <a:stretch>
            <a:fillRect/>
          </a:stretch>
        </p:blipFill>
        <p:spPr>
          <a:xfrm>
            <a:off x="980965" y="1673081"/>
            <a:ext cx="2743200" cy="2743200"/>
          </a:xfrm>
          <a:prstGeom prst="rect">
            <a:avLst/>
          </a:prstGeom>
        </p:spPr>
      </p:pic>
      <p:sp>
        <p:nvSpPr>
          <p:cNvPr id="17" name="文本框 16"/>
          <p:cNvSpPr txBox="1"/>
          <p:nvPr userDrawn="1"/>
        </p:nvSpPr>
        <p:spPr>
          <a:xfrm>
            <a:off x="987447" y="5138740"/>
            <a:ext cx="2730235"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在微信访问</a:t>
            </a:r>
            <a:r>
              <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OneDrive</a:t>
            </a:r>
            <a:endPar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 「 微软</a:t>
            </a:r>
            <a:r>
              <a:rPr lang="en-US" altLang="zh-CN"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Office</a:t>
            </a:r>
            <a:r>
              <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文档 」</a:t>
            </a:r>
            <a:endParaRPr lang="en-US" sz="20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8" name="文本框 17"/>
          <p:cNvSpPr txBox="1"/>
          <p:nvPr userDrawn="1"/>
        </p:nvSpPr>
        <p:spPr>
          <a:xfrm>
            <a:off x="4862328" y="5138740"/>
            <a:ext cx="2467342"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让你的文档会说话</a:t>
            </a:r>
            <a:endPar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 「 微软听听文档 」</a:t>
            </a:r>
            <a:endPar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9" name="文本框 18"/>
          <p:cNvSpPr txBox="1"/>
          <p:nvPr userDrawn="1"/>
        </p:nvSpPr>
        <p:spPr>
          <a:xfrm>
            <a:off x="8644425" y="5138740"/>
            <a:ext cx="2492990"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你的文档创作小助手</a:t>
            </a:r>
            <a:endPar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 「 微软小蜜 」</a:t>
            </a:r>
            <a:endPar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cxnSp>
        <p:nvCxnSpPr>
          <p:cNvPr id="20" name="直接连接符 19"/>
          <p:cNvCxnSpPr/>
          <p:nvPr userDrawn="1"/>
        </p:nvCxnSpPr>
        <p:spPr>
          <a:xfrm>
            <a:off x="4198035" y="5330650"/>
            <a:ext cx="0" cy="65314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7976215" y="5330650"/>
            <a:ext cx="0" cy="65314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2" name="图片 21">
            <a:hlinkClick r:id="rId2"/>
          </p:cNvPr>
          <p:cNvPicPr>
            <a:picLocks noChangeAspect="1"/>
          </p:cNvPicPr>
          <p:nvPr userDrawn="1"/>
        </p:nvPicPr>
        <p:blipFill>
          <a:blip/>
          <a:stretch>
            <a:fillRect/>
          </a:stretch>
        </p:blipFill>
        <p:spPr>
          <a:xfrm>
            <a:off x="5239657" y="6345797"/>
            <a:ext cx="1712686" cy="2260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5" name="직사각형 45"/>
          <p:cNvSpPr/>
          <p:nvPr/>
        </p:nvSpPr>
        <p:spPr>
          <a:xfrm>
            <a:off x="-600" y="937992"/>
            <a:ext cx="12192000" cy="10636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 name="标题占位符 1"/>
          <p:cNvSpPr>
            <a:spLocks noGrp="1"/>
          </p:cNvSpPr>
          <p:nvPr>
            <p:ph type="title"/>
          </p:nvPr>
        </p:nvSpPr>
        <p:spPr>
          <a:xfrm>
            <a:off x="669925" y="1"/>
            <a:ext cx="9399850" cy="920529"/>
          </a:xfrm>
          <a:prstGeom prst="rect">
            <a:avLst/>
          </a:prstGeom>
        </p:spPr>
        <p:txBody>
          <a:bodyPr vert="horz" lIns="91440" tIns="45720" rIns="91440" bIns="45720" rtlCol="0" anchor="b">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66058" y="1125538"/>
            <a:ext cx="10859191" cy="5011737"/>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tint val="75000"/>
                  </a:schemeClr>
                </a:solidFill>
              </a:defRPr>
            </a:lvl1pPr>
          </a:lstStyle>
          <a:p>
            <a:fld id="{6489D9C7-5DC6-4263-87FF-7C99F6FB63C3}" type="datetime1">
              <a:rPr lang="zh-CN" altLang="en-US" smtClean="0"/>
            </a:fld>
            <a:endParaRPr lang="zh-CN" altLang="en-US"/>
          </a:p>
        </p:txBody>
      </p:sp>
      <p:sp>
        <p:nvSpPr>
          <p:cNvPr id="5" name="页脚占位符 4"/>
          <p:cNvSpPr>
            <a:spLocks noGrp="1"/>
          </p:cNvSpPr>
          <p:nvPr>
            <p:ph type="ftr" sz="quarter" idx="3"/>
          </p:nvPr>
        </p:nvSpPr>
        <p:spPr>
          <a:xfrm>
            <a:off x="666058" y="6240463"/>
            <a:ext cx="4114800" cy="2063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ltLang="zh-CN" dirty="0"/>
              <a:t>www.islide.cc</a:t>
            </a:r>
            <a:endParaRPr lang="zh-CN" altLang="en-US" dirty="0"/>
          </a:p>
        </p:txBody>
      </p:sp>
      <p:sp>
        <p:nvSpPr>
          <p:cNvPr id="6" name="灯片编号占位符 5"/>
          <p:cNvSpPr>
            <a:spLocks noGrp="1"/>
          </p:cNvSpPr>
          <p:nvPr>
            <p:ph type="sldNum" sz="quarter" idx="4"/>
          </p:nvPr>
        </p:nvSpPr>
        <p:spPr>
          <a:xfrm>
            <a:off x="8639174" y="6240463"/>
            <a:ext cx="2886075" cy="206381"/>
          </a:xfrm>
          <a:prstGeom prst="rect">
            <a:avLst/>
          </a:prstGeom>
        </p:spPr>
        <p:txBody>
          <a:bodyPr vert="horz" lIns="91440" tIns="45720" rIns="91440" bIns="45720" rtlCol="0" anchor="ctr"/>
          <a:lstStyle>
            <a:lvl1pPr algn="r">
              <a:defRPr sz="1000">
                <a:solidFill>
                  <a:schemeClr val="tx1">
                    <a:tint val="75000"/>
                  </a:schemeClr>
                </a:solidFill>
              </a:defRPr>
            </a:lvl1pPr>
          </a:lstStyle>
          <a:p>
            <a:fld id="{5DD3DB80-B894-403A-B48E-6FDC1A72010E}" type="slidenum">
              <a:rPr lang="zh-CN" altLang="en-US" smtClean="0"/>
            </a:fld>
            <a:endParaRPr lang="zh-CN" altLang="en-US"/>
          </a:p>
        </p:txBody>
      </p:sp>
      <p:grpSp>
        <p:nvGrpSpPr>
          <p:cNvPr id="72" name="组合 71"/>
          <p:cNvGrpSpPr/>
          <p:nvPr/>
        </p:nvGrpSpPr>
        <p:grpSpPr>
          <a:xfrm>
            <a:off x="10057075" y="331568"/>
            <a:ext cx="1963737" cy="1057275"/>
            <a:chOff x="5268913" y="2360613"/>
            <a:chExt cx="1963737" cy="1057275"/>
          </a:xfrm>
        </p:grpSpPr>
        <p:sp>
          <p:nvSpPr>
            <p:cNvPr id="39" name="Freeform 32"/>
            <p:cNvSpPr/>
            <p:nvPr/>
          </p:nvSpPr>
          <p:spPr bwMode="auto">
            <a:xfrm>
              <a:off x="7069138" y="3162300"/>
              <a:ext cx="163512" cy="192087"/>
            </a:xfrm>
            <a:custGeom>
              <a:avLst/>
              <a:gdLst>
                <a:gd name="T0" fmla="*/ 83 w 86"/>
                <a:gd name="T1" fmla="*/ 81 h 102"/>
                <a:gd name="T2" fmla="*/ 86 w 86"/>
                <a:gd name="T3" fmla="*/ 79 h 102"/>
                <a:gd name="T4" fmla="*/ 38 w 86"/>
                <a:gd name="T5" fmla="*/ 12 h 102"/>
                <a:gd name="T6" fmla="*/ 13 w 86"/>
                <a:gd name="T7" fmla="*/ 18 h 102"/>
                <a:gd name="T8" fmla="*/ 27 w 86"/>
                <a:gd name="T9" fmla="*/ 102 h 102"/>
                <a:gd name="T10" fmla="*/ 63 w 86"/>
                <a:gd name="T11" fmla="*/ 88 h 102"/>
                <a:gd name="T12" fmla="*/ 65 w 86"/>
                <a:gd name="T13" fmla="*/ 62 h 102"/>
                <a:gd name="T14" fmla="*/ 83 w 86"/>
                <a:gd name="T15" fmla="*/ 81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102">
                  <a:moveTo>
                    <a:pt x="83" y="81"/>
                  </a:moveTo>
                  <a:cubicBezTo>
                    <a:pt x="86" y="79"/>
                    <a:pt x="86" y="79"/>
                    <a:pt x="86" y="79"/>
                  </a:cubicBezTo>
                  <a:cubicBezTo>
                    <a:pt x="76" y="59"/>
                    <a:pt x="56" y="20"/>
                    <a:pt x="38" y="12"/>
                  </a:cubicBezTo>
                  <a:cubicBezTo>
                    <a:pt x="14" y="0"/>
                    <a:pt x="13" y="18"/>
                    <a:pt x="13" y="18"/>
                  </a:cubicBezTo>
                  <a:cubicBezTo>
                    <a:pt x="0" y="54"/>
                    <a:pt x="27" y="102"/>
                    <a:pt x="27" y="102"/>
                  </a:cubicBezTo>
                  <a:cubicBezTo>
                    <a:pt x="63" y="88"/>
                    <a:pt x="63" y="88"/>
                    <a:pt x="63" y="88"/>
                  </a:cubicBezTo>
                  <a:cubicBezTo>
                    <a:pt x="65" y="62"/>
                    <a:pt x="65" y="62"/>
                    <a:pt x="65" y="62"/>
                  </a:cubicBezTo>
                  <a:lnTo>
                    <a:pt x="83" y="81"/>
                  </a:lnTo>
                  <a:close/>
                </a:path>
              </a:pathLst>
            </a:custGeom>
            <a:solidFill>
              <a:srgbClr val="7F1F1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3"/>
            <p:cNvSpPr/>
            <p:nvPr/>
          </p:nvSpPr>
          <p:spPr bwMode="auto">
            <a:xfrm>
              <a:off x="5764213" y="2560638"/>
              <a:ext cx="1042987" cy="857250"/>
            </a:xfrm>
            <a:custGeom>
              <a:avLst/>
              <a:gdLst>
                <a:gd name="T0" fmla="*/ 551 w 551"/>
                <a:gd name="T1" fmla="*/ 263 h 452"/>
                <a:gd name="T2" fmla="*/ 425 w 551"/>
                <a:gd name="T3" fmla="*/ 0 h 452"/>
                <a:gd name="T4" fmla="*/ 0 w 551"/>
                <a:gd name="T5" fmla="*/ 156 h 452"/>
                <a:gd name="T6" fmla="*/ 74 w 551"/>
                <a:gd name="T7" fmla="*/ 438 h 452"/>
                <a:gd name="T8" fmla="*/ 327 w 551"/>
                <a:gd name="T9" fmla="*/ 390 h 452"/>
                <a:gd name="T10" fmla="*/ 551 w 551"/>
                <a:gd name="T11" fmla="*/ 263 h 452"/>
              </a:gdLst>
              <a:ahLst/>
              <a:cxnLst>
                <a:cxn ang="0">
                  <a:pos x="T0" y="T1"/>
                </a:cxn>
                <a:cxn ang="0">
                  <a:pos x="T2" y="T3"/>
                </a:cxn>
                <a:cxn ang="0">
                  <a:pos x="T4" y="T5"/>
                </a:cxn>
                <a:cxn ang="0">
                  <a:pos x="T6" y="T7"/>
                </a:cxn>
                <a:cxn ang="0">
                  <a:pos x="T8" y="T9"/>
                </a:cxn>
                <a:cxn ang="0">
                  <a:pos x="T10" y="T11"/>
                </a:cxn>
              </a:cxnLst>
              <a:rect l="0" t="0" r="r" b="b"/>
              <a:pathLst>
                <a:path w="551" h="452">
                  <a:moveTo>
                    <a:pt x="551" y="263"/>
                  </a:moveTo>
                  <a:cubicBezTo>
                    <a:pt x="425" y="0"/>
                    <a:pt x="425" y="0"/>
                    <a:pt x="425" y="0"/>
                  </a:cubicBezTo>
                  <a:cubicBezTo>
                    <a:pt x="0" y="156"/>
                    <a:pt x="0" y="156"/>
                    <a:pt x="0" y="156"/>
                  </a:cubicBezTo>
                  <a:cubicBezTo>
                    <a:pt x="74" y="438"/>
                    <a:pt x="74" y="438"/>
                    <a:pt x="74" y="438"/>
                  </a:cubicBezTo>
                  <a:cubicBezTo>
                    <a:pt x="107" y="452"/>
                    <a:pt x="211" y="433"/>
                    <a:pt x="327" y="390"/>
                  </a:cubicBezTo>
                  <a:cubicBezTo>
                    <a:pt x="444" y="347"/>
                    <a:pt x="535" y="294"/>
                    <a:pt x="551" y="263"/>
                  </a:cubicBezTo>
                </a:path>
              </a:pathLst>
            </a:custGeom>
            <a:solidFill>
              <a:srgbClr val="384C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4"/>
            <p:cNvSpPr/>
            <p:nvPr/>
          </p:nvSpPr>
          <p:spPr bwMode="auto">
            <a:xfrm>
              <a:off x="5764213" y="2560638"/>
              <a:ext cx="923925" cy="598487"/>
            </a:xfrm>
            <a:custGeom>
              <a:avLst/>
              <a:gdLst>
                <a:gd name="T0" fmla="*/ 507 w 582"/>
                <a:gd name="T1" fmla="*/ 0 h 377"/>
                <a:gd name="T2" fmla="*/ 507 w 582"/>
                <a:gd name="T3" fmla="*/ 0 h 377"/>
                <a:gd name="T4" fmla="*/ 0 w 582"/>
                <a:gd name="T5" fmla="*/ 187 h 377"/>
                <a:gd name="T6" fmla="*/ 44 w 582"/>
                <a:gd name="T7" fmla="*/ 355 h 377"/>
                <a:gd name="T8" fmla="*/ 358 w 582"/>
                <a:gd name="T9" fmla="*/ 377 h 377"/>
                <a:gd name="T10" fmla="*/ 582 w 582"/>
                <a:gd name="T11" fmla="*/ 157 h 377"/>
                <a:gd name="T12" fmla="*/ 507 w 582"/>
                <a:gd name="T13" fmla="*/ 0 h 377"/>
              </a:gdLst>
              <a:ahLst/>
              <a:cxnLst>
                <a:cxn ang="0">
                  <a:pos x="T0" y="T1"/>
                </a:cxn>
                <a:cxn ang="0">
                  <a:pos x="T2" y="T3"/>
                </a:cxn>
                <a:cxn ang="0">
                  <a:pos x="T4" y="T5"/>
                </a:cxn>
                <a:cxn ang="0">
                  <a:pos x="T6" y="T7"/>
                </a:cxn>
                <a:cxn ang="0">
                  <a:pos x="T8" y="T9"/>
                </a:cxn>
                <a:cxn ang="0">
                  <a:pos x="T10" y="T11"/>
                </a:cxn>
                <a:cxn ang="0">
                  <a:pos x="T12" y="T13"/>
                </a:cxn>
              </a:cxnLst>
              <a:rect l="0" t="0" r="r" b="b"/>
              <a:pathLst>
                <a:path w="582" h="377">
                  <a:moveTo>
                    <a:pt x="507" y="0"/>
                  </a:moveTo>
                  <a:lnTo>
                    <a:pt x="507" y="0"/>
                  </a:lnTo>
                  <a:lnTo>
                    <a:pt x="0" y="187"/>
                  </a:lnTo>
                  <a:lnTo>
                    <a:pt x="44" y="355"/>
                  </a:lnTo>
                  <a:lnTo>
                    <a:pt x="358" y="377"/>
                  </a:lnTo>
                  <a:lnTo>
                    <a:pt x="582" y="157"/>
                  </a:lnTo>
                  <a:lnTo>
                    <a:pt x="507" y="0"/>
                  </a:lnTo>
                  <a:close/>
                </a:path>
              </a:pathLst>
            </a:custGeom>
            <a:solidFill>
              <a:srgbClr val="0C171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5"/>
            <p:cNvSpPr/>
            <p:nvPr/>
          </p:nvSpPr>
          <p:spPr bwMode="auto">
            <a:xfrm>
              <a:off x="5764213" y="2560638"/>
              <a:ext cx="923925" cy="598487"/>
            </a:xfrm>
            <a:custGeom>
              <a:avLst/>
              <a:gdLst>
                <a:gd name="T0" fmla="*/ 507 w 582"/>
                <a:gd name="T1" fmla="*/ 0 h 377"/>
                <a:gd name="T2" fmla="*/ 507 w 582"/>
                <a:gd name="T3" fmla="*/ 0 h 377"/>
                <a:gd name="T4" fmla="*/ 0 w 582"/>
                <a:gd name="T5" fmla="*/ 187 h 377"/>
                <a:gd name="T6" fmla="*/ 44 w 582"/>
                <a:gd name="T7" fmla="*/ 355 h 377"/>
                <a:gd name="T8" fmla="*/ 358 w 582"/>
                <a:gd name="T9" fmla="*/ 377 h 377"/>
                <a:gd name="T10" fmla="*/ 582 w 582"/>
                <a:gd name="T11" fmla="*/ 157 h 377"/>
                <a:gd name="T12" fmla="*/ 507 w 582"/>
                <a:gd name="T13" fmla="*/ 0 h 377"/>
              </a:gdLst>
              <a:ahLst/>
              <a:cxnLst>
                <a:cxn ang="0">
                  <a:pos x="T0" y="T1"/>
                </a:cxn>
                <a:cxn ang="0">
                  <a:pos x="T2" y="T3"/>
                </a:cxn>
                <a:cxn ang="0">
                  <a:pos x="T4" y="T5"/>
                </a:cxn>
                <a:cxn ang="0">
                  <a:pos x="T6" y="T7"/>
                </a:cxn>
                <a:cxn ang="0">
                  <a:pos x="T8" y="T9"/>
                </a:cxn>
                <a:cxn ang="0">
                  <a:pos x="T10" y="T11"/>
                </a:cxn>
                <a:cxn ang="0">
                  <a:pos x="T12" y="T13"/>
                </a:cxn>
              </a:cxnLst>
              <a:rect l="0" t="0" r="r" b="b"/>
              <a:pathLst>
                <a:path w="582" h="377">
                  <a:moveTo>
                    <a:pt x="507" y="0"/>
                  </a:moveTo>
                  <a:lnTo>
                    <a:pt x="507" y="0"/>
                  </a:lnTo>
                  <a:lnTo>
                    <a:pt x="0" y="187"/>
                  </a:lnTo>
                  <a:lnTo>
                    <a:pt x="44" y="355"/>
                  </a:lnTo>
                  <a:lnTo>
                    <a:pt x="358" y="377"/>
                  </a:lnTo>
                  <a:lnTo>
                    <a:pt x="582" y="157"/>
                  </a:lnTo>
                  <a:lnTo>
                    <a:pt x="50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36"/>
            <p:cNvSpPr/>
            <p:nvPr/>
          </p:nvSpPr>
          <p:spPr bwMode="auto">
            <a:xfrm>
              <a:off x="5281613" y="2398713"/>
              <a:ext cx="1782762" cy="730250"/>
            </a:xfrm>
            <a:custGeom>
              <a:avLst/>
              <a:gdLst>
                <a:gd name="T0" fmla="*/ 654 w 1123"/>
                <a:gd name="T1" fmla="*/ 460 h 460"/>
                <a:gd name="T2" fmla="*/ 0 w 1123"/>
                <a:gd name="T3" fmla="*/ 413 h 460"/>
                <a:gd name="T4" fmla="*/ 511 w 1123"/>
                <a:gd name="T5" fmla="*/ 71 h 460"/>
                <a:gd name="T6" fmla="*/ 1123 w 1123"/>
                <a:gd name="T7" fmla="*/ 0 h 460"/>
                <a:gd name="T8" fmla="*/ 654 w 1123"/>
                <a:gd name="T9" fmla="*/ 460 h 460"/>
              </a:gdLst>
              <a:ahLst/>
              <a:cxnLst>
                <a:cxn ang="0">
                  <a:pos x="T0" y="T1"/>
                </a:cxn>
                <a:cxn ang="0">
                  <a:pos x="T2" y="T3"/>
                </a:cxn>
                <a:cxn ang="0">
                  <a:pos x="T4" y="T5"/>
                </a:cxn>
                <a:cxn ang="0">
                  <a:pos x="T6" y="T7"/>
                </a:cxn>
                <a:cxn ang="0">
                  <a:pos x="T8" y="T9"/>
                </a:cxn>
              </a:cxnLst>
              <a:rect l="0" t="0" r="r" b="b"/>
              <a:pathLst>
                <a:path w="1123" h="460">
                  <a:moveTo>
                    <a:pt x="654" y="460"/>
                  </a:moveTo>
                  <a:lnTo>
                    <a:pt x="0" y="413"/>
                  </a:lnTo>
                  <a:lnTo>
                    <a:pt x="511" y="71"/>
                  </a:lnTo>
                  <a:lnTo>
                    <a:pt x="1123" y="0"/>
                  </a:lnTo>
                  <a:lnTo>
                    <a:pt x="654" y="460"/>
                  </a:lnTo>
                  <a:close/>
                </a:path>
              </a:pathLst>
            </a:custGeom>
            <a:solidFill>
              <a:srgbClr val="1F2B3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37"/>
            <p:cNvSpPr/>
            <p:nvPr/>
          </p:nvSpPr>
          <p:spPr bwMode="auto">
            <a:xfrm>
              <a:off x="5268913" y="2360613"/>
              <a:ext cx="1781175" cy="730250"/>
            </a:xfrm>
            <a:custGeom>
              <a:avLst/>
              <a:gdLst>
                <a:gd name="T0" fmla="*/ 654 w 1122"/>
                <a:gd name="T1" fmla="*/ 460 h 460"/>
                <a:gd name="T2" fmla="*/ 0 w 1122"/>
                <a:gd name="T3" fmla="*/ 414 h 460"/>
                <a:gd name="T4" fmla="*/ 511 w 1122"/>
                <a:gd name="T5" fmla="*/ 72 h 460"/>
                <a:gd name="T6" fmla="*/ 1122 w 1122"/>
                <a:gd name="T7" fmla="*/ 0 h 460"/>
                <a:gd name="T8" fmla="*/ 654 w 1122"/>
                <a:gd name="T9" fmla="*/ 460 h 460"/>
              </a:gdLst>
              <a:ahLst/>
              <a:cxnLst>
                <a:cxn ang="0">
                  <a:pos x="T0" y="T1"/>
                </a:cxn>
                <a:cxn ang="0">
                  <a:pos x="T2" y="T3"/>
                </a:cxn>
                <a:cxn ang="0">
                  <a:pos x="T4" y="T5"/>
                </a:cxn>
                <a:cxn ang="0">
                  <a:pos x="T6" y="T7"/>
                </a:cxn>
                <a:cxn ang="0">
                  <a:pos x="T8" y="T9"/>
                </a:cxn>
              </a:cxnLst>
              <a:rect l="0" t="0" r="r" b="b"/>
              <a:pathLst>
                <a:path w="1122" h="460">
                  <a:moveTo>
                    <a:pt x="654" y="460"/>
                  </a:moveTo>
                  <a:lnTo>
                    <a:pt x="0" y="414"/>
                  </a:lnTo>
                  <a:lnTo>
                    <a:pt x="511" y="72"/>
                  </a:lnTo>
                  <a:lnTo>
                    <a:pt x="1122" y="0"/>
                  </a:lnTo>
                  <a:lnTo>
                    <a:pt x="654" y="460"/>
                  </a:lnTo>
                  <a:close/>
                </a:path>
              </a:pathLst>
            </a:custGeom>
            <a:solidFill>
              <a:srgbClr val="54667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38"/>
            <p:cNvSpPr/>
            <p:nvPr/>
          </p:nvSpPr>
          <p:spPr bwMode="auto">
            <a:xfrm>
              <a:off x="5268913" y="3017838"/>
              <a:ext cx="1050925" cy="111125"/>
            </a:xfrm>
            <a:custGeom>
              <a:avLst/>
              <a:gdLst>
                <a:gd name="T0" fmla="*/ 0 w 662"/>
                <a:gd name="T1" fmla="*/ 0 h 70"/>
                <a:gd name="T2" fmla="*/ 8 w 662"/>
                <a:gd name="T3" fmla="*/ 23 h 70"/>
                <a:gd name="T4" fmla="*/ 662 w 662"/>
                <a:gd name="T5" fmla="*/ 70 h 70"/>
                <a:gd name="T6" fmla="*/ 654 w 662"/>
                <a:gd name="T7" fmla="*/ 46 h 70"/>
                <a:gd name="T8" fmla="*/ 0 w 662"/>
                <a:gd name="T9" fmla="*/ 0 h 70"/>
              </a:gdLst>
              <a:ahLst/>
              <a:cxnLst>
                <a:cxn ang="0">
                  <a:pos x="T0" y="T1"/>
                </a:cxn>
                <a:cxn ang="0">
                  <a:pos x="T2" y="T3"/>
                </a:cxn>
                <a:cxn ang="0">
                  <a:pos x="T4" y="T5"/>
                </a:cxn>
                <a:cxn ang="0">
                  <a:pos x="T6" y="T7"/>
                </a:cxn>
                <a:cxn ang="0">
                  <a:pos x="T8" y="T9"/>
                </a:cxn>
              </a:cxnLst>
              <a:rect l="0" t="0" r="r" b="b"/>
              <a:pathLst>
                <a:path w="662" h="70">
                  <a:moveTo>
                    <a:pt x="0" y="0"/>
                  </a:moveTo>
                  <a:lnTo>
                    <a:pt x="8" y="23"/>
                  </a:lnTo>
                  <a:lnTo>
                    <a:pt x="662" y="70"/>
                  </a:lnTo>
                  <a:lnTo>
                    <a:pt x="654" y="46"/>
                  </a:lnTo>
                  <a:lnTo>
                    <a:pt x="0" y="0"/>
                  </a:lnTo>
                  <a:close/>
                </a:path>
              </a:pathLst>
            </a:custGeom>
            <a:solidFill>
              <a:srgbClr val="1F2B3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39"/>
            <p:cNvSpPr/>
            <p:nvPr/>
          </p:nvSpPr>
          <p:spPr bwMode="auto">
            <a:xfrm>
              <a:off x="6307138" y="2360613"/>
              <a:ext cx="757237" cy="768350"/>
            </a:xfrm>
            <a:custGeom>
              <a:avLst/>
              <a:gdLst>
                <a:gd name="T0" fmla="*/ 468 w 477"/>
                <a:gd name="T1" fmla="*/ 0 h 484"/>
                <a:gd name="T2" fmla="*/ 477 w 477"/>
                <a:gd name="T3" fmla="*/ 24 h 484"/>
                <a:gd name="T4" fmla="*/ 8 w 477"/>
                <a:gd name="T5" fmla="*/ 484 h 484"/>
                <a:gd name="T6" fmla="*/ 0 w 477"/>
                <a:gd name="T7" fmla="*/ 460 h 484"/>
                <a:gd name="T8" fmla="*/ 468 w 477"/>
                <a:gd name="T9" fmla="*/ 0 h 484"/>
              </a:gdLst>
              <a:ahLst/>
              <a:cxnLst>
                <a:cxn ang="0">
                  <a:pos x="T0" y="T1"/>
                </a:cxn>
                <a:cxn ang="0">
                  <a:pos x="T2" y="T3"/>
                </a:cxn>
                <a:cxn ang="0">
                  <a:pos x="T4" y="T5"/>
                </a:cxn>
                <a:cxn ang="0">
                  <a:pos x="T6" y="T7"/>
                </a:cxn>
                <a:cxn ang="0">
                  <a:pos x="T8" y="T9"/>
                </a:cxn>
              </a:cxnLst>
              <a:rect l="0" t="0" r="r" b="b"/>
              <a:pathLst>
                <a:path w="477" h="484">
                  <a:moveTo>
                    <a:pt x="468" y="0"/>
                  </a:moveTo>
                  <a:lnTo>
                    <a:pt x="477" y="24"/>
                  </a:lnTo>
                  <a:lnTo>
                    <a:pt x="8" y="484"/>
                  </a:lnTo>
                  <a:lnTo>
                    <a:pt x="0" y="460"/>
                  </a:lnTo>
                  <a:lnTo>
                    <a:pt x="468" y="0"/>
                  </a:lnTo>
                  <a:close/>
                </a:path>
              </a:pathLst>
            </a:custGeom>
            <a:solidFill>
              <a:srgbClr val="384C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40"/>
            <p:cNvSpPr/>
            <p:nvPr/>
          </p:nvSpPr>
          <p:spPr bwMode="auto">
            <a:xfrm>
              <a:off x="6088063" y="2692400"/>
              <a:ext cx="177800" cy="87312"/>
            </a:xfrm>
            <a:custGeom>
              <a:avLst/>
              <a:gdLst>
                <a:gd name="T0" fmla="*/ 91 w 94"/>
                <a:gd name="T1" fmla="*/ 7 h 46"/>
                <a:gd name="T2" fmla="*/ 51 w 94"/>
                <a:gd name="T3" fmla="*/ 36 h 46"/>
                <a:gd name="T4" fmla="*/ 3 w 94"/>
                <a:gd name="T5" fmla="*/ 40 h 46"/>
                <a:gd name="T6" fmla="*/ 42 w 94"/>
                <a:gd name="T7" fmla="*/ 11 h 46"/>
                <a:gd name="T8" fmla="*/ 91 w 94"/>
                <a:gd name="T9" fmla="*/ 7 h 46"/>
              </a:gdLst>
              <a:ahLst/>
              <a:cxnLst>
                <a:cxn ang="0">
                  <a:pos x="T0" y="T1"/>
                </a:cxn>
                <a:cxn ang="0">
                  <a:pos x="T2" y="T3"/>
                </a:cxn>
                <a:cxn ang="0">
                  <a:pos x="T4" y="T5"/>
                </a:cxn>
                <a:cxn ang="0">
                  <a:pos x="T6" y="T7"/>
                </a:cxn>
                <a:cxn ang="0">
                  <a:pos x="T8" y="T9"/>
                </a:cxn>
              </a:cxnLst>
              <a:rect l="0" t="0" r="r" b="b"/>
              <a:pathLst>
                <a:path w="94" h="46">
                  <a:moveTo>
                    <a:pt x="91" y="7"/>
                  </a:moveTo>
                  <a:cubicBezTo>
                    <a:pt x="94" y="14"/>
                    <a:pt x="76" y="27"/>
                    <a:pt x="51" y="36"/>
                  </a:cubicBezTo>
                  <a:cubicBezTo>
                    <a:pt x="27" y="45"/>
                    <a:pt x="5" y="46"/>
                    <a:pt x="3" y="40"/>
                  </a:cubicBezTo>
                  <a:cubicBezTo>
                    <a:pt x="0" y="33"/>
                    <a:pt x="18" y="20"/>
                    <a:pt x="42" y="11"/>
                  </a:cubicBezTo>
                  <a:cubicBezTo>
                    <a:pt x="67" y="2"/>
                    <a:pt x="89" y="0"/>
                    <a:pt x="91" y="7"/>
                  </a:cubicBezTo>
                  <a:close/>
                </a:path>
              </a:pathLst>
            </a:custGeom>
            <a:solidFill>
              <a:srgbClr val="384C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1"/>
            <p:cNvSpPr/>
            <p:nvPr/>
          </p:nvSpPr>
          <p:spPr bwMode="auto">
            <a:xfrm>
              <a:off x="6130925" y="2547938"/>
              <a:ext cx="1003300" cy="657225"/>
            </a:xfrm>
            <a:custGeom>
              <a:avLst/>
              <a:gdLst>
                <a:gd name="T0" fmla="*/ 32 w 530"/>
                <a:gd name="T1" fmla="*/ 111 h 347"/>
                <a:gd name="T2" fmla="*/ 322 w 530"/>
                <a:gd name="T3" fmla="*/ 30 h 347"/>
                <a:gd name="T4" fmla="*/ 361 w 530"/>
                <a:gd name="T5" fmla="*/ 28 h 347"/>
                <a:gd name="T6" fmla="*/ 359 w 530"/>
                <a:gd name="T7" fmla="*/ 20 h 347"/>
                <a:gd name="T8" fmla="*/ 376 w 530"/>
                <a:gd name="T9" fmla="*/ 60 h 347"/>
                <a:gd name="T10" fmla="*/ 496 w 530"/>
                <a:gd name="T11" fmla="*/ 330 h 347"/>
                <a:gd name="T12" fmla="*/ 522 w 530"/>
                <a:gd name="T13" fmla="*/ 320 h 347"/>
                <a:gd name="T14" fmla="*/ 385 w 530"/>
                <a:gd name="T15" fmla="*/ 9 h 347"/>
                <a:gd name="T16" fmla="*/ 370 w 530"/>
                <a:gd name="T17" fmla="*/ 0 h 347"/>
                <a:gd name="T18" fmla="*/ 16 w 530"/>
                <a:gd name="T19" fmla="*/ 88 h 347"/>
                <a:gd name="T20" fmla="*/ 32 w 530"/>
                <a:gd name="T21" fmla="*/ 111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0" h="347">
                  <a:moveTo>
                    <a:pt x="32" y="111"/>
                  </a:moveTo>
                  <a:cubicBezTo>
                    <a:pt x="119" y="59"/>
                    <a:pt x="222" y="38"/>
                    <a:pt x="322" y="30"/>
                  </a:cubicBezTo>
                  <a:cubicBezTo>
                    <a:pt x="333" y="29"/>
                    <a:pt x="350" y="32"/>
                    <a:pt x="361" y="28"/>
                  </a:cubicBezTo>
                  <a:cubicBezTo>
                    <a:pt x="379" y="22"/>
                    <a:pt x="361" y="33"/>
                    <a:pt x="359" y="20"/>
                  </a:cubicBezTo>
                  <a:cubicBezTo>
                    <a:pt x="361" y="33"/>
                    <a:pt x="371" y="48"/>
                    <a:pt x="376" y="60"/>
                  </a:cubicBezTo>
                  <a:cubicBezTo>
                    <a:pt x="416" y="150"/>
                    <a:pt x="456" y="240"/>
                    <a:pt x="496" y="330"/>
                  </a:cubicBezTo>
                  <a:cubicBezTo>
                    <a:pt x="503" y="347"/>
                    <a:pt x="530" y="337"/>
                    <a:pt x="522" y="320"/>
                  </a:cubicBezTo>
                  <a:cubicBezTo>
                    <a:pt x="476" y="217"/>
                    <a:pt x="431" y="113"/>
                    <a:pt x="385" y="9"/>
                  </a:cubicBezTo>
                  <a:cubicBezTo>
                    <a:pt x="382" y="3"/>
                    <a:pt x="377" y="0"/>
                    <a:pt x="370" y="0"/>
                  </a:cubicBezTo>
                  <a:cubicBezTo>
                    <a:pt x="249" y="0"/>
                    <a:pt x="120" y="25"/>
                    <a:pt x="16" y="88"/>
                  </a:cubicBezTo>
                  <a:cubicBezTo>
                    <a:pt x="0" y="97"/>
                    <a:pt x="17" y="120"/>
                    <a:pt x="32" y="111"/>
                  </a:cubicBezTo>
                  <a:close/>
                </a:path>
              </a:pathLst>
            </a:custGeom>
            <a:solidFill>
              <a:srgbClr val="7F1F1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2"/>
            <p:cNvSpPr/>
            <p:nvPr/>
          </p:nvSpPr>
          <p:spPr bwMode="auto">
            <a:xfrm>
              <a:off x="7035800" y="3117850"/>
              <a:ext cx="139700" cy="138112"/>
            </a:xfrm>
            <a:custGeom>
              <a:avLst/>
              <a:gdLst>
                <a:gd name="T0" fmla="*/ 68 w 74"/>
                <a:gd name="T1" fmla="*/ 25 h 73"/>
                <a:gd name="T2" fmla="*/ 48 w 74"/>
                <a:gd name="T3" fmla="*/ 67 h 73"/>
                <a:gd name="T4" fmla="*/ 7 w 74"/>
                <a:gd name="T5" fmla="*/ 48 h 73"/>
                <a:gd name="T6" fmla="*/ 26 w 74"/>
                <a:gd name="T7" fmla="*/ 6 h 73"/>
                <a:gd name="T8" fmla="*/ 68 w 74"/>
                <a:gd name="T9" fmla="*/ 25 h 73"/>
              </a:gdLst>
              <a:ahLst/>
              <a:cxnLst>
                <a:cxn ang="0">
                  <a:pos x="T0" y="T1"/>
                </a:cxn>
                <a:cxn ang="0">
                  <a:pos x="T2" y="T3"/>
                </a:cxn>
                <a:cxn ang="0">
                  <a:pos x="T4" y="T5"/>
                </a:cxn>
                <a:cxn ang="0">
                  <a:pos x="T6" y="T7"/>
                </a:cxn>
                <a:cxn ang="0">
                  <a:pos x="T8" y="T9"/>
                </a:cxn>
              </a:cxnLst>
              <a:rect l="0" t="0" r="r" b="b"/>
              <a:pathLst>
                <a:path w="74" h="73">
                  <a:moveTo>
                    <a:pt x="68" y="25"/>
                  </a:moveTo>
                  <a:cubicBezTo>
                    <a:pt x="74" y="42"/>
                    <a:pt x="65" y="61"/>
                    <a:pt x="48" y="67"/>
                  </a:cubicBezTo>
                  <a:cubicBezTo>
                    <a:pt x="32" y="73"/>
                    <a:pt x="13" y="65"/>
                    <a:pt x="7" y="48"/>
                  </a:cubicBezTo>
                  <a:cubicBezTo>
                    <a:pt x="0" y="31"/>
                    <a:pt x="9" y="12"/>
                    <a:pt x="26" y="6"/>
                  </a:cubicBezTo>
                  <a:cubicBezTo>
                    <a:pt x="43" y="0"/>
                    <a:pt x="62" y="8"/>
                    <a:pt x="68" y="25"/>
                  </a:cubicBezTo>
                  <a:close/>
                </a:path>
              </a:pathLst>
            </a:custGeom>
            <a:solidFill>
              <a:srgbClr val="B5282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2.emf"/><Relationship Id="rId3" Type="http://schemas.openxmlformats.org/officeDocument/2006/relationships/tags" Target="../tags/tag2.xml"/><Relationship Id="rId2" Type="http://schemas.openxmlformats.org/officeDocument/2006/relationships/image" Target="../media/image1.emf"/><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9.wmf"/><Relationship Id="rId7" Type="http://schemas.openxmlformats.org/officeDocument/2006/relationships/oleObject" Target="../embeddings/oleObject5.bin"/><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image" Target="../media/image7.wmf"/><Relationship Id="rId3" Type="http://schemas.openxmlformats.org/officeDocument/2006/relationships/oleObject" Target="../embeddings/oleObject3.bin"/><Relationship Id="rId2" Type="http://schemas.openxmlformats.org/officeDocument/2006/relationships/image" Target="../media/image6.wmf"/><Relationship Id="rId10" Type="http://schemas.openxmlformats.org/officeDocument/2006/relationships/vmlDrawing" Target="../drawings/vmlDrawing2.vml"/><Relationship Id="rId1"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4.xml"/><Relationship Id="rId6" Type="http://schemas.openxmlformats.org/officeDocument/2006/relationships/image" Target="../media/image12.wmf"/><Relationship Id="rId5" Type="http://schemas.openxmlformats.org/officeDocument/2006/relationships/oleObject" Target="../embeddings/oleObject8.bin"/><Relationship Id="rId4" Type="http://schemas.openxmlformats.org/officeDocument/2006/relationships/image" Target="../media/image11.wmf"/><Relationship Id="rId3" Type="http://schemas.openxmlformats.org/officeDocument/2006/relationships/oleObject" Target="../embeddings/oleObject7.bin"/><Relationship Id="rId2" Type="http://schemas.openxmlformats.org/officeDocument/2006/relationships/image" Target="../media/image10.wmf"/><Relationship Id="rId1"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4.xml"/><Relationship Id="rId6" Type="http://schemas.openxmlformats.org/officeDocument/2006/relationships/image" Target="../media/image15.wmf"/><Relationship Id="rId5" Type="http://schemas.openxmlformats.org/officeDocument/2006/relationships/oleObject" Target="../embeddings/oleObject11.bin"/><Relationship Id="rId4" Type="http://schemas.openxmlformats.org/officeDocument/2006/relationships/image" Target="../media/image14.wmf"/><Relationship Id="rId3" Type="http://schemas.openxmlformats.org/officeDocument/2006/relationships/oleObject" Target="../embeddings/oleObject10.bin"/><Relationship Id="rId2" Type="http://schemas.openxmlformats.org/officeDocument/2006/relationships/image" Target="../media/image13.wmf"/><Relationship Id="rId1"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4.xml"/><Relationship Id="rId6" Type="http://schemas.openxmlformats.org/officeDocument/2006/relationships/image" Target="../media/image18.wmf"/><Relationship Id="rId5" Type="http://schemas.openxmlformats.org/officeDocument/2006/relationships/oleObject" Target="../embeddings/oleObject14.bin"/><Relationship Id="rId4" Type="http://schemas.openxmlformats.org/officeDocument/2006/relationships/image" Target="../media/image17.wmf"/><Relationship Id="rId3" Type="http://schemas.openxmlformats.org/officeDocument/2006/relationships/oleObject" Target="../embeddings/oleObject13.bin"/><Relationship Id="rId2" Type="http://schemas.openxmlformats.org/officeDocument/2006/relationships/image" Target="../media/image16.wmf"/><Relationship Id="rId1"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9.emf"/><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6.xml"/><Relationship Id="rId4" Type="http://schemas.openxmlformats.org/officeDocument/2006/relationships/image" Target="../media/image2.emf"/><Relationship Id="rId3" Type="http://schemas.openxmlformats.org/officeDocument/2006/relationships/tags" Target="../tags/tag4.xml"/><Relationship Id="rId2" Type="http://schemas.openxmlformats.org/officeDocument/2006/relationships/image" Target="../media/image1.emf"/><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9" name="组合 328"/>
          <p:cNvGrpSpPr/>
          <p:nvPr/>
        </p:nvGrpSpPr>
        <p:grpSpPr>
          <a:xfrm>
            <a:off x="590299" y="1176746"/>
            <a:ext cx="5021431" cy="4536258"/>
            <a:chOff x="423090" y="994900"/>
            <a:chExt cx="5333987" cy="4818615"/>
          </a:xfrm>
        </p:grpSpPr>
        <p:pic>
          <p:nvPicPr>
            <p:cNvPr id="327" name="图片 326"/>
            <p:cNvPicPr>
              <a:picLocks noChangeAspect="1"/>
            </p:cNvPicPr>
            <p:nvPr>
              <p:custDataLst>
                <p:tags r:id="rId1"/>
              </p:custDataLst>
            </p:nvPr>
          </p:nvPicPr>
          <p:blipFill>
            <a:blip r:embed="rId2" cstate="print">
              <a:duotone>
                <a:schemeClr val="bg2">
                  <a:shade val="45000"/>
                  <a:satMod val="135000"/>
                </a:schemeClr>
                <a:prstClr val="white"/>
              </a:duotone>
            </a:blip>
            <a:stretch>
              <a:fillRect/>
            </a:stretch>
          </p:blipFill>
          <p:spPr>
            <a:xfrm>
              <a:off x="909401" y="994900"/>
              <a:ext cx="4634944" cy="4628714"/>
            </a:xfrm>
            <a:prstGeom prst="rect">
              <a:avLst/>
            </a:prstGeom>
          </p:spPr>
        </p:pic>
        <p:pic>
          <p:nvPicPr>
            <p:cNvPr id="328" name="图片 327"/>
            <p:cNvPicPr>
              <a:picLocks noChangeAspect="1"/>
            </p:cNvPicPr>
            <p:nvPr>
              <p:custDataLst>
                <p:tags r:id="rId3"/>
              </p:custDataLst>
            </p:nvPr>
          </p:nvPicPr>
          <p:blipFill>
            <a:blip r:embed="rId4" cstate="print"/>
            <a:stretch>
              <a:fillRect/>
            </a:stretch>
          </p:blipFill>
          <p:spPr>
            <a:xfrm>
              <a:off x="423090" y="2857547"/>
              <a:ext cx="5333987" cy="2955968"/>
            </a:xfrm>
            <a:prstGeom prst="rect">
              <a:avLst/>
            </a:prstGeom>
          </p:spPr>
        </p:pic>
      </p:grpSp>
      <p:sp>
        <p:nvSpPr>
          <p:cNvPr id="15" name="标题 14"/>
          <p:cNvSpPr>
            <a:spLocks noGrp="1"/>
          </p:cNvSpPr>
          <p:nvPr>
            <p:ph type="ctrTitle"/>
          </p:nvPr>
        </p:nvSpPr>
        <p:spPr>
          <a:xfrm>
            <a:off x="5411464" y="3100964"/>
            <a:ext cx="6292609" cy="1128395"/>
          </a:xfrm>
        </p:spPr>
        <p:txBody>
          <a:bodyPr>
            <a:normAutofit fontScale="90000"/>
          </a:bodyPr>
          <a:lstStyle/>
          <a:p>
            <a:pPr algn="ctr"/>
            <a:r>
              <a:rPr lang="zh-CN" altLang="en-US" dirty="0"/>
              <a:t>决策树算法</a:t>
            </a:r>
            <a:br>
              <a:rPr lang="en-US" altLang="zh-CN" dirty="0"/>
            </a:br>
            <a:br>
              <a:rPr lang="en-US" altLang="zh-CN" dirty="0"/>
            </a:br>
            <a:endParaRPr dirty="0"/>
          </a:p>
        </p:txBody>
      </p:sp>
    </p:spTree>
  </p:cSld>
  <p:clrMapOvr>
    <a:masterClrMapping/>
  </p:clrMapOvr>
  <mc:AlternateContent xmlns:mc="http://schemas.openxmlformats.org/markup-compatibility/2006">
    <mc:Choice xmlns:p14="http://schemas.microsoft.com/office/powerpoint/2010/main" Requires="p14">
      <p:transition spd="slow" p14:dur="2000" advTm="3493"/>
    </mc:Choice>
    <mc:Fallback>
      <p:transition spd="slow" advTm="349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zh-CN" altLang="en-US" dirty="0">
                <a:sym typeface="+mn-ea"/>
              </a:rPr>
              <a:t>决策树概念</a:t>
            </a:r>
            <a:endParaRPr lang="zh-CN" altLang="en-US" dirty="0"/>
          </a:p>
        </p:txBody>
      </p:sp>
      <p:sp>
        <p:nvSpPr>
          <p:cNvPr id="3" name="文本框 2"/>
          <p:cNvSpPr txBox="1"/>
          <p:nvPr/>
        </p:nvSpPr>
        <p:spPr>
          <a:xfrm>
            <a:off x="697230" y="1233170"/>
            <a:ext cx="11067415" cy="3930650"/>
          </a:xfrm>
          <a:prstGeom prst="rect">
            <a:avLst/>
          </a:prstGeom>
          <a:noFill/>
        </p:spPr>
        <p:txBody>
          <a:bodyPr wrap="square" rtlCol="0">
            <a:spAutoFit/>
          </a:bodyPr>
          <a:p>
            <a:pPr algn="l">
              <a:lnSpc>
                <a:spcPct val="90000"/>
              </a:lnSpc>
              <a:spcBef>
                <a:spcPts val="1000"/>
              </a:spcBef>
              <a:buFont typeface="Arial" panose="020B0604020202020204" pitchFamily="34" charset="0"/>
              <a:buNone/>
            </a:pPr>
            <a:r>
              <a:rPr lang="zh-CN" altLang="en-US" sz="2800" b="1" dirty="0">
                <a:solidFill>
                  <a:srgbClr val="FF0000"/>
                </a:solidFill>
                <a:latin typeface="宋体" panose="02010600030101010101" pitchFamily="2" charset="-122"/>
                <a:ea typeface="宋体" panose="02010600030101010101" pitchFamily="2" charset="-122"/>
                <a:cs typeface="+mn-ea"/>
                <a:sym typeface="+mn-ea"/>
              </a:rPr>
              <a:t>决策树</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是一种常见的机器学习算法，常用于</a:t>
            </a:r>
            <a:r>
              <a:rPr lang="zh-CN" altLang="en-US" sz="2800" b="1" dirty="0">
                <a:solidFill>
                  <a:srgbClr val="FF0000"/>
                </a:solidFill>
                <a:latin typeface="宋体" panose="02010600030101010101" pitchFamily="2" charset="-122"/>
                <a:ea typeface="宋体" panose="02010600030101010101" pitchFamily="2" charset="-122"/>
                <a:cs typeface="+mn-ea"/>
                <a:sym typeface="+mn-ea"/>
              </a:rPr>
              <a:t>分类</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和</a:t>
            </a:r>
            <a:r>
              <a:rPr lang="zh-CN" altLang="en-US" sz="2800" b="1" dirty="0">
                <a:solidFill>
                  <a:srgbClr val="FF0000"/>
                </a:solidFill>
                <a:latin typeface="宋体" panose="02010600030101010101" pitchFamily="2" charset="-122"/>
                <a:ea typeface="宋体" panose="02010600030101010101" pitchFamily="2" charset="-122"/>
                <a:cs typeface="+mn-ea"/>
                <a:sym typeface="+mn-ea"/>
              </a:rPr>
              <a:t>回归</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任务。</a:t>
            </a:r>
            <a:endParaRPr lang="en-US" altLang="zh-CN" dirty="0">
              <a:latin typeface="宋体" panose="02010600030101010101" pitchFamily="2" charset="-122"/>
              <a:ea typeface="宋体" panose="02010600030101010101" pitchFamily="2" charset="-122"/>
            </a:endParaRPr>
          </a:p>
          <a:p>
            <a:pPr algn="l">
              <a:lnSpc>
                <a:spcPct val="90000"/>
              </a:lnSpc>
              <a:spcBef>
                <a:spcPts val="1000"/>
              </a:spcBef>
              <a:buFont typeface="Arial" panose="020B0604020202020204" pitchFamily="34" charset="0"/>
              <a:buNone/>
            </a:pPr>
            <a:endParaRPr lang="en-US" altLang="zh-CN" dirty="0">
              <a:latin typeface="宋体" panose="02010600030101010101" pitchFamily="2" charset="-122"/>
              <a:ea typeface="宋体" panose="02010600030101010101" pitchFamily="2" charset="-122"/>
            </a:endParaRPr>
          </a:p>
          <a:p>
            <a:pPr algn="l">
              <a:lnSpc>
                <a:spcPct val="90000"/>
              </a:lnSpc>
              <a:spcBef>
                <a:spcPts val="1000"/>
              </a:spcBef>
              <a:buFont typeface="Arial" panose="020B0604020202020204" pitchFamily="34" charset="0"/>
              <a:buNone/>
            </a:pPr>
            <a:r>
              <a:rPr lang="zh-CN" altLang="en-US" sz="2800" b="1" dirty="0">
                <a:solidFill>
                  <a:srgbClr val="FF0000"/>
                </a:solidFill>
                <a:latin typeface="宋体" panose="02010600030101010101" pitchFamily="2" charset="-122"/>
                <a:ea typeface="宋体" panose="02010600030101010101" pitchFamily="2" charset="-122"/>
                <a:cs typeface="+mn-ea"/>
                <a:sym typeface="+mn-ea"/>
              </a:rPr>
              <a:t>决策树</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通过一个树形结构对数据进行分类或预测，每个非叶子节点代表一个特征或属性，叶子节点代表一个分类或数值预测。</a:t>
            </a:r>
            <a:endParaRPr lang="en-US" altLang="zh-CN" dirty="0">
              <a:latin typeface="宋体" panose="02010600030101010101" pitchFamily="2" charset="-122"/>
              <a:ea typeface="宋体" panose="02010600030101010101" pitchFamily="2" charset="-122"/>
            </a:endParaRPr>
          </a:p>
          <a:p>
            <a:pPr algn="l">
              <a:lnSpc>
                <a:spcPct val="90000"/>
              </a:lnSpc>
              <a:spcBef>
                <a:spcPts val="1000"/>
              </a:spcBef>
              <a:buFont typeface="Arial" panose="020B0604020202020204" pitchFamily="34" charset="0"/>
              <a:buNone/>
            </a:pPr>
            <a:endParaRPr lang="en-US" altLang="zh-CN" dirty="0">
              <a:latin typeface="宋体" panose="02010600030101010101" pitchFamily="2" charset="-122"/>
              <a:ea typeface="宋体" panose="02010600030101010101" pitchFamily="2" charset="-122"/>
            </a:endParaRPr>
          </a:p>
          <a:p>
            <a:pPr algn="l">
              <a:lnSpc>
                <a:spcPct val="90000"/>
              </a:lnSpc>
              <a:spcBef>
                <a:spcPts val="1000"/>
              </a:spcBef>
              <a:buFont typeface="Arial" panose="020B0604020202020204" pitchFamily="34" charset="0"/>
              <a:buNone/>
            </a:pPr>
            <a:r>
              <a:rPr lang="zh-CN" altLang="en-US" sz="2800" b="1" dirty="0">
                <a:solidFill>
                  <a:srgbClr val="FF0000"/>
                </a:solidFill>
                <a:latin typeface="宋体" panose="02010600030101010101" pitchFamily="2" charset="-122"/>
                <a:ea typeface="宋体" panose="02010600030101010101" pitchFamily="2" charset="-122"/>
                <a:cs typeface="+mn-ea"/>
                <a:sym typeface="+mn-ea"/>
              </a:rPr>
              <a:t>决策树</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的分裂过程基于</a:t>
            </a:r>
            <a:r>
              <a:rPr lang="zh-CN" altLang="en-US" sz="2800" b="1" dirty="0">
                <a:solidFill>
                  <a:srgbClr val="FF0000"/>
                </a:solidFill>
                <a:latin typeface="宋体" panose="02010600030101010101" pitchFamily="2" charset="-122"/>
                <a:ea typeface="宋体" panose="02010600030101010101" pitchFamily="2" charset="-122"/>
                <a:cs typeface="+mn-ea"/>
                <a:sym typeface="+mn-ea"/>
              </a:rPr>
              <a:t>信息增益</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或</a:t>
            </a:r>
            <a:r>
              <a:rPr lang="zh-CN" altLang="en-US" sz="2800" b="1" dirty="0">
                <a:solidFill>
                  <a:srgbClr val="FF0000"/>
                </a:solidFill>
                <a:latin typeface="宋体" panose="02010600030101010101" pitchFamily="2" charset="-122"/>
                <a:ea typeface="宋体" panose="02010600030101010101" pitchFamily="2" charset="-122"/>
                <a:cs typeface="+mn-ea"/>
                <a:sym typeface="+mn-ea"/>
              </a:rPr>
              <a:t>基尼指数</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等指标，旨在最小化决策树的复杂度同时最大化分类或预测的准确性。</a:t>
            </a:r>
            <a:endParaRPr lang="en-US" altLang="zh-CN" dirty="0">
              <a:latin typeface="宋体" panose="02010600030101010101" pitchFamily="2" charset="-122"/>
              <a:ea typeface="宋体" panose="02010600030101010101" pitchFamily="2" charset="-122"/>
            </a:endParaRPr>
          </a:p>
          <a:p>
            <a:pPr algn="l">
              <a:lnSpc>
                <a:spcPct val="90000"/>
              </a:lnSpc>
              <a:spcBef>
                <a:spcPts val="1000"/>
              </a:spcBef>
              <a:buFont typeface="Arial" panose="020B0604020202020204" pitchFamily="34" charset="0"/>
              <a:buNone/>
            </a:pPr>
            <a:endParaRPr lang="en-US" altLang="zh-CN" dirty="0">
              <a:latin typeface="宋体" panose="02010600030101010101" pitchFamily="2" charset="-122"/>
              <a:ea typeface="宋体" panose="02010600030101010101" pitchFamily="2" charset="-122"/>
            </a:endParaRPr>
          </a:p>
          <a:p>
            <a:pPr algn="l">
              <a:lnSpc>
                <a:spcPct val="90000"/>
              </a:lnSpc>
              <a:spcBef>
                <a:spcPts val="1000"/>
              </a:spcBef>
              <a:buFont typeface="Arial" panose="020B0604020202020204" pitchFamily="34" charset="0"/>
              <a:buNone/>
            </a:pPr>
            <a:r>
              <a:rPr lang="zh-CN" altLang="en-US" sz="2800" b="1" dirty="0">
                <a:solidFill>
                  <a:srgbClr val="FF0000"/>
                </a:solidFill>
                <a:latin typeface="宋体" panose="02010600030101010101" pitchFamily="2" charset="-122"/>
                <a:ea typeface="宋体" panose="02010600030101010101" pitchFamily="2" charset="-122"/>
                <a:cs typeface="+mn-ea"/>
                <a:sym typeface="+mn-ea"/>
              </a:rPr>
              <a:t>决策树</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有许多的变种，例如</a:t>
            </a:r>
            <a:r>
              <a:rPr lang="zh-CN" altLang="en-US" sz="2800" b="1" dirty="0">
                <a:solidFill>
                  <a:srgbClr val="FF0000"/>
                </a:solidFill>
                <a:latin typeface="宋体" panose="02010600030101010101" pitchFamily="2" charset="-122"/>
                <a:ea typeface="宋体" panose="02010600030101010101" pitchFamily="2" charset="-122"/>
                <a:cs typeface="+mn-ea"/>
                <a:sym typeface="+mn-ea"/>
              </a:rPr>
              <a:t>随机森林</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和</a:t>
            </a:r>
            <a:r>
              <a:rPr lang="zh-CN" altLang="en-US" sz="2800" b="1" dirty="0">
                <a:solidFill>
                  <a:srgbClr val="FF0000"/>
                </a:solidFill>
                <a:latin typeface="宋体" panose="02010600030101010101" pitchFamily="2" charset="-122"/>
                <a:ea typeface="宋体" panose="02010600030101010101" pitchFamily="2" charset="-122"/>
                <a:cs typeface="+mn-ea"/>
                <a:sym typeface="+mn-ea"/>
              </a:rPr>
              <a:t>梯度提升决策树</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等算法。</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669925" y="1"/>
            <a:ext cx="9399850" cy="920529"/>
          </a:xfrm>
        </p:spPr>
        <p:txBody>
          <a:bodyPr/>
          <a:lstStyle/>
          <a:p>
            <a:r>
              <a:rPr lang="zh-CN" altLang="en-US" dirty="0">
                <a:sym typeface="+mn-ea"/>
              </a:rPr>
              <a:t>决策树概念</a:t>
            </a:r>
            <a:endParaRPr lang="zh-CN" altLang="en-US" dirty="0"/>
          </a:p>
        </p:txBody>
      </p:sp>
      <p:sp>
        <p:nvSpPr>
          <p:cNvPr id="2" name="文本框 1"/>
          <p:cNvSpPr txBox="1"/>
          <p:nvPr/>
        </p:nvSpPr>
        <p:spPr>
          <a:xfrm>
            <a:off x="871220" y="1349375"/>
            <a:ext cx="9507220" cy="3071495"/>
          </a:xfrm>
          <a:prstGeom prst="rect">
            <a:avLst/>
          </a:prstGeom>
          <a:noFill/>
        </p:spPr>
        <p:txBody>
          <a:bodyPr wrap="square" rtlCol="0">
            <a:noAutofit/>
          </a:bodyPr>
          <a:p>
            <a:pPr marL="0" indent="0">
              <a:buNone/>
            </a:pP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分类的决策树模型是一种描述对实例进行分类的树形结构。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决策树是由</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结点</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node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）和</a:t>
            </a:r>
            <a:r>
              <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有向边</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directed edge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）组成。结点的表示形式有两种，分别是中间的</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内部结点</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internal node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）和</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叶子结点</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leaf node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），内部结点代表的是一个特征或者属性，叶结点则代表一个类。</a:t>
            </a:r>
            <a:endParaRPr lang="zh-CN" altLang="en-US" sz="200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43625" y="3489140"/>
            <a:ext cx="4762500" cy="2771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dirty="0">
                <a:sym typeface="+mn-ea"/>
              </a:rPr>
              <a:t>信息熵</a:t>
            </a:r>
            <a:endParaRPr lang="zh-CN" altLang="en-US" dirty="0"/>
          </a:p>
        </p:txBody>
      </p:sp>
      <p:sp>
        <p:nvSpPr>
          <p:cNvPr id="2" name="文本框 1"/>
          <p:cNvSpPr txBox="1"/>
          <p:nvPr/>
        </p:nvSpPr>
        <p:spPr>
          <a:xfrm>
            <a:off x="803910" y="1369060"/>
            <a:ext cx="10641330" cy="3812540"/>
          </a:xfrm>
          <a:prstGeom prst="rect">
            <a:avLst/>
          </a:prstGeom>
          <a:noFill/>
        </p:spPr>
        <p:txBody>
          <a:bodyPr wrap="square" rtlCol="0">
            <a:spAutoFit/>
          </a:bodyPr>
          <a:p>
            <a:pPr algn="l">
              <a:lnSpc>
                <a:spcPct val="90000"/>
              </a:lnSpc>
              <a:spcBef>
                <a:spcPts val="1000"/>
              </a:spcBef>
              <a:buFont typeface="Arial" panose="020B0604020202020204" pitchFamily="34" charset="0"/>
              <a:buNone/>
            </a:pP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所谓的</a:t>
            </a:r>
            <a:r>
              <a:rPr lang="zh-CN" altLang="en-US" sz="2800" b="1" dirty="0">
                <a:solidFill>
                  <a:srgbClr val="FF0000"/>
                </a:solidFill>
                <a:latin typeface="宋体" panose="02010600030101010101" pitchFamily="2" charset="-122"/>
                <a:ea typeface="宋体" panose="02010600030101010101" pitchFamily="2" charset="-122"/>
                <a:cs typeface="+mn-ea"/>
                <a:sym typeface="+mn-ea"/>
              </a:rPr>
              <a:t>信息熵</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是代表随机变量不确定性的度量。</a:t>
            </a:r>
            <a:endParaRPr lang="en-US" altLang="zh-CN" dirty="0">
              <a:latin typeface="宋体" panose="02010600030101010101" pitchFamily="2" charset="-122"/>
              <a:ea typeface="宋体" panose="02010600030101010101" pitchFamily="2" charset="-122"/>
            </a:endParaRPr>
          </a:p>
          <a:p>
            <a:pPr algn="l">
              <a:lnSpc>
                <a:spcPct val="90000"/>
              </a:lnSpc>
              <a:spcBef>
                <a:spcPts val="1000"/>
              </a:spcBef>
              <a:buFont typeface="Arial" panose="020B0604020202020204" pitchFamily="34" charset="0"/>
              <a:buNone/>
            </a:pPr>
            <a:endParaRPr lang="en-US" altLang="zh-CN" dirty="0">
              <a:latin typeface="宋体" panose="02010600030101010101" pitchFamily="2" charset="-122"/>
              <a:ea typeface="宋体" panose="02010600030101010101" pitchFamily="2" charset="-122"/>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熵这个概念最早起源于物理学，在物理学中是用来度量一个热力学系统的无序程度，而在信息学里面，熵是对不确定性的度量。</a:t>
            </a:r>
            <a:endParaRPr lang="en-US" altLang="zh-CN" dirty="0">
              <a:latin typeface="宋体" panose="02010600030101010101" pitchFamily="2" charset="-122"/>
              <a:ea typeface="宋体" panose="02010600030101010101" pitchFamily="2" charset="-122"/>
            </a:endParaRPr>
          </a:p>
          <a:p>
            <a:pPr algn="l">
              <a:lnSpc>
                <a:spcPct val="90000"/>
              </a:lnSpc>
              <a:spcBef>
                <a:spcPts val="1000"/>
              </a:spcBef>
              <a:buFont typeface="Arial" panose="020B0604020202020204" pitchFamily="34" charset="0"/>
              <a:buNone/>
            </a:pPr>
            <a:endParaRPr lang="en-US" altLang="zh-CN" dirty="0">
              <a:latin typeface="宋体" panose="02010600030101010101" pitchFamily="2" charset="-122"/>
              <a:ea typeface="宋体" panose="02010600030101010101" pitchFamily="2" charset="-122"/>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在</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1948</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年，</a:t>
            </a:r>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香农</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引入了</a:t>
            </a:r>
            <a:r>
              <a:rPr lang="zh-CN" altLang="en-US" sz="2800" b="1" dirty="0">
                <a:solidFill>
                  <a:srgbClr val="FF0000"/>
                </a:solidFill>
                <a:latin typeface="宋体" panose="02010600030101010101" pitchFamily="2" charset="-122"/>
                <a:ea typeface="宋体" panose="02010600030101010101" pitchFamily="2" charset="-122"/>
                <a:cs typeface="+mn-ea"/>
                <a:sym typeface="+mn-ea"/>
              </a:rPr>
              <a:t>信息熵</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，将其定义为离散随机事件出现的概率，一个系统越是有序，信息熵就越低，反之一个系统越是混乱，它的信息熵就越高。所以信息熵可以被认为是系统有序化程度的一个度量。</a:t>
            </a:r>
            <a:endParaRPr lang="zh-CN" altLang="en-US"/>
          </a:p>
        </p:txBody>
      </p:sp>
      <p:graphicFrame>
        <p:nvGraphicFramePr>
          <p:cNvPr id="3" name="对象 2"/>
          <p:cNvGraphicFramePr>
            <a:graphicFrameLocks noChangeAspect="1"/>
          </p:cNvGraphicFramePr>
          <p:nvPr/>
        </p:nvGraphicFramePr>
        <p:xfrm>
          <a:off x="5054409" y="5153726"/>
          <a:ext cx="2083181" cy="701269"/>
        </p:xfrm>
        <a:graphic>
          <a:graphicData uri="http://schemas.openxmlformats.org/presentationml/2006/ole">
            <mc:AlternateContent xmlns:mc="http://schemas.openxmlformats.org/markup-compatibility/2006">
              <mc:Choice xmlns:v="urn:schemas-microsoft-com:vml" Requires="v">
                <p:oleObj spid="_x0000_s5" name="Equation" r:id="rId1" imgW="30784800" imgH="10363200" progId="Equation.DSMT4">
                  <p:embed/>
                </p:oleObj>
              </mc:Choice>
              <mc:Fallback>
                <p:oleObj name="Equation" r:id="rId1" imgW="30784800" imgH="10363200" progId="Equation.DSMT4">
                  <p:embed/>
                  <p:pic>
                    <p:nvPicPr>
                      <p:cNvPr id="0" name="图片 4"/>
                      <p:cNvPicPr/>
                      <p:nvPr/>
                    </p:nvPicPr>
                    <p:blipFill>
                      <a:blip r:embed="rId2"/>
                      <a:stretch>
                        <a:fillRect/>
                      </a:stretch>
                    </p:blipFill>
                    <p:spPr>
                      <a:xfrm>
                        <a:off x="5054409" y="5153726"/>
                        <a:ext cx="2083181" cy="701269"/>
                      </a:xfrm>
                      <a:prstGeom prst="rect">
                        <a:avLst/>
                      </a:prstGeom>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dirty="0">
                <a:sym typeface="+mn-ea"/>
              </a:rPr>
              <a:t>ID3决策树原理</a:t>
            </a:r>
            <a:endParaRPr lang="zh-CN" altLang="en-US" dirty="0"/>
          </a:p>
        </p:txBody>
      </p:sp>
      <p:sp>
        <p:nvSpPr>
          <p:cNvPr id="2" name="文本框 1"/>
          <p:cNvSpPr txBox="1"/>
          <p:nvPr/>
        </p:nvSpPr>
        <p:spPr>
          <a:xfrm>
            <a:off x="803910" y="1369060"/>
            <a:ext cx="10641330" cy="4974590"/>
          </a:xfrm>
          <a:prstGeom prst="rect">
            <a:avLst/>
          </a:prstGeom>
          <a:noFill/>
        </p:spPr>
        <p:txBody>
          <a:bodyPr wrap="square" rtlCol="0">
            <a:spAutoFit/>
          </a:bodyPr>
          <a:p>
            <a:pPr algn="l">
              <a:lnSpc>
                <a:spcPct val="90000"/>
              </a:lnSpc>
              <a:spcBef>
                <a:spcPts val="1000"/>
              </a:spcBef>
              <a:buFont typeface="Arial" panose="020B0604020202020204" pitchFamily="34" charset="0"/>
              <a:buNone/>
            </a:pP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ID3</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作为一种经典的决策树算法，是基于</a:t>
            </a:r>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信息熵</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来选择最佳的测试属性，其选择了当前样本集中具有</a:t>
            </a:r>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最大信息增益值</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的属性作为测试属性。</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样本集的划分则依据了测试属性的取值进行，测试属性有多少种取值就能划分出多少的子样本集；同时决策树上与该样本集相应的节点长出新的叶子节点。</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ID3</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算法根据信息论理论，采用划分后样本集的不确定性作为衡量划分样本子集的好坏程度，用“信息增益值”度量不确定性</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信息增益值越大，不确定性就更小，这就促使找到一个好的非叶子节点来进行划分。</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dirty="0">
                <a:sym typeface="+mn-ea"/>
              </a:rPr>
              <a:t>决策树实例</a:t>
            </a:r>
            <a:endParaRPr lang="zh-CN" altLang="en-US" dirty="0"/>
          </a:p>
        </p:txBody>
      </p:sp>
      <p:sp>
        <p:nvSpPr>
          <p:cNvPr id="2" name="文本框 1"/>
          <p:cNvSpPr txBox="1"/>
          <p:nvPr/>
        </p:nvSpPr>
        <p:spPr>
          <a:xfrm>
            <a:off x="803910" y="1369060"/>
            <a:ext cx="10641330" cy="1252855"/>
          </a:xfrm>
          <a:prstGeom prst="rect">
            <a:avLst/>
          </a:prstGeom>
          <a:noFill/>
        </p:spPr>
        <p:txBody>
          <a:bodyPr wrap="square" rtlCol="0">
            <a:spAutoFit/>
          </a:bodyPr>
          <a:p>
            <a:pPr algn="l">
              <a:lnSpc>
                <a:spcPct val="90000"/>
              </a:lnSpc>
              <a:spcBef>
                <a:spcPts val="1000"/>
              </a:spcBef>
              <a:buFont typeface="Arial" panose="020B0604020202020204" pitchFamily="34" charset="0"/>
              <a:buNone/>
            </a:pP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学校门口总是会出现一些零食小贩，判断某一天这些零食小贩的收入是否良好可以依据很多因素，如：</a:t>
            </a:r>
            <a:r>
              <a:rPr lang="zh-CN" altLang="en-US" sz="2800" b="1" dirty="0">
                <a:solidFill>
                  <a:srgbClr val="FF0000"/>
                </a:solidFill>
                <a:latin typeface="宋体" panose="02010600030101010101" pitchFamily="2" charset="-122"/>
                <a:ea typeface="宋体" panose="02010600030101010101" pitchFamily="2" charset="-122"/>
                <a:cs typeface="+mn-ea"/>
                <a:sym typeface="+mn-ea"/>
              </a:rPr>
              <a:t>天气</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a:t>
            </a:r>
            <a:r>
              <a:rPr lang="zh-CN" altLang="en-US" sz="2800" b="1" dirty="0">
                <a:solidFill>
                  <a:srgbClr val="FF0000"/>
                </a:solidFill>
                <a:latin typeface="宋体" panose="02010600030101010101" pitchFamily="2" charset="-122"/>
                <a:ea typeface="宋体" panose="02010600030101010101" pitchFamily="2" charset="-122"/>
                <a:cs typeface="+mn-ea"/>
                <a:sym typeface="+mn-ea"/>
              </a:rPr>
              <a:t>学生是否放假</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a:t>
            </a:r>
            <a:r>
              <a:rPr lang="zh-CN" altLang="en-US" sz="2800" b="1" dirty="0">
                <a:solidFill>
                  <a:srgbClr val="FF0000"/>
                </a:solidFill>
                <a:latin typeface="宋体" panose="02010600030101010101" pitchFamily="2" charset="-122"/>
                <a:ea typeface="宋体" panose="02010600030101010101" pitchFamily="2" charset="-122"/>
                <a:cs typeface="+mn-ea"/>
                <a:sym typeface="+mn-ea"/>
              </a:rPr>
              <a:t>保安是否打压</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a:t>
            </a:r>
            <a:r>
              <a:rPr lang="zh-CN" altLang="en-US" sz="2800" b="1" dirty="0">
                <a:solidFill>
                  <a:srgbClr val="FF0000"/>
                </a:solidFill>
                <a:latin typeface="宋体" panose="02010600030101010101" pitchFamily="2" charset="-122"/>
                <a:ea typeface="宋体" panose="02010600030101010101" pitchFamily="2" charset="-122"/>
                <a:cs typeface="+mn-ea"/>
                <a:sym typeface="+mn-ea"/>
              </a:rPr>
              <a:t>是否进行活动促销</a:t>
            </a:r>
            <a:r>
              <a:rPr lang="zh-CN" altLang="en-US" sz="2800" dirty="0">
                <a:solidFill>
                  <a:sysClr val="windowText" lastClr="000000"/>
                </a:solidFill>
                <a:latin typeface="宋体" panose="02010600030101010101" pitchFamily="2" charset="-122"/>
                <a:ea typeface="宋体" panose="02010600030101010101" pitchFamily="2" charset="-122"/>
                <a:cs typeface="+mn-ea"/>
                <a:sym typeface="+mn-ea"/>
              </a:rPr>
              <a:t>等等多个属性来衡量。</a:t>
            </a:r>
            <a:endParaRPr lang="zh-CN" altLang="en-US"/>
          </a:p>
        </p:txBody>
      </p:sp>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4693" t="6896" r="9561" b="7371"/>
          <a:stretch>
            <a:fillRect/>
          </a:stretch>
        </p:blipFill>
        <p:spPr bwMode="auto">
          <a:xfrm>
            <a:off x="2616245" y="2621618"/>
            <a:ext cx="6117266" cy="36747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sz="2800" dirty="0">
                <a:sym typeface="+mn-ea"/>
              </a:rPr>
              <a:t>决策树实例</a:t>
            </a:r>
            <a:endParaRPr lang="zh-CN" altLang="en-US" dirty="0"/>
          </a:p>
        </p:txBody>
      </p:sp>
      <p:sp>
        <p:nvSpPr>
          <p:cNvPr id="2" name="文本框 1"/>
          <p:cNvSpPr txBox="1"/>
          <p:nvPr/>
        </p:nvSpPr>
        <p:spPr>
          <a:xfrm>
            <a:off x="803910" y="1369060"/>
            <a:ext cx="10641330" cy="1381125"/>
          </a:xfrm>
          <a:prstGeom prst="rect">
            <a:avLst/>
          </a:prstGeom>
          <a:noFill/>
        </p:spPr>
        <p:txBody>
          <a:bodyPr wrap="square" rtlCol="0">
            <a:spAutoFit/>
          </a:bodyPr>
          <a:p>
            <a:pPr algn="l">
              <a:lnSpc>
                <a:spcPct val="90000"/>
              </a:lnSpc>
              <a:spcBef>
                <a:spcPts val="1000"/>
              </a:spcBef>
              <a:buFont typeface="Arial" panose="020B0604020202020204" pitchFamily="34" charset="0"/>
              <a:buNone/>
            </a:pP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首先，计算总的信息熵，其中共有</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10</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条记录，收入为“高”有</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条，收入为“低”也有</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步骤</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1 </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总信息熵</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a:p>
        </p:txBody>
      </p:sp>
      <p:graphicFrame>
        <p:nvGraphicFramePr>
          <p:cNvPr id="4" name="对象 3"/>
          <p:cNvGraphicFramePr>
            <a:graphicFrameLocks noChangeAspect="1"/>
          </p:cNvGraphicFramePr>
          <p:nvPr/>
        </p:nvGraphicFramePr>
        <p:xfrm>
          <a:off x="3745309" y="2576645"/>
          <a:ext cx="3249806" cy="569175"/>
        </p:xfrm>
        <a:graphic>
          <a:graphicData uri="http://schemas.openxmlformats.org/presentationml/2006/ole">
            <mc:AlternateContent xmlns:mc="http://schemas.openxmlformats.org/markup-compatibility/2006">
              <mc:Choice xmlns:v="urn:schemas-microsoft-com:vml" Requires="v">
                <p:oleObj spid="_x0000_s5" name="Equation" r:id="rId1" imgW="53949600" imgH="9448800" progId="Equation.DSMT4">
                  <p:embed/>
                </p:oleObj>
              </mc:Choice>
              <mc:Fallback>
                <p:oleObj name="Equation" r:id="rId1" imgW="53949600" imgH="9448800" progId="Equation.DSMT4">
                  <p:embed/>
                  <p:pic>
                    <p:nvPicPr>
                      <p:cNvPr id="0" name="图片 4"/>
                      <p:cNvPicPr/>
                      <p:nvPr/>
                    </p:nvPicPr>
                    <p:blipFill>
                      <a:blip r:embed="rId2"/>
                      <a:stretch>
                        <a:fillRect/>
                      </a:stretch>
                    </p:blipFill>
                    <p:spPr>
                      <a:xfrm>
                        <a:off x="3745309" y="2576645"/>
                        <a:ext cx="3249806" cy="569175"/>
                      </a:xfrm>
                      <a:prstGeom prst="rect">
                        <a:avLst/>
                      </a:prstGeom>
                    </p:spPr>
                  </p:pic>
                </p:oleObj>
              </mc:Fallback>
            </mc:AlternateContent>
          </a:graphicData>
        </a:graphic>
      </p:graphicFrame>
      <p:sp>
        <p:nvSpPr>
          <p:cNvPr id="3" name="文本框 2"/>
          <p:cNvSpPr txBox="1"/>
          <p:nvPr/>
        </p:nvSpPr>
        <p:spPr>
          <a:xfrm>
            <a:off x="900430" y="3198495"/>
            <a:ext cx="10360025" cy="1768475"/>
          </a:xfrm>
          <a:prstGeom prst="rect">
            <a:avLst/>
          </a:prstGeom>
          <a:noFill/>
        </p:spPr>
        <p:txBody>
          <a:bodyPr wrap="square" rtlCol="0">
            <a:spAutoFit/>
          </a:bodyPr>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步骤</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2 </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天气属性：</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天气好的情况下，收入为“高”的记录为</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条，收入为“低”的记录为</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条，可以表示为</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(4,1)</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；天气不好的情况下，收入为“高”的记录为</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条，收入为“低”的记录为</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可以表示为</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(1,4)</a:t>
            </a:r>
            <a:endParaRPr lang="zh-CN" altLang="en-US"/>
          </a:p>
        </p:txBody>
      </p:sp>
      <p:graphicFrame>
        <p:nvGraphicFramePr>
          <p:cNvPr id="6" name="对象 5"/>
          <p:cNvGraphicFramePr>
            <a:graphicFrameLocks noChangeAspect="1"/>
          </p:cNvGraphicFramePr>
          <p:nvPr/>
        </p:nvGraphicFramePr>
        <p:xfrm>
          <a:off x="4278993" y="4873861"/>
          <a:ext cx="3166559" cy="498291"/>
        </p:xfrm>
        <a:graphic>
          <a:graphicData uri="http://schemas.openxmlformats.org/presentationml/2006/ole">
            <mc:AlternateContent xmlns:mc="http://schemas.openxmlformats.org/markup-compatibility/2006">
              <mc:Choice xmlns:v="urn:schemas-microsoft-com:vml" Requires="v">
                <p:oleObj spid="_x0000_s8" name="Equation" r:id="rId3" imgW="60045600" imgH="9448800" progId="Equation.DSMT4">
                  <p:embed/>
                </p:oleObj>
              </mc:Choice>
              <mc:Fallback>
                <p:oleObj name="Equation" r:id="rId3" imgW="60045600" imgH="9448800" progId="Equation.DSMT4">
                  <p:embed/>
                  <p:pic>
                    <p:nvPicPr>
                      <p:cNvPr id="0" name="图片 6"/>
                      <p:cNvPicPr/>
                      <p:nvPr/>
                    </p:nvPicPr>
                    <p:blipFill>
                      <a:blip r:embed="rId4"/>
                      <a:stretch>
                        <a:fillRect/>
                      </a:stretch>
                    </p:blipFill>
                    <p:spPr>
                      <a:xfrm>
                        <a:off x="4278993" y="4873861"/>
                        <a:ext cx="3166559" cy="498291"/>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4279627" y="5493133"/>
          <a:ext cx="3166559" cy="498291"/>
        </p:xfrm>
        <a:graphic>
          <a:graphicData uri="http://schemas.openxmlformats.org/presentationml/2006/ole">
            <mc:AlternateContent xmlns:mc="http://schemas.openxmlformats.org/markup-compatibility/2006">
              <mc:Choice xmlns:v="urn:schemas-microsoft-com:vml" Requires="v">
                <p:oleObj spid="_x0000_s10" name="Equation" r:id="rId5" imgW="60045600" imgH="9448800" progId="Equation.DSMT4">
                  <p:embed/>
                </p:oleObj>
              </mc:Choice>
              <mc:Fallback>
                <p:oleObj name="Equation" r:id="rId5" imgW="60045600" imgH="9448800" progId="Equation.DSMT4">
                  <p:embed/>
                  <p:pic>
                    <p:nvPicPr>
                      <p:cNvPr id="0" name="图片 8"/>
                      <p:cNvPicPr/>
                      <p:nvPr/>
                    </p:nvPicPr>
                    <p:blipFill>
                      <a:blip r:embed="rId6"/>
                      <a:stretch>
                        <a:fillRect/>
                      </a:stretch>
                    </p:blipFill>
                    <p:spPr>
                      <a:xfrm>
                        <a:off x="4279627" y="5493133"/>
                        <a:ext cx="3166559" cy="498291"/>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4191223" y="6176328"/>
          <a:ext cx="3343365" cy="498290"/>
        </p:xfrm>
        <a:graphic>
          <a:graphicData uri="http://schemas.openxmlformats.org/presentationml/2006/ole">
            <mc:AlternateContent xmlns:mc="http://schemas.openxmlformats.org/markup-compatibility/2006">
              <mc:Choice xmlns:v="urn:schemas-microsoft-com:vml" Requires="v">
                <p:oleObj spid="_x0000_s12" name="Equation" r:id="rId7" imgW="63398400" imgH="9448800" progId="Equation.DSMT4">
                  <p:embed/>
                </p:oleObj>
              </mc:Choice>
              <mc:Fallback>
                <p:oleObj name="Equation" r:id="rId7" imgW="63398400" imgH="9448800" progId="Equation.DSMT4">
                  <p:embed/>
                  <p:pic>
                    <p:nvPicPr>
                      <p:cNvPr id="0" name="图片 10"/>
                      <p:cNvPicPr/>
                      <p:nvPr/>
                    </p:nvPicPr>
                    <p:blipFill>
                      <a:blip r:embed="rId8"/>
                      <a:stretch>
                        <a:fillRect/>
                      </a:stretch>
                    </p:blipFill>
                    <p:spPr>
                      <a:xfrm>
                        <a:off x="4191223" y="6176328"/>
                        <a:ext cx="3343365" cy="49829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sz="2800" dirty="0">
                <a:sym typeface="+mn-ea"/>
              </a:rPr>
              <a:t>决策树实例</a:t>
            </a:r>
            <a:endParaRPr lang="zh-CN" altLang="en-US" dirty="0"/>
          </a:p>
        </p:txBody>
      </p:sp>
      <p:sp>
        <p:nvSpPr>
          <p:cNvPr id="2" name="文本框 1"/>
          <p:cNvSpPr txBox="1"/>
          <p:nvPr/>
        </p:nvSpPr>
        <p:spPr>
          <a:xfrm>
            <a:off x="803910" y="1369060"/>
            <a:ext cx="10641330" cy="2284095"/>
          </a:xfrm>
          <a:prstGeom prst="rect">
            <a:avLst/>
          </a:prstGeom>
          <a:noFill/>
        </p:spPr>
        <p:txBody>
          <a:bodyPr wrap="square" rtlCol="0">
            <a:spAutoFit/>
          </a:bodyPr>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步骤</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3 </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学生放假属性：</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学生放假时，收入为“高”有</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0</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条，收入为“低”有</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条。记为（</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0,4</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学生不放假时，收入为“高”有</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条，收入为“低”有</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条。记为（</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5,1</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a:p>
        </p:txBody>
      </p:sp>
      <p:graphicFrame>
        <p:nvGraphicFramePr>
          <p:cNvPr id="13" name="对象 12"/>
          <p:cNvGraphicFramePr>
            <a:graphicFrameLocks noChangeAspect="1"/>
          </p:cNvGraphicFramePr>
          <p:nvPr/>
        </p:nvGraphicFramePr>
        <p:xfrm>
          <a:off x="5030837" y="3511514"/>
          <a:ext cx="2129056" cy="554628"/>
        </p:xfrm>
        <a:graphic>
          <a:graphicData uri="http://schemas.openxmlformats.org/presentationml/2006/ole">
            <mc:AlternateContent xmlns:mc="http://schemas.openxmlformats.org/markup-compatibility/2006">
              <mc:Choice xmlns:v="urn:schemas-microsoft-com:vml" Requires="v">
                <p:oleObj spid="_x0000_s14" name="Equation" r:id="rId1" imgW="36271200" imgH="9448800" progId="Equation.DSMT4">
                  <p:embed/>
                </p:oleObj>
              </mc:Choice>
              <mc:Fallback>
                <p:oleObj name="Equation" r:id="rId1" imgW="36271200" imgH="9448800" progId="Equation.DSMT4">
                  <p:embed/>
                  <p:pic>
                    <p:nvPicPr>
                      <p:cNvPr id="0" name="图片 4"/>
                      <p:cNvPicPr/>
                      <p:nvPr/>
                    </p:nvPicPr>
                    <p:blipFill>
                      <a:blip r:embed="rId2"/>
                      <a:stretch>
                        <a:fillRect/>
                      </a:stretch>
                    </p:blipFill>
                    <p:spPr>
                      <a:xfrm>
                        <a:off x="5030837" y="3511514"/>
                        <a:ext cx="2129056" cy="554628"/>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4419746" y="4235030"/>
          <a:ext cx="3524572" cy="554628"/>
        </p:xfrm>
        <a:graphic>
          <a:graphicData uri="http://schemas.openxmlformats.org/presentationml/2006/ole">
            <mc:AlternateContent xmlns:mc="http://schemas.openxmlformats.org/markup-compatibility/2006">
              <mc:Choice xmlns:v="urn:schemas-microsoft-com:vml" Requires="v">
                <p:oleObj spid="_x0000_s16" name="Equation" r:id="rId3" imgW="60045600" imgH="9448800" progId="Equation.DSMT4">
                  <p:embed/>
                </p:oleObj>
              </mc:Choice>
              <mc:Fallback>
                <p:oleObj name="Equation" r:id="rId3" imgW="60045600" imgH="9448800" progId="Equation.DSMT4">
                  <p:embed/>
                  <p:pic>
                    <p:nvPicPr>
                      <p:cNvPr id="0" name="图片 6"/>
                      <p:cNvPicPr/>
                      <p:nvPr/>
                    </p:nvPicPr>
                    <p:blipFill>
                      <a:blip r:embed="rId4"/>
                      <a:stretch>
                        <a:fillRect/>
                      </a:stretch>
                    </p:blipFill>
                    <p:spPr>
                      <a:xfrm>
                        <a:off x="4419746" y="4235030"/>
                        <a:ext cx="3524572" cy="554628"/>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4092647" y="5036016"/>
          <a:ext cx="4186547" cy="554628"/>
        </p:xfrm>
        <a:graphic>
          <a:graphicData uri="http://schemas.openxmlformats.org/presentationml/2006/ole">
            <mc:AlternateContent xmlns:mc="http://schemas.openxmlformats.org/markup-compatibility/2006">
              <mc:Choice xmlns:v="urn:schemas-microsoft-com:vml" Requires="v">
                <p:oleObj spid="_x0000_s18" name="Equation" r:id="rId5" imgW="71323200" imgH="9448800" progId="Equation.DSMT4">
                  <p:embed/>
                </p:oleObj>
              </mc:Choice>
              <mc:Fallback>
                <p:oleObj name="Equation" r:id="rId5" imgW="71323200" imgH="9448800" progId="Equation.DSMT4">
                  <p:embed/>
                  <p:pic>
                    <p:nvPicPr>
                      <p:cNvPr id="0" name="图片 8"/>
                      <p:cNvPicPr/>
                      <p:nvPr/>
                    </p:nvPicPr>
                    <p:blipFill>
                      <a:blip r:embed="rId6"/>
                      <a:stretch>
                        <a:fillRect/>
                      </a:stretch>
                    </p:blipFill>
                    <p:spPr>
                      <a:xfrm>
                        <a:off x="4092647" y="5036016"/>
                        <a:ext cx="4186547" cy="554628"/>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sz="2800" dirty="0">
                <a:sym typeface="+mn-ea"/>
              </a:rPr>
              <a:t>决策树实例</a:t>
            </a:r>
            <a:endParaRPr lang="zh-CN" altLang="en-US" dirty="0"/>
          </a:p>
        </p:txBody>
      </p:sp>
      <p:sp>
        <p:nvSpPr>
          <p:cNvPr id="2" name="文本框 1"/>
          <p:cNvSpPr txBox="1"/>
          <p:nvPr/>
        </p:nvSpPr>
        <p:spPr>
          <a:xfrm>
            <a:off x="775335" y="1207135"/>
            <a:ext cx="10641330" cy="2284095"/>
          </a:xfrm>
          <a:prstGeom prst="rect">
            <a:avLst/>
          </a:prstGeom>
          <a:noFill/>
        </p:spPr>
        <p:txBody>
          <a:bodyPr wrap="square" rtlCol="0">
            <a:spAutoFit/>
          </a:bodyPr>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步骤</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4 </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促销属性：</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当小贩进行促销时，收入为“高”有</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条，收入为“低”有</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条。记为（</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3,2</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当小贩不进行促销时，收入为“高”有</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条，收入为“低”有</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条。记为（</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2,3</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a:p>
        </p:txBody>
      </p:sp>
      <p:graphicFrame>
        <p:nvGraphicFramePr>
          <p:cNvPr id="4" name="对象 3"/>
          <p:cNvGraphicFramePr>
            <a:graphicFrameLocks noChangeAspect="1"/>
          </p:cNvGraphicFramePr>
          <p:nvPr/>
        </p:nvGraphicFramePr>
        <p:xfrm>
          <a:off x="4153532" y="3336888"/>
          <a:ext cx="3884935" cy="611335"/>
        </p:xfrm>
        <a:graphic>
          <a:graphicData uri="http://schemas.openxmlformats.org/presentationml/2006/ole">
            <mc:AlternateContent xmlns:mc="http://schemas.openxmlformats.org/markup-compatibility/2006">
              <mc:Choice xmlns:v="urn:schemas-microsoft-com:vml" Requires="v">
                <p:oleObj spid="_x0000_s5" name="Equation" r:id="rId1" imgW="60045600" imgH="9448800" progId="Equation.DSMT4">
                  <p:embed/>
                </p:oleObj>
              </mc:Choice>
              <mc:Fallback>
                <p:oleObj name="Equation" r:id="rId1" imgW="60045600" imgH="9448800" progId="Equation.DSMT4">
                  <p:embed/>
                  <p:pic>
                    <p:nvPicPr>
                      <p:cNvPr id="0" name="图片 3"/>
                      <p:cNvPicPr/>
                      <p:nvPr/>
                    </p:nvPicPr>
                    <p:blipFill>
                      <a:blip r:embed="rId2"/>
                      <a:stretch>
                        <a:fillRect/>
                      </a:stretch>
                    </p:blipFill>
                    <p:spPr>
                      <a:xfrm>
                        <a:off x="4153532" y="3336888"/>
                        <a:ext cx="3884935" cy="611335"/>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153532" y="4133974"/>
          <a:ext cx="3884936" cy="611335"/>
        </p:xfrm>
        <a:graphic>
          <a:graphicData uri="http://schemas.openxmlformats.org/presentationml/2006/ole">
            <mc:AlternateContent xmlns:mc="http://schemas.openxmlformats.org/markup-compatibility/2006">
              <mc:Choice xmlns:v="urn:schemas-microsoft-com:vml" Requires="v">
                <p:oleObj spid="_x0000_s6" name="Equation" r:id="rId3" imgW="60045600" imgH="9448800" progId="Equation.DSMT4">
                  <p:embed/>
                </p:oleObj>
              </mc:Choice>
              <mc:Fallback>
                <p:oleObj name="Equation" r:id="rId3" imgW="60045600" imgH="9448800" progId="Equation.DSMT4">
                  <p:embed/>
                  <p:pic>
                    <p:nvPicPr>
                      <p:cNvPr id="0" name="图片 4"/>
                      <p:cNvPicPr/>
                      <p:nvPr/>
                    </p:nvPicPr>
                    <p:blipFill>
                      <a:blip r:embed="rId4"/>
                      <a:stretch>
                        <a:fillRect/>
                      </a:stretch>
                    </p:blipFill>
                    <p:spPr>
                      <a:xfrm>
                        <a:off x="4153532" y="4133974"/>
                        <a:ext cx="3884936" cy="611335"/>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4025349" y="5087270"/>
          <a:ext cx="4141302" cy="611335"/>
        </p:xfrm>
        <a:graphic>
          <a:graphicData uri="http://schemas.openxmlformats.org/presentationml/2006/ole">
            <mc:AlternateContent xmlns:mc="http://schemas.openxmlformats.org/markup-compatibility/2006">
              <mc:Choice xmlns:v="urn:schemas-microsoft-com:vml" Requires="v">
                <p:oleObj spid="_x0000_s10" name="Equation" r:id="rId5" imgW="64008000" imgH="9448800" progId="Equation.DSMT4">
                  <p:embed/>
                </p:oleObj>
              </mc:Choice>
              <mc:Fallback>
                <p:oleObj name="Equation" r:id="rId5" imgW="64008000" imgH="9448800" progId="Equation.DSMT4">
                  <p:embed/>
                  <p:pic>
                    <p:nvPicPr>
                      <p:cNvPr id="0" name="图片 5"/>
                      <p:cNvPicPr/>
                      <p:nvPr/>
                    </p:nvPicPr>
                    <p:blipFill>
                      <a:blip r:embed="rId6"/>
                      <a:stretch>
                        <a:fillRect/>
                      </a:stretch>
                    </p:blipFill>
                    <p:spPr>
                      <a:xfrm>
                        <a:off x="4025349" y="5087270"/>
                        <a:ext cx="4141302" cy="61133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sz="2800" dirty="0">
                <a:sym typeface="+mn-ea"/>
              </a:rPr>
              <a:t>决策树实例</a:t>
            </a:r>
            <a:endParaRPr lang="zh-CN" altLang="en-US" dirty="0"/>
          </a:p>
        </p:txBody>
      </p:sp>
      <p:sp>
        <p:nvSpPr>
          <p:cNvPr id="2" name="文本框 1"/>
          <p:cNvSpPr txBox="1"/>
          <p:nvPr/>
        </p:nvSpPr>
        <p:spPr>
          <a:xfrm>
            <a:off x="775335" y="1207135"/>
            <a:ext cx="10641330" cy="478155"/>
          </a:xfrm>
          <a:prstGeom prst="rect">
            <a:avLst/>
          </a:prstGeom>
          <a:noFill/>
        </p:spPr>
        <p:txBody>
          <a:bodyPr wrap="square" rtlCol="0">
            <a:spAutoFit/>
          </a:bodyPr>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步骤</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5 </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计算信息增益值：</a:t>
            </a:r>
            <a:endParaRPr lang="zh-CN" altLang="en-US"/>
          </a:p>
        </p:txBody>
      </p:sp>
      <p:graphicFrame>
        <p:nvGraphicFramePr>
          <p:cNvPr id="3" name="对象 2"/>
          <p:cNvGraphicFramePr>
            <a:graphicFrameLocks noChangeAspect="1"/>
          </p:cNvGraphicFramePr>
          <p:nvPr/>
        </p:nvGraphicFramePr>
        <p:xfrm>
          <a:off x="3177651" y="1874801"/>
          <a:ext cx="5836697" cy="477038"/>
        </p:xfrm>
        <a:graphic>
          <a:graphicData uri="http://schemas.openxmlformats.org/presentationml/2006/ole">
            <mc:AlternateContent xmlns:mc="http://schemas.openxmlformats.org/markup-compatibility/2006">
              <mc:Choice xmlns:v="urn:schemas-microsoft-com:vml" Requires="v">
                <p:oleObj spid="_x0000_s11" name="Equation" r:id="rId1" imgW="63398400" imgH="5181600" progId="Equation.DSMT4">
                  <p:embed/>
                </p:oleObj>
              </mc:Choice>
              <mc:Fallback>
                <p:oleObj name="Equation" r:id="rId1" imgW="63398400" imgH="5181600" progId="Equation.DSMT4">
                  <p:embed/>
                  <p:pic>
                    <p:nvPicPr>
                      <p:cNvPr id="0" name="图片 4"/>
                      <p:cNvPicPr/>
                      <p:nvPr/>
                    </p:nvPicPr>
                    <p:blipFill>
                      <a:blip r:embed="rId2"/>
                      <a:stretch>
                        <a:fillRect/>
                      </a:stretch>
                    </p:blipFill>
                    <p:spPr>
                      <a:xfrm>
                        <a:off x="3177651" y="1874801"/>
                        <a:ext cx="5836697" cy="477038"/>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2490160" y="2541262"/>
          <a:ext cx="7211677" cy="477037"/>
        </p:xfrm>
        <a:graphic>
          <a:graphicData uri="http://schemas.openxmlformats.org/presentationml/2006/ole">
            <mc:AlternateContent xmlns:mc="http://schemas.openxmlformats.org/markup-compatibility/2006">
              <mc:Choice xmlns:v="urn:schemas-microsoft-com:vml" Requires="v">
                <p:oleObj spid="_x0000_s13" name="Equation" r:id="rId3" imgW="78333600" imgH="5181600" progId="Equation.DSMT4">
                  <p:embed/>
                </p:oleObj>
              </mc:Choice>
              <mc:Fallback>
                <p:oleObj name="Equation" r:id="rId3" imgW="78333600" imgH="5181600" progId="Equation.DSMT4">
                  <p:embed/>
                  <p:pic>
                    <p:nvPicPr>
                      <p:cNvPr id="0" name="图片 6"/>
                      <p:cNvPicPr/>
                      <p:nvPr/>
                    </p:nvPicPr>
                    <p:blipFill>
                      <a:blip r:embed="rId4"/>
                      <a:stretch>
                        <a:fillRect/>
                      </a:stretch>
                    </p:blipFill>
                    <p:spPr>
                      <a:xfrm>
                        <a:off x="2490160" y="2541262"/>
                        <a:ext cx="7211677" cy="477037"/>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3177651" y="3305620"/>
          <a:ext cx="5836676" cy="477036"/>
        </p:xfrm>
        <a:graphic>
          <a:graphicData uri="http://schemas.openxmlformats.org/presentationml/2006/ole">
            <mc:AlternateContent xmlns:mc="http://schemas.openxmlformats.org/markup-compatibility/2006">
              <mc:Choice xmlns:v="urn:schemas-microsoft-com:vml" Requires="v">
                <p:oleObj spid="_x0000_s15" name="Equation" r:id="rId5" imgW="63398400" imgH="5181600" progId="Equation.DSMT4">
                  <p:embed/>
                </p:oleObj>
              </mc:Choice>
              <mc:Fallback>
                <p:oleObj name="Equation" r:id="rId5" imgW="63398400" imgH="5181600" progId="Equation.DSMT4">
                  <p:embed/>
                  <p:pic>
                    <p:nvPicPr>
                      <p:cNvPr id="0" name="图片 8"/>
                      <p:cNvPicPr/>
                      <p:nvPr/>
                    </p:nvPicPr>
                    <p:blipFill>
                      <a:blip r:embed="rId6"/>
                      <a:stretch>
                        <a:fillRect/>
                      </a:stretch>
                    </p:blipFill>
                    <p:spPr>
                      <a:xfrm>
                        <a:off x="3177651" y="3305620"/>
                        <a:ext cx="5836676" cy="477036"/>
                      </a:xfrm>
                      <a:prstGeom prst="rect">
                        <a:avLst/>
                      </a:prstGeom>
                    </p:spPr>
                  </p:pic>
                </p:oleObj>
              </mc:Fallback>
            </mc:AlternateContent>
          </a:graphicData>
        </a:graphic>
      </p:graphicFrame>
      <p:sp>
        <p:nvSpPr>
          <p:cNvPr id="16" name="文本框 15"/>
          <p:cNvSpPr txBox="1"/>
          <p:nvPr/>
        </p:nvSpPr>
        <p:spPr>
          <a:xfrm>
            <a:off x="867410" y="3905250"/>
            <a:ext cx="10549255" cy="2676525"/>
          </a:xfrm>
          <a:prstGeom prst="rect">
            <a:avLst/>
          </a:prstGeom>
          <a:noFill/>
        </p:spPr>
        <p:txBody>
          <a:bodyPr wrap="square" rtlCol="0" anchor="t">
            <a:spAutoFit/>
          </a:bodyPr>
          <a:p>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由步骤</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可以知道“学生放假”的信息增益值最大，所以以“学生放假“为节点进行划分，划分为两个分支分别为“是”、“否”（指学生是否放假），然后再循环进行步骤</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1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步骤</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的过程（排除已经进行划分的节点步骤），对剩下的</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个节点分支进行划分，再进行信息增益的计算。直至无法形成新的节点，从而生成一棵“决策树”。</a:t>
            </a:r>
            <a:endPar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sz="2800" dirty="0">
                <a:sym typeface="+mn-ea"/>
              </a:rPr>
              <a:t>决策树实例</a:t>
            </a:r>
            <a:endParaRPr lang="zh-CN" altLang="en-US" dirty="0"/>
          </a:p>
        </p:txBody>
      </p:sp>
      <p:pic>
        <p:nvPicPr>
          <p:cNvPr id="4" name="Picture 2"/>
          <p:cNvPicPr>
            <a:picLocks noGrp="1" noChangeAspect="1" noChangeArrowheads="1"/>
          </p:cNvPicPr>
          <p:nvPr>
            <p:ph idx="1"/>
          </p:nvPr>
        </p:nvPicPr>
        <p:blipFill rotWithShape="1">
          <a:blip r:embed="rId1">
            <a:extLst>
              <a:ext uri="{28A0092B-C50C-407E-A947-70E740481C1C}">
                <a14:useLocalDpi xmlns:a14="http://schemas.microsoft.com/office/drawing/2010/main" val="0"/>
              </a:ext>
            </a:extLst>
          </a:blip>
          <a:srcRect l="4693" t="6896" r="9561" b="7371"/>
          <a:stretch>
            <a:fillRect/>
          </a:stretch>
        </p:blipFill>
        <p:spPr bwMode="auto">
          <a:xfrm>
            <a:off x="669738" y="1650054"/>
            <a:ext cx="6117313" cy="3674731"/>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3104515" y="1993900"/>
            <a:ext cx="1247775" cy="342900"/>
          </a:xfrm>
          <a:prstGeom prst="rect">
            <a:avLst/>
          </a:prstGeom>
          <a:noFill/>
          <a:ln w="57150">
            <a:solidFill>
              <a:srgbClr val="FF0000"/>
            </a:solidFill>
            <a:prstDash val="sysDot"/>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solidFill>
                <a:sysClr val="window" lastClr="FFFFFF"/>
              </a:solidFill>
              <a:latin typeface="等线" panose="02010600030101010101" charset="-122"/>
              <a:ea typeface="等线" panose="02010600030101010101" charset="-122"/>
            </a:endParaRPr>
          </a:p>
        </p:txBody>
      </p:sp>
      <p:sp>
        <p:nvSpPr>
          <p:cNvPr id="6" name="矩形 5"/>
          <p:cNvSpPr/>
          <p:nvPr/>
        </p:nvSpPr>
        <p:spPr>
          <a:xfrm>
            <a:off x="3104615" y="3664039"/>
            <a:ext cx="1247555" cy="701896"/>
          </a:xfrm>
          <a:prstGeom prst="rect">
            <a:avLst/>
          </a:prstGeom>
          <a:noFill/>
          <a:ln w="57150">
            <a:solidFill>
              <a:srgbClr val="FF0000"/>
            </a:solidFill>
            <a:prstDash val="sysDot"/>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solidFill>
                <a:sysClr val="window" lastClr="FFFFFF"/>
              </a:solidFill>
              <a:latin typeface="等线" panose="02010600030101010101" charset="-122"/>
              <a:ea typeface="等线" panose="02010600030101010101" charset="-122"/>
            </a:endParaRPr>
          </a:p>
        </p:txBody>
      </p:sp>
      <p:sp>
        <p:nvSpPr>
          <p:cNvPr id="10" name="矩形 9"/>
          <p:cNvSpPr/>
          <p:nvPr/>
        </p:nvSpPr>
        <p:spPr>
          <a:xfrm>
            <a:off x="3104615" y="4617572"/>
            <a:ext cx="1247555" cy="411126"/>
          </a:xfrm>
          <a:prstGeom prst="rect">
            <a:avLst/>
          </a:prstGeom>
          <a:noFill/>
          <a:ln w="57150">
            <a:solidFill>
              <a:srgbClr val="FF0000"/>
            </a:solidFill>
            <a:prstDash val="sysDot"/>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solidFill>
                <a:sysClr val="window" lastClr="FFFFFF"/>
              </a:solidFill>
              <a:latin typeface="等线" panose="02010600030101010101" charset="-122"/>
              <a:ea typeface="等线" panose="02010600030101010101" charset="-122"/>
            </a:endParaRPr>
          </a:p>
        </p:txBody>
      </p:sp>
      <p:sp>
        <p:nvSpPr>
          <p:cNvPr id="8" name="矩形 7"/>
          <p:cNvSpPr/>
          <p:nvPr/>
        </p:nvSpPr>
        <p:spPr>
          <a:xfrm>
            <a:off x="5539105" y="1993900"/>
            <a:ext cx="1247775" cy="342900"/>
          </a:xfrm>
          <a:prstGeom prst="rect">
            <a:avLst/>
          </a:prstGeom>
          <a:noFill/>
          <a:ln w="57150">
            <a:solidFill>
              <a:srgbClr val="FF0000"/>
            </a:solidFill>
            <a:prstDash val="sysDot"/>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solidFill>
                <a:sysClr val="window" lastClr="FFFFFF"/>
              </a:solidFill>
              <a:latin typeface="等线" panose="02010600030101010101" charset="-122"/>
              <a:ea typeface="等线" panose="02010600030101010101" charset="-122"/>
            </a:endParaRPr>
          </a:p>
        </p:txBody>
      </p:sp>
      <p:sp>
        <p:nvSpPr>
          <p:cNvPr id="9" name="矩形 8"/>
          <p:cNvSpPr/>
          <p:nvPr/>
        </p:nvSpPr>
        <p:spPr>
          <a:xfrm>
            <a:off x="5539205" y="3664039"/>
            <a:ext cx="1247555" cy="701896"/>
          </a:xfrm>
          <a:prstGeom prst="rect">
            <a:avLst/>
          </a:prstGeom>
          <a:noFill/>
          <a:ln w="57150">
            <a:solidFill>
              <a:srgbClr val="FF0000"/>
            </a:solidFill>
            <a:prstDash val="sysDot"/>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solidFill>
                <a:sysClr val="window" lastClr="FFFFFF"/>
              </a:solidFill>
              <a:latin typeface="等线" panose="02010600030101010101" charset="-122"/>
              <a:ea typeface="等线" panose="02010600030101010101" charset="-122"/>
            </a:endParaRPr>
          </a:p>
        </p:txBody>
      </p:sp>
      <p:sp>
        <p:nvSpPr>
          <p:cNvPr id="17" name="矩形 16"/>
          <p:cNvSpPr/>
          <p:nvPr/>
        </p:nvSpPr>
        <p:spPr>
          <a:xfrm>
            <a:off x="5539205" y="4617572"/>
            <a:ext cx="1247555" cy="411126"/>
          </a:xfrm>
          <a:prstGeom prst="rect">
            <a:avLst/>
          </a:prstGeom>
          <a:noFill/>
          <a:ln w="57150">
            <a:solidFill>
              <a:srgbClr val="FF0000"/>
            </a:solidFill>
            <a:prstDash val="sysDot"/>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solidFill>
                <a:sysClr val="window" lastClr="FFFFFF"/>
              </a:solidFill>
              <a:latin typeface="等线" panose="02010600030101010101" charset="-122"/>
              <a:ea typeface="等线" panose="02010600030101010101" charset="-122"/>
            </a:endParaRPr>
          </a:p>
        </p:txBody>
      </p:sp>
      <p:pic>
        <p:nvPicPr>
          <p:cNvPr id="18" name="图片 17"/>
          <p:cNvPicPr>
            <a:picLocks noChangeAspect="1"/>
          </p:cNvPicPr>
          <p:nvPr/>
        </p:nvPicPr>
        <p:blipFill>
          <a:blip r:embed="rId2"/>
          <a:stretch>
            <a:fillRect/>
          </a:stretch>
        </p:blipFill>
        <p:spPr>
          <a:xfrm>
            <a:off x="7129386" y="2336919"/>
            <a:ext cx="4652818" cy="21903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p:cTn id="42" dur="500" fill="hold"/>
                                        <p:tgtEl>
                                          <p:spTgt spid="17"/>
                                        </p:tgtEl>
                                        <p:attrNameLst>
                                          <p:attrName>ppt_w</p:attrName>
                                        </p:attrNameLst>
                                      </p:cBhvr>
                                      <p:tavLst>
                                        <p:tav tm="0">
                                          <p:val>
                                            <p:fltVal val="0"/>
                                          </p:val>
                                        </p:tav>
                                        <p:tav tm="100000">
                                          <p:val>
                                            <p:strVal val="#ppt_w"/>
                                          </p:val>
                                        </p:tav>
                                      </p:tavLst>
                                    </p:anim>
                                    <p:anim calcmode="lin" valueType="num">
                                      <p:cBhvr>
                                        <p:cTn id="43" dur="500" fill="hold"/>
                                        <p:tgtEl>
                                          <p:spTgt spid="17"/>
                                        </p:tgtEl>
                                        <p:attrNameLst>
                                          <p:attrName>ppt_h</p:attrName>
                                        </p:attrNameLst>
                                      </p:cBhvr>
                                      <p:tavLst>
                                        <p:tav tm="0">
                                          <p:val>
                                            <p:fltVal val="0"/>
                                          </p:val>
                                        </p:tav>
                                        <p:tav tm="100000">
                                          <p:val>
                                            <p:strVal val="#ppt_h"/>
                                          </p:val>
                                        </p:tav>
                                      </p:tavLst>
                                    </p:anim>
                                    <p:animEffect transition="in" filter="fade">
                                      <p:cBhvr>
                                        <p:cTn id="4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10" grpId="0" bldLvl="0" animBg="1"/>
      <p:bldP spid="8" grpId="0" bldLvl="0" animBg="1"/>
      <p:bldP spid="9" grpId="0" bldLvl="0" animBg="1"/>
      <p:bldP spid="17"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dirty="0">
                <a:sym typeface="+mn-ea"/>
              </a:rPr>
              <a:t>决策树剪枝处理</a:t>
            </a:r>
            <a:endParaRPr lang="zh-CN" altLang="en-US" dirty="0"/>
          </a:p>
        </p:txBody>
      </p:sp>
      <p:sp>
        <p:nvSpPr>
          <p:cNvPr id="2" name="文本框 1"/>
          <p:cNvSpPr txBox="1"/>
          <p:nvPr/>
        </p:nvSpPr>
        <p:spPr>
          <a:xfrm>
            <a:off x="669925" y="1369060"/>
            <a:ext cx="10641330" cy="3969385"/>
          </a:xfrm>
          <a:prstGeom prst="rect">
            <a:avLst/>
          </a:prstGeom>
          <a:noFill/>
        </p:spPr>
        <p:txBody>
          <a:bodyPr wrap="square" rtlCol="0">
            <a:spAutoFit/>
          </a:bodyPr>
          <a:p>
            <a:pPr marL="0" indent="0">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剪枝分为“预剪枝</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sym typeface="+mn-ea"/>
              </a:rPr>
              <a:t>prepruning</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 和“后剪枝</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sym typeface="+mn-ea"/>
              </a:rPr>
              <a:t>postpruning</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 两种。</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预剪枝</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是指在决策树构建过程中，对每个节点在划分前先进行估计，</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若不能带来决策树泛化性能提升，</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就停止划分，并将当前结点标记为叶结点。</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后剪枝</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则是先构成一颗完整的决策树</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再考察非叶结点</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若该结点对应的子树替换为叶结点能带来决策树泛化性能提升</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则将该字数替换为叶结点。</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dirty="0">
                <a:sym typeface="+mn-ea"/>
              </a:rPr>
              <a:t>ID3算法优缺点</a:t>
            </a:r>
            <a:endParaRPr lang="zh-CN" altLang="en-US" dirty="0"/>
          </a:p>
        </p:txBody>
      </p:sp>
      <p:sp>
        <p:nvSpPr>
          <p:cNvPr id="2" name="文本框 1"/>
          <p:cNvSpPr txBox="1"/>
          <p:nvPr/>
        </p:nvSpPr>
        <p:spPr>
          <a:xfrm>
            <a:off x="803910" y="1369060"/>
            <a:ext cx="10641330" cy="4207510"/>
          </a:xfrm>
          <a:prstGeom prst="rect">
            <a:avLst/>
          </a:prstGeom>
          <a:noFill/>
        </p:spPr>
        <p:txBody>
          <a:bodyPr wrap="square" rtlCol="0">
            <a:spAutoFit/>
          </a:bodyPr>
          <a:p>
            <a:pPr algn="l">
              <a:lnSpc>
                <a:spcPct val="90000"/>
              </a:lnSpc>
              <a:spcBef>
                <a:spcPts val="1000"/>
              </a:spcBef>
              <a:buFont typeface="Arial" panose="020B0604020202020204" pitchFamily="34" charset="0"/>
              <a:buNone/>
            </a:pPr>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优点</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决策树构建速度快，实现简单。</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缺点</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）采用信息增益进行分裂，分裂的精确度可能没有采用信息增益率进行分裂高。</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）不能处理连续型数据，只能通过离散化将连续性数据转化为离散型数据。</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）不能处理缺省值。</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gn="l">
              <a:lnSpc>
                <a:spcPct val="90000"/>
              </a:lnSpc>
              <a:spcBef>
                <a:spcPts val="1000"/>
              </a:spcBef>
              <a:buFont typeface="Arial" panose="020B0604020202020204" pitchFamily="34" charset="0"/>
              <a:buNone/>
            </a:pP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2800"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sym typeface="+mn-ea"/>
              </a:rPr>
              <a:t>）没有对决策树进行剪枝处理，很可能会出现过拟合的问题。</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dirty="0">
                <a:sym typeface="+mn-ea"/>
              </a:rPr>
              <a:t>决策</a:t>
            </a:r>
            <a:r>
              <a:rPr lang="zh-CN" altLang="en-US" dirty="0">
                <a:sym typeface="+mn-ea"/>
              </a:rPr>
              <a:t>树</a:t>
            </a:r>
            <a:endParaRPr lang="zh-CN" altLang="en-US" dirty="0">
              <a:sym typeface="+mn-ea"/>
            </a:endParaRPr>
          </a:p>
        </p:txBody>
      </p:sp>
      <p:pic>
        <p:nvPicPr>
          <p:cNvPr id="4" name="图片 3"/>
          <p:cNvPicPr>
            <a:picLocks noChangeAspect="1"/>
          </p:cNvPicPr>
          <p:nvPr/>
        </p:nvPicPr>
        <p:blipFill>
          <a:blip r:embed="rId1"/>
          <a:stretch>
            <a:fillRect/>
          </a:stretch>
        </p:blipFill>
        <p:spPr>
          <a:xfrm>
            <a:off x="1395646" y="1695449"/>
            <a:ext cx="7949097" cy="38122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dirty="0">
                <a:sym typeface="+mn-ea"/>
              </a:rPr>
              <a:t>决策树在医学领域的</a:t>
            </a:r>
            <a:r>
              <a:rPr lang="zh-CN" altLang="en-US" dirty="0">
                <a:sym typeface="+mn-ea"/>
              </a:rPr>
              <a:t>应用</a:t>
            </a:r>
            <a:endParaRPr lang="zh-CN" altLang="en-US" dirty="0">
              <a:sym typeface="+mn-ea"/>
            </a:endParaRPr>
          </a:p>
        </p:txBody>
      </p:sp>
      <p:sp>
        <p:nvSpPr>
          <p:cNvPr id="2" name="文本框 1"/>
          <p:cNvSpPr txBox="1"/>
          <p:nvPr/>
        </p:nvSpPr>
        <p:spPr>
          <a:xfrm>
            <a:off x="745490" y="1262380"/>
            <a:ext cx="10728325" cy="3208020"/>
          </a:xfrm>
          <a:prstGeom prst="rect">
            <a:avLst/>
          </a:prstGeom>
          <a:noFill/>
        </p:spPr>
        <p:txBody>
          <a:bodyPr wrap="square" rtlCol="0">
            <a:noAutofit/>
          </a:bodyPr>
          <a:p>
            <a:r>
              <a:rPr lang="zh-CN" altLang="en-US"/>
              <a:t>决策</a:t>
            </a:r>
            <a:r>
              <a:rPr lang="zh-CN" altLang="en-US"/>
              <a:t>树在医学中也起着重要作用，尤其是在医学诊断过程中。帮助医生的决策支持系统正在成为医疗决策的重要组成部分，尤其是在必须有效和可靠地做出决策的情况下。由于应该考虑具有自动学习可能性的概念性简单决策模型来执行此类任务，因此决策树是非常合适的候选者。它们已经成功地用于许多决策目的。</a:t>
            </a:r>
            <a:endParaRPr lang="zh-CN" altLang="en-US"/>
          </a:p>
          <a:p>
            <a:endParaRPr lang="zh-CN" altLang="en-US"/>
          </a:p>
          <a:p>
            <a:r>
              <a:rPr lang="zh-CN" altLang="en-US"/>
              <a:t>决策树的医学应用优势</a:t>
            </a:r>
            <a:endParaRPr lang="zh-CN" altLang="en-US"/>
          </a:p>
          <a:p>
            <a:endParaRPr lang="zh-CN" altLang="en-US"/>
          </a:p>
          <a:p>
            <a:r>
              <a:rPr lang="en-US" altLang="zh-CN"/>
              <a:t>     </a:t>
            </a:r>
            <a:r>
              <a:rPr lang="zh-CN" altLang="en-US"/>
              <a:t>高分类准确性：处理复杂医学数据，快速分类（如疾病诊断）。</a:t>
            </a:r>
            <a:endParaRPr lang="zh-CN" altLang="en-US"/>
          </a:p>
          <a:p>
            <a:endParaRPr lang="en-US" altLang="zh-CN"/>
          </a:p>
          <a:p>
            <a:r>
              <a:rPr lang="en-US" altLang="zh-CN"/>
              <a:t>     </a:t>
            </a:r>
            <a:r>
              <a:rPr lang="zh-CN" altLang="en-US"/>
              <a:t>解释性强：决策路径透明，医生可验证逻辑（如</a:t>
            </a:r>
            <a:r>
              <a:rPr lang="en-US" altLang="zh-CN"/>
              <a:t>“</a:t>
            </a:r>
            <a:r>
              <a:rPr lang="zh-CN" altLang="en-US"/>
              <a:t>若患者有</a:t>
            </a:r>
            <a:r>
              <a:rPr lang="en-US" altLang="zh-CN"/>
              <a:t>X</a:t>
            </a:r>
            <a:r>
              <a:rPr lang="zh-CN" altLang="en-US"/>
              <a:t>症状，则诊断为</a:t>
            </a:r>
            <a:r>
              <a:rPr lang="en-US" altLang="zh-CN"/>
              <a:t>Y</a:t>
            </a:r>
            <a:r>
              <a:rPr lang="zh-CN" altLang="en-US"/>
              <a:t>疾病</a:t>
            </a:r>
            <a:r>
              <a:rPr lang="en-US" altLang="zh-CN"/>
              <a:t>”</a:t>
            </a:r>
            <a:r>
              <a:rPr lang="zh-CN" altLang="en-US"/>
              <a:t>）。</a:t>
            </a:r>
            <a:endParaRPr lang="zh-CN" altLang="en-US"/>
          </a:p>
          <a:p>
            <a:endParaRPr lang="en-US" altLang="zh-CN"/>
          </a:p>
          <a:p>
            <a:r>
              <a:rPr lang="en-US" altLang="zh-CN"/>
              <a:t>     </a:t>
            </a:r>
            <a:r>
              <a:rPr lang="zh-CN" altLang="en-US"/>
              <a:t>支持多类决策：区分低、中、高风险患者，或多种治疗方案选择。</a:t>
            </a:r>
            <a:endParaRPr lang="zh-CN" altLang="en-US"/>
          </a:p>
          <a:p>
            <a:endParaRPr lang="en-US" altLang="zh-CN"/>
          </a:p>
          <a:p>
            <a:r>
              <a:rPr lang="en-US" altLang="zh-CN"/>
              <a:t>     </a:t>
            </a:r>
            <a:r>
              <a:rPr lang="zh-CN" altLang="en-US"/>
              <a:t>动态适应性：处理缺失数据（如检测设备不可用时调整决策路径）。</a:t>
            </a:r>
            <a:endParaRPr lang="zh-CN" altLang="en-US"/>
          </a:p>
        </p:txBody>
      </p:sp>
      <p:pic>
        <p:nvPicPr>
          <p:cNvPr id="5" name="图片 4" descr="圆角三角"/>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5490" y="2941320"/>
            <a:ext cx="382270" cy="295275"/>
          </a:xfrm>
          <a:prstGeom prst="rect">
            <a:avLst/>
          </a:prstGeom>
        </p:spPr>
      </p:pic>
      <p:pic>
        <p:nvPicPr>
          <p:cNvPr id="6" name="图片 5" descr="圆角三角"/>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745490" y="3504565"/>
            <a:ext cx="382270" cy="295275"/>
          </a:xfrm>
          <a:prstGeom prst="rect">
            <a:avLst/>
          </a:prstGeom>
        </p:spPr>
      </p:pic>
      <p:pic>
        <p:nvPicPr>
          <p:cNvPr id="8" name="图片 7" descr="圆角三角"/>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745490" y="4067810"/>
            <a:ext cx="382270" cy="295275"/>
          </a:xfrm>
          <a:prstGeom prst="rect">
            <a:avLst/>
          </a:prstGeom>
        </p:spPr>
      </p:pic>
      <p:pic>
        <p:nvPicPr>
          <p:cNvPr id="9" name="图片 8" descr="圆角三角"/>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745490" y="4631055"/>
            <a:ext cx="382270" cy="2952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dirty="0">
                <a:sym typeface="+mn-ea"/>
              </a:rPr>
              <a:t>决策树在医学领域的应用</a:t>
            </a:r>
            <a:r>
              <a:rPr lang="zh-CN" altLang="en-US" dirty="0">
                <a:sym typeface="+mn-ea"/>
              </a:rPr>
              <a:t>案例</a:t>
            </a:r>
            <a:endParaRPr lang="zh-CN" altLang="en-US" dirty="0">
              <a:sym typeface="+mn-ea"/>
            </a:endParaRPr>
          </a:p>
        </p:txBody>
      </p:sp>
      <p:sp>
        <p:nvSpPr>
          <p:cNvPr id="2" name="文本框 1"/>
          <p:cNvSpPr txBox="1"/>
          <p:nvPr/>
        </p:nvSpPr>
        <p:spPr>
          <a:xfrm>
            <a:off x="745490" y="1262380"/>
            <a:ext cx="10728325" cy="2306955"/>
          </a:xfrm>
          <a:prstGeom prst="rect">
            <a:avLst/>
          </a:prstGeom>
          <a:noFill/>
        </p:spPr>
        <p:txBody>
          <a:bodyPr wrap="square" rtlCol="0">
            <a:spAutoFit/>
          </a:bodyPr>
          <a:p>
            <a:r>
              <a:rPr lang="zh-CN" altLang="en-US"/>
              <a:t>心肌梗死早期诊断：利用决策树（</a:t>
            </a:r>
            <a:r>
              <a:rPr lang="en-US" altLang="zh-CN"/>
              <a:t>FT Tree</a:t>
            </a:r>
            <a:r>
              <a:rPr lang="zh-CN" altLang="en-US"/>
              <a:t>）和逻辑回归模型，基于急诊室数据预测心肌梗死。</a:t>
            </a:r>
            <a:endParaRPr lang="zh-CN" altLang="en-US"/>
          </a:p>
          <a:p>
            <a:endParaRPr lang="en-US" altLang="zh-CN"/>
          </a:p>
          <a:p>
            <a:r>
              <a:rPr lang="zh-CN" altLang="en-US"/>
              <a:t>药物不良反应监测：</a:t>
            </a:r>
            <a:r>
              <a:rPr lang="en-US" altLang="zh-CN"/>
              <a:t>Jones</a:t>
            </a:r>
            <a:r>
              <a:rPr lang="zh-CN" altLang="en-US"/>
              <a:t>通过决策树挖掘大型药物数据库，识别潜在不良反应信号。辅助快速发现新药风险，尤其针对特定人群。</a:t>
            </a:r>
            <a:endParaRPr lang="zh-CN" altLang="en-US"/>
          </a:p>
          <a:p>
            <a:endParaRPr lang="en-US" altLang="zh-CN"/>
          </a:p>
          <a:p>
            <a:r>
              <a:rPr lang="zh-CN" altLang="en-US"/>
              <a:t>慢性伤口护理决策：开发慢性伤口管理决策树（</a:t>
            </a:r>
            <a:r>
              <a:rPr lang="en-US" altLang="zh-CN"/>
              <a:t>CWMDT</a:t>
            </a:r>
            <a:r>
              <a:rPr lang="zh-CN" altLang="en-US"/>
              <a:t>），指导护士评估和治疗方案选择。</a:t>
            </a:r>
            <a:endParaRPr lang="zh-CN" altLang="en-US"/>
          </a:p>
          <a:p>
            <a:endParaRPr lang="en-US" altLang="zh-CN"/>
          </a:p>
          <a:p>
            <a:r>
              <a:rPr lang="zh-CN" altLang="en-US"/>
              <a:t>疫苗接种策略优化：巴西麻疹疫苗接种运动，结合模糊逻辑与决策树模型，成功改变疫情传播趋势。</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669925" y="1"/>
            <a:ext cx="9399850" cy="920529"/>
          </a:xfrm>
        </p:spPr>
        <p:txBody>
          <a:bodyPr/>
          <a:lstStyle/>
          <a:p>
            <a:pPr algn="l">
              <a:buClrTx/>
              <a:buSzTx/>
              <a:buFontTx/>
            </a:pPr>
            <a:r>
              <a:rPr lang="zh-CN" altLang="en-US" dirty="0">
                <a:sym typeface="+mn-ea"/>
              </a:rPr>
              <a:t>决策树在医学领域的应用</a:t>
            </a:r>
            <a:r>
              <a:rPr lang="zh-CN" altLang="en-US" dirty="0">
                <a:sym typeface="+mn-ea"/>
              </a:rPr>
              <a:t>案例</a:t>
            </a:r>
            <a:endParaRPr lang="zh-CN" altLang="en-US" dirty="0">
              <a:sym typeface="+mn-ea"/>
            </a:endParaRPr>
          </a:p>
        </p:txBody>
      </p:sp>
      <p:pic>
        <p:nvPicPr>
          <p:cNvPr id="3" name="图片 2"/>
          <p:cNvPicPr>
            <a:picLocks noChangeAspect="1"/>
          </p:cNvPicPr>
          <p:nvPr/>
        </p:nvPicPr>
        <p:blipFill>
          <a:blip r:embed="rId1"/>
          <a:stretch>
            <a:fillRect/>
          </a:stretch>
        </p:blipFill>
        <p:spPr>
          <a:xfrm>
            <a:off x="5126355" y="1374140"/>
            <a:ext cx="6572250" cy="4343400"/>
          </a:xfrm>
          <a:prstGeom prst="rect">
            <a:avLst/>
          </a:prstGeom>
        </p:spPr>
      </p:pic>
      <p:sp>
        <p:nvSpPr>
          <p:cNvPr id="5" name="文本框 4"/>
          <p:cNvSpPr txBox="1"/>
          <p:nvPr/>
        </p:nvSpPr>
        <p:spPr>
          <a:xfrm>
            <a:off x="745490" y="1374140"/>
            <a:ext cx="4283710" cy="4523105"/>
          </a:xfrm>
          <a:prstGeom prst="rect">
            <a:avLst/>
          </a:prstGeom>
          <a:noFill/>
        </p:spPr>
        <p:txBody>
          <a:bodyPr wrap="square" rtlCol="0">
            <a:spAutoFit/>
          </a:bodyPr>
          <a:p>
            <a:r>
              <a:rPr lang="zh-CN" altLang="en-US"/>
              <a:t>重度抑郁症</a:t>
            </a:r>
            <a:r>
              <a:rPr lang="en-US" altLang="zh-CN"/>
              <a:t> </a:t>
            </a:r>
            <a:r>
              <a:rPr lang="zh-CN" altLang="en-US"/>
              <a:t>（</a:t>
            </a:r>
            <a:r>
              <a:rPr lang="en-US" altLang="zh-CN"/>
              <a:t>MDD</a:t>
            </a:r>
            <a:r>
              <a:rPr lang="zh-CN" altLang="en-US"/>
              <a:t>）</a:t>
            </a:r>
            <a:r>
              <a:rPr lang="en-US" altLang="zh-CN"/>
              <a:t> </a:t>
            </a:r>
            <a:r>
              <a:rPr lang="zh-CN" altLang="en-US"/>
              <a:t>相关的风险因素分析：</a:t>
            </a:r>
            <a:r>
              <a:rPr lang="en-US" altLang="zh-CN"/>
              <a:t> </a:t>
            </a:r>
            <a:r>
              <a:rPr lang="zh-CN" altLang="en-US"/>
              <a:t>来说明决策树模型的构建。分析的目标是从</a:t>
            </a:r>
            <a:r>
              <a:rPr lang="en-US" altLang="zh-CN"/>
              <a:t> 17 </a:t>
            </a:r>
            <a:r>
              <a:rPr lang="zh-CN" altLang="en-US"/>
              <a:t>个潜在风险因素中确定最重要的风险因素，包括性别、年龄、吸烟、高血压、教育、就业、生活事件等。从数据集生成的决策树模型如图所示。通过不同的分支，将所有个体从根节点到叶节点分为</a:t>
            </a:r>
            <a:r>
              <a:rPr lang="en-US" altLang="zh-CN"/>
              <a:t> 28 </a:t>
            </a:r>
            <a:r>
              <a:rPr lang="zh-CN" altLang="en-US"/>
              <a:t>个亚组。患抑郁症的风险从</a:t>
            </a:r>
            <a:r>
              <a:rPr lang="en-US" altLang="zh-CN"/>
              <a:t> 0 </a:t>
            </a:r>
            <a:r>
              <a:rPr lang="zh-CN" altLang="en-US"/>
              <a:t>到</a:t>
            </a:r>
            <a:r>
              <a:rPr lang="en-US" altLang="zh-CN"/>
              <a:t> 38% </a:t>
            </a:r>
            <a:r>
              <a:rPr lang="zh-CN" altLang="en-US"/>
              <a:t>不等。例如，基线时只有</a:t>
            </a:r>
            <a:r>
              <a:rPr lang="en-US" altLang="zh-CN"/>
              <a:t> 2% </a:t>
            </a:r>
            <a:r>
              <a:rPr lang="zh-CN" altLang="en-US"/>
              <a:t>的非吸烟者在</a:t>
            </a:r>
            <a:r>
              <a:rPr lang="en-US" altLang="zh-CN"/>
              <a:t> 4 </a:t>
            </a:r>
            <a:r>
              <a:rPr lang="zh-CN" altLang="en-US"/>
              <a:t>年后患有</a:t>
            </a:r>
            <a:r>
              <a:rPr lang="en-US" altLang="zh-CN"/>
              <a:t> MDD</a:t>
            </a:r>
            <a:r>
              <a:rPr lang="zh-CN" altLang="en-US"/>
              <a:t>，但</a:t>
            </a:r>
            <a:r>
              <a:rPr lang="en-US" altLang="zh-CN"/>
              <a:t>17.2% </a:t>
            </a:r>
            <a:r>
              <a:rPr lang="zh-CN" altLang="en-US"/>
              <a:t>的男性吸烟者在</a:t>
            </a:r>
            <a:r>
              <a:rPr lang="en-US" altLang="zh-CN"/>
              <a:t> Goldberg </a:t>
            </a:r>
            <a:r>
              <a:rPr lang="zh-CN" altLang="en-US"/>
              <a:t>抑郁量表上得分为</a:t>
            </a:r>
            <a:r>
              <a:rPr lang="en-US" altLang="zh-CN"/>
              <a:t> 2 </a:t>
            </a:r>
            <a:r>
              <a:rPr lang="zh-CN" altLang="en-US"/>
              <a:t>或</a:t>
            </a:r>
            <a:r>
              <a:rPr lang="en-US" altLang="zh-CN"/>
              <a:t> 3 </a:t>
            </a:r>
            <a:r>
              <a:rPr lang="zh-CN" altLang="en-US"/>
              <a:t>分，并且在基线时没有全职工作在</a:t>
            </a:r>
            <a:r>
              <a:rPr lang="en-US" altLang="zh-CN"/>
              <a:t> 4 </a:t>
            </a:r>
            <a:r>
              <a:rPr lang="zh-CN" altLang="en-US"/>
              <a:t>年随访评估中患有</a:t>
            </a:r>
            <a:r>
              <a:rPr lang="en-US" altLang="zh-CN"/>
              <a:t> MDD</a:t>
            </a:r>
            <a:r>
              <a:rPr lang="zh-CN" altLang="en-US"/>
              <a:t>。通过使用这种类型的决策树模型，研究人员可以识别构成相关条件的最高（或最低）风险的因素组合。</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实验内容</a:t>
            </a:r>
            <a:endParaRPr lang="zh-CN" altLang="en-US"/>
          </a:p>
        </p:txBody>
      </p:sp>
      <p:sp>
        <p:nvSpPr>
          <p:cNvPr id="3" name="文本框 2"/>
          <p:cNvSpPr txBox="1"/>
          <p:nvPr/>
        </p:nvSpPr>
        <p:spPr>
          <a:xfrm>
            <a:off x="745490" y="2512060"/>
            <a:ext cx="10011410" cy="1383665"/>
          </a:xfrm>
          <a:prstGeom prst="rect">
            <a:avLst/>
          </a:prstGeom>
          <a:noFill/>
        </p:spPr>
        <p:txBody>
          <a:bodyPr wrap="square" rtlCol="0">
            <a:spAutoFit/>
          </a:bodyPr>
          <a:p>
            <a:pPr marL="0" indent="0">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利用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taindata.txt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的数据（</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75*5</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，第</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列为标签）进行训练，构造决策树；利用构造好的决策树对</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testdata.txt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mn-ea"/>
              </a:rPr>
              <a:t>的数据进行分类，并输出分类准确率</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ctrTitle"/>
          </p:nvPr>
        </p:nvSpPr>
        <p:spPr>
          <a:xfrm>
            <a:off x="669925" y="4135136"/>
            <a:ext cx="10850564" cy="945734"/>
          </a:xfrm>
        </p:spPr>
        <p:txBody>
          <a:bodyPr>
            <a:normAutofit fontScale="90000"/>
          </a:bodyPr>
          <a:lstStyle/>
          <a:p>
            <a:r>
              <a:rPr lang="en-US" altLang="zh-CN" dirty="0"/>
              <a:t>Thanks.</a:t>
            </a:r>
            <a:br>
              <a:rPr lang="en-US" altLang="zh-CN" dirty="0"/>
            </a:br>
            <a:endParaRPr lang="zh-CN" altLang="en-US" b="0" dirty="0"/>
          </a:p>
        </p:txBody>
      </p:sp>
      <p:grpSp>
        <p:nvGrpSpPr>
          <p:cNvPr id="193" name="组合 192"/>
          <p:cNvGrpSpPr/>
          <p:nvPr/>
        </p:nvGrpSpPr>
        <p:grpSpPr>
          <a:xfrm>
            <a:off x="4474285" y="1016000"/>
            <a:ext cx="3204984" cy="2895317"/>
            <a:chOff x="423090" y="994900"/>
            <a:chExt cx="5333987" cy="4818615"/>
          </a:xfrm>
        </p:grpSpPr>
        <p:pic>
          <p:nvPicPr>
            <p:cNvPr id="194" name="图片 193"/>
            <p:cNvPicPr>
              <a:picLocks noChangeAspect="1"/>
            </p:cNvPicPr>
            <p:nvPr>
              <p:custDataLst>
                <p:tags r:id="rId1"/>
              </p:custDataLst>
            </p:nvPr>
          </p:nvPicPr>
          <p:blipFill>
            <a:blip r:embed="rId2" cstate="print"/>
            <a:stretch>
              <a:fillRect/>
            </a:stretch>
          </p:blipFill>
          <p:spPr>
            <a:xfrm>
              <a:off x="909400" y="994900"/>
              <a:ext cx="4634944" cy="4628714"/>
            </a:xfrm>
            <a:prstGeom prst="rect">
              <a:avLst/>
            </a:prstGeom>
          </p:spPr>
        </p:pic>
        <p:pic>
          <p:nvPicPr>
            <p:cNvPr id="195" name="图片 194"/>
            <p:cNvPicPr>
              <a:picLocks noChangeAspect="1"/>
            </p:cNvPicPr>
            <p:nvPr>
              <p:custDataLst>
                <p:tags r:id="rId3"/>
              </p:custDataLst>
            </p:nvPr>
          </p:nvPicPr>
          <p:blipFill>
            <a:blip r:embed="rId4" cstate="print"/>
            <a:stretch>
              <a:fillRect/>
            </a:stretch>
          </p:blipFill>
          <p:spPr>
            <a:xfrm>
              <a:off x="423090" y="2857547"/>
              <a:ext cx="5333987" cy="2955968"/>
            </a:xfrm>
            <a:prstGeom prst="rect">
              <a:avLst/>
            </a:prstGeom>
          </p:spPr>
        </p:pic>
      </p:gr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ISLIDE.GUIDESSETTING" val="{&quot;Name&quot;:&quot;正常&quot;,&quot;HeaderHeight&quot;:15.0,&quot;TopMargin&quot;:0.0,&quot;FooterHeight&quot;:9.0,&quot;BottomMargin&quot;:0.0,&quot;SideMargin&quot;:5.5,&quot;IntervalMargin&quot;:1.5,&quot;Id&quot;:&quot;GuidesStyle_Normal&quot;}"/>
  <p:tag name="ISLIDE.THEME" val="717a22b7-3976-409a-a111-595a184d472a"/>
  <p:tag name="COMMONDATA" val="eyJoZGlkIjoiY2YwMTU1NGEwMTQwODI0OTBhZWJmZGI5ZTg4OTBhZGYifQ=="/>
  <p:tag name="resource_record_key" val="{&quot;10&quot;:[21565021]}"/>
</p:tagLst>
</file>

<file path=ppt/theme/theme1.xml><?xml version="1.0" encoding="utf-8"?>
<a:theme xmlns:a="http://schemas.openxmlformats.org/drawingml/2006/main" name="毕业主题1">
  <a:themeElements>
    <a:clrScheme name="自定义 5">
      <a:dk1>
        <a:srgbClr val="000000"/>
      </a:dk1>
      <a:lt1>
        <a:srgbClr val="FFFFFF"/>
      </a:lt1>
      <a:dk2>
        <a:srgbClr val="44546A"/>
      </a:dk2>
      <a:lt2>
        <a:srgbClr val="E7E6E6"/>
      </a:lt2>
      <a:accent1>
        <a:srgbClr val="06A1C6"/>
      </a:accent1>
      <a:accent2>
        <a:srgbClr val="EE3C30"/>
      </a:accent2>
      <a:accent3>
        <a:srgbClr val="9BBB59"/>
      </a:accent3>
      <a:accent4>
        <a:srgbClr val="F39C12"/>
      </a:accent4>
      <a:accent5>
        <a:srgbClr val="C0392B"/>
      </a:accent5>
      <a:accent6>
        <a:srgbClr val="2C3F50"/>
      </a:accent6>
      <a:hlink>
        <a:srgbClr val="0563C1"/>
      </a:hlink>
      <a:folHlink>
        <a:srgbClr val="954F72"/>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2563</Words>
  <Application>WPS 演示</Application>
  <PresentationFormat>宽屏</PresentationFormat>
  <Paragraphs>120</Paragraphs>
  <Slides>19</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14</vt:i4>
      </vt:variant>
      <vt:variant>
        <vt:lpstr>幻灯片标题</vt:lpstr>
      </vt:variant>
      <vt:variant>
        <vt:i4>19</vt:i4>
      </vt:variant>
    </vt:vector>
  </HeadingPairs>
  <TitlesOfParts>
    <vt:vector size="43" baseType="lpstr">
      <vt:lpstr>Arial</vt:lpstr>
      <vt:lpstr>宋体</vt:lpstr>
      <vt:lpstr>Wingdings</vt:lpstr>
      <vt:lpstr>微软雅黑</vt:lpstr>
      <vt:lpstr>Arial Unicode MS</vt:lpstr>
      <vt:lpstr>Calibri</vt:lpstr>
      <vt:lpstr>等线</vt:lpstr>
      <vt:lpstr>Times New Roman</vt:lpstr>
      <vt:lpstr>等线 Light</vt:lpstr>
      <vt:lpstr>毕业主题1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0223 纪俊煜 陈志航  </vt:lpstr>
      <vt:lpstr>上周工作</vt:lpstr>
      <vt:lpstr>数据集</vt:lpstr>
      <vt:lpstr>TAAD</vt:lpstr>
      <vt:lpstr>信息熵</vt:lpstr>
      <vt:lpstr>ID3决策树原理</vt:lpstr>
      <vt:lpstr>ID3决策树原理</vt:lpstr>
      <vt:lpstr>决策树实例</vt:lpstr>
      <vt:lpstr>决策树实例</vt:lpstr>
      <vt:lpstr>决策树实例</vt:lpstr>
      <vt:lpstr>决策树实例</vt:lpstr>
      <vt:lpstr>ID3决策树原理</vt:lpstr>
      <vt:lpstr>ID3决策树原理</vt:lpstr>
      <vt:lpstr>决策树</vt:lpstr>
      <vt:lpstr>决策树</vt:lpstr>
      <vt:lpstr>决策树在医学领域的应用</vt:lpstr>
      <vt:lpstr>决策树在医学领域的应用案例</vt:lpstr>
      <vt:lpstr>PowerPoint 演示文稿</vt:lpstr>
      <vt:lpstr>Thanks. </vt:lpstr>
    </vt:vector>
  </TitlesOfParts>
  <Company>iSlide</Company>
  <LinksUpToDate>false</LinksUpToDate>
  <SharedDoc>false</SharedDoc>
  <HyperlinksChanged>false</HyperlinksChanged>
  <AppVersion>14.0000</AppVersion>
  <Manager>iSlide</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category>oral defense</cp:category>
  <cp:lastModifiedBy>哈啾</cp:lastModifiedBy>
  <cp:revision>217</cp:revision>
  <cp:lastPrinted>2018-02-05T16:00:00Z</cp:lastPrinted>
  <dcterms:created xsi:type="dcterms:W3CDTF">2018-02-05T16:00:00Z</dcterms:created>
  <dcterms:modified xsi:type="dcterms:W3CDTF">2025-02-25T12:57:14Z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717a22b7-3976-409a-a111-595a184d472a</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t-shyu@microsoft.com</vt:lpwstr>
  </property>
  <property fmtid="{D5CDD505-2E9C-101B-9397-08002B2CF9AE}" pid="6" name="MSIP_Label_f42aa342-8706-4288-bd11-ebb85995028c_SetDate">
    <vt:lpwstr>2018-08-22T08:06:11.7212662Z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KSOProductBuildVer">
    <vt:lpwstr>2052-12.1.0.19770</vt:lpwstr>
  </property>
  <property fmtid="{D5CDD505-2E9C-101B-9397-08002B2CF9AE}" pid="12" name="ICV">
    <vt:lpwstr>8E6FC977D40043B69C7F51BD502A0F6C_12</vt:lpwstr>
  </property>
</Properties>
</file>