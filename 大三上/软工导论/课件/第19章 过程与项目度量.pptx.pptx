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46"/>
  </p:handoutMasterIdLst>
  <p:sldIdLst>
    <p:sldId id="317" r:id="rId2"/>
    <p:sldId id="318" r:id="rId3"/>
    <p:sldId id="319" r:id="rId4"/>
    <p:sldId id="352" r:id="rId5"/>
    <p:sldId id="351" r:id="rId6"/>
    <p:sldId id="353" r:id="rId7"/>
    <p:sldId id="356" r:id="rId8"/>
    <p:sldId id="357" r:id="rId9"/>
    <p:sldId id="354" r:id="rId10"/>
    <p:sldId id="355" r:id="rId11"/>
    <p:sldId id="321" r:id="rId12"/>
    <p:sldId id="358" r:id="rId13"/>
    <p:sldId id="359" r:id="rId14"/>
    <p:sldId id="360" r:id="rId15"/>
    <p:sldId id="361" r:id="rId16"/>
    <p:sldId id="362" r:id="rId17"/>
    <p:sldId id="381" r:id="rId18"/>
    <p:sldId id="382" r:id="rId19"/>
    <p:sldId id="383" r:id="rId20"/>
    <p:sldId id="384" r:id="rId21"/>
    <p:sldId id="507" r:id="rId22"/>
    <p:sldId id="364" r:id="rId23"/>
    <p:sldId id="365" r:id="rId24"/>
    <p:sldId id="366" r:id="rId25"/>
    <p:sldId id="367" r:id="rId26"/>
    <p:sldId id="368" r:id="rId27"/>
    <p:sldId id="369" r:id="rId28"/>
    <p:sldId id="370" r:id="rId29"/>
    <p:sldId id="385" r:id="rId30"/>
    <p:sldId id="371" r:id="rId31"/>
    <p:sldId id="372" r:id="rId32"/>
    <p:sldId id="386" r:id="rId33"/>
    <p:sldId id="387" r:id="rId34"/>
    <p:sldId id="389" r:id="rId35"/>
    <p:sldId id="390" r:id="rId36"/>
    <p:sldId id="388" r:id="rId37"/>
    <p:sldId id="373" r:id="rId38"/>
    <p:sldId id="374" r:id="rId39"/>
    <p:sldId id="375" r:id="rId40"/>
    <p:sldId id="376" r:id="rId41"/>
    <p:sldId id="377" r:id="rId42"/>
    <p:sldId id="378" r:id="rId43"/>
    <p:sldId id="379" r:id="rId44"/>
    <p:sldId id="380" r:id="rId45"/>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72"/>
    <p:restoredTop sz="94607"/>
  </p:normalViewPr>
  <p:slideViewPr>
    <p:cSldViewPr>
      <p:cViewPr varScale="1">
        <p:scale>
          <a:sx n="80" d="100"/>
          <a:sy n="80" d="100"/>
        </p:scale>
        <p:origin x="254" y="62"/>
      </p:cViewPr>
      <p:guideLst>
        <p:guide orient="horz" pos="2160"/>
        <p:guide pos="2880"/>
      </p:guideLst>
    </p:cSldViewPr>
  </p:slideViewPr>
  <p:notesTextViewPr>
    <p:cViewPr>
      <p:scale>
        <a:sx n="100" d="100"/>
        <a:sy n="100" d="100"/>
      </p:scale>
      <p:origin x="0" y="0"/>
    </p:cViewPr>
  </p:notesTextViewPr>
  <p:notesViewPr>
    <p:cSldViewPr>
      <p:cViewPr varScale="1">
        <p:scale>
          <a:sx n="74" d="100"/>
          <a:sy n="74" d="100"/>
        </p:scale>
        <p:origin x="-224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F7BE5501-0720-504D-A132-938A9102C214}"/>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宋体" charset="-122"/>
              </a:defRPr>
            </a:lvl1pPr>
          </a:lstStyle>
          <a:p>
            <a:pPr>
              <a:defRPr/>
            </a:pPr>
            <a:endParaRPr lang="zh-CN" altLang="en-US"/>
          </a:p>
        </p:txBody>
      </p:sp>
      <p:sp>
        <p:nvSpPr>
          <p:cNvPr id="3" name="日期占位符 2">
            <a:extLst>
              <a:ext uri="{FF2B5EF4-FFF2-40B4-BE49-F238E27FC236}">
                <a16:creationId xmlns:a16="http://schemas.microsoft.com/office/drawing/2014/main" id="{95E1F02A-268B-E245-8665-8DF7CF28C277}"/>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ea typeface="宋体" charset="-122"/>
              </a:defRPr>
            </a:lvl1pPr>
          </a:lstStyle>
          <a:p>
            <a:pPr>
              <a:defRPr/>
            </a:pPr>
            <a:fld id="{38C28FFF-E423-DF4E-B586-B9BC41EDA007}" type="datetimeFigureOut">
              <a:rPr lang="zh-CN" altLang="en-US"/>
              <a:pPr>
                <a:defRPr/>
              </a:pPr>
              <a:t>2025/11/27</a:t>
            </a:fld>
            <a:endParaRPr lang="zh-CN" altLang="en-US"/>
          </a:p>
        </p:txBody>
      </p:sp>
      <p:sp>
        <p:nvSpPr>
          <p:cNvPr id="4" name="页脚占位符 3">
            <a:extLst>
              <a:ext uri="{FF2B5EF4-FFF2-40B4-BE49-F238E27FC236}">
                <a16:creationId xmlns:a16="http://schemas.microsoft.com/office/drawing/2014/main" id="{3AF9C9C8-07C7-DE45-BE34-584D270E5CE8}"/>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宋体" charset="-122"/>
              </a:defRPr>
            </a:lvl1pPr>
          </a:lstStyle>
          <a:p>
            <a:pPr>
              <a:defRPr/>
            </a:pPr>
            <a:endParaRPr lang="zh-CN" altLang="en-US"/>
          </a:p>
        </p:txBody>
      </p:sp>
      <p:sp>
        <p:nvSpPr>
          <p:cNvPr id="5" name="灯片编号占位符 4">
            <a:extLst>
              <a:ext uri="{FF2B5EF4-FFF2-40B4-BE49-F238E27FC236}">
                <a16:creationId xmlns:a16="http://schemas.microsoft.com/office/drawing/2014/main" id="{157AB185-FFBE-E747-96FA-3C46D7BEE6D2}"/>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ADA0B80D-06AC-1740-B5E9-8EB3BE7353D2}"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图片 7" descr="08f46c7211d24e3a8701b02c.jpg">
            <a:extLst>
              <a:ext uri="{FF2B5EF4-FFF2-40B4-BE49-F238E27FC236}">
                <a16:creationId xmlns:a16="http://schemas.microsoft.com/office/drawing/2014/main" id="{AEB0654D-BDE8-CB41-A610-34326575C42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380288" y="4221163"/>
            <a:ext cx="750887"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685800" y="2130425"/>
            <a:ext cx="7772400" cy="1470025"/>
          </a:xfrm>
        </p:spPr>
        <p:txBody>
          <a:bodyPr/>
          <a:lstStyle>
            <a:lvl1pPr>
              <a:defRPr/>
            </a:lvl1pPr>
          </a:lstStyle>
          <a:p>
            <a:r>
              <a:rPr lang="zh-CN" altLang="en-US"/>
              <a:t>单击此处编辑母版标题样式</a:t>
            </a:r>
          </a:p>
        </p:txBody>
      </p:sp>
      <p:sp>
        <p:nvSpPr>
          <p:cNvPr id="4099"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a:t>单击此处编辑母版副标题样式</a:t>
            </a:r>
          </a:p>
        </p:txBody>
      </p:sp>
      <p:sp>
        <p:nvSpPr>
          <p:cNvPr id="5" name="Rectangle 4">
            <a:extLst>
              <a:ext uri="{FF2B5EF4-FFF2-40B4-BE49-F238E27FC236}">
                <a16:creationId xmlns:a16="http://schemas.microsoft.com/office/drawing/2014/main" id="{810ACDF5-C94C-F346-88AC-B3428BD683E9}"/>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AEDE80C4-2F91-3040-AC3E-0D653221823D}"/>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B3169254-6A78-D941-8C7D-18CBCA5369CC}"/>
              </a:ext>
            </a:extLst>
          </p:cNvPr>
          <p:cNvSpPr>
            <a:spLocks noGrp="1" noChangeArrowheads="1"/>
          </p:cNvSpPr>
          <p:nvPr>
            <p:ph type="sldNum" sz="quarter" idx="12"/>
          </p:nvPr>
        </p:nvSpPr>
        <p:spPr/>
        <p:txBody>
          <a:bodyPr/>
          <a:lstStyle>
            <a:lvl1pPr>
              <a:defRPr/>
            </a:lvl1pPr>
          </a:lstStyle>
          <a:p>
            <a:pPr>
              <a:defRPr/>
            </a:pPr>
            <a:fld id="{B5515B25-D81B-8648-8D72-6C5E7394BE7C}" type="slidenum">
              <a:rPr lang="en-US" altLang="zh-CN"/>
              <a:pPr>
                <a:defRPr/>
              </a:pPr>
              <a:t>‹#›</a:t>
            </a:fld>
            <a:endParaRPr lang="en-US" altLang="zh-CN"/>
          </a:p>
        </p:txBody>
      </p:sp>
    </p:spTree>
    <p:extLst>
      <p:ext uri="{BB962C8B-B14F-4D97-AF65-F5344CB8AC3E}">
        <p14:creationId xmlns:p14="http://schemas.microsoft.com/office/powerpoint/2010/main" val="1462073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B9C01BE-5F4A-6248-A6C8-F6ACCF2738D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1966C0D-1BF3-2A41-851B-E6B18144618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3179797-0F1A-C547-97DA-64306771529E}"/>
              </a:ext>
            </a:extLst>
          </p:cNvPr>
          <p:cNvSpPr>
            <a:spLocks noGrp="1" noChangeArrowheads="1"/>
          </p:cNvSpPr>
          <p:nvPr>
            <p:ph type="sldNum" sz="quarter" idx="12"/>
          </p:nvPr>
        </p:nvSpPr>
        <p:spPr>
          <a:ln/>
        </p:spPr>
        <p:txBody>
          <a:bodyPr/>
          <a:lstStyle>
            <a:lvl1pPr>
              <a:defRPr/>
            </a:lvl1pPr>
          </a:lstStyle>
          <a:p>
            <a:pPr>
              <a:defRPr/>
            </a:pPr>
            <a:fld id="{A54AE5AC-2106-464B-97F7-3C62DD9A33BE}" type="slidenum">
              <a:rPr lang="en-US" altLang="zh-CN"/>
              <a:pPr>
                <a:defRPr/>
              </a:pPr>
              <a:t>‹#›</a:t>
            </a:fld>
            <a:endParaRPr lang="en-US" altLang="zh-CN"/>
          </a:p>
        </p:txBody>
      </p:sp>
    </p:spTree>
    <p:extLst>
      <p:ext uri="{BB962C8B-B14F-4D97-AF65-F5344CB8AC3E}">
        <p14:creationId xmlns:p14="http://schemas.microsoft.com/office/powerpoint/2010/main" val="3322252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E01F1C20-688C-B846-9735-F9203BEC52E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76729CC-93C9-D44E-9DDD-25A9AB0C2CC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88CBE2C-C707-CA46-8B9D-D7DEC0BC7E0E}"/>
              </a:ext>
            </a:extLst>
          </p:cNvPr>
          <p:cNvSpPr>
            <a:spLocks noGrp="1" noChangeArrowheads="1"/>
          </p:cNvSpPr>
          <p:nvPr>
            <p:ph type="sldNum" sz="quarter" idx="12"/>
          </p:nvPr>
        </p:nvSpPr>
        <p:spPr>
          <a:ln/>
        </p:spPr>
        <p:txBody>
          <a:bodyPr/>
          <a:lstStyle>
            <a:lvl1pPr>
              <a:defRPr/>
            </a:lvl1pPr>
          </a:lstStyle>
          <a:p>
            <a:pPr>
              <a:defRPr/>
            </a:pPr>
            <a:fld id="{B2387E2F-7B43-694E-82B4-BCCAA1D862F4}" type="slidenum">
              <a:rPr lang="en-US" altLang="zh-CN"/>
              <a:pPr>
                <a:defRPr/>
              </a:pPr>
              <a:t>‹#›</a:t>
            </a:fld>
            <a:endParaRPr lang="en-US" altLang="zh-CN"/>
          </a:p>
        </p:txBody>
      </p:sp>
    </p:spTree>
    <p:extLst>
      <p:ext uri="{BB962C8B-B14F-4D97-AF65-F5344CB8AC3E}">
        <p14:creationId xmlns:p14="http://schemas.microsoft.com/office/powerpoint/2010/main" val="273502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2841FC2D-C8F3-6843-B7C7-0E6963E0134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22E6C1CB-7017-D84A-BE21-C9D573C3E8D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308473AB-062D-DB43-9B44-5402C4354EC1}"/>
              </a:ext>
            </a:extLst>
          </p:cNvPr>
          <p:cNvSpPr>
            <a:spLocks noGrp="1" noChangeArrowheads="1"/>
          </p:cNvSpPr>
          <p:nvPr>
            <p:ph type="sldNum" sz="quarter" idx="12"/>
          </p:nvPr>
        </p:nvSpPr>
        <p:spPr>
          <a:ln/>
        </p:spPr>
        <p:txBody>
          <a:bodyPr/>
          <a:lstStyle>
            <a:lvl1pPr>
              <a:defRPr/>
            </a:lvl1pPr>
          </a:lstStyle>
          <a:p>
            <a:pPr>
              <a:defRPr/>
            </a:pPr>
            <a:fld id="{CC520730-7009-DF44-B4C7-D0A67FBBE574}" type="slidenum">
              <a:rPr lang="en-US" altLang="zh-CN"/>
              <a:pPr>
                <a:defRPr/>
              </a:pPr>
              <a:t>‹#›</a:t>
            </a:fld>
            <a:endParaRPr lang="en-US" altLang="zh-CN"/>
          </a:p>
        </p:txBody>
      </p:sp>
    </p:spTree>
    <p:extLst>
      <p:ext uri="{BB962C8B-B14F-4D97-AF65-F5344CB8AC3E}">
        <p14:creationId xmlns:p14="http://schemas.microsoft.com/office/powerpoint/2010/main" val="1537762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EFD061BA-4872-D645-B430-04616BA8775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E1CDEBF6-7116-1546-8196-E5B6679232C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F77F4185-3A23-8543-BFD1-BCB889A16C47}"/>
              </a:ext>
            </a:extLst>
          </p:cNvPr>
          <p:cNvSpPr>
            <a:spLocks noGrp="1" noChangeArrowheads="1"/>
          </p:cNvSpPr>
          <p:nvPr>
            <p:ph type="sldNum" sz="quarter" idx="12"/>
          </p:nvPr>
        </p:nvSpPr>
        <p:spPr>
          <a:ln/>
        </p:spPr>
        <p:txBody>
          <a:bodyPr/>
          <a:lstStyle>
            <a:lvl1pPr>
              <a:defRPr/>
            </a:lvl1pPr>
          </a:lstStyle>
          <a:p>
            <a:pPr>
              <a:defRPr/>
            </a:pPr>
            <a:fld id="{36AC23D0-FF43-6B45-9609-2B85BCF9EFAB}" type="slidenum">
              <a:rPr lang="en-US" altLang="zh-CN"/>
              <a:pPr>
                <a:defRPr/>
              </a:pPr>
              <a:t>‹#›</a:t>
            </a:fld>
            <a:endParaRPr lang="en-US" altLang="zh-CN"/>
          </a:p>
        </p:txBody>
      </p:sp>
    </p:spTree>
    <p:extLst>
      <p:ext uri="{BB962C8B-B14F-4D97-AF65-F5344CB8AC3E}">
        <p14:creationId xmlns:p14="http://schemas.microsoft.com/office/powerpoint/2010/main" val="4256360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1C19A517-2238-5942-9BCF-62935E152D3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510508D6-0ECE-8742-BBB7-D477D926ACA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EFEE51EE-AE19-034B-A2F8-7C8661410DA6}"/>
              </a:ext>
            </a:extLst>
          </p:cNvPr>
          <p:cNvSpPr>
            <a:spLocks noGrp="1" noChangeArrowheads="1"/>
          </p:cNvSpPr>
          <p:nvPr>
            <p:ph type="sldNum" sz="quarter" idx="12"/>
          </p:nvPr>
        </p:nvSpPr>
        <p:spPr>
          <a:ln/>
        </p:spPr>
        <p:txBody>
          <a:bodyPr/>
          <a:lstStyle>
            <a:lvl1pPr>
              <a:defRPr/>
            </a:lvl1pPr>
          </a:lstStyle>
          <a:p>
            <a:pPr>
              <a:defRPr/>
            </a:pPr>
            <a:fld id="{DB5D8AB4-E1D2-B241-A29F-793864FE9591}" type="slidenum">
              <a:rPr lang="en-US" altLang="zh-CN"/>
              <a:pPr>
                <a:defRPr/>
              </a:pPr>
              <a:t>‹#›</a:t>
            </a:fld>
            <a:endParaRPr lang="en-US" altLang="zh-CN"/>
          </a:p>
        </p:txBody>
      </p:sp>
    </p:spTree>
    <p:extLst>
      <p:ext uri="{BB962C8B-B14F-4D97-AF65-F5344CB8AC3E}">
        <p14:creationId xmlns:p14="http://schemas.microsoft.com/office/powerpoint/2010/main" val="2260737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FA52A00-686C-6D49-986D-7EF9FB5436D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75C3EB12-D2D1-844A-A968-9673DAF53FF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617DD54D-5744-9F44-8C07-5001EB12C919}"/>
              </a:ext>
            </a:extLst>
          </p:cNvPr>
          <p:cNvSpPr>
            <a:spLocks noGrp="1" noChangeArrowheads="1"/>
          </p:cNvSpPr>
          <p:nvPr>
            <p:ph type="sldNum" sz="quarter" idx="12"/>
          </p:nvPr>
        </p:nvSpPr>
        <p:spPr>
          <a:ln/>
        </p:spPr>
        <p:txBody>
          <a:bodyPr/>
          <a:lstStyle>
            <a:lvl1pPr>
              <a:defRPr/>
            </a:lvl1pPr>
          </a:lstStyle>
          <a:p>
            <a:pPr>
              <a:defRPr/>
            </a:pPr>
            <a:fld id="{10BEC192-02FB-D14A-B148-C7A100FC9CFA}" type="slidenum">
              <a:rPr lang="en-US" altLang="zh-CN"/>
              <a:pPr>
                <a:defRPr/>
              </a:pPr>
              <a:t>‹#›</a:t>
            </a:fld>
            <a:endParaRPr lang="en-US" altLang="zh-CN"/>
          </a:p>
        </p:txBody>
      </p:sp>
    </p:spTree>
    <p:extLst>
      <p:ext uri="{BB962C8B-B14F-4D97-AF65-F5344CB8AC3E}">
        <p14:creationId xmlns:p14="http://schemas.microsoft.com/office/powerpoint/2010/main" val="1085961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BBC04AB0-EDCD-2341-9FFA-3CC908CFC21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8EA22E31-6E8F-4049-B127-0C70880D0D3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58827735-7991-3B41-AD0A-A7AA1957DEE4}"/>
              </a:ext>
            </a:extLst>
          </p:cNvPr>
          <p:cNvSpPr>
            <a:spLocks noGrp="1" noChangeArrowheads="1"/>
          </p:cNvSpPr>
          <p:nvPr>
            <p:ph type="sldNum" sz="quarter" idx="12"/>
          </p:nvPr>
        </p:nvSpPr>
        <p:spPr>
          <a:ln/>
        </p:spPr>
        <p:txBody>
          <a:bodyPr/>
          <a:lstStyle>
            <a:lvl1pPr>
              <a:defRPr/>
            </a:lvl1pPr>
          </a:lstStyle>
          <a:p>
            <a:pPr>
              <a:defRPr/>
            </a:pPr>
            <a:fld id="{AE9A86D9-832D-074A-B38D-578BCF43527D}" type="slidenum">
              <a:rPr lang="en-US" altLang="zh-CN"/>
              <a:pPr>
                <a:defRPr/>
              </a:pPr>
              <a:t>‹#›</a:t>
            </a:fld>
            <a:endParaRPr lang="en-US" altLang="zh-CN"/>
          </a:p>
        </p:txBody>
      </p:sp>
    </p:spTree>
    <p:extLst>
      <p:ext uri="{BB962C8B-B14F-4D97-AF65-F5344CB8AC3E}">
        <p14:creationId xmlns:p14="http://schemas.microsoft.com/office/powerpoint/2010/main" val="118104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4B8AC86A-035B-2343-8F17-87B61C02982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41B169AD-A5B5-7D48-BC40-F5BEFFB83AD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C874ED19-471D-3A4D-B322-4B5CE8CFFBDF}"/>
              </a:ext>
            </a:extLst>
          </p:cNvPr>
          <p:cNvSpPr>
            <a:spLocks noGrp="1" noChangeArrowheads="1"/>
          </p:cNvSpPr>
          <p:nvPr>
            <p:ph type="sldNum" sz="quarter" idx="12"/>
          </p:nvPr>
        </p:nvSpPr>
        <p:spPr>
          <a:ln/>
        </p:spPr>
        <p:txBody>
          <a:bodyPr/>
          <a:lstStyle>
            <a:lvl1pPr>
              <a:defRPr/>
            </a:lvl1pPr>
          </a:lstStyle>
          <a:p>
            <a:pPr>
              <a:defRPr/>
            </a:pPr>
            <a:fld id="{97511AD5-2334-4045-967C-E6822A42C0BC}" type="slidenum">
              <a:rPr lang="en-US" altLang="zh-CN"/>
              <a:pPr>
                <a:defRPr/>
              </a:pPr>
              <a:t>‹#›</a:t>
            </a:fld>
            <a:endParaRPr lang="en-US" altLang="zh-CN"/>
          </a:p>
        </p:txBody>
      </p:sp>
    </p:spTree>
    <p:extLst>
      <p:ext uri="{BB962C8B-B14F-4D97-AF65-F5344CB8AC3E}">
        <p14:creationId xmlns:p14="http://schemas.microsoft.com/office/powerpoint/2010/main" val="4011113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F22C99DB-D541-E847-8CC0-8EB5CCA2C86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E640A6D-A758-8A45-9465-248341173F9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BF37DCB-B08C-FD4D-9FB9-E3AC73A95363}"/>
              </a:ext>
            </a:extLst>
          </p:cNvPr>
          <p:cNvSpPr>
            <a:spLocks noGrp="1" noChangeArrowheads="1"/>
          </p:cNvSpPr>
          <p:nvPr>
            <p:ph type="sldNum" sz="quarter" idx="12"/>
          </p:nvPr>
        </p:nvSpPr>
        <p:spPr>
          <a:ln/>
        </p:spPr>
        <p:txBody>
          <a:bodyPr/>
          <a:lstStyle>
            <a:lvl1pPr>
              <a:defRPr/>
            </a:lvl1pPr>
          </a:lstStyle>
          <a:p>
            <a:pPr>
              <a:defRPr/>
            </a:pPr>
            <a:fld id="{68F76607-6B67-EE4E-962D-419CDA9BBC6F}" type="slidenum">
              <a:rPr lang="en-US" altLang="zh-CN"/>
              <a:pPr>
                <a:defRPr/>
              </a:pPr>
              <a:t>‹#›</a:t>
            </a:fld>
            <a:endParaRPr lang="en-US" altLang="zh-CN"/>
          </a:p>
        </p:txBody>
      </p:sp>
    </p:spTree>
    <p:extLst>
      <p:ext uri="{BB962C8B-B14F-4D97-AF65-F5344CB8AC3E}">
        <p14:creationId xmlns:p14="http://schemas.microsoft.com/office/powerpoint/2010/main" val="3238489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6934D2F-7E4E-B144-B079-9AD14FAF37B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F9A7BAD5-E5FB-1048-83C7-1D5C6A8A570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F73DC053-DEFD-E14A-9257-4C444282B6C3}"/>
              </a:ext>
            </a:extLst>
          </p:cNvPr>
          <p:cNvSpPr>
            <a:spLocks noGrp="1" noChangeArrowheads="1"/>
          </p:cNvSpPr>
          <p:nvPr>
            <p:ph type="sldNum" sz="quarter" idx="12"/>
          </p:nvPr>
        </p:nvSpPr>
        <p:spPr>
          <a:ln/>
        </p:spPr>
        <p:txBody>
          <a:bodyPr/>
          <a:lstStyle>
            <a:lvl1pPr>
              <a:defRPr/>
            </a:lvl1pPr>
          </a:lstStyle>
          <a:p>
            <a:pPr>
              <a:defRPr/>
            </a:pPr>
            <a:fld id="{BA1B62C3-618F-6047-845B-70B4695B90C3}" type="slidenum">
              <a:rPr lang="en-US" altLang="zh-CN"/>
              <a:pPr>
                <a:defRPr/>
              </a:pPr>
              <a:t>‹#›</a:t>
            </a:fld>
            <a:endParaRPr lang="en-US" altLang="zh-CN"/>
          </a:p>
        </p:txBody>
      </p:sp>
    </p:spTree>
    <p:extLst>
      <p:ext uri="{BB962C8B-B14F-4D97-AF65-F5344CB8AC3E}">
        <p14:creationId xmlns:p14="http://schemas.microsoft.com/office/powerpoint/2010/main" val="11037143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228600"/>
            <a:ext cx="854075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301625" y="1600200"/>
            <a:ext cx="4194175"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194175" cy="4498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38AC39C-F9C9-D04A-9BA1-53D2B09A8EA3}"/>
              </a:ext>
            </a:extLst>
          </p:cNvPr>
          <p:cNvSpPr>
            <a:spLocks noGrp="1"/>
          </p:cNvSpPr>
          <p:nvPr>
            <p:ph type="dt" sz="half" idx="10"/>
          </p:nvPr>
        </p:nvSpPr>
        <p:spPr>
          <a:xfrm>
            <a:off x="301625" y="6245225"/>
            <a:ext cx="2289175" cy="476250"/>
          </a:xfrm>
        </p:spPr>
        <p:txBody>
          <a:bodyPr/>
          <a:lstStyle>
            <a:lvl1pPr>
              <a:defRPr/>
            </a:lvl1pPr>
          </a:lstStyle>
          <a:p>
            <a:pPr>
              <a:defRPr/>
            </a:pPr>
            <a:endParaRPr lang="en-US" altLang="zh-CN"/>
          </a:p>
        </p:txBody>
      </p:sp>
      <p:sp>
        <p:nvSpPr>
          <p:cNvPr id="6" name="页脚占位符 5">
            <a:extLst>
              <a:ext uri="{FF2B5EF4-FFF2-40B4-BE49-F238E27FC236}">
                <a16:creationId xmlns:a16="http://schemas.microsoft.com/office/drawing/2014/main" id="{2AAC6341-81FB-6C4C-8DA8-FB237D788B9C}"/>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6">
            <a:extLst>
              <a:ext uri="{FF2B5EF4-FFF2-40B4-BE49-F238E27FC236}">
                <a16:creationId xmlns:a16="http://schemas.microsoft.com/office/drawing/2014/main" id="{709D6162-5225-6E46-9D41-FF95C23F4FFF}"/>
              </a:ext>
            </a:extLst>
          </p:cNvPr>
          <p:cNvSpPr>
            <a:spLocks noGrp="1"/>
          </p:cNvSpPr>
          <p:nvPr>
            <p:ph type="sldNum" sz="quarter" idx="12"/>
          </p:nvPr>
        </p:nvSpPr>
        <p:spPr>
          <a:xfrm>
            <a:off x="6553200" y="6245225"/>
            <a:ext cx="2289175" cy="476250"/>
          </a:xfrm>
        </p:spPr>
        <p:txBody>
          <a:bodyPr/>
          <a:lstStyle>
            <a:lvl1pPr>
              <a:defRPr/>
            </a:lvl1pPr>
          </a:lstStyle>
          <a:p>
            <a:pPr>
              <a:defRPr/>
            </a:pPr>
            <a:fld id="{8C4183E4-F6EA-EC4C-BC66-C1EC6201C85E}" type="slidenum">
              <a:rPr lang="en-US" altLang="zh-CN"/>
              <a:pPr>
                <a:defRPr/>
              </a:pPr>
              <a:t>‹#›</a:t>
            </a:fld>
            <a:endParaRPr lang="en-US" altLang="zh-CN"/>
          </a:p>
        </p:txBody>
      </p:sp>
    </p:spTree>
    <p:extLst>
      <p:ext uri="{BB962C8B-B14F-4D97-AF65-F5344CB8AC3E}">
        <p14:creationId xmlns:p14="http://schemas.microsoft.com/office/powerpoint/2010/main" val="1137794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44395BB-E11C-4143-8EF1-6C058025A753}"/>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CD34B72C-F933-174E-905E-4DD58581F779}"/>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第五级软件工程</a:t>
            </a:r>
          </a:p>
          <a:p>
            <a:pPr lvl="4"/>
            <a:endParaRPr lang="zh-CN" altLang="en-US"/>
          </a:p>
        </p:txBody>
      </p:sp>
      <p:sp>
        <p:nvSpPr>
          <p:cNvPr id="1028" name="Rectangle 4">
            <a:extLst>
              <a:ext uri="{FF2B5EF4-FFF2-40B4-BE49-F238E27FC236}">
                <a16:creationId xmlns:a16="http://schemas.microsoft.com/office/drawing/2014/main" id="{908E2F3B-24B8-D342-B75A-06A01E7B922F}"/>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宋体" charset="-122"/>
              </a:defRPr>
            </a:lvl1pPr>
          </a:lstStyle>
          <a:p>
            <a:pPr>
              <a:defRPr/>
            </a:pPr>
            <a:endParaRPr lang="en-US" altLang="zh-CN"/>
          </a:p>
        </p:txBody>
      </p:sp>
      <p:sp>
        <p:nvSpPr>
          <p:cNvPr id="1029" name="Rectangle 5">
            <a:extLst>
              <a:ext uri="{FF2B5EF4-FFF2-40B4-BE49-F238E27FC236}">
                <a16:creationId xmlns:a16="http://schemas.microsoft.com/office/drawing/2014/main" id="{877330AC-DC6D-134F-8824-A66DB67F2403}"/>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宋体" charset="-122"/>
              </a:defRPr>
            </a:lvl1pPr>
          </a:lstStyle>
          <a:p>
            <a:pPr>
              <a:defRPr/>
            </a:pPr>
            <a:endParaRPr lang="en-US" altLang="zh-CN"/>
          </a:p>
        </p:txBody>
      </p:sp>
      <p:sp>
        <p:nvSpPr>
          <p:cNvPr id="1030" name="Rectangle 6">
            <a:extLst>
              <a:ext uri="{FF2B5EF4-FFF2-40B4-BE49-F238E27FC236}">
                <a16:creationId xmlns:a16="http://schemas.microsoft.com/office/drawing/2014/main" id="{B3BBE325-4206-BC42-8FE1-4E7C247C1645}"/>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4CEA5B00-ACB1-C740-B0F0-46E10076794E}" type="slidenum">
              <a:rPr lang="en-US" altLang="zh-CN"/>
              <a:pPr>
                <a:defRPr/>
              </a:pPr>
              <a:t>‹#›</a:t>
            </a:fld>
            <a:endParaRPr lang="en-US" altLang="zh-CN"/>
          </a:p>
        </p:txBody>
      </p:sp>
      <p:sp>
        <p:nvSpPr>
          <p:cNvPr id="1031" name="TextBox 10">
            <a:extLst>
              <a:ext uri="{FF2B5EF4-FFF2-40B4-BE49-F238E27FC236}">
                <a16:creationId xmlns:a16="http://schemas.microsoft.com/office/drawing/2014/main" id="{04B39118-B10B-9D46-9E9F-F89F8D0C7C4F}"/>
              </a:ext>
            </a:extLst>
          </p:cNvPr>
          <p:cNvSpPr txBox="1">
            <a:spLocks noChangeArrowheads="1"/>
          </p:cNvSpPr>
          <p:nvPr/>
        </p:nvSpPr>
        <p:spPr bwMode="auto">
          <a:xfrm>
            <a:off x="7451725" y="188913"/>
            <a:ext cx="1296988" cy="368300"/>
          </a:xfrm>
          <a:prstGeom prst="rect">
            <a:avLst/>
          </a:prstGeom>
          <a:noFill/>
          <a:ln>
            <a:noFill/>
          </a:ln>
        </p:spPr>
        <p:txBody>
          <a:bodyPr>
            <a:spAutoFit/>
          </a:bodyPr>
          <a:lstStyle>
            <a:lvl1pPr>
              <a:defRPr>
                <a:solidFill>
                  <a:schemeClr val="tx1"/>
                </a:solidFill>
                <a:latin typeface="Arial" charset="0"/>
                <a:ea typeface="宋体" charset="0"/>
              </a:defRPr>
            </a:lvl1pPr>
            <a:lvl2pPr marL="742950" indent="-285750">
              <a:defRPr>
                <a:solidFill>
                  <a:schemeClr val="tx1"/>
                </a:solidFill>
                <a:latin typeface="Arial" charset="0"/>
                <a:ea typeface="宋体" charset="0"/>
              </a:defRPr>
            </a:lvl2pPr>
            <a:lvl3pPr marL="1143000" indent="-228600">
              <a:defRPr>
                <a:solidFill>
                  <a:schemeClr val="tx1"/>
                </a:solidFill>
                <a:latin typeface="Arial" charset="0"/>
                <a:ea typeface="宋体" charset="0"/>
              </a:defRPr>
            </a:lvl3pPr>
            <a:lvl4pPr marL="1600200" indent="-228600">
              <a:defRPr>
                <a:solidFill>
                  <a:schemeClr val="tx1"/>
                </a:solidFill>
                <a:latin typeface="Arial" charset="0"/>
                <a:ea typeface="宋体" charset="0"/>
              </a:defRPr>
            </a:lvl4pPr>
            <a:lvl5pPr marL="2057400" indent="-22860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defRPr/>
            </a:pPr>
            <a:r>
              <a:rPr lang="zh-CN" altLang="en-US">
                <a:solidFill>
                  <a:schemeClr val="bg1"/>
                </a:solidFill>
                <a:latin typeface="华文新魏" charset="0"/>
                <a:ea typeface="华文新魏" charset="0"/>
              </a:rPr>
              <a:t>软 件 工 程</a:t>
            </a:r>
          </a:p>
        </p:txBody>
      </p:sp>
    </p:spTree>
  </p:cSld>
  <p:clrMap bg1="lt1" tx1="dk1" bg2="lt2" tx2="dk2" accent1="accent1" accent2="accent2" accent3="accent3" accent4="accent4" accent5="accent5" accent6="accent6" hlink="hlink" folHlink="folHlink"/>
  <p:sldLayoutIdLst>
    <p:sldLayoutId id="2147483799"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80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eaLnBrk="1" fontAlgn="base" hangingPunct="1">
        <a:spcBef>
          <a:spcPct val="0"/>
        </a:spcBef>
        <a:spcAft>
          <a:spcPct val="0"/>
        </a:spcAft>
        <a:defRPr sz="4400">
          <a:solidFill>
            <a:schemeClr val="tx2"/>
          </a:solidFill>
          <a:latin typeface="Arial" charset="0"/>
          <a:ea typeface="宋体" charset="-122"/>
        </a:defRPr>
      </a:lvl6pPr>
      <a:lvl7pPr marL="914400" algn="ctr" rtl="0" eaLnBrk="1" fontAlgn="base" hangingPunct="1">
        <a:spcBef>
          <a:spcPct val="0"/>
        </a:spcBef>
        <a:spcAft>
          <a:spcPct val="0"/>
        </a:spcAft>
        <a:defRPr sz="4400">
          <a:solidFill>
            <a:schemeClr val="tx2"/>
          </a:solidFill>
          <a:latin typeface="Arial" charset="0"/>
          <a:ea typeface="宋体" charset="-122"/>
        </a:defRPr>
      </a:lvl7pPr>
      <a:lvl8pPr marL="1371600" algn="ctr" rtl="0" eaLnBrk="1" fontAlgn="base" hangingPunct="1">
        <a:spcBef>
          <a:spcPct val="0"/>
        </a:spcBef>
        <a:spcAft>
          <a:spcPct val="0"/>
        </a:spcAft>
        <a:defRPr sz="4400">
          <a:solidFill>
            <a:schemeClr val="tx2"/>
          </a:solidFill>
          <a:latin typeface="Arial" charset="0"/>
          <a:ea typeface="宋体" charset="-122"/>
        </a:defRPr>
      </a:lvl8pPr>
      <a:lvl9pPr marL="1828800" algn="ctr" rtl="0" eaLnBrk="1" fontAlgn="base" hangingPunct="1">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标题 3">
            <a:extLst>
              <a:ext uri="{FF2B5EF4-FFF2-40B4-BE49-F238E27FC236}">
                <a16:creationId xmlns:a16="http://schemas.microsoft.com/office/drawing/2014/main" id="{53371E16-D696-894A-9D39-27937127F315}"/>
              </a:ext>
            </a:extLst>
          </p:cNvPr>
          <p:cNvSpPr>
            <a:spLocks noGrp="1" noChangeArrowheads="1"/>
          </p:cNvSpPr>
          <p:nvPr>
            <p:ph type="ctrTitle"/>
          </p:nvPr>
        </p:nvSpPr>
        <p:spPr/>
        <p:txBody>
          <a:bodyPr/>
          <a:lstStyle/>
          <a:p>
            <a:pPr eaLnBrk="1" hangingPunct="1"/>
            <a:r>
              <a:rPr lang="zh-CN" altLang="en-US"/>
              <a:t>第</a:t>
            </a:r>
            <a:r>
              <a:rPr lang="en-US" altLang="zh-CN"/>
              <a:t>19</a:t>
            </a:r>
            <a:r>
              <a:rPr lang="zh-CN" altLang="en-US"/>
              <a:t>章 过程和项目度量</a:t>
            </a:r>
          </a:p>
        </p:txBody>
      </p:sp>
      <p:sp>
        <p:nvSpPr>
          <p:cNvPr id="15362" name="副标题 4">
            <a:extLst>
              <a:ext uri="{FF2B5EF4-FFF2-40B4-BE49-F238E27FC236}">
                <a16:creationId xmlns:a16="http://schemas.microsoft.com/office/drawing/2014/main" id="{89CA312C-4A52-684E-A48B-1A91061F70BA}"/>
              </a:ext>
            </a:extLst>
          </p:cNvPr>
          <p:cNvSpPr>
            <a:spLocks noGrp="1" noChangeArrowheads="1"/>
          </p:cNvSpPr>
          <p:nvPr>
            <p:ph type="subTitle" idx="1"/>
          </p:nvPr>
        </p:nvSpPr>
        <p:spPr/>
        <p:txBody>
          <a:bodyPr/>
          <a:lstStyle/>
          <a:p>
            <a:pPr eaLnBrk="1" hangingPunct="1"/>
            <a:r>
              <a:rPr lang="zh-CN" altLang="en-US" dirty="0"/>
              <a:t>吴清强</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CE30296-6641-4148-81E5-44B7F2C57D6E}"/>
              </a:ext>
            </a:extLst>
          </p:cNvPr>
          <p:cNvSpPr>
            <a:spLocks noGrp="1" noChangeArrowheads="1"/>
          </p:cNvSpPr>
          <p:nvPr>
            <p:ph idx="1"/>
          </p:nvPr>
        </p:nvSpPr>
        <p:spPr>
          <a:xfrm>
            <a:off x="468313" y="981075"/>
            <a:ext cx="8362950" cy="5073650"/>
          </a:xfrm>
        </p:spPr>
        <p:txBody>
          <a:bodyPr/>
          <a:lstStyle/>
          <a:p>
            <a:pPr eaLnBrk="1" hangingPunct="1"/>
            <a:r>
              <a:rPr lang="zh-CN" altLang="en-US">
                <a:solidFill>
                  <a:srgbClr val="FF0000"/>
                </a:solidFill>
              </a:rPr>
              <a:t>量化</a:t>
            </a:r>
            <a:r>
              <a:rPr lang="zh-CN" altLang="en-US"/>
              <a:t>是管理的一个重要手段和基础。</a:t>
            </a:r>
          </a:p>
          <a:p>
            <a:pPr eaLnBrk="1" hangingPunct="1"/>
            <a:r>
              <a:rPr lang="zh-CN" altLang="en-US"/>
              <a:t>只有通过量化，才能深刻</a:t>
            </a:r>
            <a:r>
              <a:rPr lang="zh-CN" altLang="en-US">
                <a:solidFill>
                  <a:srgbClr val="FF0000"/>
                </a:solidFill>
              </a:rPr>
              <a:t>了解</a:t>
            </a:r>
            <a:r>
              <a:rPr lang="zh-CN" altLang="en-US"/>
              <a:t>所研究的对象。</a:t>
            </a:r>
          </a:p>
          <a:p>
            <a:pPr eaLnBrk="1" hangingPunct="1"/>
            <a:r>
              <a:rPr lang="zh-CN" altLang="en-US">
                <a:solidFill>
                  <a:srgbClr val="FF0000"/>
                </a:solidFill>
              </a:rPr>
              <a:t>软件度量</a:t>
            </a:r>
            <a:r>
              <a:rPr lang="zh-CN" altLang="en-US"/>
              <a:t>是对收集到的原始数据，采用一些</a:t>
            </a:r>
            <a:r>
              <a:rPr lang="zh-CN" altLang="en-US">
                <a:solidFill>
                  <a:srgbClr val="FF0000"/>
                </a:solidFill>
              </a:rPr>
              <a:t>数学</a:t>
            </a:r>
            <a:r>
              <a:rPr lang="zh-CN" altLang="en-US"/>
              <a:t>函数来计算，以测量过程、项目、产品的性能。</a:t>
            </a:r>
          </a:p>
          <a:p>
            <a:pPr eaLnBrk="1" hangingPunct="1"/>
            <a:r>
              <a:rPr lang="zh-CN" altLang="en-US"/>
              <a:t>度量范围分为：过程度量和项目度量。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a:extLst>
              <a:ext uri="{FF2B5EF4-FFF2-40B4-BE49-F238E27FC236}">
                <a16:creationId xmlns:a16="http://schemas.microsoft.com/office/drawing/2014/main" id="{27AA1EA3-E370-004C-8595-D93992FA47ED}"/>
              </a:ext>
            </a:extLst>
          </p:cNvPr>
          <p:cNvSpPr>
            <a:spLocks noGrp="1" noChangeArrowheads="1"/>
          </p:cNvSpPr>
          <p:nvPr>
            <p:ph type="title"/>
          </p:nvPr>
        </p:nvSpPr>
        <p:spPr/>
        <p:txBody>
          <a:bodyPr/>
          <a:lstStyle/>
          <a:p>
            <a:pPr eaLnBrk="1" hangingPunct="1"/>
            <a:r>
              <a:rPr lang="hr-HR" altLang="zh-CN" sz="4000"/>
              <a:t>19.</a:t>
            </a:r>
            <a:r>
              <a:rPr lang="en-US" altLang="zh-CN" sz="4000"/>
              <a:t>1 </a:t>
            </a:r>
            <a:r>
              <a:rPr lang="zh-CN" altLang="en-US" sz="4000"/>
              <a:t>过程领域和项目领域中的度量</a:t>
            </a:r>
          </a:p>
        </p:txBody>
      </p:sp>
      <p:sp>
        <p:nvSpPr>
          <p:cNvPr id="3" name="内容占位符 2">
            <a:extLst>
              <a:ext uri="{FF2B5EF4-FFF2-40B4-BE49-F238E27FC236}">
                <a16:creationId xmlns:a16="http://schemas.microsoft.com/office/drawing/2014/main" id="{494D00CF-A1FC-3B47-8464-49A845E0283E}"/>
              </a:ext>
            </a:extLst>
          </p:cNvPr>
          <p:cNvSpPr>
            <a:spLocks noGrp="1" noChangeArrowheads="1"/>
          </p:cNvSpPr>
          <p:nvPr>
            <p:ph idx="1"/>
          </p:nvPr>
        </p:nvSpPr>
        <p:spPr/>
        <p:txBody>
          <a:bodyPr/>
          <a:lstStyle/>
          <a:p>
            <a:pPr eaLnBrk="1" hangingPunct="1">
              <a:lnSpc>
                <a:spcPts val="4000"/>
              </a:lnSpc>
            </a:pPr>
            <a:r>
              <a:rPr lang="zh-CN" altLang="en-US">
                <a:solidFill>
                  <a:srgbClr val="FF0000"/>
                </a:solidFill>
              </a:rPr>
              <a:t>过程度量</a:t>
            </a:r>
            <a:endParaRPr lang="en-US" altLang="zh-CN">
              <a:solidFill>
                <a:srgbClr val="FF0000"/>
              </a:solidFill>
            </a:endParaRPr>
          </a:p>
          <a:p>
            <a:pPr lvl="1" eaLnBrk="1" hangingPunct="1">
              <a:lnSpc>
                <a:spcPts val="4000"/>
              </a:lnSpc>
            </a:pPr>
            <a:r>
              <a:rPr lang="zh-CN" altLang="en-US"/>
              <a:t>搜集涉及所有的项目，历时长，得到能够导致长期的软件过程改善的指标，目的是</a:t>
            </a:r>
            <a:r>
              <a:rPr lang="zh-CN" altLang="en-US">
                <a:solidFill>
                  <a:srgbClr val="0070C0"/>
                </a:solidFill>
              </a:rPr>
              <a:t>改善过程</a:t>
            </a:r>
            <a:r>
              <a:rPr lang="zh-CN" altLang="en-US"/>
              <a:t>。</a:t>
            </a:r>
            <a:endParaRPr lang="en-US" altLang="zh-CN"/>
          </a:p>
          <a:p>
            <a:pPr eaLnBrk="1" hangingPunct="1">
              <a:lnSpc>
                <a:spcPts val="4000"/>
              </a:lnSpc>
            </a:pPr>
            <a:r>
              <a:rPr lang="zh-CN" altLang="en-US">
                <a:solidFill>
                  <a:srgbClr val="FF0000"/>
                </a:solidFill>
              </a:rPr>
              <a:t>项目度量</a:t>
            </a:r>
            <a:r>
              <a:rPr lang="zh-CN" altLang="en-US"/>
              <a:t>使软件项目管理者能够：</a:t>
            </a:r>
            <a:endParaRPr lang="en-US" altLang="zh-CN"/>
          </a:p>
          <a:p>
            <a:pPr lvl="1" eaLnBrk="1" hangingPunct="1">
              <a:lnSpc>
                <a:spcPts val="4000"/>
              </a:lnSpc>
            </a:pPr>
            <a:r>
              <a:rPr lang="zh-CN" altLang="en-US"/>
              <a:t>评估</a:t>
            </a:r>
            <a:r>
              <a:rPr lang="zh-CN" altLang="en-US">
                <a:solidFill>
                  <a:srgbClr val="00B050"/>
                </a:solidFill>
              </a:rPr>
              <a:t>正在进行的项目</a:t>
            </a:r>
            <a:r>
              <a:rPr lang="zh-CN" altLang="en-US"/>
              <a:t>的</a:t>
            </a:r>
            <a:r>
              <a:rPr lang="zh-CN" altLang="en-US">
                <a:solidFill>
                  <a:srgbClr val="0070C0"/>
                </a:solidFill>
              </a:rPr>
              <a:t>状态</a:t>
            </a:r>
            <a:r>
              <a:rPr lang="zh-CN" altLang="en-US"/>
              <a:t>；跟踪潜在的</a:t>
            </a:r>
            <a:r>
              <a:rPr lang="zh-CN" altLang="en-US">
                <a:solidFill>
                  <a:srgbClr val="0070C0"/>
                </a:solidFill>
              </a:rPr>
              <a:t>风险</a:t>
            </a:r>
            <a:r>
              <a:rPr lang="zh-CN" altLang="en-US"/>
              <a:t>；在问题造成不良影响之前发现他们；</a:t>
            </a:r>
            <a:r>
              <a:rPr lang="zh-CN" altLang="en-US">
                <a:solidFill>
                  <a:srgbClr val="0070C0"/>
                </a:solidFill>
              </a:rPr>
              <a:t>调整</a:t>
            </a:r>
            <a:r>
              <a:rPr lang="zh-CN" altLang="en-US"/>
              <a:t>工作流程或任务；</a:t>
            </a:r>
            <a:r>
              <a:rPr lang="zh-CN" altLang="en-US">
                <a:solidFill>
                  <a:srgbClr val="0070C0"/>
                </a:solidFill>
              </a:rPr>
              <a:t>评估</a:t>
            </a:r>
            <a:r>
              <a:rPr lang="zh-CN" altLang="en-US"/>
              <a:t>项目团队控制软件工作产品质量的能力</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linds(horizontal)">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Oval 6">
            <a:extLst>
              <a:ext uri="{FF2B5EF4-FFF2-40B4-BE49-F238E27FC236}">
                <a16:creationId xmlns:a16="http://schemas.microsoft.com/office/drawing/2014/main" id="{0A5745C2-09DD-3C43-8174-3B8372B573C0}"/>
              </a:ext>
            </a:extLst>
          </p:cNvPr>
          <p:cNvSpPr>
            <a:spLocks noChangeArrowheads="1"/>
          </p:cNvSpPr>
          <p:nvPr/>
        </p:nvSpPr>
        <p:spPr bwMode="auto">
          <a:xfrm>
            <a:off x="2743200" y="1438275"/>
            <a:ext cx="4102100" cy="41021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endParaRPr lang="zh-CN" altLang="en-US" sz="1800"/>
          </a:p>
        </p:txBody>
      </p:sp>
      <p:sp>
        <p:nvSpPr>
          <p:cNvPr id="18434" name="AutoShape 7">
            <a:extLst>
              <a:ext uri="{FF2B5EF4-FFF2-40B4-BE49-F238E27FC236}">
                <a16:creationId xmlns:a16="http://schemas.microsoft.com/office/drawing/2014/main" id="{3EBCF161-A8F9-0840-A602-FA0B7E4EE8A0}"/>
              </a:ext>
            </a:extLst>
          </p:cNvPr>
          <p:cNvSpPr>
            <a:spLocks noChangeArrowheads="1"/>
          </p:cNvSpPr>
          <p:nvPr/>
        </p:nvSpPr>
        <p:spPr bwMode="auto">
          <a:xfrm>
            <a:off x="3048000" y="1514475"/>
            <a:ext cx="3429000" cy="2965450"/>
          </a:xfrm>
          <a:prstGeom prst="triangle">
            <a:avLst>
              <a:gd name="adj" fmla="val 50000"/>
            </a:avLst>
          </a:prstGeom>
          <a:solidFill>
            <a:srgbClr val="00CCFF"/>
          </a:solidFill>
          <a:ln w="9525">
            <a:solidFill>
              <a:schemeClr val="tx1"/>
            </a:solidFill>
            <a:miter lim="800000"/>
            <a:headEnd/>
            <a:tailEnd/>
          </a:ln>
        </p:spPr>
        <p:txBody>
          <a:bodyPr wrap="none" anchor="ct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endParaRPr lang="zh-CN" altLang="en-US" sz="1800"/>
          </a:p>
        </p:txBody>
      </p:sp>
      <p:sp>
        <p:nvSpPr>
          <p:cNvPr id="18435" name="Text Box 8">
            <a:extLst>
              <a:ext uri="{FF2B5EF4-FFF2-40B4-BE49-F238E27FC236}">
                <a16:creationId xmlns:a16="http://schemas.microsoft.com/office/drawing/2014/main" id="{36C27C69-4B27-6F4C-B3CA-925D0FA9E20C}"/>
              </a:ext>
            </a:extLst>
          </p:cNvPr>
          <p:cNvSpPr txBox="1">
            <a:spLocks noChangeArrowheads="1"/>
          </p:cNvSpPr>
          <p:nvPr/>
        </p:nvSpPr>
        <p:spPr bwMode="auto">
          <a:xfrm>
            <a:off x="4343400" y="3038475"/>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400" b="1">
                <a:solidFill>
                  <a:srgbClr val="000000"/>
                </a:solidFill>
              </a:rPr>
              <a:t>过程</a:t>
            </a:r>
          </a:p>
        </p:txBody>
      </p:sp>
      <p:sp>
        <p:nvSpPr>
          <p:cNvPr id="18436" name="Text Box 9">
            <a:extLst>
              <a:ext uri="{FF2B5EF4-FFF2-40B4-BE49-F238E27FC236}">
                <a16:creationId xmlns:a16="http://schemas.microsoft.com/office/drawing/2014/main" id="{4F088AA0-1BEE-DF48-ADBF-B8D2880086CF}"/>
              </a:ext>
            </a:extLst>
          </p:cNvPr>
          <p:cNvSpPr txBox="1">
            <a:spLocks noChangeArrowheads="1"/>
          </p:cNvSpPr>
          <p:nvPr/>
        </p:nvSpPr>
        <p:spPr bwMode="auto">
          <a:xfrm>
            <a:off x="1676400" y="1971675"/>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400" b="1"/>
              <a:t>客户特征</a:t>
            </a:r>
          </a:p>
        </p:txBody>
      </p:sp>
      <p:sp>
        <p:nvSpPr>
          <p:cNvPr id="18437" name="Text Box 10">
            <a:extLst>
              <a:ext uri="{FF2B5EF4-FFF2-40B4-BE49-F238E27FC236}">
                <a16:creationId xmlns:a16="http://schemas.microsoft.com/office/drawing/2014/main" id="{B1519EE6-B436-1F4B-8B9E-19E8904FA8B3}"/>
              </a:ext>
            </a:extLst>
          </p:cNvPr>
          <p:cNvSpPr txBox="1">
            <a:spLocks noChangeArrowheads="1"/>
          </p:cNvSpPr>
          <p:nvPr/>
        </p:nvSpPr>
        <p:spPr bwMode="auto">
          <a:xfrm>
            <a:off x="6300788" y="1989138"/>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400" b="1"/>
              <a:t>商业条件</a:t>
            </a:r>
          </a:p>
        </p:txBody>
      </p:sp>
      <p:sp>
        <p:nvSpPr>
          <p:cNvPr id="18438" name="Text Box 11">
            <a:extLst>
              <a:ext uri="{FF2B5EF4-FFF2-40B4-BE49-F238E27FC236}">
                <a16:creationId xmlns:a16="http://schemas.microsoft.com/office/drawing/2014/main" id="{D669F900-2607-F34D-B191-0C44F3D23BB5}"/>
              </a:ext>
            </a:extLst>
          </p:cNvPr>
          <p:cNvSpPr txBox="1">
            <a:spLocks noChangeArrowheads="1"/>
          </p:cNvSpPr>
          <p:nvPr/>
        </p:nvSpPr>
        <p:spPr bwMode="auto">
          <a:xfrm>
            <a:off x="4495800" y="981075"/>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400" b="1"/>
              <a:t>产品</a:t>
            </a:r>
          </a:p>
        </p:txBody>
      </p:sp>
      <p:sp>
        <p:nvSpPr>
          <p:cNvPr id="18439" name="Text Box 12">
            <a:extLst>
              <a:ext uri="{FF2B5EF4-FFF2-40B4-BE49-F238E27FC236}">
                <a16:creationId xmlns:a16="http://schemas.microsoft.com/office/drawing/2014/main" id="{4A42B8CB-15A5-5841-9F1A-D7B9870B9F52}"/>
              </a:ext>
            </a:extLst>
          </p:cNvPr>
          <p:cNvSpPr txBox="1">
            <a:spLocks noChangeArrowheads="1"/>
          </p:cNvSpPr>
          <p:nvPr/>
        </p:nvSpPr>
        <p:spPr bwMode="auto">
          <a:xfrm>
            <a:off x="6553200" y="4181475"/>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400" b="1"/>
              <a:t>技术</a:t>
            </a:r>
          </a:p>
        </p:txBody>
      </p:sp>
      <p:sp>
        <p:nvSpPr>
          <p:cNvPr id="18440" name="Text Box 13">
            <a:extLst>
              <a:ext uri="{FF2B5EF4-FFF2-40B4-BE49-F238E27FC236}">
                <a16:creationId xmlns:a16="http://schemas.microsoft.com/office/drawing/2014/main" id="{26CBF961-7A6F-024B-B98D-B10B55C37FB6}"/>
              </a:ext>
            </a:extLst>
          </p:cNvPr>
          <p:cNvSpPr txBox="1">
            <a:spLocks noChangeArrowheads="1"/>
          </p:cNvSpPr>
          <p:nvPr/>
        </p:nvSpPr>
        <p:spPr bwMode="auto">
          <a:xfrm>
            <a:off x="2057400" y="4257675"/>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400" b="1"/>
              <a:t>人员</a:t>
            </a:r>
          </a:p>
        </p:txBody>
      </p:sp>
      <p:sp>
        <p:nvSpPr>
          <p:cNvPr id="18441" name="Text Box 14">
            <a:extLst>
              <a:ext uri="{FF2B5EF4-FFF2-40B4-BE49-F238E27FC236}">
                <a16:creationId xmlns:a16="http://schemas.microsoft.com/office/drawing/2014/main" id="{C32B87D0-9F10-684B-9F19-5FBACD9A9607}"/>
              </a:ext>
            </a:extLst>
          </p:cNvPr>
          <p:cNvSpPr txBox="1">
            <a:spLocks noChangeArrowheads="1"/>
          </p:cNvSpPr>
          <p:nvPr/>
        </p:nvSpPr>
        <p:spPr bwMode="auto">
          <a:xfrm>
            <a:off x="4419600" y="4562475"/>
            <a:ext cx="838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400" b="1"/>
              <a:t>开发环境</a:t>
            </a:r>
          </a:p>
        </p:txBody>
      </p:sp>
      <p:sp>
        <p:nvSpPr>
          <p:cNvPr id="18442" name="Rectangle 16">
            <a:extLst>
              <a:ext uri="{FF2B5EF4-FFF2-40B4-BE49-F238E27FC236}">
                <a16:creationId xmlns:a16="http://schemas.microsoft.com/office/drawing/2014/main" id="{6796F365-C87D-224D-B0FF-DDC115EFE499}"/>
              </a:ext>
            </a:extLst>
          </p:cNvPr>
          <p:cNvSpPr>
            <a:spLocks noGrp="1" noChangeArrowheads="1"/>
          </p:cNvSpPr>
          <p:nvPr>
            <p:ph type="title"/>
          </p:nvPr>
        </p:nvSpPr>
        <p:spPr>
          <a:xfrm>
            <a:off x="468313" y="5715000"/>
            <a:ext cx="8229600" cy="1143000"/>
          </a:xfrm>
        </p:spPr>
        <p:txBody>
          <a:bodyPr/>
          <a:lstStyle/>
          <a:p>
            <a:pPr eaLnBrk="1" hangingPunct="1"/>
            <a:r>
              <a:rPr lang="zh-CN" altLang="en-US" sz="2800" b="1">
                <a:solidFill>
                  <a:schemeClr val="tx1"/>
                </a:solidFill>
              </a:rPr>
              <a:t>图  软件质量和组织有效性的决定因素</a:t>
            </a:r>
          </a:p>
        </p:txBody>
      </p:sp>
      <p:sp>
        <p:nvSpPr>
          <p:cNvPr id="18443" name="标题 1">
            <a:extLst>
              <a:ext uri="{FF2B5EF4-FFF2-40B4-BE49-F238E27FC236}">
                <a16:creationId xmlns:a16="http://schemas.microsoft.com/office/drawing/2014/main" id="{EA19EDB7-5310-214F-91D3-1CFE0D2C60BE}"/>
              </a:ext>
            </a:extLst>
          </p:cNvPr>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hr-HR" altLang="zh-CN" sz="4400">
                <a:solidFill>
                  <a:schemeClr val="tx2"/>
                </a:solidFill>
              </a:rPr>
              <a:t>19.</a:t>
            </a:r>
            <a:r>
              <a:rPr lang="en-US" altLang="zh-CN" sz="4400">
                <a:solidFill>
                  <a:schemeClr val="tx2"/>
                </a:solidFill>
              </a:rPr>
              <a:t>1.1 </a:t>
            </a:r>
            <a:r>
              <a:rPr lang="zh-CN" altLang="en-US" sz="4400">
                <a:solidFill>
                  <a:schemeClr val="tx2"/>
                </a:solidFill>
              </a:rPr>
              <a:t>过程度量和软件过程改进</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a:extLst>
              <a:ext uri="{FF2B5EF4-FFF2-40B4-BE49-F238E27FC236}">
                <a16:creationId xmlns:a16="http://schemas.microsoft.com/office/drawing/2014/main" id="{9AFA2E20-F564-3C4C-BEE5-73347F019FBD}"/>
              </a:ext>
            </a:extLst>
          </p:cNvPr>
          <p:cNvSpPr>
            <a:spLocks noGrp="1" noChangeArrowheads="1"/>
          </p:cNvSpPr>
          <p:nvPr>
            <p:ph type="title"/>
          </p:nvPr>
        </p:nvSpPr>
        <p:spPr/>
        <p:txBody>
          <a:bodyPr/>
          <a:lstStyle/>
          <a:p>
            <a:pPr eaLnBrk="1" hangingPunct="1"/>
            <a:r>
              <a:rPr lang="zh-CN" altLang="en-US"/>
              <a:t>过程测量的方法</a:t>
            </a:r>
          </a:p>
        </p:txBody>
      </p:sp>
      <p:sp>
        <p:nvSpPr>
          <p:cNvPr id="19458" name="内容占位符 2">
            <a:extLst>
              <a:ext uri="{FF2B5EF4-FFF2-40B4-BE49-F238E27FC236}">
                <a16:creationId xmlns:a16="http://schemas.microsoft.com/office/drawing/2014/main" id="{6499C864-B611-F440-9B7B-BFA82D6D9829}"/>
              </a:ext>
            </a:extLst>
          </p:cNvPr>
          <p:cNvSpPr>
            <a:spLocks noGrp="1" noChangeArrowheads="1"/>
          </p:cNvSpPr>
          <p:nvPr>
            <p:ph idx="1"/>
          </p:nvPr>
        </p:nvSpPr>
        <p:spPr>
          <a:xfrm>
            <a:off x="179388" y="1600200"/>
            <a:ext cx="8686800" cy="4525963"/>
          </a:xfrm>
        </p:spPr>
        <p:txBody>
          <a:bodyPr/>
          <a:lstStyle/>
          <a:p>
            <a:pPr marL="609600" indent="-609600" eaLnBrk="1" hangingPunct="1">
              <a:lnSpc>
                <a:spcPts val="4000"/>
              </a:lnSpc>
            </a:pPr>
            <a:r>
              <a:rPr lang="zh-CN" altLang="en-US"/>
              <a:t>间接地测量一个软件过程的一些属性。包括：</a:t>
            </a:r>
          </a:p>
          <a:p>
            <a:pPr marL="1009650" lvl="1" indent="-609600" eaLnBrk="1" hangingPunct="1">
              <a:lnSpc>
                <a:spcPts val="4000"/>
              </a:lnSpc>
              <a:buFontTx/>
              <a:buAutoNum type="arabicPeriod"/>
            </a:pPr>
            <a:r>
              <a:rPr lang="zh-CN" altLang="en-US"/>
              <a:t>软件发布之前发现的错误数</a:t>
            </a:r>
          </a:p>
          <a:p>
            <a:pPr marL="1009650" lvl="1" indent="-609600" eaLnBrk="1" hangingPunct="1">
              <a:lnSpc>
                <a:spcPts val="4000"/>
              </a:lnSpc>
              <a:buFontTx/>
              <a:buAutoNum type="arabicPeriod"/>
            </a:pPr>
            <a:r>
              <a:rPr lang="zh-CN" altLang="en-US"/>
              <a:t>由最终用户报告的缺陷数</a:t>
            </a:r>
          </a:p>
          <a:p>
            <a:pPr marL="1009650" lvl="1" indent="-609600" eaLnBrk="1" hangingPunct="1">
              <a:lnSpc>
                <a:spcPts val="4000"/>
              </a:lnSpc>
              <a:buFontTx/>
              <a:buAutoNum type="arabicPeriod"/>
            </a:pPr>
            <a:r>
              <a:rPr lang="zh-CN" altLang="en-US"/>
              <a:t>交付的工作产品</a:t>
            </a:r>
          </a:p>
          <a:p>
            <a:pPr marL="1009650" lvl="1" indent="-609600" eaLnBrk="1" hangingPunct="1">
              <a:lnSpc>
                <a:spcPts val="4000"/>
              </a:lnSpc>
              <a:buFontTx/>
              <a:buAutoNum type="arabicPeriod"/>
            </a:pPr>
            <a:r>
              <a:rPr lang="zh-CN" altLang="en-US"/>
              <a:t>花费的工作量</a:t>
            </a:r>
          </a:p>
          <a:p>
            <a:pPr marL="1009650" lvl="1" indent="-609600" eaLnBrk="1" hangingPunct="1">
              <a:lnSpc>
                <a:spcPts val="4000"/>
              </a:lnSpc>
              <a:buFontTx/>
              <a:buAutoNum type="arabicPeriod"/>
            </a:pPr>
            <a:r>
              <a:rPr lang="zh-CN" altLang="en-US"/>
              <a:t>花费的时间</a:t>
            </a:r>
          </a:p>
          <a:p>
            <a:pPr marL="1009650" lvl="1" indent="-609600" eaLnBrk="1" hangingPunct="1">
              <a:lnSpc>
                <a:spcPts val="4000"/>
              </a:lnSpc>
              <a:buFontTx/>
              <a:buAutoNum type="arabicPeriod"/>
            </a:pPr>
            <a:r>
              <a:rPr lang="zh-CN" altLang="en-US"/>
              <a:t>与进度计划的差距</a:t>
            </a:r>
          </a:p>
          <a:p>
            <a:pPr marL="1009650" lvl="1" indent="-609600" eaLnBrk="1" hangingPunct="1">
              <a:lnSpc>
                <a:spcPts val="4000"/>
              </a:lnSpc>
              <a:buFontTx/>
              <a:buAutoNum type="arabicPeriod"/>
            </a:pPr>
            <a:r>
              <a:rPr lang="zh-CN" altLang="en-US"/>
              <a:t>以及其他测量</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911B543F-8045-DF4A-B3CD-74C314D76D09}"/>
              </a:ext>
            </a:extLst>
          </p:cNvPr>
          <p:cNvSpPr>
            <a:spLocks noGrp="1" noChangeArrowheads="1"/>
          </p:cNvSpPr>
          <p:nvPr>
            <p:ph type="title"/>
          </p:nvPr>
        </p:nvSpPr>
        <p:spPr/>
        <p:txBody>
          <a:bodyPr/>
          <a:lstStyle/>
          <a:p>
            <a:pPr marL="838200" indent="-838200" eaLnBrk="1" hangingPunct="1"/>
            <a:r>
              <a:rPr lang="zh-CN" altLang="en-US"/>
              <a:t>过程度量和软件过程改善</a:t>
            </a:r>
          </a:p>
        </p:txBody>
      </p:sp>
      <p:sp>
        <p:nvSpPr>
          <p:cNvPr id="20482" name="内容占位符 4">
            <a:extLst>
              <a:ext uri="{FF2B5EF4-FFF2-40B4-BE49-F238E27FC236}">
                <a16:creationId xmlns:a16="http://schemas.microsoft.com/office/drawing/2014/main" id="{6C9F92DE-A54F-2243-B4FE-9A1DDAFFA1A6}"/>
              </a:ext>
            </a:extLst>
          </p:cNvPr>
          <p:cNvSpPr>
            <a:spLocks noGrp="1" noChangeArrowheads="1"/>
          </p:cNvSpPr>
          <p:nvPr>
            <p:ph idx="1"/>
          </p:nvPr>
        </p:nvSpPr>
        <p:spPr/>
        <p:txBody>
          <a:bodyPr/>
          <a:lstStyle/>
          <a:p>
            <a:pPr eaLnBrk="1" hangingPunct="1">
              <a:spcBef>
                <a:spcPct val="30000"/>
              </a:spcBef>
            </a:pPr>
            <a:r>
              <a:rPr lang="zh-CN" altLang="en-US">
                <a:latin typeface="宋体" panose="02010600030101010101" pitchFamily="2" charset="-122"/>
              </a:rPr>
              <a:t>不同类型的过程数据分为</a:t>
            </a:r>
            <a:r>
              <a:rPr lang="zh-CN" altLang="en-US"/>
              <a:t>“</a:t>
            </a:r>
            <a:r>
              <a:rPr lang="zh-CN" altLang="en-US">
                <a:solidFill>
                  <a:srgbClr val="FF0000"/>
                </a:solidFill>
                <a:latin typeface="宋体" panose="02010600030101010101" pitchFamily="2" charset="-122"/>
              </a:rPr>
              <a:t>私有的和公用的</a:t>
            </a:r>
            <a:r>
              <a:rPr lang="zh-CN" altLang="en-US"/>
              <a:t>”</a:t>
            </a:r>
            <a:endParaRPr lang="zh-CN" altLang="en-US">
              <a:latin typeface="宋体" panose="02010600030101010101" pitchFamily="2" charset="-122"/>
            </a:endParaRPr>
          </a:p>
          <a:p>
            <a:pPr lvl="1" eaLnBrk="1" hangingPunct="1">
              <a:spcBef>
                <a:spcPct val="30000"/>
              </a:spcBef>
            </a:pPr>
            <a:r>
              <a:rPr lang="zh-CN" altLang="en-US">
                <a:latin typeface="宋体" panose="02010600030101010101" pitchFamily="2" charset="-122"/>
              </a:rPr>
              <a:t>如私有的度量数据有：缺陷率</a:t>
            </a:r>
            <a:r>
              <a:rPr lang="en-US" altLang="zh-CN">
                <a:latin typeface="宋体" panose="02010600030101010101" pitchFamily="2" charset="-122"/>
              </a:rPr>
              <a:t>(</a:t>
            </a:r>
            <a:r>
              <a:rPr lang="zh-CN" altLang="en-US">
                <a:latin typeface="宋体" panose="02010600030101010101" pitchFamily="2" charset="-122"/>
              </a:rPr>
              <a:t>个人的</a:t>
            </a:r>
            <a:r>
              <a:rPr lang="en-US" altLang="zh-CN">
                <a:latin typeface="宋体" panose="02010600030101010101" pitchFamily="2" charset="-122"/>
              </a:rPr>
              <a:t>)</a:t>
            </a:r>
            <a:r>
              <a:rPr lang="zh-CN" altLang="en-US">
                <a:latin typeface="宋体" panose="02010600030101010101" pitchFamily="2" charset="-122"/>
              </a:rPr>
              <a:t>、缺陷率</a:t>
            </a:r>
            <a:r>
              <a:rPr lang="en-US" altLang="zh-CN">
                <a:latin typeface="宋体" panose="02010600030101010101" pitchFamily="2" charset="-122"/>
              </a:rPr>
              <a:t>(</a:t>
            </a:r>
            <a:r>
              <a:rPr lang="zh-CN" altLang="en-US">
                <a:latin typeface="宋体" panose="02010600030101010101" pitchFamily="2" charset="-122"/>
              </a:rPr>
              <a:t>模块的</a:t>
            </a:r>
            <a:r>
              <a:rPr lang="en-US" altLang="zh-CN">
                <a:latin typeface="宋体" panose="02010600030101010101" pitchFamily="2" charset="-122"/>
              </a:rPr>
              <a:t>)</a:t>
            </a:r>
            <a:r>
              <a:rPr lang="zh-CN" altLang="en-US">
                <a:latin typeface="宋体" panose="02010600030101010101" pitchFamily="2" charset="-122"/>
              </a:rPr>
              <a:t>、开发中发现的错误</a:t>
            </a:r>
            <a:endParaRPr lang="en-US" altLang="zh-CN">
              <a:latin typeface="宋体" panose="02010600030101010101" pitchFamily="2" charset="-122"/>
            </a:endParaRPr>
          </a:p>
          <a:p>
            <a:pPr eaLnBrk="1" hangingPunct="1"/>
            <a:endParaRPr lang="zh-CN" alt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251DB91A-043B-D546-8126-0EA7C268806F}"/>
              </a:ext>
            </a:extLst>
          </p:cNvPr>
          <p:cNvSpPr>
            <a:spLocks noGrp="1" noRot="1" noChangeArrowheads="1"/>
          </p:cNvSpPr>
          <p:nvPr>
            <p:ph type="title"/>
          </p:nvPr>
        </p:nvSpPr>
        <p:spPr/>
        <p:txBody>
          <a:bodyPr/>
          <a:lstStyle/>
          <a:p>
            <a:pPr eaLnBrk="1" hangingPunct="1"/>
            <a:r>
              <a:rPr lang="zh-CN" altLang="en-US"/>
              <a:t>公用的度量数据</a:t>
            </a:r>
          </a:p>
        </p:txBody>
      </p:sp>
      <p:sp>
        <p:nvSpPr>
          <p:cNvPr id="21506" name="Rectangle 3">
            <a:extLst>
              <a:ext uri="{FF2B5EF4-FFF2-40B4-BE49-F238E27FC236}">
                <a16:creationId xmlns:a16="http://schemas.microsoft.com/office/drawing/2014/main" id="{171967BC-3BF2-9E4A-8682-7E5DB0DE8315}"/>
              </a:ext>
            </a:extLst>
          </p:cNvPr>
          <p:cNvSpPr>
            <a:spLocks noGrp="1" noRot="1" noChangeArrowheads="1"/>
          </p:cNvSpPr>
          <p:nvPr>
            <p:ph type="body" idx="1"/>
          </p:nvPr>
        </p:nvSpPr>
        <p:spPr>
          <a:xfrm>
            <a:off x="250825" y="1484313"/>
            <a:ext cx="8642350" cy="4525962"/>
          </a:xfrm>
        </p:spPr>
        <p:txBody>
          <a:bodyPr/>
          <a:lstStyle/>
          <a:p>
            <a:pPr marL="609600" indent="-609600" eaLnBrk="1" hangingPunct="1"/>
            <a:r>
              <a:rPr lang="zh-CN" altLang="en-US" sz="2800"/>
              <a:t>某些过程度量对软件项目组是私有的，但对所有小组成员是公用的。</a:t>
            </a:r>
          </a:p>
          <a:p>
            <a:pPr marL="1009650" lvl="1" indent="-609600" eaLnBrk="1" hangingPunct="1">
              <a:buFontTx/>
              <a:buAutoNum type="arabicPeriod"/>
            </a:pPr>
            <a:r>
              <a:rPr lang="zh-CN" altLang="en-US" sz="2400"/>
              <a:t>主要软件功能</a:t>
            </a:r>
            <a:r>
              <a:rPr lang="en-US" altLang="zh-CN" sz="2400"/>
              <a:t>(</a:t>
            </a:r>
            <a:r>
              <a:rPr lang="zh-CN" altLang="en-US" sz="2400"/>
              <a:t>由多个开发人员完成</a:t>
            </a:r>
            <a:r>
              <a:rPr lang="en-US" altLang="zh-CN" sz="2400"/>
              <a:t>)</a:t>
            </a:r>
            <a:r>
              <a:rPr lang="zh-CN" altLang="en-US" sz="2400"/>
              <a:t>的缺陷报告；</a:t>
            </a:r>
          </a:p>
          <a:p>
            <a:pPr marL="1009650" lvl="1" indent="-609600" eaLnBrk="1" hangingPunct="1">
              <a:buFontTx/>
              <a:buAutoNum type="arabicPeriod"/>
            </a:pPr>
            <a:r>
              <a:rPr lang="zh-CN" altLang="en-US" sz="2400"/>
              <a:t>正式技术复审中发现的错误；</a:t>
            </a:r>
          </a:p>
          <a:p>
            <a:pPr marL="1009650" lvl="1" indent="-609600" eaLnBrk="1" hangingPunct="1">
              <a:buFontTx/>
              <a:buAutoNum type="arabicPeriod"/>
            </a:pPr>
            <a:r>
              <a:rPr lang="zh-CN" altLang="en-US" sz="2400"/>
              <a:t>每个模块和功能的代码行或功能点。</a:t>
            </a:r>
          </a:p>
          <a:p>
            <a:pPr marL="1009650" lvl="1" indent="-609600" eaLnBrk="1" hangingPunct="1">
              <a:buFontTx/>
              <a:buNone/>
            </a:pPr>
            <a:r>
              <a:rPr lang="zh-CN" altLang="en-US" sz="2400"/>
              <a:t>这些数据可由小组进行复查，以找出能够改善小组性能的指标。</a:t>
            </a:r>
          </a:p>
          <a:p>
            <a:pPr marL="609600" indent="-609600" eaLnBrk="1" hangingPunct="1"/>
            <a:endParaRPr lang="en-US" altLang="zh-CN" sz="2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7F24C1CE-027A-6D4A-91A5-5411175D9591}"/>
              </a:ext>
            </a:extLst>
          </p:cNvPr>
          <p:cNvSpPr>
            <a:spLocks noGrp="1" noRot="1" noChangeArrowheads="1"/>
          </p:cNvSpPr>
          <p:nvPr>
            <p:ph type="title"/>
          </p:nvPr>
        </p:nvSpPr>
        <p:spPr>
          <a:xfrm>
            <a:off x="304800" y="0"/>
            <a:ext cx="8540750" cy="1219200"/>
          </a:xfrm>
        </p:spPr>
        <p:txBody>
          <a:bodyPr/>
          <a:lstStyle/>
          <a:p>
            <a:pPr eaLnBrk="1" hangingPunct="1"/>
            <a:r>
              <a:rPr lang="zh-CN" altLang="en-US"/>
              <a:t>小组改进错误的方法</a:t>
            </a:r>
          </a:p>
        </p:txBody>
      </p:sp>
      <p:sp>
        <p:nvSpPr>
          <p:cNvPr id="237571" name="Rectangle 3">
            <a:extLst>
              <a:ext uri="{FF2B5EF4-FFF2-40B4-BE49-F238E27FC236}">
                <a16:creationId xmlns:a16="http://schemas.microsoft.com/office/drawing/2014/main" id="{92E30A41-7BAE-374F-BB49-6744B444B429}"/>
              </a:ext>
            </a:extLst>
          </p:cNvPr>
          <p:cNvSpPr>
            <a:spLocks noGrp="1" noRot="1" noChangeArrowheads="1"/>
          </p:cNvSpPr>
          <p:nvPr>
            <p:ph type="body" idx="1"/>
          </p:nvPr>
        </p:nvSpPr>
        <p:spPr>
          <a:xfrm>
            <a:off x="0" y="1143000"/>
            <a:ext cx="9144000" cy="5715000"/>
          </a:xfrm>
        </p:spPr>
        <p:txBody>
          <a:bodyPr/>
          <a:lstStyle/>
          <a:p>
            <a:pPr marL="514350" indent="-514350" eaLnBrk="1" hangingPunct="1">
              <a:lnSpc>
                <a:spcPts val="4000"/>
              </a:lnSpc>
              <a:buFontTx/>
              <a:buAutoNum type="arabicPeriod"/>
            </a:pPr>
            <a:r>
              <a:rPr lang="zh-CN" altLang="en-US" sz="2800"/>
              <a:t>根据来源分类所有的错误和缺陷</a:t>
            </a:r>
            <a:r>
              <a:rPr lang="en-US" altLang="zh-CN" sz="2800"/>
              <a:t>(</a:t>
            </a:r>
            <a:r>
              <a:rPr lang="zh-CN" altLang="en-US" sz="2800"/>
              <a:t>如，规格说明中的错误，逻辑错误，与标准不符的错误等</a:t>
            </a:r>
            <a:r>
              <a:rPr lang="en-US" altLang="zh-CN" sz="2800"/>
              <a:t>)</a:t>
            </a:r>
            <a:r>
              <a:rPr lang="zh-CN" altLang="en-US" sz="2800"/>
              <a:t>。</a:t>
            </a:r>
          </a:p>
          <a:p>
            <a:pPr marL="514350" indent="-514350" eaLnBrk="1" hangingPunct="1">
              <a:lnSpc>
                <a:spcPts val="4000"/>
              </a:lnSpc>
              <a:buFontTx/>
              <a:buAutoNum type="arabicPeriod"/>
            </a:pPr>
            <a:r>
              <a:rPr lang="zh-CN" altLang="en-US" sz="2800"/>
              <a:t>记录修改每个错误和缺陷的成本。</a:t>
            </a:r>
          </a:p>
          <a:p>
            <a:pPr marL="514350" indent="-514350" eaLnBrk="1" hangingPunct="1">
              <a:lnSpc>
                <a:spcPts val="4000"/>
              </a:lnSpc>
              <a:buFontTx/>
              <a:buAutoNum type="arabicPeriod"/>
            </a:pPr>
            <a:r>
              <a:rPr lang="zh-CN" altLang="en-US" sz="2800"/>
              <a:t>统计每一类错误和缺陷的数目，并按降序排列。</a:t>
            </a:r>
          </a:p>
          <a:p>
            <a:pPr marL="514350" indent="-514350" eaLnBrk="1" hangingPunct="1">
              <a:lnSpc>
                <a:spcPts val="4000"/>
              </a:lnSpc>
              <a:buFontTx/>
              <a:buAutoNum type="arabicPeriod"/>
            </a:pPr>
            <a:r>
              <a:rPr lang="zh-CN" altLang="en-US" sz="2800"/>
              <a:t>计算每一类错误和缺陷的总成本。</a:t>
            </a:r>
          </a:p>
          <a:p>
            <a:pPr marL="514350" indent="-514350" eaLnBrk="1" hangingPunct="1">
              <a:lnSpc>
                <a:spcPts val="4000"/>
              </a:lnSpc>
              <a:buFontTx/>
              <a:buAutoNum type="arabicPeriod"/>
            </a:pPr>
            <a:r>
              <a:rPr lang="zh-CN" altLang="en-US" sz="2800"/>
              <a:t>分析结果数据，找出造成组织最高成本的错误和缺陷类型。</a:t>
            </a:r>
          </a:p>
          <a:p>
            <a:pPr marL="514350" indent="-514350" eaLnBrk="1" hangingPunct="1">
              <a:lnSpc>
                <a:spcPts val="4000"/>
              </a:lnSpc>
              <a:buFontTx/>
              <a:buAutoNum type="arabicPeriod"/>
            </a:pPr>
            <a:r>
              <a:rPr lang="zh-CN" altLang="en-US" sz="2800"/>
              <a:t>产生修正过程的计划，目的是消除</a:t>
            </a:r>
            <a:r>
              <a:rPr lang="en-US" altLang="zh-CN" sz="2800"/>
              <a:t>(</a:t>
            </a:r>
            <a:r>
              <a:rPr lang="zh-CN" altLang="en-US" sz="2800"/>
              <a:t>或降低其出现的频率</a:t>
            </a:r>
            <a:r>
              <a:rPr lang="en-US" altLang="zh-CN" sz="2800"/>
              <a:t>)</a:t>
            </a:r>
            <a:r>
              <a:rPr lang="zh-CN" altLang="en-US" sz="2800"/>
              <a:t>成本最高的错误和缺陷类型。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7571">
                                            <p:txEl>
                                              <p:pRg st="0" end="0"/>
                                            </p:txEl>
                                          </p:spTgt>
                                        </p:tgtEl>
                                        <p:attrNameLst>
                                          <p:attrName>style.visibility</p:attrName>
                                        </p:attrNameLst>
                                      </p:cBhvr>
                                      <p:to>
                                        <p:strVal val="visible"/>
                                      </p:to>
                                    </p:set>
                                    <p:animEffect transition="in" filter="blinds(horizontal)">
                                      <p:cBhvr>
                                        <p:cTn id="7" dur="500"/>
                                        <p:tgtEl>
                                          <p:spTgt spid="2375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7571">
                                            <p:txEl>
                                              <p:pRg st="1" end="1"/>
                                            </p:txEl>
                                          </p:spTgt>
                                        </p:tgtEl>
                                        <p:attrNameLst>
                                          <p:attrName>style.visibility</p:attrName>
                                        </p:attrNameLst>
                                      </p:cBhvr>
                                      <p:to>
                                        <p:strVal val="visible"/>
                                      </p:to>
                                    </p:set>
                                    <p:animEffect transition="in" filter="blinds(horizontal)">
                                      <p:cBhvr>
                                        <p:cTn id="12" dur="500"/>
                                        <p:tgtEl>
                                          <p:spTgt spid="2375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7571">
                                            <p:txEl>
                                              <p:pRg st="2" end="2"/>
                                            </p:txEl>
                                          </p:spTgt>
                                        </p:tgtEl>
                                        <p:attrNameLst>
                                          <p:attrName>style.visibility</p:attrName>
                                        </p:attrNameLst>
                                      </p:cBhvr>
                                      <p:to>
                                        <p:strVal val="visible"/>
                                      </p:to>
                                    </p:set>
                                    <p:animEffect transition="in" filter="blinds(horizontal)">
                                      <p:cBhvr>
                                        <p:cTn id="17" dur="500"/>
                                        <p:tgtEl>
                                          <p:spTgt spid="2375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7571">
                                            <p:txEl>
                                              <p:pRg st="3" end="3"/>
                                            </p:txEl>
                                          </p:spTgt>
                                        </p:tgtEl>
                                        <p:attrNameLst>
                                          <p:attrName>style.visibility</p:attrName>
                                        </p:attrNameLst>
                                      </p:cBhvr>
                                      <p:to>
                                        <p:strVal val="visible"/>
                                      </p:to>
                                    </p:set>
                                    <p:animEffect transition="in" filter="blinds(horizontal)">
                                      <p:cBhvr>
                                        <p:cTn id="22" dur="500"/>
                                        <p:tgtEl>
                                          <p:spTgt spid="23757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37571">
                                            <p:txEl>
                                              <p:pRg st="4" end="4"/>
                                            </p:txEl>
                                          </p:spTgt>
                                        </p:tgtEl>
                                        <p:attrNameLst>
                                          <p:attrName>style.visibility</p:attrName>
                                        </p:attrNameLst>
                                      </p:cBhvr>
                                      <p:to>
                                        <p:strVal val="visible"/>
                                      </p:to>
                                    </p:set>
                                    <p:animEffect transition="in" filter="blinds(horizontal)">
                                      <p:cBhvr>
                                        <p:cTn id="27" dur="500"/>
                                        <p:tgtEl>
                                          <p:spTgt spid="23757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37571">
                                            <p:txEl>
                                              <p:pRg st="5" end="5"/>
                                            </p:txEl>
                                          </p:spTgt>
                                        </p:tgtEl>
                                        <p:attrNameLst>
                                          <p:attrName>style.visibility</p:attrName>
                                        </p:attrNameLst>
                                      </p:cBhvr>
                                      <p:to>
                                        <p:strVal val="visible"/>
                                      </p:to>
                                    </p:set>
                                    <p:animEffect transition="in" filter="blinds(horizontal)">
                                      <p:cBhvr>
                                        <p:cTn id="32" dur="500"/>
                                        <p:tgtEl>
                                          <p:spTgt spid="2375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内容占位符 2">
            <a:extLst>
              <a:ext uri="{FF2B5EF4-FFF2-40B4-BE49-F238E27FC236}">
                <a16:creationId xmlns:a16="http://schemas.microsoft.com/office/drawing/2014/main" id="{82C76E8C-D3E6-5140-B48C-5F87747A61EF}"/>
              </a:ext>
            </a:extLst>
          </p:cNvPr>
          <p:cNvSpPr>
            <a:spLocks noGrp="1" noChangeArrowheads="1"/>
          </p:cNvSpPr>
          <p:nvPr>
            <p:ph idx="1"/>
          </p:nvPr>
        </p:nvSpPr>
        <p:spPr/>
        <p:txBody>
          <a:bodyPr/>
          <a:lstStyle/>
          <a:p>
            <a:pPr eaLnBrk="1" hangingPunct="1"/>
            <a:r>
              <a:rPr lang="zh-CN" altLang="en-US"/>
              <a:t>软件过程度量对于组织提高其整体的过程成熟度能够提供很大的帮助，但也有可能被误用，产生更多的问题。</a:t>
            </a:r>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a:extLst>
              <a:ext uri="{FF2B5EF4-FFF2-40B4-BE49-F238E27FC236}">
                <a16:creationId xmlns:a16="http://schemas.microsoft.com/office/drawing/2014/main" id="{B9897113-6FBA-C743-B692-02E7DEF6DB85}"/>
              </a:ext>
            </a:extLst>
          </p:cNvPr>
          <p:cNvSpPr>
            <a:spLocks noGrp="1" noChangeArrowheads="1"/>
          </p:cNvSpPr>
          <p:nvPr>
            <p:ph type="title"/>
          </p:nvPr>
        </p:nvSpPr>
        <p:spPr>
          <a:xfrm>
            <a:off x="395288" y="0"/>
            <a:ext cx="8229600" cy="1143000"/>
          </a:xfrm>
        </p:spPr>
        <p:txBody>
          <a:bodyPr/>
          <a:lstStyle/>
          <a:p>
            <a:pPr algn="l" eaLnBrk="1" hangingPunct="1"/>
            <a:r>
              <a:rPr lang="zh-CN" altLang="en-US" sz="3400"/>
              <a:t>软件过程度量</a:t>
            </a:r>
            <a:r>
              <a:rPr lang="zh-CN" altLang="en-US" sz="3400">
                <a:solidFill>
                  <a:srgbClr val="FF0000"/>
                </a:solidFill>
              </a:rPr>
              <a:t>礼仪</a:t>
            </a:r>
            <a:r>
              <a:rPr lang="zh-CN" altLang="en-US" sz="3400"/>
              <a:t>：</a:t>
            </a:r>
          </a:p>
        </p:txBody>
      </p:sp>
      <p:sp>
        <p:nvSpPr>
          <p:cNvPr id="3" name="内容占位符 2">
            <a:extLst>
              <a:ext uri="{FF2B5EF4-FFF2-40B4-BE49-F238E27FC236}">
                <a16:creationId xmlns:a16="http://schemas.microsoft.com/office/drawing/2014/main" id="{E5EAB2FC-5BC6-A945-8CDF-F3ECD2807C58}"/>
              </a:ext>
            </a:extLst>
          </p:cNvPr>
          <p:cNvSpPr>
            <a:spLocks noGrp="1" noChangeArrowheads="1"/>
          </p:cNvSpPr>
          <p:nvPr>
            <p:ph idx="1"/>
          </p:nvPr>
        </p:nvSpPr>
        <p:spPr>
          <a:xfrm>
            <a:off x="323850" y="1268413"/>
            <a:ext cx="8496300" cy="4525962"/>
          </a:xfrm>
        </p:spPr>
        <p:txBody>
          <a:bodyPr/>
          <a:lstStyle/>
          <a:p>
            <a:pPr marL="571500" indent="-514350" eaLnBrk="1" hangingPunct="1">
              <a:lnSpc>
                <a:spcPct val="100000"/>
              </a:lnSpc>
              <a:spcBef>
                <a:spcPct val="30000"/>
              </a:spcBef>
            </a:pPr>
            <a:r>
              <a:rPr lang="zh-CN" altLang="en-US" sz="2800">
                <a:latin typeface="宋体" panose="02010600030101010101" pitchFamily="2" charset="-122"/>
              </a:rPr>
              <a:t>解释度量数据时使用常识，并考虑组织的感受性</a:t>
            </a:r>
          </a:p>
          <a:p>
            <a:pPr marL="571500" indent="-514350" eaLnBrk="1" hangingPunct="1">
              <a:lnSpc>
                <a:spcPct val="100000"/>
              </a:lnSpc>
              <a:spcBef>
                <a:spcPct val="30000"/>
              </a:spcBef>
            </a:pPr>
            <a:r>
              <a:rPr lang="zh-CN" altLang="en-US" sz="2800">
                <a:latin typeface="宋体" panose="02010600030101010101" pitchFamily="2" charset="-122"/>
              </a:rPr>
              <a:t>对收集测量和度量的个人及小组提供定期的反馈</a:t>
            </a:r>
          </a:p>
          <a:p>
            <a:pPr marL="571500" indent="-514350" eaLnBrk="1" hangingPunct="1">
              <a:lnSpc>
                <a:spcPct val="100000"/>
              </a:lnSpc>
              <a:spcBef>
                <a:spcPct val="30000"/>
              </a:spcBef>
            </a:pPr>
            <a:r>
              <a:rPr lang="zh-CN" altLang="en-US" sz="2800">
                <a:latin typeface="宋体" panose="02010600030101010101" pitchFamily="2" charset="-122"/>
              </a:rPr>
              <a:t>不要使用度量去评价个人</a:t>
            </a:r>
          </a:p>
          <a:p>
            <a:pPr marL="571500" indent="-514350" eaLnBrk="1" hangingPunct="1">
              <a:lnSpc>
                <a:spcPct val="100000"/>
              </a:lnSpc>
              <a:spcBef>
                <a:spcPct val="30000"/>
              </a:spcBef>
            </a:pPr>
            <a:r>
              <a:rPr lang="zh-CN" altLang="en-US" sz="2800">
                <a:latin typeface="Times New Roman" panose="02020603050405020304" pitchFamily="18" charset="0"/>
              </a:rPr>
              <a:t>与开发者和小组一起设定清晰的目标及达到这些目标的度量</a:t>
            </a:r>
            <a:r>
              <a:rPr lang="zh-CN" altLang="en-US" sz="2800">
                <a:latin typeface="宋体" panose="02010600030101010101" pitchFamily="2" charset="-122"/>
              </a:rPr>
              <a:t> </a:t>
            </a:r>
          </a:p>
          <a:p>
            <a:pPr marL="571500" indent="-514350" eaLnBrk="1" hangingPunct="1">
              <a:lnSpc>
                <a:spcPct val="100000"/>
              </a:lnSpc>
              <a:spcBef>
                <a:spcPct val="30000"/>
              </a:spcBef>
            </a:pPr>
            <a:r>
              <a:rPr lang="zh-CN" altLang="en-US" sz="2800">
                <a:latin typeface="宋体" panose="02010600030101010101" pitchFamily="2" charset="-122"/>
              </a:rPr>
              <a:t>不要用度量去威胁个人或小组。</a:t>
            </a:r>
          </a:p>
          <a:p>
            <a:pPr marL="571500" indent="-514350" eaLnBrk="1" hangingPunct="1">
              <a:lnSpc>
                <a:spcPct val="100000"/>
              </a:lnSpc>
              <a:spcBef>
                <a:spcPct val="30000"/>
              </a:spcBef>
            </a:pPr>
            <a:r>
              <a:rPr lang="zh-CN" altLang="en-US" sz="2800">
                <a:latin typeface="宋体" panose="02010600030101010101" pitchFamily="2" charset="-122"/>
              </a:rPr>
              <a:t>指出某个问题的度量数据</a:t>
            </a:r>
            <a:r>
              <a:rPr lang="zh-CN" altLang="en-US" sz="2800">
                <a:solidFill>
                  <a:srgbClr val="0070C0"/>
                </a:solidFill>
                <a:latin typeface="宋体" panose="02010600030101010101" pitchFamily="2" charset="-122"/>
              </a:rPr>
              <a:t>不</a:t>
            </a:r>
            <a:r>
              <a:rPr lang="zh-CN" altLang="en-US" sz="2800">
                <a:latin typeface="宋体" panose="02010600030101010101" pitchFamily="2" charset="-122"/>
              </a:rPr>
              <a:t>应该被看成是</a:t>
            </a:r>
            <a:r>
              <a:rPr lang="zh-CN" altLang="en-US" sz="2800"/>
              <a:t>“</a:t>
            </a:r>
            <a:r>
              <a:rPr lang="zh-CN" altLang="en-US" sz="2800">
                <a:solidFill>
                  <a:srgbClr val="0070C0"/>
                </a:solidFill>
                <a:latin typeface="宋体" panose="02010600030101010101" pitchFamily="2" charset="-122"/>
              </a:rPr>
              <a:t>否定的</a:t>
            </a:r>
            <a:r>
              <a:rPr lang="zh-CN" altLang="en-US" sz="2800"/>
              <a:t>”</a:t>
            </a:r>
            <a:r>
              <a:rPr lang="zh-CN" altLang="en-US" sz="2800">
                <a:latin typeface="宋体" panose="02010600030101010101" pitchFamily="2" charset="-122"/>
              </a:rPr>
              <a:t>含义。这些数据仅仅是过程改进的指标。</a:t>
            </a:r>
          </a:p>
          <a:p>
            <a:pPr marL="571500" indent="-514350" eaLnBrk="1" hangingPunct="1">
              <a:lnSpc>
                <a:spcPct val="100000"/>
              </a:lnSpc>
              <a:spcBef>
                <a:spcPct val="30000"/>
              </a:spcBef>
            </a:pPr>
            <a:r>
              <a:rPr lang="zh-CN" altLang="en-US" sz="2800">
                <a:latin typeface="Times New Roman" panose="02020603050405020304" pitchFamily="18" charset="0"/>
              </a:rPr>
              <a:t>不要被某个与其他重要度量不符合的度量迷惑。</a:t>
            </a:r>
            <a:r>
              <a:rPr lang="zh-CN" altLang="en-US" sz="2800">
                <a:latin typeface="宋体" panose="02010600030101010101" pitchFamily="2" charset="-122"/>
              </a:rPr>
              <a:t> </a:t>
            </a:r>
          </a:p>
          <a:p>
            <a:pPr marL="971550" lvl="1" indent="-514350" eaLnBrk="1" hangingPunct="1"/>
            <a:endParaRPr lang="zh-CN" altLang="en-US"/>
          </a:p>
          <a:p>
            <a:pPr marL="571500" indent="-514350" eaLnBrk="1" hangingPunct="1"/>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a:extLst>
              <a:ext uri="{FF2B5EF4-FFF2-40B4-BE49-F238E27FC236}">
                <a16:creationId xmlns:a16="http://schemas.microsoft.com/office/drawing/2014/main" id="{8FCF2ACA-1CB0-3F42-901B-7739E3085FFB}"/>
              </a:ext>
            </a:extLst>
          </p:cNvPr>
          <p:cNvSpPr>
            <a:spLocks noGrp="1" noChangeArrowheads="1"/>
          </p:cNvSpPr>
          <p:nvPr>
            <p:ph type="title"/>
          </p:nvPr>
        </p:nvSpPr>
        <p:spPr/>
        <p:txBody>
          <a:bodyPr/>
          <a:lstStyle/>
          <a:p>
            <a:pPr eaLnBrk="1" hangingPunct="1"/>
            <a:r>
              <a:rPr lang="hr-HR" altLang="zh-CN"/>
              <a:t>19.</a:t>
            </a:r>
            <a:r>
              <a:rPr lang="en-US" altLang="zh-CN"/>
              <a:t>1.2 </a:t>
            </a:r>
            <a:r>
              <a:rPr lang="zh-CN" altLang="en-US"/>
              <a:t>项目度量</a:t>
            </a:r>
          </a:p>
        </p:txBody>
      </p:sp>
      <p:sp>
        <p:nvSpPr>
          <p:cNvPr id="3" name="内容占位符 2">
            <a:extLst>
              <a:ext uri="{FF2B5EF4-FFF2-40B4-BE49-F238E27FC236}">
                <a16:creationId xmlns:a16="http://schemas.microsoft.com/office/drawing/2014/main" id="{8045CC6D-A26C-1243-AF4B-BBD1B1233D0E}"/>
              </a:ext>
            </a:extLst>
          </p:cNvPr>
          <p:cNvSpPr>
            <a:spLocks noGrp="1" noChangeArrowheads="1"/>
          </p:cNvSpPr>
          <p:nvPr>
            <p:ph idx="1"/>
          </p:nvPr>
        </p:nvSpPr>
        <p:spPr/>
        <p:txBody>
          <a:bodyPr/>
          <a:lstStyle/>
          <a:p>
            <a:pPr eaLnBrk="1" hangingPunct="1"/>
            <a:r>
              <a:rPr lang="zh-CN" altLang="en-US">
                <a:latin typeface="宋体" panose="02010600030101010101" pitchFamily="2" charset="-122"/>
              </a:rPr>
              <a:t>项目度量的</a:t>
            </a:r>
            <a:r>
              <a:rPr lang="zh-CN" altLang="en-US">
                <a:solidFill>
                  <a:srgbClr val="FF0000"/>
                </a:solidFill>
                <a:latin typeface="宋体" panose="02010600030101010101" pitchFamily="2" charset="-122"/>
              </a:rPr>
              <a:t>目的是双重</a:t>
            </a:r>
            <a:r>
              <a:rPr lang="zh-CN" altLang="en-US">
                <a:latin typeface="宋体" panose="02010600030101010101" pitchFamily="2" charset="-122"/>
              </a:rPr>
              <a:t>的：</a:t>
            </a:r>
          </a:p>
          <a:p>
            <a:pPr lvl="1" eaLnBrk="1" hangingPunct="1"/>
            <a:r>
              <a:rPr lang="zh-CN" altLang="en-US">
                <a:solidFill>
                  <a:srgbClr val="FF0000"/>
                </a:solidFill>
                <a:latin typeface="宋体" panose="02010600030101010101" pitchFamily="2" charset="-122"/>
              </a:rPr>
              <a:t>首先</a:t>
            </a:r>
            <a:r>
              <a:rPr lang="zh-CN" altLang="en-US">
                <a:latin typeface="宋体" panose="02010600030101010101" pitchFamily="2" charset="-122"/>
              </a:rPr>
              <a:t>，这些度量能够指导进行一些必要的调整以避免延迟，并减少潜在问题及风险，从而使得开发时间减到最少</a:t>
            </a:r>
          </a:p>
          <a:p>
            <a:pPr lvl="1" eaLnBrk="1" hangingPunct="1"/>
            <a:r>
              <a:rPr lang="zh-CN" altLang="en-US">
                <a:solidFill>
                  <a:srgbClr val="FF0000"/>
                </a:solidFill>
                <a:latin typeface="宋体" panose="02010600030101010101" pitchFamily="2" charset="-122"/>
              </a:rPr>
              <a:t>其次</a:t>
            </a:r>
            <a:r>
              <a:rPr lang="zh-CN" altLang="en-US">
                <a:latin typeface="宋体" panose="02010600030101010101" pitchFamily="2" charset="-122"/>
              </a:rPr>
              <a:t>，项目度量可在项目进行的基础上评估产品质量，并且可在必要时修改技术方法以改进质量。</a:t>
            </a:r>
          </a:p>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A3FFD77D-9E02-624F-B960-9F560CAC8E81}"/>
              </a:ext>
            </a:extLst>
          </p:cNvPr>
          <p:cNvSpPr>
            <a:spLocks noGrp="1" noRot="1" noChangeArrowheads="1"/>
          </p:cNvSpPr>
          <p:nvPr>
            <p:ph type="title"/>
          </p:nvPr>
        </p:nvSpPr>
        <p:spPr/>
        <p:txBody>
          <a:bodyPr/>
          <a:lstStyle/>
          <a:p>
            <a:pPr eaLnBrk="1" hangingPunct="1"/>
            <a:r>
              <a:rPr lang="zh-CN" altLang="en-US"/>
              <a:t>项目度量的步骤</a:t>
            </a:r>
          </a:p>
        </p:txBody>
      </p:sp>
      <p:sp>
        <p:nvSpPr>
          <p:cNvPr id="26626" name="Rectangle 3">
            <a:extLst>
              <a:ext uri="{FF2B5EF4-FFF2-40B4-BE49-F238E27FC236}">
                <a16:creationId xmlns:a16="http://schemas.microsoft.com/office/drawing/2014/main" id="{93FE16E8-13E8-564C-9B36-BA6DB0E7CCDE}"/>
              </a:ext>
            </a:extLst>
          </p:cNvPr>
          <p:cNvSpPr>
            <a:spLocks noGrp="1" noRot="1" noChangeArrowheads="1"/>
          </p:cNvSpPr>
          <p:nvPr>
            <p:ph type="body" idx="1"/>
          </p:nvPr>
        </p:nvSpPr>
        <p:spPr>
          <a:xfrm>
            <a:off x="395288" y="1447800"/>
            <a:ext cx="8353425" cy="4498975"/>
          </a:xfrm>
        </p:spPr>
        <p:txBody>
          <a:bodyPr/>
          <a:lstStyle/>
          <a:p>
            <a:pPr eaLnBrk="1" hangingPunct="1">
              <a:lnSpc>
                <a:spcPts val="4000"/>
              </a:lnSpc>
            </a:pPr>
            <a:r>
              <a:rPr lang="zh-CN" altLang="en-US" sz="2800"/>
              <a:t>建立历史数据基线；</a:t>
            </a:r>
          </a:p>
          <a:p>
            <a:pPr eaLnBrk="1" hangingPunct="1">
              <a:lnSpc>
                <a:spcPts val="4000"/>
              </a:lnSpc>
            </a:pPr>
            <a:r>
              <a:rPr lang="zh-CN" altLang="en-US" sz="2800"/>
              <a:t>对工作量等的估算；</a:t>
            </a:r>
          </a:p>
          <a:p>
            <a:pPr eaLnBrk="1" hangingPunct="1">
              <a:lnSpc>
                <a:spcPts val="4000"/>
              </a:lnSpc>
            </a:pPr>
            <a:r>
              <a:rPr lang="zh-CN" altLang="en-US" sz="2800"/>
              <a:t>将实际工作量等的测量与估算值比较，以控制项目的进度；</a:t>
            </a:r>
          </a:p>
          <a:p>
            <a:pPr eaLnBrk="1" hangingPunct="1">
              <a:lnSpc>
                <a:spcPts val="4000"/>
              </a:lnSpc>
            </a:pPr>
            <a:r>
              <a:rPr lang="zh-CN" altLang="en-US" sz="2800"/>
              <a:t>收集技术度量、评价设计质量、测试等的方法。</a:t>
            </a:r>
          </a:p>
          <a:p>
            <a:pPr eaLnBrk="1" hangingPunct="1">
              <a:lnSpc>
                <a:spcPts val="4000"/>
              </a:lnSpc>
            </a:pPr>
            <a:r>
              <a:rPr lang="zh-CN" altLang="en-US" sz="2800"/>
              <a:t>记录和跟踪所发现的错误；</a:t>
            </a:r>
          </a:p>
          <a:p>
            <a:pPr eaLnBrk="1" hangingPunct="1">
              <a:lnSpc>
                <a:spcPts val="4000"/>
              </a:lnSpc>
            </a:pPr>
            <a:r>
              <a:rPr lang="zh-CN" altLang="en-US" sz="2800"/>
              <a:t>补充历史数据基线。</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E861B7C3-393C-DD44-B870-C358E4DF9CB1}"/>
              </a:ext>
            </a:extLst>
          </p:cNvPr>
          <p:cNvSpPr>
            <a:spLocks noGrp="1" noRot="1" noChangeArrowheads="1"/>
          </p:cNvSpPr>
          <p:nvPr>
            <p:ph type="title"/>
          </p:nvPr>
        </p:nvSpPr>
        <p:spPr>
          <a:xfrm>
            <a:off x="301625" y="76200"/>
            <a:ext cx="8540750" cy="609600"/>
          </a:xfrm>
        </p:spPr>
        <p:txBody>
          <a:bodyPr/>
          <a:lstStyle/>
          <a:p>
            <a:pPr eaLnBrk="1" hangingPunct="1"/>
            <a:r>
              <a:rPr lang="zh-CN" altLang="en-US" sz="4000"/>
              <a:t>建立历史数据基线</a:t>
            </a:r>
          </a:p>
        </p:txBody>
      </p:sp>
      <p:sp>
        <p:nvSpPr>
          <p:cNvPr id="27650" name="Rectangle 3">
            <a:extLst>
              <a:ext uri="{FF2B5EF4-FFF2-40B4-BE49-F238E27FC236}">
                <a16:creationId xmlns:a16="http://schemas.microsoft.com/office/drawing/2014/main" id="{65474BBA-6559-9E4A-9A9F-A921D29D2E21}"/>
              </a:ext>
            </a:extLst>
          </p:cNvPr>
          <p:cNvSpPr>
            <a:spLocks noGrp="1" noRot="1" noChangeArrowheads="1"/>
          </p:cNvSpPr>
          <p:nvPr>
            <p:ph type="body" idx="1"/>
          </p:nvPr>
        </p:nvSpPr>
        <p:spPr>
          <a:xfrm>
            <a:off x="0" y="836613"/>
            <a:ext cx="9144000" cy="5260975"/>
          </a:xfrm>
        </p:spPr>
        <p:txBody>
          <a:bodyPr/>
          <a:lstStyle/>
          <a:p>
            <a:pPr marL="609600" indent="-609600" eaLnBrk="1" hangingPunct="1"/>
            <a:r>
              <a:rPr lang="zh-CN" altLang="en-US" sz="2800"/>
              <a:t>基线的数据应该是合理的、精确的；</a:t>
            </a:r>
          </a:p>
          <a:p>
            <a:pPr marL="609600" indent="-609600" eaLnBrk="1" hangingPunct="1"/>
            <a:r>
              <a:rPr lang="zh-CN" altLang="en-US" sz="2800"/>
              <a:t>应该从尽可能多的项目中收集数据；</a:t>
            </a:r>
          </a:p>
          <a:p>
            <a:pPr marL="609600" indent="-609600" eaLnBrk="1" hangingPunct="1"/>
            <a:r>
              <a:rPr lang="zh-CN" altLang="en-US" sz="2800"/>
              <a:t>所收集的数据应尽量包括：</a:t>
            </a:r>
          </a:p>
          <a:p>
            <a:pPr marL="1009650" lvl="1" indent="-609600" eaLnBrk="1" hangingPunct="1">
              <a:buFontTx/>
              <a:buAutoNum type="arabicPeriod"/>
            </a:pPr>
            <a:r>
              <a:rPr lang="zh-CN" altLang="en-US" sz="2400">
                <a:solidFill>
                  <a:srgbClr val="FF0000"/>
                </a:solidFill>
              </a:rPr>
              <a:t>成本数据</a:t>
            </a:r>
            <a:r>
              <a:rPr lang="en-US" altLang="zh-CN" sz="2400"/>
              <a:t>: </a:t>
            </a:r>
            <a:r>
              <a:rPr lang="zh-CN" altLang="en-US" sz="2400"/>
              <a:t>工作成本</a:t>
            </a:r>
            <a:r>
              <a:rPr lang="en-US" altLang="zh-CN" sz="2400"/>
              <a:t>(</a:t>
            </a:r>
            <a:r>
              <a:rPr lang="zh-CN" altLang="en-US" sz="2400"/>
              <a:t>元</a:t>
            </a:r>
            <a:r>
              <a:rPr lang="en-US" altLang="zh-CN" sz="2400"/>
              <a:t>/</a:t>
            </a:r>
            <a:r>
              <a:rPr lang="zh-CN" altLang="en-US" sz="2400"/>
              <a:t>人月</a:t>
            </a:r>
            <a:r>
              <a:rPr lang="en-US" altLang="zh-CN" sz="2400"/>
              <a:t>)</a:t>
            </a:r>
            <a:r>
              <a:rPr lang="zh-CN" altLang="en-US" sz="2400"/>
              <a:t>、工作时间</a:t>
            </a:r>
            <a:r>
              <a:rPr lang="en-US" altLang="zh-CN" sz="2400"/>
              <a:t>(</a:t>
            </a:r>
            <a:r>
              <a:rPr lang="zh-CN" altLang="en-US" sz="2400"/>
              <a:t>小时</a:t>
            </a:r>
            <a:r>
              <a:rPr lang="en-US" altLang="zh-CN" sz="2400"/>
              <a:t>)</a:t>
            </a:r>
          </a:p>
          <a:p>
            <a:pPr marL="1009650" lvl="1" indent="-609600" eaLnBrk="1" hangingPunct="1">
              <a:buFontTx/>
              <a:buAutoNum type="arabicPeriod"/>
            </a:pPr>
            <a:r>
              <a:rPr lang="zh-CN" altLang="en-US" sz="2400">
                <a:solidFill>
                  <a:srgbClr val="FF0000"/>
                </a:solidFill>
              </a:rPr>
              <a:t>度量计算数据</a:t>
            </a:r>
            <a:r>
              <a:rPr lang="en-US" altLang="zh-CN" sz="2400"/>
              <a:t>: </a:t>
            </a:r>
            <a:r>
              <a:rPr lang="zh-CN" altLang="en-US" sz="2400"/>
              <a:t>成员人数</a:t>
            </a:r>
            <a:r>
              <a:rPr lang="en-US" altLang="zh-CN" sz="2400"/>
              <a:t>,</a:t>
            </a:r>
            <a:r>
              <a:rPr lang="zh-CN" altLang="en-US" sz="2400"/>
              <a:t>完成时间</a:t>
            </a:r>
            <a:r>
              <a:rPr lang="en-US" altLang="zh-CN" sz="2400"/>
              <a:t>,</a:t>
            </a:r>
            <a:r>
              <a:rPr lang="zh-CN" altLang="en-US" sz="2400"/>
              <a:t>文档数等；</a:t>
            </a:r>
          </a:p>
          <a:p>
            <a:pPr marL="1009650" lvl="1" indent="-609600" eaLnBrk="1" hangingPunct="1">
              <a:buFontTx/>
              <a:buAutoNum type="arabicPeriod"/>
            </a:pPr>
            <a:r>
              <a:rPr lang="zh-CN" altLang="en-US" sz="2400">
                <a:solidFill>
                  <a:srgbClr val="FF0000"/>
                </a:solidFill>
              </a:rPr>
              <a:t>项目数据</a:t>
            </a:r>
            <a:r>
              <a:rPr lang="en-US" altLang="zh-CN" sz="2400"/>
              <a:t>: </a:t>
            </a:r>
            <a:r>
              <a:rPr lang="zh-CN" altLang="en-US" sz="2400"/>
              <a:t>分析</a:t>
            </a:r>
            <a:r>
              <a:rPr lang="en-US" altLang="zh-CN" sz="2400"/>
              <a:t>(%),</a:t>
            </a:r>
            <a:r>
              <a:rPr lang="zh-CN" altLang="en-US" sz="2400"/>
              <a:t>设计</a:t>
            </a:r>
            <a:r>
              <a:rPr lang="en-US" altLang="zh-CN" sz="2400"/>
              <a:t>(%),</a:t>
            </a:r>
            <a:r>
              <a:rPr lang="zh-CN" altLang="en-US" sz="2400"/>
              <a:t>编码</a:t>
            </a:r>
            <a:r>
              <a:rPr lang="en-US" altLang="zh-CN" sz="2400"/>
              <a:t>(%)</a:t>
            </a:r>
            <a:r>
              <a:rPr lang="zh-CN" altLang="en-US" sz="2400"/>
              <a:t>等</a:t>
            </a:r>
            <a:r>
              <a:rPr lang="en-US" altLang="zh-CN" sz="2400"/>
              <a:t>;</a:t>
            </a:r>
          </a:p>
          <a:p>
            <a:pPr marL="1009650" lvl="1" indent="-609600" eaLnBrk="1" hangingPunct="1">
              <a:buFontTx/>
              <a:buAutoNum type="arabicPeriod"/>
            </a:pPr>
            <a:r>
              <a:rPr lang="zh-CN" altLang="en-US" sz="2400">
                <a:solidFill>
                  <a:srgbClr val="FF0000"/>
                </a:solidFill>
              </a:rPr>
              <a:t>功能数据</a:t>
            </a:r>
            <a:r>
              <a:rPr lang="en-US" altLang="zh-CN" sz="2400"/>
              <a:t>: </a:t>
            </a:r>
            <a:r>
              <a:rPr lang="zh-CN" altLang="en-US" sz="2400"/>
              <a:t>功能点；</a:t>
            </a:r>
          </a:p>
          <a:p>
            <a:pPr marL="1009650" lvl="1" indent="-609600" eaLnBrk="1" hangingPunct="1">
              <a:buFontTx/>
              <a:buAutoNum type="arabicPeriod"/>
            </a:pPr>
            <a:r>
              <a:rPr lang="zh-CN" altLang="en-US" sz="2400">
                <a:solidFill>
                  <a:srgbClr val="FF0000"/>
                </a:solidFill>
              </a:rPr>
              <a:t>生产率和成本数据 </a:t>
            </a:r>
            <a:r>
              <a:rPr lang="zh-CN" altLang="en-US" sz="2400"/>
              <a:t>；</a:t>
            </a:r>
          </a:p>
          <a:p>
            <a:pPr marL="1009650" lvl="1" indent="-609600" eaLnBrk="1" hangingPunct="1">
              <a:buFontTx/>
              <a:buAutoNum type="arabicPeriod"/>
            </a:pPr>
            <a:r>
              <a:rPr lang="zh-CN" altLang="en-US" sz="2400">
                <a:solidFill>
                  <a:srgbClr val="FF0000"/>
                </a:solidFill>
              </a:rPr>
              <a:t>质量数据</a:t>
            </a:r>
            <a:r>
              <a:rPr lang="en-US" altLang="zh-CN" sz="2400"/>
              <a:t>: </a:t>
            </a:r>
            <a:r>
              <a:rPr lang="zh-CN" altLang="en-US" sz="2400"/>
              <a:t>错误数</a:t>
            </a:r>
            <a:r>
              <a:rPr lang="en-US" altLang="zh-CN" sz="2400"/>
              <a:t>, </a:t>
            </a:r>
            <a:r>
              <a:rPr lang="zh-CN" altLang="en-US" sz="2400"/>
              <a:t>错误成本</a:t>
            </a:r>
            <a:r>
              <a:rPr lang="en-US" altLang="zh-CN" sz="2400"/>
              <a:t>,</a:t>
            </a:r>
            <a:r>
              <a:rPr lang="zh-CN" altLang="en-US" sz="2400"/>
              <a:t>维护工作量等</a:t>
            </a:r>
            <a:r>
              <a:rPr lang="en-US" altLang="zh-CN" sz="240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3" name="Rectangle 3">
            <a:extLst>
              <a:ext uri="{FF2B5EF4-FFF2-40B4-BE49-F238E27FC236}">
                <a16:creationId xmlns:a16="http://schemas.microsoft.com/office/drawing/2014/main" id="{9FEFCFF8-9B8D-E046-B75D-B49F86BEA1A2}"/>
              </a:ext>
            </a:extLst>
          </p:cNvPr>
          <p:cNvSpPr>
            <a:spLocks noGrp="1" noRot="1" noChangeArrowheads="1"/>
          </p:cNvSpPr>
          <p:nvPr>
            <p:ph type="body" idx="1"/>
          </p:nvPr>
        </p:nvSpPr>
        <p:spPr>
          <a:xfrm>
            <a:off x="539750" y="1484313"/>
            <a:ext cx="8078788" cy="4795837"/>
          </a:xfrm>
        </p:spPr>
        <p:txBody>
          <a:bodyPr/>
          <a:lstStyle/>
          <a:p>
            <a:pPr eaLnBrk="1" hangingPunct="1"/>
            <a:r>
              <a:rPr lang="en-US" altLang="en-US" sz="2800"/>
              <a:t>从过去的项目中收集的度量可用来作为</a:t>
            </a:r>
            <a:r>
              <a:rPr lang="en-US" altLang="en-US" sz="2800">
                <a:solidFill>
                  <a:srgbClr val="FF0000"/>
                </a:solidFill>
              </a:rPr>
              <a:t>评估</a:t>
            </a:r>
            <a:r>
              <a:rPr lang="en-US" altLang="en-US" sz="2800"/>
              <a:t>现在软件项目的工作量及时间的</a:t>
            </a:r>
            <a:r>
              <a:rPr lang="en-US" altLang="en-US" sz="2800">
                <a:solidFill>
                  <a:srgbClr val="FF0000"/>
                </a:solidFill>
              </a:rPr>
              <a:t>基础</a:t>
            </a:r>
            <a:r>
              <a:rPr lang="en-US" altLang="en-US" sz="2800"/>
              <a:t>。</a:t>
            </a:r>
            <a:endParaRPr lang="zh-CN" altLang="en-US" sz="2800"/>
          </a:p>
          <a:p>
            <a:pPr eaLnBrk="1" hangingPunct="1"/>
            <a:r>
              <a:rPr lang="en-US" altLang="en-US" sz="2800"/>
              <a:t>随着项目的进展，所花费的工作量及时间的测量可以和预评估值(及目进度)进行</a:t>
            </a:r>
            <a:r>
              <a:rPr lang="en-US" altLang="en-US" sz="2800">
                <a:solidFill>
                  <a:srgbClr val="FF0000"/>
                </a:solidFill>
              </a:rPr>
              <a:t>比较</a:t>
            </a:r>
            <a:r>
              <a:rPr lang="en-US" altLang="en-US" sz="2800"/>
              <a:t>。</a:t>
            </a:r>
            <a:endParaRPr lang="zh-CN" altLang="en-US" sz="2800"/>
          </a:p>
          <a:p>
            <a:pPr eaLnBrk="1" hangingPunct="1"/>
            <a:r>
              <a:rPr lang="en-US" altLang="en-US" sz="2800"/>
              <a:t>项目管理者使用这些数据来</a:t>
            </a:r>
            <a:r>
              <a:rPr lang="en-US" altLang="en-US" sz="2800">
                <a:solidFill>
                  <a:srgbClr val="FF0000"/>
                </a:solidFill>
              </a:rPr>
              <a:t>监督和控制</a:t>
            </a:r>
            <a:r>
              <a:rPr lang="en-US" altLang="en-US" sz="2800"/>
              <a:t>项目的进展。</a:t>
            </a:r>
            <a:endParaRPr lang="zh-CN" altLang="en-US" sz="2800"/>
          </a:p>
        </p:txBody>
      </p:sp>
      <p:sp>
        <p:nvSpPr>
          <p:cNvPr id="28674" name="Rectangle 2">
            <a:extLst>
              <a:ext uri="{FF2B5EF4-FFF2-40B4-BE49-F238E27FC236}">
                <a16:creationId xmlns:a16="http://schemas.microsoft.com/office/drawing/2014/main" id="{58965176-A3D6-0749-88F2-2DB644567E7A}"/>
              </a:ext>
            </a:extLst>
          </p:cNvPr>
          <p:cNvSpPr>
            <a:spLocks noGrp="1" noRot="1" noChangeArrowheads="1"/>
          </p:cNvSpPr>
          <p:nvPr>
            <p:ph type="title"/>
          </p:nvPr>
        </p:nvSpPr>
        <p:spPr>
          <a:xfrm>
            <a:off x="301625" y="76200"/>
            <a:ext cx="8540750" cy="609600"/>
          </a:xfrm>
        </p:spPr>
        <p:txBody>
          <a:bodyPr/>
          <a:lstStyle/>
          <a:p>
            <a:pPr eaLnBrk="1" hangingPunct="1"/>
            <a:r>
              <a:rPr lang="zh-CN" altLang="en-US" sz="4000"/>
              <a:t>建立历史数据基线</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animEffect transition="in" filter="blinds(horizontal)">
                                      <p:cBhvr>
                                        <p:cTn id="7" dur="500"/>
                                        <p:tgtEl>
                                          <p:spTgt spid="1638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3843">
                                            <p:txEl>
                                              <p:pRg st="1" end="1"/>
                                            </p:txEl>
                                          </p:spTgt>
                                        </p:tgtEl>
                                        <p:attrNameLst>
                                          <p:attrName>style.visibility</p:attrName>
                                        </p:attrNameLst>
                                      </p:cBhvr>
                                      <p:to>
                                        <p:strVal val="visible"/>
                                      </p:to>
                                    </p:set>
                                    <p:animEffect transition="in" filter="blinds(horizontal)">
                                      <p:cBhvr>
                                        <p:cTn id="12" dur="500"/>
                                        <p:tgtEl>
                                          <p:spTgt spid="1638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3843">
                                            <p:txEl>
                                              <p:pRg st="2" end="2"/>
                                            </p:txEl>
                                          </p:spTgt>
                                        </p:tgtEl>
                                        <p:attrNameLst>
                                          <p:attrName>style.visibility</p:attrName>
                                        </p:attrNameLst>
                                      </p:cBhvr>
                                      <p:to>
                                        <p:strVal val="visible"/>
                                      </p:to>
                                    </p:set>
                                    <p:animEffect transition="in" filter="blinds(horizontal)">
                                      <p:cBhvr>
                                        <p:cTn id="17" dur="500"/>
                                        <p:tgtEl>
                                          <p:spTgt spid="1638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a:extLst>
              <a:ext uri="{FF2B5EF4-FFF2-40B4-BE49-F238E27FC236}">
                <a16:creationId xmlns:a16="http://schemas.microsoft.com/office/drawing/2014/main" id="{22366231-8D00-6547-838E-3D6236159847}"/>
              </a:ext>
            </a:extLst>
          </p:cNvPr>
          <p:cNvSpPr>
            <a:spLocks noGrp="1" noRot="1" noChangeArrowheads="1"/>
          </p:cNvSpPr>
          <p:nvPr>
            <p:ph type="body" idx="1"/>
          </p:nvPr>
        </p:nvSpPr>
        <p:spPr>
          <a:xfrm>
            <a:off x="-36513" y="296863"/>
            <a:ext cx="9109076" cy="6011862"/>
          </a:xfrm>
        </p:spPr>
        <p:txBody>
          <a:bodyPr/>
          <a:lstStyle/>
          <a:p>
            <a:pPr eaLnBrk="1" hangingPunct="1"/>
            <a:r>
              <a:rPr lang="zh-CN" altLang="en-US" sz="2800"/>
              <a:t>软件项目管理中，主要关心</a:t>
            </a:r>
            <a:r>
              <a:rPr lang="zh-CN" altLang="en-US" sz="2800">
                <a:solidFill>
                  <a:srgbClr val="FF0000"/>
                </a:solidFill>
              </a:rPr>
              <a:t>生产率和质量</a:t>
            </a:r>
            <a:r>
              <a:rPr lang="zh-CN" altLang="en-US" sz="2800"/>
              <a:t>的度量</a:t>
            </a:r>
          </a:p>
          <a:p>
            <a:pPr eaLnBrk="1" hangingPunct="1"/>
            <a:r>
              <a:rPr lang="zh-CN" altLang="en-US" sz="2800"/>
              <a:t>根据投入的工作量和时间对软件开发“</a:t>
            </a:r>
            <a:r>
              <a:rPr lang="zh-CN" altLang="en-US" sz="2800">
                <a:solidFill>
                  <a:srgbClr val="FF0000"/>
                </a:solidFill>
              </a:rPr>
              <a:t>输出</a:t>
            </a:r>
            <a:r>
              <a:rPr lang="zh-CN" altLang="en-US" sz="2800"/>
              <a:t>”的测度，对产生的工作产品的“适用性”的测度。</a:t>
            </a:r>
          </a:p>
          <a:p>
            <a:pPr eaLnBrk="1" hangingPunct="1"/>
            <a:r>
              <a:rPr lang="zh-CN" altLang="en-US" sz="2800"/>
              <a:t>为达到计划及估算的目的，兴趣主要放在</a:t>
            </a:r>
            <a:r>
              <a:rPr lang="zh-CN" altLang="en-US" sz="2800">
                <a:solidFill>
                  <a:srgbClr val="FF0000"/>
                </a:solidFill>
              </a:rPr>
              <a:t>历史</a:t>
            </a:r>
            <a:r>
              <a:rPr lang="zh-CN" altLang="en-US" sz="2800"/>
              <a:t>上</a:t>
            </a:r>
          </a:p>
          <a:p>
            <a:pPr lvl="1" eaLnBrk="1" hangingPunct="1"/>
            <a:r>
              <a:rPr lang="zh-CN" altLang="en-US"/>
              <a:t>在过去的项目中软件开发生产率是怎样的呢？</a:t>
            </a:r>
          </a:p>
          <a:p>
            <a:pPr lvl="1" eaLnBrk="1" hangingPunct="1"/>
            <a:r>
              <a:rPr lang="zh-CN" altLang="en-US"/>
              <a:t>产生的软件的质量是怎样的？</a:t>
            </a:r>
          </a:p>
          <a:p>
            <a:pPr lvl="1" eaLnBrk="1" hangingPunct="1"/>
            <a:r>
              <a:rPr lang="zh-CN" altLang="en-US"/>
              <a:t>如何从过去的生产率及质量数据推断出现在的状况？</a:t>
            </a:r>
          </a:p>
          <a:p>
            <a:pPr lvl="1" eaLnBrk="1" hangingPunct="1"/>
            <a:r>
              <a:rPr lang="zh-CN" altLang="en-US"/>
              <a:t>过去的信息如何帮助我们更加准确地计划和估算呢？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3954">
                                            <p:txEl>
                                              <p:pRg st="0" end="0"/>
                                            </p:txEl>
                                          </p:spTgt>
                                        </p:tgtEl>
                                        <p:attrNameLst>
                                          <p:attrName>style.visibility</p:attrName>
                                        </p:attrNameLst>
                                      </p:cBhvr>
                                      <p:to>
                                        <p:strVal val="visible"/>
                                      </p:to>
                                    </p:set>
                                    <p:animEffect transition="in" filter="blinds(horizontal)">
                                      <p:cBhvr>
                                        <p:cTn id="7" dur="500"/>
                                        <p:tgtEl>
                                          <p:spTgt spid="25395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3954">
                                            <p:txEl>
                                              <p:pRg st="1" end="1"/>
                                            </p:txEl>
                                          </p:spTgt>
                                        </p:tgtEl>
                                        <p:attrNameLst>
                                          <p:attrName>style.visibility</p:attrName>
                                        </p:attrNameLst>
                                      </p:cBhvr>
                                      <p:to>
                                        <p:strVal val="visible"/>
                                      </p:to>
                                    </p:set>
                                    <p:animEffect transition="in" filter="blinds(horizontal)">
                                      <p:cBhvr>
                                        <p:cTn id="12" dur="500"/>
                                        <p:tgtEl>
                                          <p:spTgt spid="25395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3954">
                                            <p:txEl>
                                              <p:pRg st="2" end="2"/>
                                            </p:txEl>
                                          </p:spTgt>
                                        </p:tgtEl>
                                        <p:attrNameLst>
                                          <p:attrName>style.visibility</p:attrName>
                                        </p:attrNameLst>
                                      </p:cBhvr>
                                      <p:to>
                                        <p:strVal val="visible"/>
                                      </p:to>
                                    </p:set>
                                    <p:animEffect transition="in" filter="blinds(horizontal)">
                                      <p:cBhvr>
                                        <p:cTn id="17" dur="500"/>
                                        <p:tgtEl>
                                          <p:spTgt spid="253954">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253954">
                                            <p:txEl>
                                              <p:pRg st="3" end="3"/>
                                            </p:txEl>
                                          </p:spTgt>
                                        </p:tgtEl>
                                        <p:attrNameLst>
                                          <p:attrName>style.visibility</p:attrName>
                                        </p:attrNameLst>
                                      </p:cBhvr>
                                      <p:to>
                                        <p:strVal val="visible"/>
                                      </p:to>
                                    </p:set>
                                    <p:animEffect transition="in" filter="blinds(horizontal)">
                                      <p:cBhvr>
                                        <p:cTn id="20" dur="500"/>
                                        <p:tgtEl>
                                          <p:spTgt spid="253954">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53954">
                                            <p:txEl>
                                              <p:pRg st="4" end="4"/>
                                            </p:txEl>
                                          </p:spTgt>
                                        </p:tgtEl>
                                        <p:attrNameLst>
                                          <p:attrName>style.visibility</p:attrName>
                                        </p:attrNameLst>
                                      </p:cBhvr>
                                      <p:to>
                                        <p:strVal val="visible"/>
                                      </p:to>
                                    </p:set>
                                    <p:animEffect transition="in" filter="blinds(horizontal)">
                                      <p:cBhvr>
                                        <p:cTn id="23" dur="500"/>
                                        <p:tgtEl>
                                          <p:spTgt spid="253954">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53954">
                                            <p:txEl>
                                              <p:pRg st="5" end="5"/>
                                            </p:txEl>
                                          </p:spTgt>
                                        </p:tgtEl>
                                        <p:attrNameLst>
                                          <p:attrName>style.visibility</p:attrName>
                                        </p:attrNameLst>
                                      </p:cBhvr>
                                      <p:to>
                                        <p:strVal val="visible"/>
                                      </p:to>
                                    </p:set>
                                    <p:animEffect transition="in" filter="blinds(horizontal)">
                                      <p:cBhvr>
                                        <p:cTn id="26" dur="500"/>
                                        <p:tgtEl>
                                          <p:spTgt spid="253954">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253954">
                                            <p:txEl>
                                              <p:pRg st="6" end="6"/>
                                            </p:txEl>
                                          </p:spTgt>
                                        </p:tgtEl>
                                        <p:attrNameLst>
                                          <p:attrName>style.visibility</p:attrName>
                                        </p:attrNameLst>
                                      </p:cBhvr>
                                      <p:to>
                                        <p:strVal val="visible"/>
                                      </p:to>
                                    </p:set>
                                    <p:animEffect transition="in" filter="blinds(horizontal)">
                                      <p:cBhvr>
                                        <p:cTn id="29" dur="500"/>
                                        <p:tgtEl>
                                          <p:spTgt spid="25395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Rectangle 3">
            <a:extLst>
              <a:ext uri="{FF2B5EF4-FFF2-40B4-BE49-F238E27FC236}">
                <a16:creationId xmlns:a16="http://schemas.microsoft.com/office/drawing/2014/main" id="{28CACBE0-23B6-284D-9B34-8A0BC63E9651}"/>
              </a:ext>
            </a:extLst>
          </p:cNvPr>
          <p:cNvSpPr>
            <a:spLocks noGrp="1" noRot="1" noChangeArrowheads="1"/>
          </p:cNvSpPr>
          <p:nvPr>
            <p:ph type="body" sz="half" idx="1"/>
          </p:nvPr>
        </p:nvSpPr>
        <p:spPr>
          <a:xfrm>
            <a:off x="152400" y="549275"/>
            <a:ext cx="8839200" cy="5927725"/>
          </a:xfrm>
        </p:spPr>
        <p:txBody>
          <a:bodyPr/>
          <a:lstStyle/>
          <a:p>
            <a:pPr eaLnBrk="1" hangingPunct="1">
              <a:lnSpc>
                <a:spcPts val="4000"/>
              </a:lnSpc>
            </a:pPr>
            <a:r>
              <a:rPr lang="zh-CN" altLang="en-US">
                <a:solidFill>
                  <a:srgbClr val="FF0000"/>
                </a:solidFill>
              </a:rPr>
              <a:t>生产率</a:t>
            </a:r>
            <a:r>
              <a:rPr lang="zh-CN" altLang="en-US"/>
              <a:t>根据文档的页数、复审的时间、功能点、及交付的源代码行数来测量</a:t>
            </a:r>
            <a:r>
              <a:rPr lang="en-US" altLang="zh-CN"/>
              <a:t>. </a:t>
            </a:r>
            <a:r>
              <a:rPr lang="zh-CN" altLang="en-US"/>
              <a:t>比如：</a:t>
            </a:r>
          </a:p>
          <a:p>
            <a:pPr lvl="1" eaLnBrk="1" hangingPunct="1">
              <a:lnSpc>
                <a:spcPts val="4000"/>
              </a:lnSpc>
            </a:pPr>
            <a:r>
              <a:rPr lang="zh-CN" altLang="en-US">
                <a:solidFill>
                  <a:srgbClr val="FF0000"/>
                </a:solidFill>
              </a:rPr>
              <a:t>生产率</a:t>
            </a:r>
            <a:r>
              <a:rPr lang="en-US" altLang="zh-CN">
                <a:solidFill>
                  <a:srgbClr val="FF0000"/>
                </a:solidFill>
              </a:rPr>
              <a:t>=</a:t>
            </a:r>
            <a:r>
              <a:rPr lang="zh-CN" altLang="en-US">
                <a:solidFill>
                  <a:srgbClr val="FF0000"/>
                </a:solidFill>
              </a:rPr>
              <a:t>功能点数（或千代码行数）</a:t>
            </a:r>
            <a:r>
              <a:rPr lang="en-US" altLang="zh-CN">
                <a:solidFill>
                  <a:srgbClr val="FF0000"/>
                </a:solidFill>
              </a:rPr>
              <a:t>/</a:t>
            </a:r>
            <a:r>
              <a:rPr lang="zh-CN" altLang="en-US">
                <a:solidFill>
                  <a:srgbClr val="FF0000"/>
                </a:solidFill>
              </a:rPr>
              <a:t>每人</a:t>
            </a:r>
            <a:r>
              <a:rPr lang="en-US" altLang="zh-CN">
                <a:solidFill>
                  <a:srgbClr val="FF0000"/>
                </a:solidFill>
              </a:rPr>
              <a:t>.</a:t>
            </a:r>
            <a:r>
              <a:rPr lang="zh-CN" altLang="en-US">
                <a:solidFill>
                  <a:srgbClr val="FF0000"/>
                </a:solidFill>
              </a:rPr>
              <a:t>月</a:t>
            </a:r>
          </a:p>
          <a:p>
            <a:pPr eaLnBrk="1" hangingPunct="1">
              <a:lnSpc>
                <a:spcPts val="4000"/>
              </a:lnSpc>
            </a:pPr>
            <a:r>
              <a:rPr lang="zh-CN" altLang="en-US"/>
              <a:t>除此之外，对每一个软件工程任务中所发现的错误也会加以跟踪。</a:t>
            </a:r>
          </a:p>
          <a:p>
            <a:pPr eaLnBrk="1" hangingPunct="1">
              <a:lnSpc>
                <a:spcPts val="4000"/>
              </a:lnSpc>
            </a:pPr>
            <a:r>
              <a:rPr lang="zh-CN" altLang="en-US"/>
              <a:t>软件在从规格说明到设计的演化中，需要收集技术度量，以评估设计质量，并提供若干指标，这些指标会影响代码生成及模块测试和集成测试所采用的方法。</a:t>
            </a:r>
          </a:p>
          <a:p>
            <a:pPr eaLnBrk="1" hangingPunct="1">
              <a:lnSpc>
                <a:spcPts val="4000"/>
              </a:lnSpc>
            </a:pPr>
            <a:endParaRPr lang="zh-CN" altLang="en-US"/>
          </a:p>
          <a:p>
            <a:pPr eaLnBrk="1" hangingPunct="1">
              <a:lnSpc>
                <a:spcPts val="4000"/>
              </a:lnSpc>
            </a:pPr>
            <a:endParaRPr lang="zh-CN"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23">
                                            <p:txEl>
                                              <p:pRg st="0" end="0"/>
                                            </p:txEl>
                                          </p:spTgt>
                                        </p:tgtEl>
                                        <p:attrNameLst>
                                          <p:attrName>style.visibility</p:attrName>
                                        </p:attrNameLst>
                                      </p:cBhvr>
                                      <p:to>
                                        <p:strVal val="visible"/>
                                      </p:to>
                                    </p:set>
                                    <p:animEffect transition="in" filter="blinds(horizontal)">
                                      <p:cBhvr>
                                        <p:cTn id="7" dur="500"/>
                                        <p:tgtEl>
                                          <p:spTgt spid="13312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33123">
                                            <p:txEl>
                                              <p:pRg st="1" end="1"/>
                                            </p:txEl>
                                          </p:spTgt>
                                        </p:tgtEl>
                                        <p:attrNameLst>
                                          <p:attrName>style.visibility</p:attrName>
                                        </p:attrNameLst>
                                      </p:cBhvr>
                                      <p:to>
                                        <p:strVal val="visible"/>
                                      </p:to>
                                    </p:set>
                                    <p:animEffect transition="in" filter="blinds(horizontal)">
                                      <p:cBhvr>
                                        <p:cTn id="10" dur="500"/>
                                        <p:tgtEl>
                                          <p:spTgt spid="133123">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33123">
                                            <p:txEl>
                                              <p:pRg st="2" end="2"/>
                                            </p:txEl>
                                          </p:spTgt>
                                        </p:tgtEl>
                                        <p:attrNameLst>
                                          <p:attrName>style.visibility</p:attrName>
                                        </p:attrNameLst>
                                      </p:cBhvr>
                                      <p:to>
                                        <p:strVal val="visible"/>
                                      </p:to>
                                    </p:set>
                                    <p:animEffect transition="in" filter="blinds(horizontal)">
                                      <p:cBhvr>
                                        <p:cTn id="15" dur="500"/>
                                        <p:tgtEl>
                                          <p:spTgt spid="133123">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33123">
                                            <p:txEl>
                                              <p:pRg st="3" end="3"/>
                                            </p:txEl>
                                          </p:spTgt>
                                        </p:tgtEl>
                                        <p:attrNameLst>
                                          <p:attrName>style.visibility</p:attrName>
                                        </p:attrNameLst>
                                      </p:cBhvr>
                                      <p:to>
                                        <p:strVal val="visible"/>
                                      </p:to>
                                    </p:set>
                                    <p:animEffect transition="in" filter="blinds(horizontal)">
                                      <p:cBhvr>
                                        <p:cTn id="20" dur="500"/>
                                        <p:tgtEl>
                                          <p:spTgt spid="1331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4">
            <a:extLst>
              <a:ext uri="{FF2B5EF4-FFF2-40B4-BE49-F238E27FC236}">
                <a16:creationId xmlns:a16="http://schemas.microsoft.com/office/drawing/2014/main" id="{5534EFFB-B8FD-434C-A38A-2E0012B3B8F1}"/>
              </a:ext>
            </a:extLst>
          </p:cNvPr>
          <p:cNvSpPr>
            <a:spLocks noGrp="1" noChangeArrowheads="1"/>
          </p:cNvSpPr>
          <p:nvPr>
            <p:ph type="title"/>
          </p:nvPr>
        </p:nvSpPr>
        <p:spPr/>
        <p:txBody>
          <a:bodyPr/>
          <a:lstStyle/>
          <a:p>
            <a:pPr eaLnBrk="1" hangingPunct="1"/>
            <a:r>
              <a:rPr lang="hr-HR" altLang="zh-CN" b="1">
                <a:latin typeface="宋体" panose="02010600030101010101" pitchFamily="2" charset="-122"/>
              </a:rPr>
              <a:t>19.</a:t>
            </a:r>
            <a:r>
              <a:rPr lang="en-US" altLang="zh-CN" b="1">
                <a:latin typeface="宋体" panose="02010600030101010101" pitchFamily="2" charset="-122"/>
              </a:rPr>
              <a:t>2</a:t>
            </a:r>
            <a:r>
              <a:rPr lang="zh-CN" altLang="en-US" b="1">
                <a:latin typeface="宋体" panose="02010600030101010101" pitchFamily="2" charset="-122"/>
              </a:rPr>
              <a:t> </a:t>
            </a:r>
            <a:r>
              <a:rPr lang="en-US" altLang="zh-CN" b="1">
                <a:latin typeface="宋体" panose="02010600030101010101" pitchFamily="2" charset="-122"/>
              </a:rPr>
              <a:t> </a:t>
            </a:r>
            <a:r>
              <a:rPr lang="zh-CN" altLang="en-US" b="1">
                <a:latin typeface="宋体" panose="02010600030101010101" pitchFamily="2" charset="-122"/>
              </a:rPr>
              <a:t>软件测量</a:t>
            </a:r>
            <a:endParaRPr lang="zh-CN" altLang="en-US"/>
          </a:p>
        </p:txBody>
      </p:sp>
      <p:sp>
        <p:nvSpPr>
          <p:cNvPr id="31746" name="Rectangle 2">
            <a:extLst>
              <a:ext uri="{FF2B5EF4-FFF2-40B4-BE49-F238E27FC236}">
                <a16:creationId xmlns:a16="http://schemas.microsoft.com/office/drawing/2014/main" id="{1288908A-9D46-CB47-833A-2C74415CC0BC}"/>
              </a:ext>
            </a:extLst>
          </p:cNvPr>
          <p:cNvSpPr>
            <a:spLocks noGrp="1" noChangeArrowheads="1"/>
          </p:cNvSpPr>
          <p:nvPr>
            <p:ph idx="1"/>
          </p:nvPr>
        </p:nvSpPr>
        <p:spPr/>
        <p:txBody>
          <a:bodyPr/>
          <a:lstStyle/>
          <a:p>
            <a:pPr eaLnBrk="1" hangingPunct="1">
              <a:lnSpc>
                <a:spcPct val="145000"/>
              </a:lnSpc>
            </a:pPr>
            <a:r>
              <a:rPr lang="zh-CN" altLang="en-US" sz="3600">
                <a:latin typeface="宋体" panose="02010600030101010101" pitchFamily="2" charset="-122"/>
              </a:rPr>
              <a:t>测度在现实世界中可分为两类：</a:t>
            </a:r>
          </a:p>
          <a:p>
            <a:pPr lvl="1" eaLnBrk="1" hangingPunct="1">
              <a:lnSpc>
                <a:spcPct val="145000"/>
              </a:lnSpc>
            </a:pPr>
            <a:r>
              <a:rPr lang="zh-CN" altLang="en-US">
                <a:latin typeface="宋体" panose="02010600030101010101" pitchFamily="2" charset="-122"/>
              </a:rPr>
              <a:t>直接测量</a:t>
            </a:r>
          </a:p>
          <a:p>
            <a:pPr lvl="1" eaLnBrk="1" hangingPunct="1">
              <a:lnSpc>
                <a:spcPct val="145000"/>
              </a:lnSpc>
            </a:pPr>
            <a:r>
              <a:rPr lang="zh-CN" altLang="en-US">
                <a:latin typeface="宋体" panose="02010600030101010101" pitchFamily="2" charset="-122"/>
              </a:rPr>
              <a:t>间接测量</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4">
            <a:extLst>
              <a:ext uri="{FF2B5EF4-FFF2-40B4-BE49-F238E27FC236}">
                <a16:creationId xmlns:a16="http://schemas.microsoft.com/office/drawing/2014/main" id="{F59669B8-E97C-EF45-932A-817BB38C8C2C}"/>
              </a:ext>
            </a:extLst>
          </p:cNvPr>
          <p:cNvSpPr>
            <a:spLocks noGrp="1" noChangeArrowheads="1"/>
          </p:cNvSpPr>
          <p:nvPr>
            <p:ph type="title"/>
          </p:nvPr>
        </p:nvSpPr>
        <p:spPr/>
        <p:txBody>
          <a:bodyPr/>
          <a:lstStyle/>
          <a:p>
            <a:pPr eaLnBrk="1" hangingPunct="1"/>
            <a:r>
              <a:rPr lang="hr-HR" altLang="zh-CN" b="1">
                <a:latin typeface="宋体" panose="02010600030101010101" pitchFamily="2" charset="-122"/>
              </a:rPr>
              <a:t>19.</a:t>
            </a:r>
            <a:r>
              <a:rPr lang="en-US" altLang="zh-CN" b="1">
                <a:latin typeface="宋体" panose="02010600030101010101" pitchFamily="2" charset="-122"/>
              </a:rPr>
              <a:t>2</a:t>
            </a:r>
            <a:r>
              <a:rPr lang="zh-CN" altLang="en-US" b="1">
                <a:latin typeface="宋体" panose="02010600030101010101" pitchFamily="2" charset="-122"/>
              </a:rPr>
              <a:t> </a:t>
            </a:r>
            <a:r>
              <a:rPr lang="en-US" altLang="zh-CN" b="1">
                <a:latin typeface="宋体" panose="02010600030101010101" pitchFamily="2" charset="-122"/>
              </a:rPr>
              <a:t> </a:t>
            </a:r>
            <a:r>
              <a:rPr lang="zh-CN" altLang="en-US" b="1">
                <a:latin typeface="宋体" panose="02010600030101010101" pitchFamily="2" charset="-122"/>
              </a:rPr>
              <a:t>软件测量（续）</a:t>
            </a:r>
            <a:endParaRPr lang="zh-CN" altLang="en-US"/>
          </a:p>
        </p:txBody>
      </p:sp>
      <p:sp>
        <p:nvSpPr>
          <p:cNvPr id="32770" name="Text Box 6">
            <a:extLst>
              <a:ext uri="{FF2B5EF4-FFF2-40B4-BE49-F238E27FC236}">
                <a16:creationId xmlns:a16="http://schemas.microsoft.com/office/drawing/2014/main" id="{D6AEF4D0-65F2-194F-B1CE-774AEC0749E1}"/>
              </a:ext>
            </a:extLst>
          </p:cNvPr>
          <p:cNvSpPr>
            <a:spLocks noGrp="1" noChangeArrowheads="1"/>
          </p:cNvSpPr>
          <p:nvPr>
            <p:ph idx="1"/>
          </p:nvPr>
        </p:nvSpPr>
        <p:spPr>
          <a:xfrm>
            <a:off x="457200" y="1600200"/>
            <a:ext cx="8229600" cy="2579688"/>
          </a:xfrm>
        </p:spPr>
        <p:txBody>
          <a:bodyPr>
            <a:spAutoFit/>
          </a:bodyPr>
          <a:lstStyle/>
          <a:p>
            <a:pPr eaLnBrk="1" hangingPunct="1">
              <a:lnSpc>
                <a:spcPct val="125000"/>
              </a:lnSpc>
              <a:spcBef>
                <a:spcPct val="30000"/>
              </a:spcBef>
            </a:pPr>
            <a:r>
              <a:rPr lang="zh-CN" altLang="en-US" sz="4000" b="1">
                <a:latin typeface="楷体_GB2312" pitchFamily="49" charset="-122"/>
              </a:rPr>
              <a:t>过程的直接测量：</a:t>
            </a:r>
          </a:p>
          <a:p>
            <a:pPr lvl="1" eaLnBrk="1" hangingPunct="1">
              <a:lnSpc>
                <a:spcPct val="125000"/>
              </a:lnSpc>
              <a:spcBef>
                <a:spcPct val="30000"/>
              </a:spcBef>
            </a:pPr>
            <a:r>
              <a:rPr lang="zh-CN" altLang="en-US" sz="3600">
                <a:latin typeface="楷体_GB2312" pitchFamily="49" charset="-122"/>
              </a:rPr>
              <a:t>花费的成本</a:t>
            </a:r>
          </a:p>
          <a:p>
            <a:pPr lvl="1" eaLnBrk="1" hangingPunct="1">
              <a:lnSpc>
                <a:spcPct val="125000"/>
              </a:lnSpc>
              <a:spcBef>
                <a:spcPct val="30000"/>
              </a:spcBef>
            </a:pPr>
            <a:r>
              <a:rPr lang="zh-CN" altLang="en-US" sz="3600">
                <a:latin typeface="楷体_GB2312" pitchFamily="49" charset="-122"/>
              </a:rPr>
              <a:t>工作量</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4">
            <a:extLst>
              <a:ext uri="{FF2B5EF4-FFF2-40B4-BE49-F238E27FC236}">
                <a16:creationId xmlns:a16="http://schemas.microsoft.com/office/drawing/2014/main" id="{FBB54892-4227-234A-B0D9-133F0D47AFB2}"/>
              </a:ext>
            </a:extLst>
          </p:cNvPr>
          <p:cNvSpPr>
            <a:spLocks noGrp="1" noChangeArrowheads="1"/>
          </p:cNvSpPr>
          <p:nvPr>
            <p:ph type="title"/>
          </p:nvPr>
        </p:nvSpPr>
        <p:spPr/>
        <p:txBody>
          <a:bodyPr/>
          <a:lstStyle/>
          <a:p>
            <a:pPr eaLnBrk="1" hangingPunct="1"/>
            <a:r>
              <a:rPr lang="hr-HR" altLang="zh-CN" b="1">
                <a:latin typeface="宋体" panose="02010600030101010101" pitchFamily="2" charset="-122"/>
              </a:rPr>
              <a:t>19.</a:t>
            </a:r>
            <a:r>
              <a:rPr lang="en-US" altLang="zh-CN" b="1">
                <a:latin typeface="宋体" panose="02010600030101010101" pitchFamily="2" charset="-122"/>
              </a:rPr>
              <a:t>2</a:t>
            </a:r>
            <a:r>
              <a:rPr lang="zh-CN" altLang="en-US" b="1">
                <a:latin typeface="宋体" panose="02010600030101010101" pitchFamily="2" charset="-122"/>
              </a:rPr>
              <a:t> </a:t>
            </a:r>
            <a:r>
              <a:rPr lang="en-US" altLang="zh-CN" b="1">
                <a:latin typeface="宋体" panose="02010600030101010101" pitchFamily="2" charset="-122"/>
              </a:rPr>
              <a:t> </a:t>
            </a:r>
            <a:r>
              <a:rPr lang="zh-CN" altLang="en-US" b="1">
                <a:latin typeface="宋体" panose="02010600030101010101" pitchFamily="2" charset="-122"/>
              </a:rPr>
              <a:t>软件测量（续）</a:t>
            </a:r>
            <a:endParaRPr lang="zh-CN" altLang="en-US"/>
          </a:p>
        </p:txBody>
      </p:sp>
      <p:sp>
        <p:nvSpPr>
          <p:cNvPr id="33794" name="Rectangle 3">
            <a:extLst>
              <a:ext uri="{FF2B5EF4-FFF2-40B4-BE49-F238E27FC236}">
                <a16:creationId xmlns:a16="http://schemas.microsoft.com/office/drawing/2014/main" id="{82EA2283-9118-3E4E-8344-901ACBF9875A}"/>
              </a:ext>
            </a:extLst>
          </p:cNvPr>
          <p:cNvSpPr>
            <a:spLocks noGrp="1" noChangeArrowheads="1"/>
          </p:cNvSpPr>
          <p:nvPr>
            <p:ph idx="1"/>
          </p:nvPr>
        </p:nvSpPr>
        <p:spPr/>
        <p:txBody>
          <a:bodyPr/>
          <a:lstStyle/>
          <a:p>
            <a:pPr marL="533400" indent="-533400" eaLnBrk="1" hangingPunct="1"/>
            <a:r>
              <a:rPr lang="zh-CN" altLang="en-US" b="1">
                <a:latin typeface="宋体" panose="02010600030101010101" pitchFamily="2" charset="-122"/>
              </a:rPr>
              <a:t>产品的直接测量：</a:t>
            </a:r>
          </a:p>
          <a:p>
            <a:pPr marL="933450" lvl="1" indent="-533400" eaLnBrk="1" hangingPunct="1"/>
            <a:r>
              <a:rPr lang="zh-CN" altLang="en-US">
                <a:latin typeface="宋体" panose="02010600030101010101" pitchFamily="2" charset="-122"/>
              </a:rPr>
              <a:t>产生的代码行</a:t>
            </a:r>
          </a:p>
          <a:p>
            <a:pPr marL="933450" lvl="1" indent="-533400" eaLnBrk="1" hangingPunct="1"/>
            <a:r>
              <a:rPr lang="zh-CN" altLang="en-US">
                <a:latin typeface="宋体" panose="02010600030101010101" pitchFamily="2" charset="-122"/>
              </a:rPr>
              <a:t>执行速度</a:t>
            </a:r>
          </a:p>
          <a:p>
            <a:pPr marL="933450" lvl="1" indent="-533400" eaLnBrk="1" hangingPunct="1"/>
            <a:r>
              <a:rPr lang="zh-CN" altLang="en-US">
                <a:latin typeface="宋体" panose="02010600030101010101" pitchFamily="2" charset="-122"/>
              </a:rPr>
              <a:t>内存大小</a:t>
            </a:r>
          </a:p>
          <a:p>
            <a:pPr marL="933450" lvl="1" indent="-533400" eaLnBrk="1" hangingPunct="1"/>
            <a:r>
              <a:rPr lang="zh-CN" altLang="en-US">
                <a:latin typeface="宋体" panose="02010600030101010101" pitchFamily="2" charset="-122"/>
              </a:rPr>
              <a:t>某段时间内报告的缺陷</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4">
            <a:extLst>
              <a:ext uri="{FF2B5EF4-FFF2-40B4-BE49-F238E27FC236}">
                <a16:creationId xmlns:a16="http://schemas.microsoft.com/office/drawing/2014/main" id="{9EF939C1-69DC-D84B-9DED-9CC38B12D165}"/>
              </a:ext>
            </a:extLst>
          </p:cNvPr>
          <p:cNvSpPr>
            <a:spLocks noGrp="1" noChangeArrowheads="1"/>
          </p:cNvSpPr>
          <p:nvPr>
            <p:ph type="title"/>
          </p:nvPr>
        </p:nvSpPr>
        <p:spPr/>
        <p:txBody>
          <a:bodyPr/>
          <a:lstStyle/>
          <a:p>
            <a:pPr eaLnBrk="1" hangingPunct="1"/>
            <a:r>
              <a:rPr lang="hr-HR" altLang="zh-CN" b="1">
                <a:latin typeface="宋体" panose="02010600030101010101" pitchFamily="2" charset="-122"/>
              </a:rPr>
              <a:t>19.</a:t>
            </a:r>
            <a:r>
              <a:rPr lang="en-US" altLang="zh-CN" b="1">
                <a:latin typeface="宋体" panose="02010600030101010101" pitchFamily="2" charset="-122"/>
              </a:rPr>
              <a:t>2</a:t>
            </a:r>
            <a:r>
              <a:rPr lang="zh-CN" altLang="en-US" b="1">
                <a:latin typeface="宋体" panose="02010600030101010101" pitchFamily="2" charset="-122"/>
              </a:rPr>
              <a:t> </a:t>
            </a:r>
            <a:r>
              <a:rPr lang="en-US" altLang="zh-CN" b="1">
                <a:latin typeface="宋体" panose="02010600030101010101" pitchFamily="2" charset="-122"/>
              </a:rPr>
              <a:t> </a:t>
            </a:r>
            <a:r>
              <a:rPr lang="zh-CN" altLang="en-US" b="1">
                <a:latin typeface="宋体" panose="02010600030101010101" pitchFamily="2" charset="-122"/>
              </a:rPr>
              <a:t>软件测量（续）</a:t>
            </a:r>
            <a:endParaRPr lang="zh-CN" altLang="en-US"/>
          </a:p>
        </p:txBody>
      </p:sp>
      <p:sp>
        <p:nvSpPr>
          <p:cNvPr id="34818" name="内容占位符 4">
            <a:extLst>
              <a:ext uri="{FF2B5EF4-FFF2-40B4-BE49-F238E27FC236}">
                <a16:creationId xmlns:a16="http://schemas.microsoft.com/office/drawing/2014/main" id="{C833E882-FE54-EE49-80CD-9E9C55A137E3}"/>
              </a:ext>
            </a:extLst>
          </p:cNvPr>
          <p:cNvSpPr>
            <a:spLocks noGrp="1" noChangeArrowheads="1"/>
          </p:cNvSpPr>
          <p:nvPr>
            <p:ph idx="1"/>
          </p:nvPr>
        </p:nvSpPr>
        <p:spPr/>
        <p:txBody>
          <a:bodyPr/>
          <a:lstStyle/>
          <a:p>
            <a:pPr eaLnBrk="1" hangingPunct="1">
              <a:lnSpc>
                <a:spcPct val="125000"/>
              </a:lnSpc>
            </a:pPr>
            <a:r>
              <a:rPr lang="zh-CN" altLang="en-US" b="1">
                <a:latin typeface="宋体" panose="02010600030101010101" pitchFamily="2" charset="-122"/>
              </a:rPr>
              <a:t>功能</a:t>
            </a:r>
          </a:p>
          <a:p>
            <a:pPr eaLnBrk="1" hangingPunct="1">
              <a:lnSpc>
                <a:spcPct val="125000"/>
              </a:lnSpc>
            </a:pPr>
            <a:r>
              <a:rPr lang="zh-CN" altLang="en-US" b="1">
                <a:latin typeface="宋体" panose="02010600030101010101" pitchFamily="2" charset="-122"/>
              </a:rPr>
              <a:t>质量</a:t>
            </a:r>
          </a:p>
          <a:p>
            <a:pPr eaLnBrk="1" hangingPunct="1">
              <a:lnSpc>
                <a:spcPct val="125000"/>
              </a:lnSpc>
            </a:pPr>
            <a:r>
              <a:rPr lang="zh-CN" altLang="en-US" b="1">
                <a:latin typeface="宋体" panose="02010600030101010101" pitchFamily="2" charset="-122"/>
              </a:rPr>
              <a:t>复杂性</a:t>
            </a:r>
          </a:p>
          <a:p>
            <a:pPr eaLnBrk="1" hangingPunct="1">
              <a:lnSpc>
                <a:spcPct val="125000"/>
              </a:lnSpc>
            </a:pPr>
            <a:r>
              <a:rPr lang="zh-CN" altLang="en-US" b="1">
                <a:latin typeface="宋体" panose="02010600030101010101" pitchFamily="2" charset="-122"/>
              </a:rPr>
              <a:t>有效性</a:t>
            </a:r>
          </a:p>
          <a:p>
            <a:pPr eaLnBrk="1" hangingPunct="1">
              <a:lnSpc>
                <a:spcPct val="125000"/>
              </a:lnSpc>
            </a:pPr>
            <a:r>
              <a:rPr lang="zh-CN" altLang="en-US" b="1">
                <a:latin typeface="宋体" panose="02010600030101010101" pitchFamily="2" charset="-122"/>
              </a:rPr>
              <a:t>可靠性</a:t>
            </a:r>
          </a:p>
          <a:p>
            <a:pPr eaLnBrk="1" hangingPunct="1">
              <a:lnSpc>
                <a:spcPct val="125000"/>
              </a:lnSpc>
            </a:pPr>
            <a:r>
              <a:rPr lang="zh-CN" altLang="en-US" b="1">
                <a:latin typeface="宋体" panose="02010600030101010101" pitchFamily="2" charset="-122"/>
              </a:rPr>
              <a:t>可维护性</a:t>
            </a:r>
          </a:p>
          <a:p>
            <a:pPr eaLnBrk="1" hangingPunct="1"/>
            <a:endParaRPr lang="zh-CN" alt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a:extLst>
              <a:ext uri="{FF2B5EF4-FFF2-40B4-BE49-F238E27FC236}">
                <a16:creationId xmlns:a16="http://schemas.microsoft.com/office/drawing/2014/main" id="{C0410E32-B45E-6B4E-AA23-4A27580D648F}"/>
              </a:ext>
            </a:extLst>
          </p:cNvPr>
          <p:cNvSpPr>
            <a:spLocks noGrp="1" noChangeArrowheads="1"/>
          </p:cNvSpPr>
          <p:nvPr>
            <p:ph type="title"/>
          </p:nvPr>
        </p:nvSpPr>
        <p:spPr/>
        <p:txBody>
          <a:bodyPr/>
          <a:lstStyle/>
          <a:p>
            <a:pPr eaLnBrk="1" hangingPunct="1"/>
            <a:r>
              <a:rPr lang="zh-CN" altLang="en-US"/>
              <a:t>如何度量？</a:t>
            </a:r>
          </a:p>
        </p:txBody>
      </p:sp>
      <p:sp>
        <p:nvSpPr>
          <p:cNvPr id="35842" name="内容占位符 2">
            <a:extLst>
              <a:ext uri="{FF2B5EF4-FFF2-40B4-BE49-F238E27FC236}">
                <a16:creationId xmlns:a16="http://schemas.microsoft.com/office/drawing/2014/main" id="{439DC671-09A2-EB4A-8E0A-8874C0169B7A}"/>
              </a:ext>
            </a:extLst>
          </p:cNvPr>
          <p:cNvSpPr>
            <a:spLocks noGrp="1" noChangeArrowheads="1"/>
          </p:cNvSpPr>
          <p:nvPr>
            <p:ph idx="1"/>
          </p:nvPr>
        </p:nvSpPr>
        <p:spPr/>
        <p:txBody>
          <a:bodyPr/>
          <a:lstStyle/>
          <a:p>
            <a:pPr eaLnBrk="1" hangingPunct="1"/>
            <a:r>
              <a:rPr lang="zh-CN" altLang="en-US"/>
              <a:t>一个组织如何将来自不同个人或项目的度量结合在一起呢？</a:t>
            </a:r>
            <a:endParaRPr lang="en-US" altLang="zh-CN"/>
          </a:p>
          <a:p>
            <a:pPr lvl="1" eaLnBrk="1" hangingPunct="1"/>
            <a:r>
              <a:rPr lang="zh-CN" altLang="en-US"/>
              <a:t>比如，简单看两个团队的发现错误数，因为项目的规模或复杂度不同，无法评价谁更有效发现了错误</a:t>
            </a:r>
            <a:endParaRPr lang="en-US" altLang="zh-CN"/>
          </a:p>
          <a:p>
            <a:pPr lvl="1" eaLnBrk="1" hangingPunct="1"/>
            <a:r>
              <a:rPr lang="zh-CN" altLang="en-US"/>
              <a:t>需要规范的度量方法：面向规模和面向功能的度量</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3">
            <a:extLst>
              <a:ext uri="{FF2B5EF4-FFF2-40B4-BE49-F238E27FC236}">
                <a16:creationId xmlns:a16="http://schemas.microsoft.com/office/drawing/2014/main" id="{4C41E484-827C-8243-B0DA-FF0663F2630E}"/>
              </a:ext>
            </a:extLst>
          </p:cNvPr>
          <p:cNvSpPr>
            <a:spLocks noGrp="1" noRot="1" noChangeArrowheads="1"/>
          </p:cNvSpPr>
          <p:nvPr>
            <p:ph type="body" idx="1"/>
          </p:nvPr>
        </p:nvSpPr>
        <p:spPr>
          <a:xfrm>
            <a:off x="301625" y="1520825"/>
            <a:ext cx="8540750" cy="4727575"/>
          </a:xfrm>
        </p:spPr>
        <p:txBody>
          <a:bodyPr/>
          <a:lstStyle/>
          <a:p>
            <a:pPr eaLnBrk="1" hangingPunct="1">
              <a:lnSpc>
                <a:spcPct val="100000"/>
              </a:lnSpc>
            </a:pPr>
            <a:r>
              <a:rPr lang="zh-CN" altLang="en-US"/>
              <a:t>面向规模的软件度量是通过规范化质量和</a:t>
            </a:r>
            <a:r>
              <a:rPr lang="en-US" altLang="zh-CN"/>
              <a:t>/</a:t>
            </a:r>
            <a:r>
              <a:rPr lang="zh-CN" altLang="en-US"/>
              <a:t>或生产率的测量而得到的，这些测量基于所生产软件的“规模”。</a:t>
            </a:r>
          </a:p>
          <a:p>
            <a:pPr eaLnBrk="1" hangingPunct="1">
              <a:lnSpc>
                <a:spcPct val="100000"/>
              </a:lnSpc>
            </a:pPr>
            <a:endParaRPr lang="en-US" altLang="zh-CN"/>
          </a:p>
        </p:txBody>
      </p:sp>
      <p:sp>
        <p:nvSpPr>
          <p:cNvPr id="36866" name="Rectangle 4">
            <a:extLst>
              <a:ext uri="{FF2B5EF4-FFF2-40B4-BE49-F238E27FC236}">
                <a16:creationId xmlns:a16="http://schemas.microsoft.com/office/drawing/2014/main" id="{16C4C104-7A85-E741-9F61-FFAEC20621C2}"/>
              </a:ext>
            </a:extLst>
          </p:cNvPr>
          <p:cNvSpPr>
            <a:spLocks noGrp="1" noRot="1" noChangeArrowheads="1"/>
          </p:cNvSpPr>
          <p:nvPr>
            <p:ph type="title"/>
          </p:nvPr>
        </p:nvSpPr>
        <p:spPr/>
        <p:txBody>
          <a:bodyPr/>
          <a:lstStyle/>
          <a:p>
            <a:pPr eaLnBrk="1" hangingPunct="1"/>
            <a:r>
              <a:rPr lang="hr-HR" altLang="zh-CN" b="1"/>
              <a:t>19.</a:t>
            </a:r>
            <a:r>
              <a:rPr lang="en-US" altLang="zh-CN" b="1"/>
              <a:t>2.1</a:t>
            </a:r>
            <a:r>
              <a:rPr lang="en-US" altLang="en-US" b="1"/>
              <a:t> 面向规模的度量</a:t>
            </a:r>
            <a:endParaRPr lang="zh-CN" altLang="en-US"/>
          </a:p>
        </p:txBody>
      </p:sp>
      <p:pic>
        <p:nvPicPr>
          <p:cNvPr id="36867" name="Picture 5">
            <a:extLst>
              <a:ext uri="{FF2B5EF4-FFF2-40B4-BE49-F238E27FC236}">
                <a16:creationId xmlns:a16="http://schemas.microsoft.com/office/drawing/2014/main" id="{1ABC540C-7962-F044-8E3B-E83F517037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021" b="17392"/>
          <a:stretch>
            <a:fillRect/>
          </a:stretch>
        </p:blipFill>
        <p:spPr bwMode="auto">
          <a:xfrm>
            <a:off x="268478" y="3140968"/>
            <a:ext cx="8573897" cy="3501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3">
            <a:extLst>
              <a:ext uri="{FF2B5EF4-FFF2-40B4-BE49-F238E27FC236}">
                <a16:creationId xmlns:a16="http://schemas.microsoft.com/office/drawing/2014/main" id="{9C75B76B-673F-D443-80BE-3B73D5603F48}"/>
              </a:ext>
            </a:extLst>
          </p:cNvPr>
          <p:cNvSpPr>
            <a:spLocks noGrp="1" noRot="1" noChangeArrowheads="1"/>
          </p:cNvSpPr>
          <p:nvPr>
            <p:ph type="body" idx="1"/>
          </p:nvPr>
        </p:nvSpPr>
        <p:spPr>
          <a:xfrm>
            <a:off x="152400" y="454025"/>
            <a:ext cx="8915400" cy="5870575"/>
          </a:xfrm>
        </p:spPr>
        <p:txBody>
          <a:bodyPr/>
          <a:lstStyle/>
          <a:p>
            <a:pPr marL="533400" indent="-533400" eaLnBrk="1" hangingPunct="1">
              <a:lnSpc>
                <a:spcPts val="4200"/>
              </a:lnSpc>
            </a:pPr>
            <a:r>
              <a:rPr lang="zh-CN" altLang="en-US"/>
              <a:t>每个项目产生一组简单的面向规模度量：</a:t>
            </a:r>
          </a:p>
          <a:p>
            <a:pPr marL="933450" lvl="1" indent="-533400" eaLnBrk="1" hangingPunct="1">
              <a:lnSpc>
                <a:spcPts val="4200"/>
              </a:lnSpc>
              <a:buFontTx/>
              <a:buAutoNum type="arabicPeriod"/>
            </a:pPr>
            <a:r>
              <a:rPr lang="zh-CN" altLang="en-US"/>
              <a:t>每千行代码</a:t>
            </a:r>
            <a:r>
              <a:rPr lang="en-US" altLang="zh-CN"/>
              <a:t>(KLOC)</a:t>
            </a:r>
            <a:r>
              <a:rPr lang="zh-CN" altLang="en-US"/>
              <a:t>的错误数。</a:t>
            </a:r>
          </a:p>
          <a:p>
            <a:pPr marL="933450" lvl="1" indent="-533400" eaLnBrk="1" hangingPunct="1">
              <a:lnSpc>
                <a:spcPts val="4200"/>
              </a:lnSpc>
              <a:buFontTx/>
              <a:buAutoNum type="arabicPeriod"/>
            </a:pPr>
            <a:r>
              <a:rPr lang="zh-CN" altLang="en-US"/>
              <a:t>每千行代码</a:t>
            </a:r>
            <a:r>
              <a:rPr lang="en-US" altLang="zh-CN"/>
              <a:t>(KLOC)</a:t>
            </a:r>
            <a:r>
              <a:rPr lang="zh-CN" altLang="en-US"/>
              <a:t>的缺陷数。</a:t>
            </a:r>
          </a:p>
          <a:p>
            <a:pPr marL="933450" lvl="1" indent="-533400" eaLnBrk="1" hangingPunct="1">
              <a:lnSpc>
                <a:spcPts val="4200"/>
              </a:lnSpc>
              <a:buFontTx/>
              <a:buAutoNum type="arabicPeriod"/>
            </a:pPr>
            <a:r>
              <a:rPr lang="zh-CN" altLang="en-US"/>
              <a:t>每行代码</a:t>
            </a:r>
            <a:r>
              <a:rPr lang="en-US" altLang="zh-CN"/>
              <a:t>(LOC)</a:t>
            </a:r>
            <a:r>
              <a:rPr lang="zh-CN" altLang="en-US"/>
              <a:t>的成本。</a:t>
            </a:r>
          </a:p>
          <a:p>
            <a:pPr marL="933450" lvl="1" indent="-533400" eaLnBrk="1" hangingPunct="1">
              <a:lnSpc>
                <a:spcPts val="4200"/>
              </a:lnSpc>
              <a:buFontTx/>
              <a:buAutoNum type="arabicPeriod"/>
            </a:pPr>
            <a:r>
              <a:rPr lang="zh-CN" altLang="en-US"/>
              <a:t>每千行代码</a:t>
            </a:r>
            <a:r>
              <a:rPr lang="en-US" altLang="zh-CN"/>
              <a:t>(KLOC)</a:t>
            </a:r>
            <a:r>
              <a:rPr lang="zh-CN" altLang="en-US"/>
              <a:t>的文档页数。</a:t>
            </a:r>
          </a:p>
          <a:p>
            <a:pPr marL="533400" indent="-533400" eaLnBrk="1" hangingPunct="1">
              <a:lnSpc>
                <a:spcPts val="4200"/>
              </a:lnSpc>
            </a:pPr>
            <a:r>
              <a:rPr lang="zh-CN" altLang="en-US"/>
              <a:t>除此之外，还能够计算出其他有意义的度量：</a:t>
            </a:r>
          </a:p>
          <a:p>
            <a:pPr marL="933450" lvl="1" indent="-533400" eaLnBrk="1" hangingPunct="1">
              <a:lnSpc>
                <a:spcPts val="4200"/>
              </a:lnSpc>
              <a:buFontTx/>
              <a:buAutoNum type="arabicPeriod"/>
            </a:pPr>
            <a:r>
              <a:rPr lang="zh-CN" altLang="en-US"/>
              <a:t>每人月错误数。</a:t>
            </a:r>
          </a:p>
          <a:p>
            <a:pPr marL="933450" lvl="1" indent="-533400" eaLnBrk="1" hangingPunct="1">
              <a:lnSpc>
                <a:spcPts val="4200"/>
              </a:lnSpc>
              <a:buFontTx/>
              <a:buAutoNum type="arabicPeriod"/>
            </a:pPr>
            <a:r>
              <a:rPr lang="zh-CN" altLang="en-US"/>
              <a:t>每人月代码行</a:t>
            </a:r>
            <a:r>
              <a:rPr lang="en-US" altLang="zh-CN"/>
              <a:t>(LOC)</a:t>
            </a:r>
            <a:r>
              <a:rPr lang="zh-CN" altLang="en-US"/>
              <a:t>。</a:t>
            </a:r>
          </a:p>
          <a:p>
            <a:pPr marL="933450" lvl="1" indent="-533400" eaLnBrk="1" hangingPunct="1">
              <a:lnSpc>
                <a:spcPts val="4200"/>
              </a:lnSpc>
              <a:buFontTx/>
              <a:buAutoNum type="arabicPeriod"/>
            </a:pPr>
            <a:r>
              <a:rPr lang="zh-CN" altLang="en-US"/>
              <a:t>每页文档的成本。</a:t>
            </a:r>
          </a:p>
          <a:p>
            <a:pPr marL="533400" indent="-533400" eaLnBrk="1" hangingPunct="1">
              <a:lnSpc>
                <a:spcPts val="4200"/>
              </a:lnSpc>
              <a:buFontTx/>
              <a:buAutoNum type="arabicPeriod"/>
            </a:pPr>
            <a:endParaRPr lang="en-US" alt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14AA2408-E164-BD49-B936-444342240CC1}"/>
              </a:ext>
            </a:extLst>
          </p:cNvPr>
          <p:cNvSpPr>
            <a:spLocks noGrp="1" noRot="1" noChangeArrowheads="1"/>
          </p:cNvSpPr>
          <p:nvPr>
            <p:ph type="title"/>
          </p:nvPr>
        </p:nvSpPr>
        <p:spPr>
          <a:xfrm>
            <a:off x="304800" y="533400"/>
            <a:ext cx="8540750" cy="838200"/>
          </a:xfrm>
        </p:spPr>
        <p:txBody>
          <a:bodyPr/>
          <a:lstStyle/>
          <a:p>
            <a:pPr eaLnBrk="1" hangingPunct="1"/>
            <a:r>
              <a:rPr lang="hr-HR" altLang="zh-CN" b="1"/>
              <a:t>19.</a:t>
            </a:r>
            <a:r>
              <a:rPr lang="en-US" altLang="zh-CN" b="1"/>
              <a:t>2</a:t>
            </a:r>
            <a:r>
              <a:rPr lang="en-US" altLang="en-US" b="1"/>
              <a:t>.2 面向功能的度量</a:t>
            </a:r>
            <a:endParaRPr lang="zh-CN" altLang="en-US"/>
          </a:p>
        </p:txBody>
      </p:sp>
      <p:sp>
        <p:nvSpPr>
          <p:cNvPr id="79875" name="Rectangle 3">
            <a:extLst>
              <a:ext uri="{FF2B5EF4-FFF2-40B4-BE49-F238E27FC236}">
                <a16:creationId xmlns:a16="http://schemas.microsoft.com/office/drawing/2014/main" id="{4C4C32B2-DB75-2B43-9D73-93827E41CC8D}"/>
              </a:ext>
            </a:extLst>
          </p:cNvPr>
          <p:cNvSpPr>
            <a:spLocks noGrp="1" noRot="1" noChangeArrowheads="1"/>
          </p:cNvSpPr>
          <p:nvPr>
            <p:ph type="body" idx="1"/>
          </p:nvPr>
        </p:nvSpPr>
        <p:spPr>
          <a:xfrm>
            <a:off x="250825" y="1628775"/>
            <a:ext cx="8594725" cy="4391025"/>
          </a:xfrm>
        </p:spPr>
        <p:txBody>
          <a:bodyPr/>
          <a:lstStyle/>
          <a:p>
            <a:pPr eaLnBrk="1" hangingPunct="1"/>
            <a:r>
              <a:rPr lang="zh-CN" altLang="en-US" sz="2600"/>
              <a:t>面向功能度量用一种称为“</a:t>
            </a:r>
            <a:r>
              <a:rPr lang="zh-CN" altLang="en-US" sz="2600">
                <a:solidFill>
                  <a:srgbClr val="FF0000"/>
                </a:solidFill>
              </a:rPr>
              <a:t>功能点”</a:t>
            </a:r>
            <a:r>
              <a:rPr lang="en-US" altLang="zh-CN" sz="2600">
                <a:solidFill>
                  <a:srgbClr val="FF0000"/>
                </a:solidFill>
              </a:rPr>
              <a:t>(Function Point, FP)</a:t>
            </a:r>
            <a:r>
              <a:rPr lang="zh-CN" altLang="en-US" sz="2600"/>
              <a:t>的测量。</a:t>
            </a:r>
          </a:p>
          <a:p>
            <a:pPr eaLnBrk="1" hangingPunct="1"/>
            <a:r>
              <a:rPr lang="zh-CN" altLang="en-US" sz="2600"/>
              <a:t>使用软件所提供的功能的测量作为规范化值。</a:t>
            </a:r>
          </a:p>
          <a:p>
            <a:pPr eaLnBrk="1" hangingPunct="1"/>
            <a:r>
              <a:rPr lang="zh-CN" altLang="en-US" sz="2600"/>
              <a:t>因为“功能”不能直接测量，所以必须通过其他直接的测量来导出。</a:t>
            </a:r>
          </a:p>
          <a:p>
            <a:pPr eaLnBrk="1" hangingPunct="1"/>
            <a:r>
              <a:rPr lang="zh-CN" altLang="en-US" sz="2600">
                <a:solidFill>
                  <a:srgbClr val="FF0000"/>
                </a:solidFill>
              </a:rPr>
              <a:t>功能点</a:t>
            </a:r>
            <a:r>
              <a:rPr lang="zh-CN" altLang="en-US" sz="2600"/>
              <a:t>是基于软件信息领域的可计算的</a:t>
            </a:r>
            <a:r>
              <a:rPr lang="en-US" altLang="zh-CN" sz="2600"/>
              <a:t>(</a:t>
            </a:r>
            <a:r>
              <a:rPr lang="zh-CN" altLang="en-US" sz="2600"/>
              <a:t>直接的</a:t>
            </a:r>
            <a:r>
              <a:rPr lang="en-US" altLang="zh-CN" sz="2600"/>
              <a:t>)</a:t>
            </a:r>
            <a:r>
              <a:rPr lang="zh-CN" altLang="en-US" sz="2600"/>
              <a:t>测量及软件复杂性的评估而导出的。</a:t>
            </a:r>
            <a:endParaRPr lang="zh-CN" altLang="zh-CN" sz="2600"/>
          </a:p>
          <a:p>
            <a:pPr eaLnBrk="1" hangingPunct="1"/>
            <a:endParaRPr lang="en-US" altLang="zh-CN" sz="26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animEffect transition="in" filter="blinds(horizontal)">
                                      <p:cBhvr>
                                        <p:cTn id="7" dur="500"/>
                                        <p:tgtEl>
                                          <p:spTgt spid="798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9875">
                                            <p:txEl>
                                              <p:pRg st="1" end="1"/>
                                            </p:txEl>
                                          </p:spTgt>
                                        </p:tgtEl>
                                        <p:attrNameLst>
                                          <p:attrName>style.visibility</p:attrName>
                                        </p:attrNameLst>
                                      </p:cBhvr>
                                      <p:to>
                                        <p:strVal val="visible"/>
                                      </p:to>
                                    </p:set>
                                    <p:animEffect transition="in" filter="blinds(horizontal)">
                                      <p:cBhvr>
                                        <p:cTn id="12" dur="500"/>
                                        <p:tgtEl>
                                          <p:spTgt spid="798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9875">
                                            <p:txEl>
                                              <p:pRg st="2" end="2"/>
                                            </p:txEl>
                                          </p:spTgt>
                                        </p:tgtEl>
                                        <p:attrNameLst>
                                          <p:attrName>style.visibility</p:attrName>
                                        </p:attrNameLst>
                                      </p:cBhvr>
                                      <p:to>
                                        <p:strVal val="visible"/>
                                      </p:to>
                                    </p:set>
                                    <p:animEffect transition="in" filter="blinds(horizontal)">
                                      <p:cBhvr>
                                        <p:cTn id="17" dur="500"/>
                                        <p:tgtEl>
                                          <p:spTgt spid="798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9875">
                                            <p:txEl>
                                              <p:pRg st="3" end="3"/>
                                            </p:txEl>
                                          </p:spTgt>
                                        </p:tgtEl>
                                        <p:attrNameLst>
                                          <p:attrName>style.visibility</p:attrName>
                                        </p:attrNameLst>
                                      </p:cBhvr>
                                      <p:to>
                                        <p:strVal val="visible"/>
                                      </p:to>
                                    </p:set>
                                    <p:animEffect transition="in" filter="blinds(horizontal)">
                                      <p:cBhvr>
                                        <p:cTn id="22" dur="500"/>
                                        <p:tgtEl>
                                          <p:spTgt spid="798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3">
            <a:extLst>
              <a:ext uri="{FF2B5EF4-FFF2-40B4-BE49-F238E27FC236}">
                <a16:creationId xmlns:a16="http://schemas.microsoft.com/office/drawing/2014/main" id="{DE6110CC-D8D1-7B4E-BD50-8D45245596AE}"/>
              </a:ext>
            </a:extLst>
          </p:cNvPr>
          <p:cNvSpPr>
            <a:spLocks noGrp="1" noRot="1" noChangeArrowheads="1"/>
          </p:cNvSpPr>
          <p:nvPr>
            <p:ph type="body" idx="1"/>
          </p:nvPr>
        </p:nvSpPr>
        <p:spPr>
          <a:xfrm>
            <a:off x="0" y="228600"/>
            <a:ext cx="9144000" cy="6400800"/>
          </a:xfrm>
        </p:spPr>
        <p:txBody>
          <a:bodyPr/>
          <a:lstStyle/>
          <a:p>
            <a:pPr eaLnBrk="1" hangingPunct="1">
              <a:lnSpc>
                <a:spcPct val="100000"/>
              </a:lnSpc>
            </a:pPr>
            <a:r>
              <a:rPr lang="zh-CN" altLang="en-US" sz="2800" b="1">
                <a:solidFill>
                  <a:srgbClr val="0070C0"/>
                </a:solidFill>
              </a:rPr>
              <a:t>用户输入数</a:t>
            </a:r>
            <a:r>
              <a:rPr lang="zh-CN" altLang="en-US" sz="2800"/>
              <a:t>：计算每个用户输入，它们向软件提供面向应用的数据。输入应该与查询区分开来，分别计算。</a:t>
            </a:r>
          </a:p>
          <a:p>
            <a:pPr eaLnBrk="1" hangingPunct="1">
              <a:lnSpc>
                <a:spcPct val="100000"/>
              </a:lnSpc>
            </a:pPr>
            <a:r>
              <a:rPr lang="zh-CN" altLang="en-US" sz="2800" b="1">
                <a:solidFill>
                  <a:srgbClr val="0070C0"/>
                </a:solidFill>
              </a:rPr>
              <a:t>用户输出数</a:t>
            </a:r>
            <a:r>
              <a:rPr lang="zh-CN" altLang="en-US" sz="2800"/>
              <a:t>：计算每个用户输出，它们向用户提供面向应用的信息。输出是指报表、屏幕、出错信息，等等。</a:t>
            </a:r>
          </a:p>
          <a:p>
            <a:pPr eaLnBrk="1" hangingPunct="1">
              <a:lnSpc>
                <a:spcPct val="100000"/>
              </a:lnSpc>
            </a:pPr>
            <a:r>
              <a:rPr lang="zh-CN" altLang="en-US" sz="2800" b="1">
                <a:solidFill>
                  <a:srgbClr val="0070C0"/>
                </a:solidFill>
              </a:rPr>
              <a:t>用户查询数</a:t>
            </a:r>
            <a:r>
              <a:rPr lang="zh-CN" altLang="en-US" sz="2800"/>
              <a:t>：一个查询被定义为一次联机输入，它导致软件以联机输出的方式产生实时的响应。每一个不同的查询都要计算。</a:t>
            </a:r>
          </a:p>
          <a:p>
            <a:pPr eaLnBrk="1" hangingPunct="1">
              <a:lnSpc>
                <a:spcPct val="100000"/>
              </a:lnSpc>
            </a:pPr>
            <a:r>
              <a:rPr lang="zh-CN" altLang="en-US" sz="2800" b="1">
                <a:solidFill>
                  <a:srgbClr val="0070C0"/>
                </a:solidFill>
              </a:rPr>
              <a:t>文件数</a:t>
            </a:r>
            <a:r>
              <a:rPr lang="zh-CN" altLang="en-US" sz="2800"/>
              <a:t>：计算每个逻辑的主文件</a:t>
            </a:r>
            <a:r>
              <a:rPr lang="en-US" altLang="zh-CN" sz="2800"/>
              <a:t>(</a:t>
            </a:r>
            <a:r>
              <a:rPr lang="zh-CN" altLang="en-US" sz="2800"/>
              <a:t>如数据的一个逻辑组合，它可能是某个大型数据库的一部分或是一个独立的文件</a:t>
            </a:r>
            <a:r>
              <a:rPr lang="en-US" altLang="zh-CN" sz="2800"/>
              <a:t>)</a:t>
            </a:r>
            <a:r>
              <a:rPr lang="zh-CN" altLang="en-US" sz="2800"/>
              <a:t>。</a:t>
            </a:r>
          </a:p>
          <a:p>
            <a:pPr eaLnBrk="1" hangingPunct="1">
              <a:lnSpc>
                <a:spcPct val="100000"/>
              </a:lnSpc>
            </a:pPr>
            <a:r>
              <a:rPr lang="zh-CN" altLang="en-US" sz="2800" b="1">
                <a:solidFill>
                  <a:srgbClr val="0070C0"/>
                </a:solidFill>
              </a:rPr>
              <a:t>外部接口数</a:t>
            </a:r>
            <a:r>
              <a:rPr lang="zh-CN" altLang="en-US" sz="2800"/>
              <a:t>：计算所有机器可读的接口</a:t>
            </a:r>
            <a:r>
              <a:rPr lang="en-US" altLang="zh-CN" sz="2800"/>
              <a:t>(</a:t>
            </a:r>
            <a:r>
              <a:rPr lang="zh-CN" altLang="en-US" sz="2800"/>
              <a:t>如磁带或磁盘上的数据文件</a:t>
            </a:r>
            <a:r>
              <a:rPr lang="en-US" altLang="zh-CN" sz="2800"/>
              <a:t>)</a:t>
            </a:r>
            <a:r>
              <a:rPr lang="zh-CN" altLang="en-US" sz="2800"/>
              <a:t>，利用这些接口可以将信息从一个系统传送到另一个系统。</a:t>
            </a:r>
          </a:p>
          <a:p>
            <a:pPr eaLnBrk="1" hangingPunct="1">
              <a:lnSpc>
                <a:spcPct val="100000"/>
              </a:lnSpc>
            </a:pPr>
            <a:endParaRPr lang="en-US" altLang="zh-CN" sz="2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4">
            <a:extLst>
              <a:ext uri="{FF2B5EF4-FFF2-40B4-BE49-F238E27FC236}">
                <a16:creationId xmlns:a16="http://schemas.microsoft.com/office/drawing/2014/main" id="{F9D50BD6-674F-D641-B20E-C881DDA13C92}"/>
              </a:ext>
            </a:extLst>
          </p:cNvPr>
          <p:cNvSpPr>
            <a:spLocks noGrp="1" noChangeArrowheads="1"/>
          </p:cNvSpPr>
          <p:nvPr>
            <p:ph type="title"/>
          </p:nvPr>
        </p:nvSpPr>
        <p:spPr>
          <a:xfrm>
            <a:off x="1752600" y="76200"/>
            <a:ext cx="6096000" cy="762000"/>
          </a:xfrm>
        </p:spPr>
        <p:txBody>
          <a:bodyPr lIns="92075" tIns="46038" rIns="92075" bIns="46038"/>
          <a:lstStyle/>
          <a:p>
            <a:pPr eaLnBrk="1" hangingPunct="1"/>
            <a:r>
              <a:rPr lang="zh-CN" altLang="en-US"/>
              <a:t>面向功能的数据表格</a:t>
            </a:r>
          </a:p>
        </p:txBody>
      </p:sp>
      <p:pic>
        <p:nvPicPr>
          <p:cNvPr id="40962" name="Picture 5">
            <a:extLst>
              <a:ext uri="{FF2B5EF4-FFF2-40B4-BE49-F238E27FC236}">
                <a16:creationId xmlns:a16="http://schemas.microsoft.com/office/drawing/2014/main" id="{D3DDEAEE-40AA-5F44-9E35-006B5C9D6A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14400"/>
            <a:ext cx="914400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3">
            <a:extLst>
              <a:ext uri="{FF2B5EF4-FFF2-40B4-BE49-F238E27FC236}">
                <a16:creationId xmlns:a16="http://schemas.microsoft.com/office/drawing/2014/main" id="{ECB86112-93D4-FA43-8971-1D0F1AFFF531}"/>
              </a:ext>
            </a:extLst>
          </p:cNvPr>
          <p:cNvSpPr>
            <a:spLocks noGrp="1" noRot="1" noChangeArrowheads="1"/>
          </p:cNvSpPr>
          <p:nvPr>
            <p:ph type="body" idx="1"/>
          </p:nvPr>
        </p:nvSpPr>
        <p:spPr>
          <a:xfrm>
            <a:off x="301625" y="282575"/>
            <a:ext cx="8156575" cy="6099175"/>
          </a:xfrm>
        </p:spPr>
        <p:txBody>
          <a:bodyPr/>
          <a:lstStyle/>
          <a:p>
            <a:pPr eaLnBrk="1" hangingPunct="1"/>
            <a:r>
              <a:rPr lang="zh-CN" altLang="en-US"/>
              <a:t>采用下面的方式计算功能点：</a:t>
            </a:r>
          </a:p>
          <a:p>
            <a:pPr lvl="1" eaLnBrk="1" hangingPunct="1"/>
            <a:r>
              <a:rPr lang="en-US" altLang="zh-CN"/>
              <a:t>FP=</a:t>
            </a:r>
            <a:r>
              <a:rPr lang="zh-CN" altLang="en-US"/>
              <a:t>总计数值</a:t>
            </a:r>
            <a:r>
              <a:rPr lang="en-US" altLang="zh-CN"/>
              <a:t>×</a:t>
            </a:r>
            <a:r>
              <a:rPr lang="zh-CN" altLang="en-US"/>
              <a:t>［</a:t>
            </a:r>
            <a:r>
              <a:rPr lang="en-US" altLang="zh-CN"/>
              <a:t>0.65</a:t>
            </a:r>
            <a:r>
              <a:rPr lang="zh-CN" altLang="en-US"/>
              <a:t>＋</a:t>
            </a:r>
            <a:r>
              <a:rPr lang="en-US" altLang="zh-CN"/>
              <a:t>0.01×ΣFi</a:t>
            </a:r>
            <a:r>
              <a:rPr lang="zh-CN" altLang="en-US"/>
              <a:t>］</a:t>
            </a:r>
          </a:p>
          <a:p>
            <a:pPr lvl="1" eaLnBrk="1" hangingPunct="1"/>
            <a:r>
              <a:rPr lang="zh-CN" altLang="en-US"/>
              <a:t>其中“总计数值”是从上页图中得到的所有条目的总和。</a:t>
            </a:r>
          </a:p>
          <a:p>
            <a:pPr lvl="1" eaLnBrk="1" hangingPunct="1"/>
            <a:r>
              <a:rPr lang="en-US" altLang="zh-CN"/>
              <a:t>F</a:t>
            </a:r>
            <a:r>
              <a:rPr lang="en-US" altLang="zh-CN" baseline="-25000"/>
              <a:t>i </a:t>
            </a:r>
            <a:r>
              <a:rPr lang="en-US" altLang="zh-CN"/>
              <a:t>(i=1 </a:t>
            </a:r>
            <a:r>
              <a:rPr lang="zh-CN" altLang="en-US"/>
              <a:t>到</a:t>
            </a:r>
            <a:r>
              <a:rPr lang="en-US" altLang="zh-CN"/>
              <a:t>14)</a:t>
            </a:r>
            <a:r>
              <a:rPr lang="zh-CN" altLang="en-US"/>
              <a:t>是基于对下面的问题的回答而得到的“复杂度调整值”</a:t>
            </a:r>
            <a:r>
              <a:rPr lang="en-US" altLang="zh-CN"/>
              <a:t>(0 </a:t>
            </a:r>
            <a:r>
              <a:rPr lang="zh-CN" altLang="en-US"/>
              <a:t>到</a:t>
            </a:r>
            <a:r>
              <a:rPr lang="en-US" altLang="zh-CN"/>
              <a:t>5)</a:t>
            </a:r>
            <a:r>
              <a:rPr lang="zh-CN" altLang="en-US"/>
              <a:t>。</a:t>
            </a:r>
          </a:p>
          <a:p>
            <a:pPr lvl="1" eaLnBrk="1" hangingPunct="1"/>
            <a:r>
              <a:rPr lang="zh-CN" altLang="en-US"/>
              <a:t>等式中的常数和信息域值的加权因子是根据经验确定的。</a:t>
            </a:r>
          </a:p>
          <a:p>
            <a:pPr eaLnBrk="1" hangingPunct="1"/>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2">
            <a:extLst>
              <a:ext uri="{FF2B5EF4-FFF2-40B4-BE49-F238E27FC236}">
                <a16:creationId xmlns:a16="http://schemas.microsoft.com/office/drawing/2014/main" id="{8F085763-0CF9-E84F-8926-C5C7BF4D03C6}"/>
              </a:ext>
            </a:extLst>
          </p:cNvPr>
          <p:cNvSpPr>
            <a:spLocks noGrp="1" noChangeArrowheads="1"/>
          </p:cNvSpPr>
          <p:nvPr>
            <p:ph type="title"/>
          </p:nvPr>
        </p:nvSpPr>
        <p:spPr/>
        <p:txBody>
          <a:bodyPr/>
          <a:lstStyle/>
          <a:p>
            <a:pPr eaLnBrk="1" hangingPunct="1"/>
            <a:r>
              <a:rPr lang="en-US" altLang="zh-CN"/>
              <a:t>F</a:t>
            </a:r>
            <a:r>
              <a:rPr lang="en-US" altLang="zh-CN" baseline="-25000"/>
              <a:t>i </a:t>
            </a:r>
            <a:r>
              <a:rPr lang="zh-CN" altLang="en-US"/>
              <a:t>的考虑因素</a:t>
            </a:r>
          </a:p>
        </p:txBody>
      </p:sp>
      <p:sp>
        <p:nvSpPr>
          <p:cNvPr id="243715" name="Rectangle 3">
            <a:extLst>
              <a:ext uri="{FF2B5EF4-FFF2-40B4-BE49-F238E27FC236}">
                <a16:creationId xmlns:a16="http://schemas.microsoft.com/office/drawing/2014/main" id="{8EEE5232-5F71-4A4F-A5A0-412B75288A7B}"/>
              </a:ext>
            </a:extLst>
          </p:cNvPr>
          <p:cNvSpPr>
            <a:spLocks noGrp="1" noRot="1" noChangeArrowheads="1"/>
          </p:cNvSpPr>
          <p:nvPr>
            <p:ph idx="1"/>
          </p:nvPr>
        </p:nvSpPr>
        <p:spPr>
          <a:xfrm>
            <a:off x="539750" y="1268413"/>
            <a:ext cx="8362950" cy="4525962"/>
          </a:xfrm>
        </p:spPr>
        <p:txBody>
          <a:bodyPr/>
          <a:lstStyle/>
          <a:p>
            <a:pPr eaLnBrk="1" hangingPunct="1">
              <a:buFontTx/>
              <a:buNone/>
            </a:pPr>
            <a:r>
              <a:rPr lang="en-US" altLang="zh-CN" sz="2800"/>
              <a:t>1.</a:t>
            </a:r>
            <a:r>
              <a:rPr lang="zh-CN" altLang="en-US" sz="2800"/>
              <a:t>系统需要可靠的备份和复原吗？</a:t>
            </a:r>
          </a:p>
          <a:p>
            <a:pPr eaLnBrk="1" hangingPunct="1">
              <a:buFontTx/>
              <a:buNone/>
            </a:pPr>
            <a:r>
              <a:rPr lang="en-US" altLang="zh-CN" sz="2800"/>
              <a:t>2.</a:t>
            </a:r>
            <a:r>
              <a:rPr lang="zh-CN" altLang="en-US" sz="2800"/>
              <a:t>需要数据通信吗？</a:t>
            </a:r>
          </a:p>
          <a:p>
            <a:pPr eaLnBrk="1" hangingPunct="1">
              <a:buFontTx/>
              <a:buNone/>
            </a:pPr>
            <a:r>
              <a:rPr lang="en-US" altLang="zh-CN" sz="2800"/>
              <a:t>3.</a:t>
            </a:r>
            <a:r>
              <a:rPr lang="zh-CN" altLang="en-US" sz="2800"/>
              <a:t>有分布处理功能吗？</a:t>
            </a:r>
          </a:p>
          <a:p>
            <a:pPr eaLnBrk="1" hangingPunct="1">
              <a:buFontTx/>
              <a:buNone/>
            </a:pPr>
            <a:r>
              <a:rPr lang="en-US" altLang="zh-CN" sz="2800"/>
              <a:t>4.</a:t>
            </a:r>
            <a:r>
              <a:rPr lang="zh-CN" altLang="en-US" sz="2800"/>
              <a:t>性能很关键吗？</a:t>
            </a:r>
          </a:p>
          <a:p>
            <a:pPr eaLnBrk="1" hangingPunct="1">
              <a:buFontTx/>
              <a:buNone/>
            </a:pPr>
            <a:r>
              <a:rPr lang="en-US" altLang="zh-CN" sz="2800"/>
              <a:t>5.</a:t>
            </a:r>
            <a:r>
              <a:rPr lang="zh-CN" altLang="en-US" sz="2800"/>
              <a:t>系统是否在一个已有的、很实用的操作环境中运行？</a:t>
            </a:r>
          </a:p>
          <a:p>
            <a:pPr eaLnBrk="1" hangingPunct="1">
              <a:buFontTx/>
              <a:buNone/>
            </a:pPr>
            <a:r>
              <a:rPr lang="en-US" altLang="zh-CN" sz="2800"/>
              <a:t>6.</a:t>
            </a:r>
            <a:r>
              <a:rPr lang="zh-CN" altLang="en-US" sz="2800"/>
              <a:t>系统需要联机数据项吗？</a:t>
            </a:r>
          </a:p>
          <a:p>
            <a:pPr eaLnBrk="1" hangingPunct="1">
              <a:buFontTx/>
              <a:buNone/>
            </a:pPr>
            <a:r>
              <a:rPr lang="en-US" altLang="zh-CN" sz="2800"/>
              <a:t>7.</a:t>
            </a:r>
            <a:r>
              <a:rPr lang="zh-CN" altLang="en-US" sz="2800"/>
              <a:t>联机数据项是否需要在多屏幕或多操作之间切换以完成输入？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3715">
                                            <p:txEl>
                                              <p:pRg st="0" end="0"/>
                                            </p:txEl>
                                          </p:spTgt>
                                        </p:tgtEl>
                                        <p:attrNameLst>
                                          <p:attrName>style.visibility</p:attrName>
                                        </p:attrNameLst>
                                      </p:cBhvr>
                                      <p:to>
                                        <p:strVal val="visible"/>
                                      </p:to>
                                    </p:set>
                                    <p:animEffect transition="in" filter="blinds(horizontal)">
                                      <p:cBhvr>
                                        <p:cTn id="7" dur="500"/>
                                        <p:tgtEl>
                                          <p:spTgt spid="2437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3715">
                                            <p:txEl>
                                              <p:pRg st="1" end="1"/>
                                            </p:txEl>
                                          </p:spTgt>
                                        </p:tgtEl>
                                        <p:attrNameLst>
                                          <p:attrName>style.visibility</p:attrName>
                                        </p:attrNameLst>
                                      </p:cBhvr>
                                      <p:to>
                                        <p:strVal val="visible"/>
                                      </p:to>
                                    </p:set>
                                    <p:animEffect transition="in" filter="blinds(horizontal)">
                                      <p:cBhvr>
                                        <p:cTn id="12" dur="500"/>
                                        <p:tgtEl>
                                          <p:spTgt spid="2437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3715">
                                            <p:txEl>
                                              <p:pRg st="2" end="2"/>
                                            </p:txEl>
                                          </p:spTgt>
                                        </p:tgtEl>
                                        <p:attrNameLst>
                                          <p:attrName>style.visibility</p:attrName>
                                        </p:attrNameLst>
                                      </p:cBhvr>
                                      <p:to>
                                        <p:strVal val="visible"/>
                                      </p:to>
                                    </p:set>
                                    <p:animEffect transition="in" filter="blinds(horizontal)">
                                      <p:cBhvr>
                                        <p:cTn id="17" dur="500"/>
                                        <p:tgtEl>
                                          <p:spTgt spid="2437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3715">
                                            <p:txEl>
                                              <p:pRg st="3" end="3"/>
                                            </p:txEl>
                                          </p:spTgt>
                                        </p:tgtEl>
                                        <p:attrNameLst>
                                          <p:attrName>style.visibility</p:attrName>
                                        </p:attrNameLst>
                                      </p:cBhvr>
                                      <p:to>
                                        <p:strVal val="visible"/>
                                      </p:to>
                                    </p:set>
                                    <p:animEffect transition="in" filter="blinds(horizontal)">
                                      <p:cBhvr>
                                        <p:cTn id="22" dur="500"/>
                                        <p:tgtEl>
                                          <p:spTgt spid="2437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43715">
                                            <p:txEl>
                                              <p:pRg st="4" end="4"/>
                                            </p:txEl>
                                          </p:spTgt>
                                        </p:tgtEl>
                                        <p:attrNameLst>
                                          <p:attrName>style.visibility</p:attrName>
                                        </p:attrNameLst>
                                      </p:cBhvr>
                                      <p:to>
                                        <p:strVal val="visible"/>
                                      </p:to>
                                    </p:set>
                                    <p:animEffect transition="in" filter="blinds(horizontal)">
                                      <p:cBhvr>
                                        <p:cTn id="27" dur="500"/>
                                        <p:tgtEl>
                                          <p:spTgt spid="24371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43715">
                                            <p:txEl>
                                              <p:pRg st="5" end="5"/>
                                            </p:txEl>
                                          </p:spTgt>
                                        </p:tgtEl>
                                        <p:attrNameLst>
                                          <p:attrName>style.visibility</p:attrName>
                                        </p:attrNameLst>
                                      </p:cBhvr>
                                      <p:to>
                                        <p:strVal val="visible"/>
                                      </p:to>
                                    </p:set>
                                    <p:animEffect transition="in" filter="blinds(horizontal)">
                                      <p:cBhvr>
                                        <p:cTn id="32" dur="500"/>
                                        <p:tgtEl>
                                          <p:spTgt spid="24371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43715">
                                            <p:txEl>
                                              <p:pRg st="6" end="6"/>
                                            </p:txEl>
                                          </p:spTgt>
                                        </p:tgtEl>
                                        <p:attrNameLst>
                                          <p:attrName>style.visibility</p:attrName>
                                        </p:attrNameLst>
                                      </p:cBhvr>
                                      <p:to>
                                        <p:strVal val="visible"/>
                                      </p:to>
                                    </p:set>
                                    <p:animEffect transition="in" filter="blinds(horizontal)">
                                      <p:cBhvr>
                                        <p:cTn id="37" dur="500"/>
                                        <p:tgtEl>
                                          <p:spTgt spid="2437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
            <a:extLst>
              <a:ext uri="{FF2B5EF4-FFF2-40B4-BE49-F238E27FC236}">
                <a16:creationId xmlns:a16="http://schemas.microsoft.com/office/drawing/2014/main" id="{EDFD77FB-68CE-0043-A824-60284BE3F193}"/>
              </a:ext>
            </a:extLst>
          </p:cNvPr>
          <p:cNvSpPr>
            <a:spLocks noGrp="1" noChangeArrowheads="1"/>
          </p:cNvSpPr>
          <p:nvPr>
            <p:ph type="title"/>
          </p:nvPr>
        </p:nvSpPr>
        <p:spPr/>
        <p:txBody>
          <a:bodyPr/>
          <a:lstStyle/>
          <a:p>
            <a:pPr eaLnBrk="1" hangingPunct="1"/>
            <a:r>
              <a:rPr lang="en-US" altLang="zh-CN"/>
              <a:t>Fi </a:t>
            </a:r>
            <a:r>
              <a:rPr lang="zh-CN" altLang="en-US"/>
              <a:t>的考虑因素（续）</a:t>
            </a:r>
          </a:p>
        </p:txBody>
      </p:sp>
      <p:sp>
        <p:nvSpPr>
          <p:cNvPr id="3" name="内容占位符 2">
            <a:extLst>
              <a:ext uri="{FF2B5EF4-FFF2-40B4-BE49-F238E27FC236}">
                <a16:creationId xmlns:a16="http://schemas.microsoft.com/office/drawing/2014/main" id="{6575A339-2D89-7046-AD9A-60E071B7DE4B}"/>
              </a:ext>
            </a:extLst>
          </p:cNvPr>
          <p:cNvSpPr>
            <a:spLocks noGrp="1" noChangeArrowheads="1"/>
          </p:cNvSpPr>
          <p:nvPr>
            <p:ph idx="1"/>
          </p:nvPr>
        </p:nvSpPr>
        <p:spPr>
          <a:xfrm>
            <a:off x="468313" y="1412875"/>
            <a:ext cx="8229600" cy="4525963"/>
          </a:xfrm>
        </p:spPr>
        <p:txBody>
          <a:bodyPr/>
          <a:lstStyle/>
          <a:p>
            <a:pPr eaLnBrk="1" hangingPunct="1">
              <a:buFontTx/>
              <a:buNone/>
            </a:pPr>
            <a:r>
              <a:rPr lang="en-US" altLang="zh-CN" sz="2800"/>
              <a:t>8.</a:t>
            </a:r>
            <a:r>
              <a:rPr lang="zh-CN" altLang="en-US" sz="2800"/>
              <a:t>需要联机更新主文件吗？</a:t>
            </a:r>
          </a:p>
          <a:p>
            <a:pPr eaLnBrk="1" hangingPunct="1">
              <a:buFontTx/>
              <a:buNone/>
            </a:pPr>
            <a:r>
              <a:rPr lang="en-US" altLang="zh-CN" sz="2800"/>
              <a:t>9.</a:t>
            </a:r>
            <a:r>
              <a:rPr lang="zh-CN" altLang="en-US" sz="2800"/>
              <a:t>输入、输出、文件或查询很复杂吗？</a:t>
            </a:r>
          </a:p>
          <a:p>
            <a:pPr eaLnBrk="1" hangingPunct="1">
              <a:buFontTx/>
              <a:buNone/>
            </a:pPr>
            <a:r>
              <a:rPr lang="en-US" altLang="zh-CN" sz="2800"/>
              <a:t>10.</a:t>
            </a:r>
            <a:r>
              <a:rPr lang="zh-CN" altLang="en-US" sz="2800"/>
              <a:t>内部处理复杂吗？</a:t>
            </a:r>
          </a:p>
          <a:p>
            <a:pPr eaLnBrk="1" hangingPunct="1">
              <a:buFontTx/>
              <a:buNone/>
            </a:pPr>
            <a:r>
              <a:rPr lang="en-US" altLang="zh-CN" sz="2800"/>
              <a:t>11.</a:t>
            </a:r>
            <a:r>
              <a:rPr lang="zh-CN" altLang="en-US" sz="2800"/>
              <a:t>代码需要被设计成是可复用的吗？</a:t>
            </a:r>
          </a:p>
          <a:p>
            <a:pPr eaLnBrk="1" hangingPunct="1">
              <a:buFontTx/>
              <a:buNone/>
            </a:pPr>
            <a:r>
              <a:rPr lang="en-US" altLang="zh-CN" sz="2800"/>
              <a:t>12.</a:t>
            </a:r>
            <a:r>
              <a:rPr lang="zh-CN" altLang="en-US" sz="2800"/>
              <a:t>设计中需要包括转换及安装吗？</a:t>
            </a:r>
          </a:p>
          <a:p>
            <a:pPr eaLnBrk="1" hangingPunct="1">
              <a:buFontTx/>
              <a:buNone/>
            </a:pPr>
            <a:r>
              <a:rPr lang="en-US" altLang="zh-CN" sz="2800"/>
              <a:t>13.</a:t>
            </a:r>
            <a:r>
              <a:rPr lang="zh-CN" altLang="en-US" sz="2800"/>
              <a:t>系统的设计支持不同组织的多次安装吗？</a:t>
            </a:r>
          </a:p>
          <a:p>
            <a:pPr eaLnBrk="1" hangingPunct="1">
              <a:buFontTx/>
              <a:buNone/>
            </a:pPr>
            <a:r>
              <a:rPr lang="en-US" altLang="zh-CN" sz="2800"/>
              <a:t>14.</a:t>
            </a:r>
            <a:r>
              <a:rPr lang="zh-CN" altLang="en-US" sz="2800"/>
              <a:t>应用的设计方便用户修改和使用吗？</a:t>
            </a:r>
          </a:p>
          <a:p>
            <a:pPr eaLnBrk="1" hangingPunct="1"/>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0339E139-C0C4-9A46-A140-1962CFF8375D}"/>
              </a:ext>
            </a:extLst>
          </p:cNvPr>
          <p:cNvSpPr>
            <a:spLocks noGrp="1" noRot="1" noChangeArrowheads="1"/>
          </p:cNvSpPr>
          <p:nvPr>
            <p:ph type="title"/>
          </p:nvPr>
        </p:nvSpPr>
        <p:spPr>
          <a:xfrm>
            <a:off x="468313" y="0"/>
            <a:ext cx="8229600" cy="1143000"/>
          </a:xfrm>
        </p:spPr>
        <p:txBody>
          <a:bodyPr/>
          <a:lstStyle/>
          <a:p>
            <a:pPr eaLnBrk="1" hangingPunct="1"/>
            <a:r>
              <a:rPr lang="en-US" altLang="zh-CN"/>
              <a:t>Fi </a:t>
            </a:r>
            <a:r>
              <a:rPr lang="zh-CN" altLang="en-US"/>
              <a:t>的考虑因素（续）</a:t>
            </a:r>
          </a:p>
        </p:txBody>
      </p:sp>
      <p:sp>
        <p:nvSpPr>
          <p:cNvPr id="45058" name="Rectangle 4">
            <a:extLst>
              <a:ext uri="{FF2B5EF4-FFF2-40B4-BE49-F238E27FC236}">
                <a16:creationId xmlns:a16="http://schemas.microsoft.com/office/drawing/2014/main" id="{4ADFBF13-6536-DC46-A1AD-654F8933A3FF}"/>
              </a:ext>
            </a:extLst>
          </p:cNvPr>
          <p:cNvSpPr>
            <a:spLocks noGrp="1" noChangeArrowheads="1"/>
          </p:cNvSpPr>
          <p:nvPr>
            <p:ph type="body" idx="1"/>
          </p:nvPr>
        </p:nvSpPr>
        <p:spPr>
          <a:xfrm>
            <a:off x="468313" y="1052513"/>
            <a:ext cx="8229600" cy="4525962"/>
          </a:xfrm>
        </p:spPr>
        <p:txBody>
          <a:bodyPr/>
          <a:lstStyle/>
          <a:p>
            <a:pPr eaLnBrk="1" hangingPunct="1"/>
            <a:r>
              <a:rPr lang="en-US" altLang="zh-CN" i="1">
                <a:solidFill>
                  <a:srgbClr val="FF0000"/>
                </a:solidFill>
              </a:rPr>
              <a:t>Fi</a:t>
            </a:r>
            <a:r>
              <a:rPr lang="zh-CN" altLang="en-US">
                <a:solidFill>
                  <a:srgbClr val="FF0000"/>
                </a:solidFill>
              </a:rPr>
              <a:t>（</a:t>
            </a:r>
            <a:r>
              <a:rPr lang="en-US" altLang="zh-CN" i="1">
                <a:solidFill>
                  <a:srgbClr val="FF0000"/>
                </a:solidFill>
              </a:rPr>
              <a:t>i</a:t>
            </a:r>
            <a:r>
              <a:rPr lang="zh-CN" altLang="en-US">
                <a:solidFill>
                  <a:srgbClr val="FF0000"/>
                </a:solidFill>
              </a:rPr>
              <a:t>＝</a:t>
            </a:r>
            <a:r>
              <a:rPr lang="en-US" altLang="zh-CN">
                <a:solidFill>
                  <a:srgbClr val="FF0000"/>
                </a:solidFill>
              </a:rPr>
              <a:t>1..14</a:t>
            </a:r>
            <a:r>
              <a:rPr lang="zh-CN" altLang="en-US">
                <a:solidFill>
                  <a:srgbClr val="FF0000"/>
                </a:solidFill>
              </a:rPr>
              <a:t>）</a:t>
            </a:r>
            <a:r>
              <a:rPr lang="zh-CN" altLang="en-US"/>
              <a:t>是复杂性校正值，它们应通过逐一回答上述提问来确定。</a:t>
            </a:r>
          </a:p>
          <a:p>
            <a:pPr eaLnBrk="1" hangingPunct="1"/>
            <a:r>
              <a:rPr lang="en-US" altLang="zh-CN" i="1"/>
              <a:t>Fi</a:t>
            </a:r>
            <a:r>
              <a:rPr lang="zh-CN" altLang="zh-CN"/>
              <a:t>的取值0</a:t>
            </a:r>
            <a:r>
              <a:rPr lang="en-US" altLang="zh-CN"/>
              <a:t>..5</a:t>
            </a:r>
            <a:r>
              <a:rPr lang="zh-CN" altLang="en-US"/>
              <a:t>：</a:t>
            </a:r>
          </a:p>
          <a:p>
            <a:pPr eaLnBrk="1" hangingPunct="1">
              <a:buFontTx/>
              <a:buNone/>
            </a:pPr>
            <a:r>
              <a:rPr lang="zh-CN" altLang="en-US"/>
              <a:t>		</a:t>
            </a:r>
            <a:r>
              <a:rPr lang="en-US" altLang="zh-CN"/>
              <a:t>0  </a:t>
            </a:r>
            <a:r>
              <a:rPr lang="zh-CN" altLang="en-US"/>
              <a:t>没有影响	  </a:t>
            </a:r>
            <a:r>
              <a:rPr lang="en-US" altLang="zh-CN"/>
              <a:t>1  </a:t>
            </a:r>
            <a:r>
              <a:rPr lang="zh-CN" altLang="en-US"/>
              <a:t>偶然的</a:t>
            </a:r>
          </a:p>
          <a:p>
            <a:pPr eaLnBrk="1" hangingPunct="1">
              <a:buFontTx/>
              <a:buNone/>
            </a:pPr>
            <a:r>
              <a:rPr lang="zh-CN" altLang="en-US"/>
              <a:t>		</a:t>
            </a:r>
            <a:r>
              <a:rPr lang="en-US" altLang="zh-CN"/>
              <a:t>2  </a:t>
            </a:r>
            <a:r>
              <a:rPr lang="zh-CN" altLang="en-US"/>
              <a:t>适中的	          </a:t>
            </a:r>
            <a:r>
              <a:rPr lang="en-US" altLang="zh-CN"/>
              <a:t>3  </a:t>
            </a:r>
            <a:r>
              <a:rPr lang="zh-CN" altLang="en-US"/>
              <a:t>普通的</a:t>
            </a:r>
          </a:p>
          <a:p>
            <a:pPr eaLnBrk="1" hangingPunct="1">
              <a:buFontTx/>
              <a:buNone/>
            </a:pPr>
            <a:r>
              <a:rPr lang="zh-CN" altLang="en-US"/>
              <a:t>		</a:t>
            </a:r>
            <a:r>
              <a:rPr lang="en-US" altLang="zh-CN"/>
              <a:t>4  </a:t>
            </a:r>
            <a:r>
              <a:rPr lang="zh-CN" altLang="en-US"/>
              <a:t>重要的	          </a:t>
            </a:r>
            <a:r>
              <a:rPr lang="en-US" altLang="zh-CN"/>
              <a:t>5  </a:t>
            </a:r>
            <a:r>
              <a:rPr lang="zh-CN" altLang="en-US"/>
              <a:t>极重要的</a:t>
            </a:r>
          </a:p>
          <a:p>
            <a:pPr eaLnBrk="1" hangingPunct="1">
              <a:buFontTx/>
              <a:buNone/>
            </a:pPr>
            <a:r>
              <a:rPr lang="en-US" altLang="zh-CN" i="1"/>
              <a:t>SUM</a:t>
            </a:r>
            <a:r>
              <a:rPr lang="zh-CN" altLang="en-US"/>
              <a:t>（</a:t>
            </a:r>
            <a:r>
              <a:rPr lang="en-US" altLang="zh-CN" i="1"/>
              <a:t>Fi</a:t>
            </a:r>
            <a:r>
              <a:rPr lang="zh-CN" altLang="en-US"/>
              <a:t>）是求和函数。</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3">
            <a:extLst>
              <a:ext uri="{FF2B5EF4-FFF2-40B4-BE49-F238E27FC236}">
                <a16:creationId xmlns:a16="http://schemas.microsoft.com/office/drawing/2014/main" id="{F7676AF1-9A79-0849-B775-76FEED196C91}"/>
              </a:ext>
            </a:extLst>
          </p:cNvPr>
          <p:cNvSpPr>
            <a:spLocks noGrp="1" noRot="1" noChangeArrowheads="1"/>
          </p:cNvSpPr>
          <p:nvPr>
            <p:ph type="body" idx="1"/>
          </p:nvPr>
        </p:nvSpPr>
        <p:spPr>
          <a:xfrm>
            <a:off x="76200" y="457200"/>
            <a:ext cx="8915400" cy="5867400"/>
          </a:xfrm>
        </p:spPr>
        <p:txBody>
          <a:bodyPr/>
          <a:lstStyle/>
          <a:p>
            <a:pPr marL="609600" indent="-609600" eaLnBrk="1" hangingPunct="1">
              <a:lnSpc>
                <a:spcPct val="100000"/>
              </a:lnSpc>
            </a:pPr>
            <a:r>
              <a:rPr lang="zh-CN" altLang="en-US"/>
              <a:t>一旦计算出功能点，则该以类似</a:t>
            </a:r>
            <a:r>
              <a:rPr lang="en-US" altLang="zh-CN"/>
              <a:t>LOC </a:t>
            </a:r>
            <a:r>
              <a:rPr lang="zh-CN" altLang="en-US"/>
              <a:t>的方法来使用它们，以规范软件生产率、质量及其他属性的测量：</a:t>
            </a:r>
          </a:p>
          <a:p>
            <a:pPr marL="1009650" lvl="1" indent="-609600" eaLnBrk="1" hangingPunct="1">
              <a:lnSpc>
                <a:spcPct val="100000"/>
              </a:lnSpc>
              <a:buFontTx/>
              <a:buAutoNum type="arabicPeriod"/>
            </a:pPr>
            <a:r>
              <a:rPr lang="zh-CN" altLang="en-US"/>
              <a:t>每个功能点</a:t>
            </a:r>
            <a:r>
              <a:rPr lang="en-US" altLang="zh-CN"/>
              <a:t>(FP)</a:t>
            </a:r>
            <a:r>
              <a:rPr lang="zh-CN" altLang="en-US"/>
              <a:t>的错误数。</a:t>
            </a:r>
          </a:p>
          <a:p>
            <a:pPr marL="1009650" lvl="1" indent="-609600" eaLnBrk="1" hangingPunct="1">
              <a:lnSpc>
                <a:spcPct val="100000"/>
              </a:lnSpc>
              <a:buFontTx/>
              <a:buAutoNum type="arabicPeriod"/>
            </a:pPr>
            <a:r>
              <a:rPr lang="zh-CN" altLang="en-US"/>
              <a:t>每个功能点</a:t>
            </a:r>
            <a:r>
              <a:rPr lang="en-US" altLang="zh-CN"/>
              <a:t>(FP)</a:t>
            </a:r>
            <a:r>
              <a:rPr lang="zh-CN" altLang="en-US"/>
              <a:t>的缺陷数。</a:t>
            </a:r>
          </a:p>
          <a:p>
            <a:pPr marL="1009650" lvl="1" indent="-609600" eaLnBrk="1" hangingPunct="1">
              <a:lnSpc>
                <a:spcPct val="100000"/>
              </a:lnSpc>
              <a:buFontTx/>
              <a:buAutoNum type="arabicPeriod"/>
            </a:pPr>
            <a:r>
              <a:rPr lang="zh-CN" altLang="en-US"/>
              <a:t>每个功能点</a:t>
            </a:r>
            <a:r>
              <a:rPr lang="en-US" altLang="zh-CN"/>
              <a:t>(FP)</a:t>
            </a:r>
            <a:r>
              <a:rPr lang="zh-CN" altLang="en-US"/>
              <a:t>的成本。</a:t>
            </a:r>
          </a:p>
          <a:p>
            <a:pPr marL="1009650" lvl="1" indent="-609600" eaLnBrk="1" hangingPunct="1">
              <a:lnSpc>
                <a:spcPct val="100000"/>
              </a:lnSpc>
              <a:buFontTx/>
              <a:buAutoNum type="arabicPeriod"/>
            </a:pPr>
            <a:r>
              <a:rPr lang="zh-CN" altLang="en-US"/>
              <a:t>每个功能点</a:t>
            </a:r>
            <a:r>
              <a:rPr lang="en-US" altLang="zh-CN"/>
              <a:t>(FP)</a:t>
            </a:r>
            <a:r>
              <a:rPr lang="zh-CN" altLang="en-US"/>
              <a:t>的文档页数。</a:t>
            </a:r>
          </a:p>
          <a:p>
            <a:pPr marL="1009650" lvl="1" indent="-609600" eaLnBrk="1" hangingPunct="1">
              <a:lnSpc>
                <a:spcPct val="100000"/>
              </a:lnSpc>
              <a:buFontTx/>
              <a:buAutoNum type="arabicPeriod"/>
            </a:pPr>
            <a:r>
              <a:rPr lang="zh-CN" altLang="en-US"/>
              <a:t>每人月完成的功能点</a:t>
            </a:r>
            <a:r>
              <a:rPr lang="en-US" altLang="zh-CN"/>
              <a:t>(FP)</a:t>
            </a:r>
            <a:r>
              <a:rPr lang="zh-CN" altLang="en-US"/>
              <a:t>数。</a:t>
            </a:r>
          </a:p>
          <a:p>
            <a:pPr marL="609600" indent="-609600" eaLnBrk="1" hangingPunct="1">
              <a:lnSpc>
                <a:spcPct val="100000"/>
              </a:lnSpc>
            </a:pPr>
            <a:r>
              <a:rPr lang="zh-CN" altLang="en-US"/>
              <a:t>生产率</a:t>
            </a:r>
            <a:r>
              <a:rPr lang="en-US" altLang="zh-CN"/>
              <a:t>=</a:t>
            </a:r>
            <a:r>
              <a:rPr lang="zh-CN" altLang="en-US"/>
              <a:t>功能点数（或千代码行数）</a:t>
            </a:r>
            <a:r>
              <a:rPr lang="en-US" altLang="zh-CN"/>
              <a:t>/</a:t>
            </a:r>
            <a:r>
              <a:rPr lang="zh-CN" altLang="en-US"/>
              <a:t>每人月</a:t>
            </a:r>
          </a:p>
          <a:p>
            <a:pPr marL="609600" indent="-609600" eaLnBrk="1" hangingPunct="1">
              <a:lnSpc>
                <a:spcPct val="100000"/>
              </a:lnSpc>
            </a:pPr>
            <a:r>
              <a:rPr lang="zh-CN" altLang="en-US"/>
              <a:t>成本</a:t>
            </a:r>
            <a:r>
              <a:rPr lang="en-US" altLang="zh-CN"/>
              <a:t>=</a:t>
            </a:r>
            <a:r>
              <a:rPr lang="zh-CN" altLang="en-US"/>
              <a:t>总费用</a:t>
            </a:r>
            <a:r>
              <a:rPr lang="en-US" altLang="zh-CN"/>
              <a:t>/</a:t>
            </a:r>
            <a:r>
              <a:rPr lang="zh-CN" altLang="en-US"/>
              <a:t>功能点数（或千代码行数）</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A0E911B1-3478-CA4D-A5D5-A1E8CF69ED81}"/>
              </a:ext>
            </a:extLst>
          </p:cNvPr>
          <p:cNvSpPr>
            <a:spLocks noGrp="1" noChangeArrowheads="1"/>
          </p:cNvSpPr>
          <p:nvPr>
            <p:ph type="title"/>
          </p:nvPr>
        </p:nvSpPr>
        <p:spPr>
          <a:xfrm>
            <a:off x="468313" y="333375"/>
            <a:ext cx="8229600" cy="1139825"/>
          </a:xfrm>
        </p:spPr>
        <p:txBody>
          <a:bodyPr/>
          <a:lstStyle/>
          <a:p>
            <a:pPr eaLnBrk="1" hangingPunct="1"/>
            <a:r>
              <a:rPr lang="hr-HR" altLang="zh-CN" sz="3600">
                <a:solidFill>
                  <a:schemeClr val="tx1"/>
                </a:solidFill>
                <a:latin typeface="宋体" panose="02010600030101010101" pitchFamily="2" charset="-122"/>
              </a:rPr>
              <a:t>19.</a:t>
            </a:r>
            <a:r>
              <a:rPr lang="en-US" altLang="zh-CN" sz="3600">
                <a:solidFill>
                  <a:schemeClr val="tx1"/>
                </a:solidFill>
                <a:latin typeface="宋体" panose="02010600030101010101" pitchFamily="2" charset="-122"/>
              </a:rPr>
              <a:t>2.3</a:t>
            </a:r>
            <a:r>
              <a:rPr lang="zh-CN" altLang="en-US" sz="3600">
                <a:solidFill>
                  <a:schemeClr val="tx1"/>
                </a:solidFill>
                <a:latin typeface="宋体" panose="02010600030101010101" pitchFamily="2" charset="-122"/>
              </a:rPr>
              <a:t> 调和代码行和功能点的度量方法</a:t>
            </a:r>
          </a:p>
        </p:txBody>
      </p:sp>
      <p:sp>
        <p:nvSpPr>
          <p:cNvPr id="47106" name="Rectangle 6">
            <a:extLst>
              <a:ext uri="{FF2B5EF4-FFF2-40B4-BE49-F238E27FC236}">
                <a16:creationId xmlns:a16="http://schemas.microsoft.com/office/drawing/2014/main" id="{7BDB7E70-1459-C04C-B2E5-007BEED6705B}"/>
              </a:ext>
            </a:extLst>
          </p:cNvPr>
          <p:cNvSpPr>
            <a:spLocks noChangeArrowheads="1"/>
          </p:cNvSpPr>
          <p:nvPr/>
        </p:nvSpPr>
        <p:spPr bwMode="auto">
          <a:xfrm>
            <a:off x="2657475" y="2476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endParaRPr lang="zh-CN" altLang="en-US" sz="1800"/>
          </a:p>
        </p:txBody>
      </p:sp>
      <p:sp>
        <p:nvSpPr>
          <p:cNvPr id="47107" name="Text Box 8">
            <a:extLst>
              <a:ext uri="{FF2B5EF4-FFF2-40B4-BE49-F238E27FC236}">
                <a16:creationId xmlns:a16="http://schemas.microsoft.com/office/drawing/2014/main" id="{BBB1E3EF-EF29-164F-A214-B83DFFE8F763}"/>
              </a:ext>
            </a:extLst>
          </p:cNvPr>
          <p:cNvSpPr txBox="1">
            <a:spLocks noChangeArrowheads="1"/>
          </p:cNvSpPr>
          <p:nvPr/>
        </p:nvSpPr>
        <p:spPr bwMode="auto">
          <a:xfrm>
            <a:off x="649288" y="1341438"/>
            <a:ext cx="849471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sz="2400"/>
              <a:t>代码行和功能点度量之间的关系依赖于实现软件所采用的程序</a:t>
            </a:r>
          </a:p>
          <a:p>
            <a:pPr eaLnBrk="1" hangingPunct="1">
              <a:lnSpc>
                <a:spcPct val="100000"/>
              </a:lnSpc>
              <a:spcBef>
                <a:spcPct val="0"/>
              </a:spcBef>
              <a:buFontTx/>
              <a:buNone/>
            </a:pPr>
            <a:r>
              <a:rPr lang="zh-CN" altLang="en-US" sz="2400"/>
              <a:t>设计语言及设计的质量</a:t>
            </a:r>
          </a:p>
        </p:txBody>
      </p:sp>
      <p:sp>
        <p:nvSpPr>
          <p:cNvPr id="47108" name="Text Box 7">
            <a:extLst>
              <a:ext uri="{FF2B5EF4-FFF2-40B4-BE49-F238E27FC236}">
                <a16:creationId xmlns:a16="http://schemas.microsoft.com/office/drawing/2014/main" id="{2869CEC2-45AE-8A43-880F-A2275897FC30}"/>
              </a:ext>
            </a:extLst>
          </p:cNvPr>
          <p:cNvSpPr txBox="1">
            <a:spLocks noChangeArrowheads="1"/>
          </p:cNvSpPr>
          <p:nvPr/>
        </p:nvSpPr>
        <p:spPr bwMode="auto">
          <a:xfrm>
            <a:off x="2362200" y="6400800"/>
            <a:ext cx="525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en-US" altLang="zh-CN" sz="1800" b="1">
                <a:latin typeface="宋体" panose="02010600030101010101" pitchFamily="2" charset="-122"/>
              </a:rPr>
              <a:t>LOC </a:t>
            </a:r>
            <a:r>
              <a:rPr lang="en-US" altLang="zh-CN" sz="1800" b="1"/>
              <a:t>–</a:t>
            </a:r>
            <a:r>
              <a:rPr lang="en-US" altLang="zh-CN" sz="1800" b="1">
                <a:latin typeface="宋体" panose="02010600030101010101" pitchFamily="2" charset="-122"/>
              </a:rPr>
              <a:t> </a:t>
            </a:r>
            <a:r>
              <a:rPr lang="zh-CN" altLang="en-US" sz="1800" b="1">
                <a:latin typeface="宋体" panose="02010600030101010101" pitchFamily="2" charset="-122"/>
              </a:rPr>
              <a:t>代码行    </a:t>
            </a:r>
            <a:r>
              <a:rPr lang="en-US" altLang="zh-CN" sz="1800" b="1">
                <a:latin typeface="Times New Roman" panose="02020603050405020304" pitchFamily="18" charset="0"/>
              </a:rPr>
              <a:t>FP -- </a:t>
            </a:r>
            <a:r>
              <a:rPr lang="zh-CN" altLang="en-US" sz="1800" b="1">
                <a:latin typeface="宋体" panose="02010600030101010101" pitchFamily="2" charset="-122"/>
              </a:rPr>
              <a:t>功能点</a:t>
            </a:r>
            <a:r>
              <a:rPr lang="zh-CN" altLang="en-US" sz="1800" b="1"/>
              <a:t> </a:t>
            </a:r>
          </a:p>
        </p:txBody>
      </p:sp>
      <p:pic>
        <p:nvPicPr>
          <p:cNvPr id="47109" name="图片 11" descr="截图00.png">
            <a:extLst>
              <a:ext uri="{FF2B5EF4-FFF2-40B4-BE49-F238E27FC236}">
                <a16:creationId xmlns:a16="http://schemas.microsoft.com/office/drawing/2014/main" id="{89B36A0C-00B2-0A43-A9C5-E4A3010D961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1188" y="2133600"/>
            <a:ext cx="6048375" cy="430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4E14E147-9839-A649-BAFD-B6921BDD3F62}"/>
              </a:ext>
            </a:extLst>
          </p:cNvPr>
          <p:cNvSpPr txBox="1">
            <a:spLocks noChangeArrowheads="1"/>
          </p:cNvSpPr>
          <p:nvPr/>
        </p:nvSpPr>
        <p:spPr bwMode="auto">
          <a:xfrm>
            <a:off x="7019925" y="2133600"/>
            <a:ext cx="1655763" cy="45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0"/>
              </a:spcBef>
              <a:buFontTx/>
              <a:buNone/>
            </a:pPr>
            <a:r>
              <a:rPr lang="zh-CN" altLang="en-US" sz="2400"/>
              <a:t>利用表中的信息，只要知道了程序设计语言的语句行数，就可以“逆向”估算出现有软件的功能点数量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1">
            <a:extLst>
              <a:ext uri="{FF2B5EF4-FFF2-40B4-BE49-F238E27FC236}">
                <a16:creationId xmlns:a16="http://schemas.microsoft.com/office/drawing/2014/main" id="{F6CAF675-16E1-1E43-9D0F-5144C3C9658A}"/>
              </a:ext>
            </a:extLst>
          </p:cNvPr>
          <p:cNvSpPr>
            <a:spLocks noGrp="1" noChangeArrowheads="1"/>
          </p:cNvSpPr>
          <p:nvPr>
            <p:ph type="title"/>
          </p:nvPr>
        </p:nvSpPr>
        <p:spPr/>
        <p:txBody>
          <a:bodyPr/>
          <a:lstStyle/>
          <a:p>
            <a:pPr eaLnBrk="1" hangingPunct="1"/>
            <a:r>
              <a:rPr lang="hr-HR" altLang="zh-CN"/>
              <a:t>19.</a:t>
            </a:r>
            <a:r>
              <a:rPr lang="en-US" altLang="zh-CN"/>
              <a:t>2.4</a:t>
            </a:r>
            <a:r>
              <a:rPr lang="zh-CN" altLang="en-US"/>
              <a:t> 面向对象的度量</a:t>
            </a:r>
          </a:p>
        </p:txBody>
      </p:sp>
      <p:sp>
        <p:nvSpPr>
          <p:cNvPr id="48130" name="内容占位符 2">
            <a:extLst>
              <a:ext uri="{FF2B5EF4-FFF2-40B4-BE49-F238E27FC236}">
                <a16:creationId xmlns:a16="http://schemas.microsoft.com/office/drawing/2014/main" id="{4EBEB9FF-3C12-7743-939C-13B1DA42C65B}"/>
              </a:ext>
            </a:extLst>
          </p:cNvPr>
          <p:cNvSpPr>
            <a:spLocks noGrp="1" noChangeArrowheads="1"/>
          </p:cNvSpPr>
          <p:nvPr>
            <p:ph idx="1"/>
          </p:nvPr>
        </p:nvSpPr>
        <p:spPr>
          <a:xfrm>
            <a:off x="250825" y="1600200"/>
            <a:ext cx="8642350" cy="4525963"/>
          </a:xfrm>
        </p:spPr>
        <p:txBody>
          <a:bodyPr/>
          <a:lstStyle/>
          <a:p>
            <a:pPr eaLnBrk="1" hangingPunct="1"/>
            <a:r>
              <a:rPr lang="en-US" altLang="zh-CN"/>
              <a:t>Lorenz</a:t>
            </a:r>
            <a:r>
              <a:rPr lang="zh-CN" altLang="en-US"/>
              <a:t>和</a:t>
            </a:r>
            <a:r>
              <a:rPr lang="en-US" altLang="zh-CN"/>
              <a:t>Kidd</a:t>
            </a:r>
            <a:r>
              <a:rPr lang="zh-CN" altLang="en-US"/>
              <a:t>提出了下列用于</a:t>
            </a:r>
            <a:r>
              <a:rPr lang="en-US" altLang="zh-CN"/>
              <a:t>OO</a:t>
            </a:r>
            <a:r>
              <a:rPr lang="zh-CN" altLang="en-US"/>
              <a:t>项目的场景： </a:t>
            </a:r>
            <a:endParaRPr lang="en-US" altLang="zh-CN"/>
          </a:p>
          <a:p>
            <a:pPr lvl="1" eaLnBrk="1" hangingPunct="1"/>
            <a:r>
              <a:rPr lang="zh-CN" altLang="en-US">
                <a:solidFill>
                  <a:srgbClr val="FF0000"/>
                </a:solidFill>
              </a:rPr>
              <a:t>场景脚本的数量</a:t>
            </a:r>
            <a:endParaRPr lang="en-US" altLang="zh-CN">
              <a:solidFill>
                <a:srgbClr val="FF0000"/>
              </a:solidFill>
            </a:endParaRPr>
          </a:p>
          <a:p>
            <a:pPr lvl="2" eaLnBrk="1" hangingPunct="1"/>
            <a:r>
              <a:rPr lang="zh-CN" altLang="en-US"/>
              <a:t>场景脚本是一个详细的步骤序列，用来描述用户和应用系统之间的交互</a:t>
            </a:r>
            <a:endParaRPr lang="en-US" altLang="zh-CN"/>
          </a:p>
          <a:p>
            <a:pPr lvl="1" eaLnBrk="1" hangingPunct="1"/>
            <a:r>
              <a:rPr lang="zh-CN" altLang="en-US">
                <a:solidFill>
                  <a:srgbClr val="FF0000"/>
                </a:solidFill>
              </a:rPr>
              <a:t>关键类的数量</a:t>
            </a:r>
            <a:endParaRPr lang="en-US" altLang="zh-CN">
              <a:solidFill>
                <a:srgbClr val="FF0000"/>
              </a:solidFill>
            </a:endParaRPr>
          </a:p>
          <a:p>
            <a:pPr lvl="2" eaLnBrk="1" hangingPunct="1"/>
            <a:r>
              <a:rPr lang="zh-CN" altLang="en-US"/>
              <a:t>关键类是“高度独立的构件”</a:t>
            </a:r>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内容占位符 2">
            <a:extLst>
              <a:ext uri="{FF2B5EF4-FFF2-40B4-BE49-F238E27FC236}">
                <a16:creationId xmlns:a16="http://schemas.microsoft.com/office/drawing/2014/main" id="{5A04FC8D-497D-0A4F-B94C-7C6CAFE22705}"/>
              </a:ext>
            </a:extLst>
          </p:cNvPr>
          <p:cNvSpPr>
            <a:spLocks noGrp="1" noChangeArrowheads="1"/>
          </p:cNvSpPr>
          <p:nvPr>
            <p:ph idx="1"/>
          </p:nvPr>
        </p:nvSpPr>
        <p:spPr>
          <a:xfrm>
            <a:off x="250825" y="188913"/>
            <a:ext cx="8569325" cy="5937250"/>
          </a:xfrm>
        </p:spPr>
        <p:txBody>
          <a:bodyPr/>
          <a:lstStyle/>
          <a:p>
            <a:pPr lvl="1" eaLnBrk="1" hangingPunct="1"/>
            <a:r>
              <a:rPr lang="zh-CN" altLang="en-US">
                <a:solidFill>
                  <a:srgbClr val="FF0000"/>
                </a:solidFill>
              </a:rPr>
              <a:t>支持类的数量</a:t>
            </a:r>
            <a:endParaRPr lang="en-US" altLang="zh-CN">
              <a:solidFill>
                <a:srgbClr val="FF0000"/>
              </a:solidFill>
            </a:endParaRPr>
          </a:p>
          <a:p>
            <a:pPr lvl="2" eaLnBrk="1" hangingPunct="1"/>
            <a:r>
              <a:rPr lang="zh-CN" altLang="en-US"/>
              <a:t>支持类是实现系统所必需的但又不与问题域直接相关的类，如；</a:t>
            </a:r>
            <a:r>
              <a:rPr lang="en-US" altLang="zh-CN"/>
              <a:t>UI</a:t>
            </a:r>
            <a:r>
              <a:rPr lang="zh-CN" altLang="en-US"/>
              <a:t>类，数据库访问记操作类，计算类</a:t>
            </a:r>
            <a:endParaRPr lang="en-US" altLang="zh-CN"/>
          </a:p>
          <a:p>
            <a:pPr lvl="1" eaLnBrk="1" hangingPunct="1"/>
            <a:r>
              <a:rPr lang="zh-CN" altLang="en-US">
                <a:solidFill>
                  <a:srgbClr val="FF0000"/>
                </a:solidFill>
              </a:rPr>
              <a:t>每个关键类的平均支持类数量</a:t>
            </a:r>
            <a:endParaRPr lang="en-US" altLang="zh-CN">
              <a:solidFill>
                <a:srgbClr val="FF0000"/>
              </a:solidFill>
            </a:endParaRPr>
          </a:p>
          <a:p>
            <a:pPr lvl="2" eaLnBrk="1" hangingPunct="1"/>
            <a:r>
              <a:rPr lang="zh-CN" altLang="en-US"/>
              <a:t>关键类早期可确定，在采用</a:t>
            </a:r>
            <a:r>
              <a:rPr lang="en-US" altLang="zh-CN"/>
              <a:t>GUI</a:t>
            </a:r>
            <a:r>
              <a:rPr lang="zh-CN" altLang="en-US"/>
              <a:t>的应用中，支持类是关键类的</a:t>
            </a:r>
            <a:r>
              <a:rPr lang="en-US" altLang="zh-CN"/>
              <a:t>2-3</a:t>
            </a:r>
            <a:r>
              <a:rPr lang="zh-CN" altLang="en-US"/>
              <a:t>倍，在不采用</a:t>
            </a:r>
            <a:r>
              <a:rPr lang="en-US" altLang="zh-CN"/>
              <a:t>GUI</a:t>
            </a:r>
            <a:r>
              <a:rPr lang="zh-CN" altLang="en-US"/>
              <a:t>的应用中，支持类是关键类的</a:t>
            </a:r>
            <a:r>
              <a:rPr lang="en-US" altLang="zh-CN"/>
              <a:t>1-2</a:t>
            </a:r>
            <a:r>
              <a:rPr lang="zh-CN" altLang="en-US"/>
              <a:t>倍。可用于估算支持类数量</a:t>
            </a:r>
            <a:endParaRPr lang="en-US" altLang="zh-CN"/>
          </a:p>
          <a:p>
            <a:pPr lvl="1" eaLnBrk="1" hangingPunct="1">
              <a:lnSpc>
                <a:spcPts val="4000"/>
              </a:lnSpc>
            </a:pPr>
            <a:r>
              <a:rPr lang="zh-CN" altLang="en-US">
                <a:solidFill>
                  <a:srgbClr val="FF0000"/>
                </a:solidFill>
              </a:rPr>
              <a:t>子系统的数量</a:t>
            </a:r>
            <a:endParaRPr lang="en-US" altLang="zh-CN">
              <a:solidFill>
                <a:srgbClr val="FF0000"/>
              </a:solidFill>
            </a:endParaRPr>
          </a:p>
          <a:p>
            <a:pPr lvl="2" eaLnBrk="1" hangingPunct="1"/>
            <a:r>
              <a:rPr lang="zh-CN" altLang="en-US"/>
              <a:t>子系统是实现某个功能的类的集合。一旦确定了子系统，人们就更容易制定出合理的进度计划，并将子系统的工作在项目人员之间进行分配。</a:t>
            </a:r>
            <a:endParaRPr lang="en-US" altLang="zh-CN"/>
          </a:p>
          <a:p>
            <a:pPr lvl="2" eaLnBrk="1" hangingPunct="1"/>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1">
            <a:extLst>
              <a:ext uri="{FF2B5EF4-FFF2-40B4-BE49-F238E27FC236}">
                <a16:creationId xmlns:a16="http://schemas.microsoft.com/office/drawing/2014/main" id="{033895D0-4068-CB42-AE26-A609FB11526C}"/>
              </a:ext>
            </a:extLst>
          </p:cNvPr>
          <p:cNvSpPr>
            <a:spLocks noGrp="1" noChangeArrowheads="1"/>
          </p:cNvSpPr>
          <p:nvPr>
            <p:ph type="title"/>
          </p:nvPr>
        </p:nvSpPr>
        <p:spPr/>
        <p:txBody>
          <a:bodyPr/>
          <a:lstStyle/>
          <a:p>
            <a:pPr eaLnBrk="1" hangingPunct="1"/>
            <a:endParaRPr lang="zh-CN" altLang="en-US"/>
          </a:p>
        </p:txBody>
      </p:sp>
      <p:sp>
        <p:nvSpPr>
          <p:cNvPr id="50178" name="内容占位符 2">
            <a:extLst>
              <a:ext uri="{FF2B5EF4-FFF2-40B4-BE49-F238E27FC236}">
                <a16:creationId xmlns:a16="http://schemas.microsoft.com/office/drawing/2014/main" id="{930EE61C-F5FE-6E4C-A35A-92D756D0FF3D}"/>
              </a:ext>
            </a:extLst>
          </p:cNvPr>
          <p:cNvSpPr>
            <a:spLocks noGrp="1" noChangeArrowheads="1"/>
          </p:cNvSpPr>
          <p:nvPr>
            <p:ph idx="1"/>
          </p:nvPr>
        </p:nvSpPr>
        <p:spPr>
          <a:xfrm>
            <a:off x="457200" y="1412875"/>
            <a:ext cx="8229600" cy="4713288"/>
          </a:xfrm>
        </p:spPr>
        <p:txBody>
          <a:bodyPr/>
          <a:lstStyle/>
          <a:p>
            <a:pPr eaLnBrk="1" hangingPunct="1"/>
            <a:r>
              <a:rPr lang="zh-CN" altLang="en-US"/>
              <a:t>将上述度量随项目测量（例如花费的工作量、发现的错误和缺陷、建立的模型或文档资料）一起收集。</a:t>
            </a:r>
            <a:endParaRPr lang="en-US" altLang="zh-CN"/>
          </a:p>
          <a:p>
            <a:pPr eaLnBrk="1" hangingPunct="1"/>
            <a:r>
              <a:rPr lang="zh-CN" altLang="en-US"/>
              <a:t>随着数据库规模的增长，面向对象的测量数据和项目测量数据之间的</a:t>
            </a:r>
            <a:r>
              <a:rPr lang="zh-CN" altLang="en-US">
                <a:solidFill>
                  <a:srgbClr val="FF0000"/>
                </a:solidFill>
              </a:rPr>
              <a:t>关系</a:t>
            </a:r>
            <a:r>
              <a:rPr lang="zh-CN" altLang="en-US"/>
              <a:t>将提供有助于项目估算的度量。</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1">
            <a:extLst>
              <a:ext uri="{FF2B5EF4-FFF2-40B4-BE49-F238E27FC236}">
                <a16:creationId xmlns:a16="http://schemas.microsoft.com/office/drawing/2014/main" id="{136FD9FE-279D-6247-A896-4DA0AE598D47}"/>
              </a:ext>
            </a:extLst>
          </p:cNvPr>
          <p:cNvSpPr>
            <a:spLocks noGrp="1" noChangeArrowheads="1"/>
          </p:cNvSpPr>
          <p:nvPr>
            <p:ph type="title"/>
          </p:nvPr>
        </p:nvSpPr>
        <p:spPr/>
        <p:txBody>
          <a:bodyPr/>
          <a:lstStyle/>
          <a:p>
            <a:pPr eaLnBrk="1" hangingPunct="1"/>
            <a:r>
              <a:rPr lang="hr-HR" altLang="zh-CN"/>
              <a:t>19.</a:t>
            </a:r>
            <a:r>
              <a:rPr lang="en-US" altLang="zh-CN"/>
              <a:t>2.5</a:t>
            </a:r>
            <a:r>
              <a:rPr lang="zh-CN" altLang="en-US"/>
              <a:t> 面向用例的度量 </a:t>
            </a:r>
          </a:p>
        </p:txBody>
      </p:sp>
      <p:sp>
        <p:nvSpPr>
          <p:cNvPr id="51202" name="内容占位符 2">
            <a:extLst>
              <a:ext uri="{FF2B5EF4-FFF2-40B4-BE49-F238E27FC236}">
                <a16:creationId xmlns:a16="http://schemas.microsoft.com/office/drawing/2014/main" id="{D5A8201A-17D4-1644-A24F-8C6521415579}"/>
              </a:ext>
            </a:extLst>
          </p:cNvPr>
          <p:cNvSpPr>
            <a:spLocks noGrp="1" noChangeArrowheads="1"/>
          </p:cNvSpPr>
          <p:nvPr>
            <p:ph idx="1"/>
          </p:nvPr>
        </p:nvSpPr>
        <p:spPr/>
        <p:txBody>
          <a:bodyPr/>
          <a:lstStyle/>
          <a:p>
            <a:pPr eaLnBrk="1" hangingPunct="1"/>
            <a:r>
              <a:rPr lang="zh-CN" altLang="en-US"/>
              <a:t>用例的大小没有标准</a:t>
            </a:r>
            <a:endParaRPr lang="en-US" altLang="zh-CN"/>
          </a:p>
          <a:p>
            <a:pPr eaLnBrk="1" hangingPunct="1"/>
            <a:r>
              <a:rPr lang="zh-CN" altLang="en-US"/>
              <a:t>将用例作为标准化的测量是不可信的，仍有很多工作要做。</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F9A470A3-0DC0-3B41-8023-679CF93D8EEE}"/>
              </a:ext>
            </a:extLst>
          </p:cNvPr>
          <p:cNvSpPr>
            <a:spLocks noGrp="1" noRot="1" noChangeArrowheads="1"/>
          </p:cNvSpPr>
          <p:nvPr>
            <p:ph type="title"/>
          </p:nvPr>
        </p:nvSpPr>
        <p:spPr>
          <a:xfrm>
            <a:off x="304800" y="152400"/>
            <a:ext cx="8540750" cy="990600"/>
          </a:xfrm>
        </p:spPr>
        <p:txBody>
          <a:bodyPr/>
          <a:lstStyle/>
          <a:p>
            <a:pPr eaLnBrk="1" hangingPunct="1"/>
            <a:r>
              <a:rPr lang="hr-HR" altLang="zh-CN" sz="4800" b="1"/>
              <a:t>19.</a:t>
            </a:r>
            <a:r>
              <a:rPr lang="en-US" altLang="zh-CN" sz="4800" b="1"/>
              <a:t>3</a:t>
            </a:r>
            <a:r>
              <a:rPr lang="zh-CN" altLang="en-US" sz="4800" b="1"/>
              <a:t> </a:t>
            </a:r>
            <a:r>
              <a:rPr lang="en-US" altLang="en-US" sz="4800" b="1"/>
              <a:t>软件质量度量</a:t>
            </a:r>
            <a:endParaRPr lang="zh-CN" altLang="en-US" sz="4800"/>
          </a:p>
        </p:txBody>
      </p:sp>
      <p:sp>
        <p:nvSpPr>
          <p:cNvPr id="52226" name="Rectangle 3">
            <a:extLst>
              <a:ext uri="{FF2B5EF4-FFF2-40B4-BE49-F238E27FC236}">
                <a16:creationId xmlns:a16="http://schemas.microsoft.com/office/drawing/2014/main" id="{72E9A668-B482-A043-9EE9-0D76E35589A7}"/>
              </a:ext>
            </a:extLst>
          </p:cNvPr>
          <p:cNvSpPr>
            <a:spLocks noGrp="1" noRot="1" noChangeArrowheads="1"/>
          </p:cNvSpPr>
          <p:nvPr>
            <p:ph type="body" idx="1"/>
          </p:nvPr>
        </p:nvSpPr>
        <p:spPr>
          <a:xfrm>
            <a:off x="152400" y="1447800"/>
            <a:ext cx="8839200" cy="5181600"/>
          </a:xfrm>
        </p:spPr>
        <p:txBody>
          <a:bodyPr/>
          <a:lstStyle/>
          <a:p>
            <a:pPr eaLnBrk="1" hangingPunct="1"/>
            <a:r>
              <a:rPr lang="en-US" altLang="en-US"/>
              <a:t>虽然有很多软件质量的测量方法，</a:t>
            </a:r>
            <a:r>
              <a:rPr lang="zh-CN" altLang="en-US"/>
              <a:t>但对软件进行：正确性</a:t>
            </a:r>
            <a:r>
              <a:rPr lang="en-US" altLang="en-US"/>
              <a:t>、可维护性、完整性、及可用性的测量为项目组提供了有用的技术指标。</a:t>
            </a:r>
            <a:endParaRPr lang="zh-CN" altLang="en-US"/>
          </a:p>
          <a:p>
            <a:pPr eaLnBrk="1" hangingPunct="1"/>
            <a:endParaRPr lang="en-US" altLang="zh-C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3">
            <a:extLst>
              <a:ext uri="{FF2B5EF4-FFF2-40B4-BE49-F238E27FC236}">
                <a16:creationId xmlns:a16="http://schemas.microsoft.com/office/drawing/2014/main" id="{7ABF2E23-7C38-A844-89FC-DAC7CF1ED61B}"/>
              </a:ext>
            </a:extLst>
          </p:cNvPr>
          <p:cNvSpPr>
            <a:spLocks noGrp="1" noRot="1" noChangeArrowheads="1"/>
          </p:cNvSpPr>
          <p:nvPr>
            <p:ph type="body" idx="1"/>
          </p:nvPr>
        </p:nvSpPr>
        <p:spPr>
          <a:xfrm>
            <a:off x="539750" y="908050"/>
            <a:ext cx="8077200" cy="5105400"/>
          </a:xfrm>
        </p:spPr>
        <p:txBody>
          <a:bodyPr/>
          <a:lstStyle/>
          <a:p>
            <a:pPr eaLnBrk="1" hangingPunct="1"/>
            <a:r>
              <a:rPr lang="zh-CN" altLang="en-US" b="1">
                <a:solidFill>
                  <a:srgbClr val="FF0000"/>
                </a:solidFill>
              </a:rPr>
              <a:t>正确性</a:t>
            </a:r>
            <a:r>
              <a:rPr lang="zh-CN" altLang="en-US"/>
              <a:t>：一个程序必须能够正确操作，否则对于用户就没有价值了。</a:t>
            </a:r>
          </a:p>
          <a:p>
            <a:pPr lvl="1" eaLnBrk="1" hangingPunct="1"/>
            <a:r>
              <a:rPr lang="zh-CN" altLang="en-US"/>
              <a:t>正确性是软件完成所需的功能的程度。</a:t>
            </a:r>
          </a:p>
          <a:p>
            <a:pPr lvl="1" eaLnBrk="1" hangingPunct="1"/>
            <a:r>
              <a:rPr lang="zh-CN" altLang="en-US"/>
              <a:t>关于正确性的最常用的测量是每千行代码</a:t>
            </a:r>
            <a:r>
              <a:rPr lang="en-US" altLang="zh-CN"/>
              <a:t>(KLOC)</a:t>
            </a:r>
            <a:r>
              <a:rPr lang="zh-CN" altLang="en-US"/>
              <a:t>的缺陷数</a:t>
            </a:r>
          </a:p>
          <a:p>
            <a:pPr lvl="1" eaLnBrk="1" hangingPunct="1"/>
            <a:r>
              <a:rPr lang="zh-CN" altLang="en-US"/>
              <a:t>这里缺陷定义为验证出的与需求不符的地方。</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3">
            <a:extLst>
              <a:ext uri="{FF2B5EF4-FFF2-40B4-BE49-F238E27FC236}">
                <a16:creationId xmlns:a16="http://schemas.microsoft.com/office/drawing/2014/main" id="{78BB9513-5BCC-B243-810D-B22C4A1DB4D5}"/>
              </a:ext>
            </a:extLst>
          </p:cNvPr>
          <p:cNvSpPr>
            <a:spLocks noGrp="1" noRot="1" noChangeArrowheads="1"/>
          </p:cNvSpPr>
          <p:nvPr>
            <p:ph type="body" idx="1"/>
          </p:nvPr>
        </p:nvSpPr>
        <p:spPr>
          <a:xfrm>
            <a:off x="0" y="76200"/>
            <a:ext cx="9144000" cy="6629400"/>
          </a:xfrm>
        </p:spPr>
        <p:txBody>
          <a:bodyPr/>
          <a:lstStyle/>
          <a:p>
            <a:pPr eaLnBrk="1" hangingPunct="1">
              <a:lnSpc>
                <a:spcPts val="4000"/>
              </a:lnSpc>
            </a:pPr>
            <a:r>
              <a:rPr lang="zh-CN" altLang="en-US" b="1">
                <a:solidFill>
                  <a:srgbClr val="FF0000"/>
                </a:solidFill>
              </a:rPr>
              <a:t>可维护性</a:t>
            </a:r>
            <a:r>
              <a:rPr lang="zh-CN" altLang="en-US"/>
              <a:t>：软件维护所占的工作量比任何其他软件工程活动都大。</a:t>
            </a:r>
          </a:p>
          <a:p>
            <a:pPr lvl="1" eaLnBrk="1" hangingPunct="1">
              <a:lnSpc>
                <a:spcPts val="4000"/>
              </a:lnSpc>
            </a:pPr>
            <a:r>
              <a:rPr lang="zh-CN" altLang="en-US"/>
              <a:t>可维护性是指遇到错误时程序能被修改的容易程度；环境发生变化时程序能够适应的容易程度；用户希望改变需求时程序能被增强的容易程度。</a:t>
            </a:r>
          </a:p>
          <a:p>
            <a:pPr lvl="1" eaLnBrk="1" hangingPunct="1">
              <a:lnSpc>
                <a:spcPts val="4000"/>
              </a:lnSpc>
            </a:pPr>
            <a:r>
              <a:rPr lang="zh-CN" altLang="en-US"/>
              <a:t>可维护性无法直接测量；因必须采用间接测量。</a:t>
            </a:r>
          </a:p>
          <a:p>
            <a:pPr lvl="1" eaLnBrk="1" hangingPunct="1">
              <a:lnSpc>
                <a:spcPts val="4000"/>
              </a:lnSpc>
            </a:pPr>
            <a:r>
              <a:rPr lang="zh-CN" altLang="en-US"/>
              <a:t>一个简单的面向时间的度量是</a:t>
            </a:r>
            <a:r>
              <a:rPr lang="zh-CN" altLang="en-US">
                <a:solidFill>
                  <a:srgbClr val="FF0000"/>
                </a:solidFill>
              </a:rPr>
              <a:t>平均修改时间</a:t>
            </a:r>
            <a:r>
              <a:rPr lang="en-US" altLang="zh-CN"/>
              <a:t>(mean-time-to-change</a:t>
            </a:r>
            <a:r>
              <a:rPr lang="zh-CN" altLang="en-US"/>
              <a:t>，</a:t>
            </a:r>
            <a:r>
              <a:rPr lang="en-US" altLang="zh-CN"/>
              <a:t>MTTC)</a:t>
            </a:r>
            <a:r>
              <a:rPr lang="zh-CN" altLang="en-US"/>
              <a:t>，即分析改变的需求、设计合适的修改方案、实现修改、测试，并将修改后的结果发布给用户所花的时间。</a:t>
            </a:r>
          </a:p>
          <a:p>
            <a:pPr lvl="1" eaLnBrk="1" hangingPunct="1">
              <a:lnSpc>
                <a:spcPts val="4000"/>
              </a:lnSpc>
            </a:pPr>
            <a:r>
              <a:rPr lang="zh-CN" altLang="en-US"/>
              <a:t>一般情况下，可维护的程序与不可维护的程序相比，有较低的</a:t>
            </a:r>
            <a:r>
              <a:rPr lang="en-US" altLang="zh-CN"/>
              <a:t>MTTC(</a:t>
            </a:r>
            <a:r>
              <a:rPr lang="zh-CN" altLang="en-US"/>
              <a:t>相对于同类修改而言</a:t>
            </a:r>
            <a:r>
              <a:rPr lang="en-US" altLang="zh-CN"/>
              <a:t>)</a:t>
            </a:r>
            <a:r>
              <a:rPr lang="zh-CN" altLang="en-US"/>
              <a:t>。</a:t>
            </a:r>
          </a:p>
          <a:p>
            <a:pPr eaLnBrk="1" hangingPunct="1">
              <a:lnSpc>
                <a:spcPts val="4000"/>
              </a:lnSpc>
            </a:pPr>
            <a:endParaRPr lang="en-US" altLang="zh-C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3">
            <a:extLst>
              <a:ext uri="{FF2B5EF4-FFF2-40B4-BE49-F238E27FC236}">
                <a16:creationId xmlns:a16="http://schemas.microsoft.com/office/drawing/2014/main" id="{582BA382-3ACB-CD49-BCA4-EDDEADF8D633}"/>
              </a:ext>
            </a:extLst>
          </p:cNvPr>
          <p:cNvSpPr>
            <a:spLocks noGrp="1" noRot="1" noChangeArrowheads="1"/>
          </p:cNvSpPr>
          <p:nvPr>
            <p:ph type="body" idx="1"/>
          </p:nvPr>
        </p:nvSpPr>
        <p:spPr>
          <a:xfrm>
            <a:off x="468313" y="1268413"/>
            <a:ext cx="8229600" cy="4525962"/>
          </a:xfrm>
        </p:spPr>
        <p:txBody>
          <a:bodyPr/>
          <a:lstStyle/>
          <a:p>
            <a:pPr eaLnBrk="1" hangingPunct="1"/>
            <a:r>
              <a:rPr lang="zh-CN" altLang="en-US" b="1">
                <a:solidFill>
                  <a:srgbClr val="FF0000"/>
                </a:solidFill>
              </a:rPr>
              <a:t>完整性</a:t>
            </a:r>
            <a:r>
              <a:rPr lang="zh-CN" altLang="en-US"/>
              <a:t>：在黑客及病毒横行的现在，软件完整性已变得日益重要。</a:t>
            </a:r>
          </a:p>
          <a:p>
            <a:pPr lvl="1" eaLnBrk="1" hangingPunct="1"/>
            <a:r>
              <a:rPr lang="zh-CN" altLang="en-US"/>
              <a:t>这个属性测量系统在安全方面的抗攻击</a:t>
            </a:r>
            <a:r>
              <a:rPr lang="en-US" altLang="zh-CN"/>
              <a:t>(</a:t>
            </a:r>
            <a:r>
              <a:rPr lang="zh-CN" altLang="en-US"/>
              <a:t>包括偶然的和蓄意的</a:t>
            </a:r>
            <a:r>
              <a:rPr lang="en-US" altLang="zh-CN"/>
              <a:t>)</a:t>
            </a:r>
            <a:r>
              <a:rPr lang="zh-CN" altLang="en-US"/>
              <a:t>能力。</a:t>
            </a:r>
          </a:p>
          <a:p>
            <a:pPr lvl="1" eaLnBrk="1" hangingPunct="1"/>
            <a:r>
              <a:rPr lang="zh-CN" altLang="en-US"/>
              <a:t>攻击可能发生在软件的三个主要成分上：程序、数据及文档。</a:t>
            </a:r>
          </a:p>
          <a:p>
            <a:pPr eaLnBrk="1" hangingPunct="1"/>
            <a:endParaRPr lang="en-US" altLang="zh-C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3">
            <a:extLst>
              <a:ext uri="{FF2B5EF4-FFF2-40B4-BE49-F238E27FC236}">
                <a16:creationId xmlns:a16="http://schemas.microsoft.com/office/drawing/2014/main" id="{2296705A-170B-E74A-992A-F0FC7650A895}"/>
              </a:ext>
            </a:extLst>
          </p:cNvPr>
          <p:cNvSpPr>
            <a:spLocks noGrp="1" noRot="1" noChangeArrowheads="1"/>
          </p:cNvSpPr>
          <p:nvPr>
            <p:ph type="body" idx="1"/>
          </p:nvPr>
        </p:nvSpPr>
        <p:spPr>
          <a:xfrm>
            <a:off x="0" y="333375"/>
            <a:ext cx="9144000" cy="5565775"/>
          </a:xfrm>
        </p:spPr>
        <p:txBody>
          <a:bodyPr/>
          <a:lstStyle/>
          <a:p>
            <a:pPr eaLnBrk="1" hangingPunct="1">
              <a:lnSpc>
                <a:spcPts val="4000"/>
              </a:lnSpc>
            </a:pPr>
            <a:r>
              <a:rPr lang="zh-CN" altLang="en-US"/>
              <a:t>为了测量完整性，必须定义两个附加的属性：</a:t>
            </a:r>
          </a:p>
          <a:p>
            <a:pPr eaLnBrk="1" hangingPunct="1">
              <a:lnSpc>
                <a:spcPts val="4000"/>
              </a:lnSpc>
              <a:buFontTx/>
              <a:buNone/>
            </a:pPr>
            <a:r>
              <a:rPr lang="zh-CN" altLang="en-US"/>
              <a:t>    </a:t>
            </a:r>
            <a:r>
              <a:rPr lang="zh-CN" altLang="en-US" b="1">
                <a:solidFill>
                  <a:srgbClr val="FF0000"/>
                </a:solidFill>
              </a:rPr>
              <a:t>威胁和安全性</a:t>
            </a:r>
            <a:r>
              <a:rPr lang="zh-CN" altLang="en-US"/>
              <a:t>。</a:t>
            </a:r>
          </a:p>
          <a:p>
            <a:pPr lvl="1" eaLnBrk="1" hangingPunct="1">
              <a:lnSpc>
                <a:spcPts val="4000"/>
              </a:lnSpc>
            </a:pPr>
            <a:r>
              <a:rPr lang="zh-CN" altLang="en-US" b="1"/>
              <a:t>危险性</a:t>
            </a:r>
            <a:r>
              <a:rPr lang="zh-CN" altLang="en-US"/>
              <a:t>是某个特定类型的攻击在给定时间内发生的可能性</a:t>
            </a:r>
            <a:r>
              <a:rPr lang="en-US" altLang="zh-CN"/>
              <a:t>(</a:t>
            </a:r>
            <a:r>
              <a:rPr lang="zh-CN" altLang="en-US"/>
              <a:t>能够根据经验估算或推断出来</a:t>
            </a:r>
            <a:r>
              <a:rPr lang="en-US" altLang="zh-CN"/>
              <a:t>)</a:t>
            </a:r>
            <a:r>
              <a:rPr lang="zh-CN" altLang="en-US"/>
              <a:t>。</a:t>
            </a:r>
          </a:p>
          <a:p>
            <a:pPr lvl="1" eaLnBrk="1" hangingPunct="1">
              <a:lnSpc>
                <a:spcPts val="4000"/>
              </a:lnSpc>
            </a:pPr>
            <a:r>
              <a:rPr lang="zh-CN" altLang="en-US" b="1"/>
              <a:t>安全性</a:t>
            </a:r>
            <a:r>
              <a:rPr lang="zh-CN" altLang="en-US"/>
              <a:t>是某个特定类型的攻击将被击退的可能性</a:t>
            </a:r>
            <a:r>
              <a:rPr lang="en-US" altLang="zh-CN"/>
              <a:t>(</a:t>
            </a:r>
            <a:r>
              <a:rPr lang="zh-CN" altLang="en-US"/>
              <a:t>也能够根据经验估算或推断出来</a:t>
            </a:r>
            <a:r>
              <a:rPr lang="en-US" altLang="zh-CN"/>
              <a:t>)</a:t>
            </a:r>
            <a:r>
              <a:rPr lang="zh-CN" altLang="en-US"/>
              <a:t>。</a:t>
            </a:r>
          </a:p>
          <a:p>
            <a:pPr eaLnBrk="1" hangingPunct="1">
              <a:lnSpc>
                <a:spcPts val="4000"/>
              </a:lnSpc>
            </a:pPr>
            <a:r>
              <a:rPr lang="zh-CN" altLang="en-US"/>
              <a:t>一个系统的完整性可以定义为：</a:t>
            </a:r>
          </a:p>
          <a:p>
            <a:pPr lvl="1" eaLnBrk="1" hangingPunct="1">
              <a:lnSpc>
                <a:spcPts val="4000"/>
              </a:lnSpc>
            </a:pPr>
            <a:r>
              <a:rPr lang="zh-CN" altLang="en-US"/>
              <a:t>完整性</a:t>
            </a:r>
            <a:r>
              <a:rPr lang="en-US" altLang="zh-CN"/>
              <a:t>=Σ</a:t>
            </a:r>
            <a:r>
              <a:rPr lang="zh-CN" altLang="en-US"/>
              <a:t>［</a:t>
            </a:r>
            <a:r>
              <a:rPr lang="en-US" altLang="zh-CN"/>
              <a:t>1-(</a:t>
            </a:r>
            <a:r>
              <a:rPr lang="zh-CN" altLang="en-US"/>
              <a:t>危险性</a:t>
            </a:r>
            <a:r>
              <a:rPr lang="en-US" altLang="zh-CN"/>
              <a:t>×(1-</a:t>
            </a:r>
            <a:r>
              <a:rPr lang="zh-CN" altLang="en-US"/>
              <a:t>安全性</a:t>
            </a:r>
            <a:r>
              <a:rPr lang="en-US" altLang="zh-CN"/>
              <a:t>))</a:t>
            </a:r>
            <a:r>
              <a:rPr lang="zh-CN" altLang="en-US"/>
              <a:t>］</a:t>
            </a:r>
          </a:p>
          <a:p>
            <a:pPr eaLnBrk="1" hangingPunct="1">
              <a:lnSpc>
                <a:spcPts val="4000"/>
              </a:lnSpc>
            </a:pPr>
            <a:r>
              <a:rPr lang="zh-CN" altLang="en-US"/>
              <a:t>这是威胁及安全性针对每种类型的攻击求和。</a:t>
            </a:r>
          </a:p>
          <a:p>
            <a:pPr eaLnBrk="1" hangingPunct="1">
              <a:lnSpc>
                <a:spcPts val="4000"/>
              </a:lnSpc>
            </a:pPr>
            <a:endParaRPr lang="en-US" altLang="zh-C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3">
            <a:extLst>
              <a:ext uri="{FF2B5EF4-FFF2-40B4-BE49-F238E27FC236}">
                <a16:creationId xmlns:a16="http://schemas.microsoft.com/office/drawing/2014/main" id="{5776DB11-D5D1-DE4B-8C4E-A03E5AA63662}"/>
              </a:ext>
            </a:extLst>
          </p:cNvPr>
          <p:cNvSpPr>
            <a:spLocks noGrp="1" noRot="1" noChangeArrowheads="1"/>
          </p:cNvSpPr>
          <p:nvPr>
            <p:ph type="body" idx="1"/>
          </p:nvPr>
        </p:nvSpPr>
        <p:spPr>
          <a:xfrm>
            <a:off x="0" y="304800"/>
            <a:ext cx="9144000" cy="6096000"/>
          </a:xfrm>
        </p:spPr>
        <p:txBody>
          <a:bodyPr/>
          <a:lstStyle/>
          <a:p>
            <a:pPr eaLnBrk="1" hangingPunct="1"/>
            <a:r>
              <a:rPr lang="zh-CN" altLang="en-US" b="1">
                <a:solidFill>
                  <a:srgbClr val="FF0000"/>
                </a:solidFill>
              </a:rPr>
              <a:t>可用性</a:t>
            </a:r>
            <a:r>
              <a:rPr lang="zh-CN" altLang="en-US"/>
              <a:t>：若一个程序不是“用户友好的”，它是注定会失败的，即使它所完成的功能很有价值。</a:t>
            </a:r>
          </a:p>
          <a:p>
            <a:pPr lvl="1" eaLnBrk="1" hangingPunct="1"/>
            <a:r>
              <a:rPr lang="zh-CN" altLang="en-US"/>
              <a:t>可用性试图量化“用户友好性”，并根据四个特性来测量：</a:t>
            </a:r>
          </a:p>
          <a:p>
            <a:pPr lvl="2" eaLnBrk="1" hangingPunct="1"/>
            <a:r>
              <a:rPr lang="en-US" altLang="zh-CN"/>
              <a:t>1)</a:t>
            </a:r>
            <a:r>
              <a:rPr lang="zh-CN" altLang="en-US"/>
              <a:t>学会一个系统所需的体力的和</a:t>
            </a:r>
            <a:r>
              <a:rPr lang="en-US" altLang="zh-CN"/>
              <a:t>/</a:t>
            </a:r>
            <a:r>
              <a:rPr lang="zh-CN" altLang="en-US"/>
              <a:t>或智力的投入</a:t>
            </a:r>
          </a:p>
          <a:p>
            <a:pPr lvl="2" eaLnBrk="1" hangingPunct="1"/>
            <a:r>
              <a:rPr lang="en-US" altLang="zh-CN"/>
              <a:t>2)</a:t>
            </a:r>
            <a:r>
              <a:rPr lang="zh-CN" altLang="en-US"/>
              <a:t>在系统的使用上达到中等效率所需的时间；</a:t>
            </a:r>
          </a:p>
          <a:p>
            <a:pPr lvl="2" eaLnBrk="1" hangingPunct="1"/>
            <a:r>
              <a:rPr lang="en-US" altLang="zh-CN"/>
              <a:t>3)</a:t>
            </a:r>
            <a:r>
              <a:rPr lang="zh-CN" altLang="en-US"/>
              <a:t>当系统由某个具有中等效率的人使用时，测量到的生产率的净增长</a:t>
            </a:r>
            <a:r>
              <a:rPr lang="en-US" altLang="zh-CN"/>
              <a:t>(</a:t>
            </a:r>
            <a:r>
              <a:rPr lang="zh-CN" altLang="en-US"/>
              <a:t>与被该系统替代的老系统相比</a:t>
            </a:r>
            <a:r>
              <a:rPr lang="en-US" altLang="zh-CN"/>
              <a:t>)</a:t>
            </a:r>
            <a:r>
              <a:rPr lang="zh-CN" altLang="en-US"/>
              <a:t>； </a:t>
            </a:r>
          </a:p>
          <a:p>
            <a:pPr lvl="2" eaLnBrk="1" hangingPunct="1"/>
            <a:r>
              <a:rPr lang="en-US" altLang="zh-CN"/>
              <a:t>4)</a:t>
            </a:r>
            <a:r>
              <a:rPr lang="zh-CN" altLang="en-US"/>
              <a:t>用户对系统的态度的一个主观评估</a:t>
            </a:r>
            <a:r>
              <a:rPr lang="en-US" altLang="zh-CN"/>
              <a:t>(</a:t>
            </a:r>
            <a:r>
              <a:rPr lang="zh-CN" altLang="en-US"/>
              <a:t>有时可以通过调查表获得</a:t>
            </a:r>
            <a:r>
              <a:rPr lang="en-US" altLang="zh-CN"/>
              <a:t>)</a:t>
            </a:r>
            <a:r>
              <a:rPr lang="zh-CN" altLang="en-US"/>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11">
            <a:extLst>
              <a:ext uri="{FF2B5EF4-FFF2-40B4-BE49-F238E27FC236}">
                <a16:creationId xmlns:a16="http://schemas.microsoft.com/office/drawing/2014/main" id="{2073ACB9-B0DA-B54D-B449-723CFEE39777}"/>
              </a:ext>
            </a:extLst>
          </p:cNvPr>
          <p:cNvSpPr>
            <a:spLocks noRot="1" noChangeArrowheads="1"/>
          </p:cNvSpPr>
          <p:nvPr/>
        </p:nvSpPr>
        <p:spPr bwMode="auto">
          <a:xfrm>
            <a:off x="228600" y="0"/>
            <a:ext cx="854075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50000"/>
              </a:lnSpc>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lnSpc>
                <a:spcPct val="150000"/>
              </a:lnSpc>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lnSpc>
                <a:spcPct val="150000"/>
              </a:lnSpc>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nSpc>
                <a:spcPct val="150000"/>
              </a:lnSpc>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hr-HR" altLang="zh-CN" sz="4400" b="1">
                <a:solidFill>
                  <a:schemeClr val="tx2"/>
                </a:solidFill>
              </a:rPr>
              <a:t>19.</a:t>
            </a:r>
            <a:r>
              <a:rPr lang="en-US" altLang="zh-CN" sz="4400" b="1">
                <a:solidFill>
                  <a:schemeClr val="tx2"/>
                </a:solidFill>
              </a:rPr>
              <a:t>3.2 </a:t>
            </a:r>
            <a:r>
              <a:rPr lang="zh-CN" altLang="en-US" sz="4400" b="1">
                <a:solidFill>
                  <a:schemeClr val="tx2"/>
                </a:solidFill>
              </a:rPr>
              <a:t>缺陷排除效率</a:t>
            </a:r>
            <a:endParaRPr lang="zh-CN" altLang="en-US" sz="4400">
              <a:solidFill>
                <a:schemeClr val="tx2"/>
              </a:solidFill>
            </a:endParaRPr>
          </a:p>
        </p:txBody>
      </p:sp>
      <p:sp>
        <p:nvSpPr>
          <p:cNvPr id="58370" name="Rectangle 13">
            <a:extLst>
              <a:ext uri="{FF2B5EF4-FFF2-40B4-BE49-F238E27FC236}">
                <a16:creationId xmlns:a16="http://schemas.microsoft.com/office/drawing/2014/main" id="{437699C2-12EA-4E48-959E-EBBCDF791CC1}"/>
              </a:ext>
            </a:extLst>
          </p:cNvPr>
          <p:cNvSpPr>
            <a:spLocks noGrp="1" noRot="1" noChangeArrowheads="1"/>
          </p:cNvSpPr>
          <p:nvPr>
            <p:ph type="body" idx="1"/>
          </p:nvPr>
        </p:nvSpPr>
        <p:spPr>
          <a:xfrm>
            <a:off x="468313" y="1143000"/>
            <a:ext cx="8280400" cy="4953000"/>
          </a:xfrm>
        </p:spPr>
        <p:txBody>
          <a:bodyPr/>
          <a:lstStyle/>
          <a:p>
            <a:pPr eaLnBrk="1" hangingPunct="1"/>
            <a:r>
              <a:rPr lang="zh-CN" altLang="zh-CN" sz="2800"/>
              <a:t>缺陷排除效率(DRE)在项目级和过程级都能提供有益的质量度量</a:t>
            </a:r>
            <a:r>
              <a:rPr lang="zh-CN" altLang="en-US" sz="2800"/>
              <a:t>。</a:t>
            </a:r>
            <a:endParaRPr lang="zh-CN" altLang="zh-CN" sz="2800"/>
          </a:p>
          <a:p>
            <a:pPr eaLnBrk="1" hangingPunct="1"/>
            <a:r>
              <a:rPr lang="zh-CN" altLang="en-US" sz="2800"/>
              <a:t>当把一个项目作为一个整体来考虑时，</a:t>
            </a:r>
            <a:r>
              <a:rPr lang="en-US" altLang="zh-CN" sz="2800"/>
              <a:t>DRE </a:t>
            </a:r>
            <a:r>
              <a:rPr lang="zh-CN" altLang="en-US" sz="2800"/>
              <a:t>按如下方式定义：</a:t>
            </a:r>
          </a:p>
          <a:p>
            <a:pPr lvl="1" eaLnBrk="1" hangingPunct="1"/>
            <a:r>
              <a:rPr lang="en-US" altLang="zh-CN" sz="2400">
                <a:solidFill>
                  <a:srgbClr val="FF0000"/>
                </a:solidFill>
              </a:rPr>
              <a:t>DRE=E/(E</a:t>
            </a:r>
            <a:r>
              <a:rPr lang="zh-CN" altLang="en-US" sz="2400">
                <a:solidFill>
                  <a:srgbClr val="FF0000"/>
                </a:solidFill>
              </a:rPr>
              <a:t>＋</a:t>
            </a:r>
            <a:r>
              <a:rPr lang="en-US" altLang="zh-CN" sz="2400">
                <a:solidFill>
                  <a:srgbClr val="FF0000"/>
                </a:solidFill>
              </a:rPr>
              <a:t>D)</a:t>
            </a:r>
            <a:r>
              <a:rPr lang="zh-CN" altLang="en-US" sz="2400"/>
              <a:t>，其中：</a:t>
            </a:r>
          </a:p>
          <a:p>
            <a:pPr lvl="2" eaLnBrk="1" hangingPunct="1"/>
            <a:r>
              <a:rPr lang="en-US" altLang="zh-CN" sz="2000"/>
              <a:t>E=</a:t>
            </a:r>
            <a:r>
              <a:rPr lang="zh-CN" altLang="en-US" sz="2000"/>
              <a:t>软件交付给最终用户之前所发现的错误数</a:t>
            </a:r>
          </a:p>
          <a:p>
            <a:pPr lvl="2" eaLnBrk="1" hangingPunct="1"/>
            <a:r>
              <a:rPr lang="en-US" altLang="zh-CN" sz="2000"/>
              <a:t>D=</a:t>
            </a:r>
            <a:r>
              <a:rPr lang="zh-CN" altLang="en-US" sz="2000"/>
              <a:t>软件交付之后所发现的缺陷数</a:t>
            </a:r>
          </a:p>
          <a:p>
            <a:pPr lvl="2" eaLnBrk="1" hangingPunct="1"/>
            <a:r>
              <a:rPr lang="zh-CN" altLang="en-US" sz="2000"/>
              <a:t>最理想的</a:t>
            </a:r>
            <a:r>
              <a:rPr lang="en-US" altLang="zh-CN" sz="2000"/>
              <a:t>DRE </a:t>
            </a:r>
            <a:r>
              <a:rPr lang="zh-CN" altLang="en-US" sz="2000"/>
              <a:t>值是</a:t>
            </a:r>
            <a:r>
              <a:rPr lang="en-US" altLang="zh-CN" sz="2000"/>
              <a:t>1</a:t>
            </a:r>
            <a:r>
              <a:rPr lang="zh-CN" altLang="en-US" sz="2000"/>
              <a:t>，即软件中没有发现缺陷。</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13">
            <a:extLst>
              <a:ext uri="{FF2B5EF4-FFF2-40B4-BE49-F238E27FC236}">
                <a16:creationId xmlns:a16="http://schemas.microsoft.com/office/drawing/2014/main" id="{B63B2136-DD43-644F-A79E-2D1B2E7EDEBD}"/>
              </a:ext>
            </a:extLst>
          </p:cNvPr>
          <p:cNvSpPr>
            <a:spLocks noGrp="1" noRot="1" noChangeArrowheads="1"/>
          </p:cNvSpPr>
          <p:nvPr>
            <p:ph type="body" idx="1"/>
          </p:nvPr>
        </p:nvSpPr>
        <p:spPr>
          <a:xfrm>
            <a:off x="0" y="576263"/>
            <a:ext cx="9144000" cy="4724400"/>
          </a:xfrm>
        </p:spPr>
        <p:txBody>
          <a:bodyPr/>
          <a:lstStyle/>
          <a:p>
            <a:pPr eaLnBrk="1" hangingPunct="1"/>
            <a:r>
              <a:rPr lang="zh-CN" altLang="en-US" sz="2800"/>
              <a:t>如果</a:t>
            </a:r>
            <a:r>
              <a:rPr lang="en-US" altLang="zh-CN" sz="2800"/>
              <a:t>DRE </a:t>
            </a:r>
            <a:r>
              <a:rPr lang="zh-CN" altLang="en-US" sz="2800"/>
              <a:t>作为一个度量，提供关于质量控制和保证活动的过滤能力的衡量指标，则</a:t>
            </a:r>
            <a:r>
              <a:rPr lang="en-US" altLang="zh-CN" sz="2800"/>
              <a:t>DRE </a:t>
            </a:r>
            <a:r>
              <a:rPr lang="zh-CN" altLang="en-US" sz="2800"/>
              <a:t>鼓励软件项目组采用先进技术，以便在交付之前发现尽可能多的错误。</a:t>
            </a:r>
          </a:p>
          <a:p>
            <a:pPr eaLnBrk="1" hangingPunct="1"/>
            <a:r>
              <a:rPr lang="en-US" altLang="zh-CN" sz="2800"/>
              <a:t>DRE </a:t>
            </a:r>
            <a:r>
              <a:rPr lang="zh-CN" altLang="en-US" sz="2800"/>
              <a:t>也能够用来在项目中评估一个小组发现错误的能力。</a:t>
            </a:r>
          </a:p>
          <a:p>
            <a:pPr eaLnBrk="1" hangingPunct="1"/>
            <a:r>
              <a:rPr lang="zh-CN" altLang="en-US" sz="2800"/>
              <a:t>一个软件项目组</a:t>
            </a:r>
            <a:r>
              <a:rPr lang="en-US" altLang="zh-CN" sz="2800"/>
              <a:t>(</a:t>
            </a:r>
            <a:r>
              <a:rPr lang="zh-CN" altLang="en-US" sz="2800"/>
              <a:t>或单个软件工程师</a:t>
            </a:r>
            <a:r>
              <a:rPr lang="en-US" altLang="zh-CN" sz="2800"/>
              <a:t>)</a:t>
            </a:r>
            <a:r>
              <a:rPr lang="zh-CN" altLang="en-US" sz="2800"/>
              <a:t>的质量目标是使</a:t>
            </a:r>
            <a:r>
              <a:rPr lang="en-US" altLang="zh-CN" sz="2800"/>
              <a:t>DRE </a:t>
            </a:r>
            <a:r>
              <a:rPr lang="zh-CN" altLang="en-US" sz="2800"/>
              <a:t>接近</a:t>
            </a:r>
            <a:r>
              <a:rPr lang="en-US" altLang="zh-CN" sz="2800"/>
              <a:t>1</a:t>
            </a:r>
            <a:r>
              <a:rPr lang="zh-CN" altLang="en-US" sz="2800"/>
              <a:t>。即，错误应该在传递到下一个活动之前被过滤掉。</a:t>
            </a:r>
          </a:p>
          <a:p>
            <a:pPr eaLnBrk="1" hangingPunct="1"/>
            <a:endParaRPr lang="zh-CN" altLang="en-US" sz="2800"/>
          </a:p>
          <a:p>
            <a:pPr eaLnBrk="1" hangingPunct="1"/>
            <a:endParaRPr lang="en-US" altLang="zh-CN" sz="2800"/>
          </a:p>
        </p:txBody>
      </p:sp>
    </p:spTree>
  </p:cSld>
  <p:clrMapOvr>
    <a:masterClrMapping/>
  </p:clrMapOvr>
</p:sld>
</file>

<file path=ppt/theme/theme1.xml><?xml version="1.0" encoding="utf-8"?>
<a:theme xmlns:a="http://schemas.openxmlformats.org/drawingml/2006/main" name="软件工程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软件工程模板</Template>
  <TotalTime>3</TotalTime>
  <Words>2918</Words>
  <Application>Microsoft Office PowerPoint</Application>
  <PresentationFormat>全屏显示(4:3)</PresentationFormat>
  <Paragraphs>232</Paragraphs>
  <Slides>44</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44</vt:i4>
      </vt:variant>
    </vt:vector>
  </HeadingPairs>
  <TitlesOfParts>
    <vt:vector size="50" baseType="lpstr">
      <vt:lpstr>华文新魏</vt:lpstr>
      <vt:lpstr>楷体_GB2312</vt:lpstr>
      <vt:lpstr>宋体</vt:lpstr>
      <vt:lpstr>Arial</vt:lpstr>
      <vt:lpstr>Times New Roman</vt:lpstr>
      <vt:lpstr>软件工程模板</vt:lpstr>
      <vt:lpstr>第19章 过程和项目度量</vt:lpstr>
      <vt:lpstr>PowerPoint 演示文稿</vt:lpstr>
      <vt:lpstr>19.1 过程领域和项目领域中的度量</vt:lpstr>
      <vt:lpstr>图  软件质量和组织有效性的决定因素</vt:lpstr>
      <vt:lpstr>过程测量的方法</vt:lpstr>
      <vt:lpstr>过程度量和软件过程改善</vt:lpstr>
      <vt:lpstr>公用的度量数据</vt:lpstr>
      <vt:lpstr>小组改进错误的方法</vt:lpstr>
      <vt:lpstr>PowerPoint 演示文稿</vt:lpstr>
      <vt:lpstr>软件过程度量礼仪：</vt:lpstr>
      <vt:lpstr>19.1.2 项目度量</vt:lpstr>
      <vt:lpstr>项目度量的步骤</vt:lpstr>
      <vt:lpstr>建立历史数据基线</vt:lpstr>
      <vt:lpstr>建立历史数据基线</vt:lpstr>
      <vt:lpstr>PowerPoint 演示文稿</vt:lpstr>
      <vt:lpstr>PowerPoint 演示文稿</vt:lpstr>
      <vt:lpstr>19.2  软件测量</vt:lpstr>
      <vt:lpstr>19.2  软件测量（续）</vt:lpstr>
      <vt:lpstr>19.2  软件测量（续）</vt:lpstr>
      <vt:lpstr>19.2  软件测量（续）</vt:lpstr>
      <vt:lpstr>如何度量？</vt:lpstr>
      <vt:lpstr>19.2.1 面向规模的度量</vt:lpstr>
      <vt:lpstr>PowerPoint 演示文稿</vt:lpstr>
      <vt:lpstr>19.2.2 面向功能的度量</vt:lpstr>
      <vt:lpstr>PowerPoint 演示文稿</vt:lpstr>
      <vt:lpstr>面向功能的数据表格</vt:lpstr>
      <vt:lpstr>PowerPoint 演示文稿</vt:lpstr>
      <vt:lpstr>Fi 的考虑因素</vt:lpstr>
      <vt:lpstr>Fi 的考虑因素（续）</vt:lpstr>
      <vt:lpstr>Fi 的考虑因素（续）</vt:lpstr>
      <vt:lpstr>PowerPoint 演示文稿</vt:lpstr>
      <vt:lpstr>19.2.3 调和代码行和功能点的度量方法</vt:lpstr>
      <vt:lpstr>19.2.4 面向对象的度量</vt:lpstr>
      <vt:lpstr>PowerPoint 演示文稿</vt:lpstr>
      <vt:lpstr>PowerPoint 演示文稿</vt:lpstr>
      <vt:lpstr>19.2.5 面向用例的度量 </vt:lpstr>
      <vt:lpstr>19.3 软件质量度量</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第19章 过程和项目度量</dc:title>
  <dc:creator>Microsoft Office 用户</dc:creator>
  <cp:lastModifiedBy>wuqq</cp:lastModifiedBy>
  <cp:revision>4</cp:revision>
  <dcterms:created xsi:type="dcterms:W3CDTF">2017-12-19T11:16:34Z</dcterms:created>
  <dcterms:modified xsi:type="dcterms:W3CDTF">2025-11-27T01:46:16Z</dcterms:modified>
</cp:coreProperties>
</file>