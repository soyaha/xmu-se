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handoutMasterIdLst>
    <p:handoutMasterId r:id="rId36"/>
  </p:handoutMasterIdLst>
  <p:sldIdLst>
    <p:sldId id="256" r:id="rId2"/>
    <p:sldId id="286" r:id="rId3"/>
    <p:sldId id="288" r:id="rId4"/>
    <p:sldId id="287" r:id="rId5"/>
    <p:sldId id="289" r:id="rId6"/>
    <p:sldId id="291" r:id="rId7"/>
    <p:sldId id="290" r:id="rId8"/>
    <p:sldId id="282" r:id="rId9"/>
    <p:sldId id="283" r:id="rId10"/>
    <p:sldId id="263" r:id="rId11"/>
    <p:sldId id="264" r:id="rId12"/>
    <p:sldId id="275" r:id="rId13"/>
    <p:sldId id="265" r:id="rId14"/>
    <p:sldId id="266" r:id="rId15"/>
    <p:sldId id="267" r:id="rId16"/>
    <p:sldId id="272" r:id="rId17"/>
    <p:sldId id="273" r:id="rId18"/>
    <p:sldId id="285" r:id="rId19"/>
    <p:sldId id="284" r:id="rId20"/>
    <p:sldId id="257" r:id="rId21"/>
    <p:sldId id="276" r:id="rId22"/>
    <p:sldId id="277" r:id="rId23"/>
    <p:sldId id="258" r:id="rId24"/>
    <p:sldId id="270" r:id="rId25"/>
    <p:sldId id="274" r:id="rId26"/>
    <p:sldId id="268" r:id="rId27"/>
    <p:sldId id="259" r:id="rId28"/>
    <p:sldId id="271" r:id="rId29"/>
    <p:sldId id="278" r:id="rId30"/>
    <p:sldId id="260" r:id="rId31"/>
    <p:sldId id="261" r:id="rId32"/>
    <p:sldId id="279" r:id="rId33"/>
    <p:sldId id="269" r:id="rId3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4"/>
  </p:normalViewPr>
  <p:slideViewPr>
    <p:cSldViewPr>
      <p:cViewPr varScale="1">
        <p:scale>
          <a:sx n="124" d="100"/>
          <a:sy n="124" d="100"/>
        </p:scale>
        <p:origin x="1824" y="16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0F5690E-D6FB-4406-A6E2-0E075E9E0780}" type="datetimeFigureOut">
              <a:rPr lang="zh-CN" altLang="en-US" smtClean="0"/>
              <a:pPr/>
              <a:t>2022/5/1</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3A680F7-2128-469B-8315-8105572C47CC}" type="slidenum">
              <a:rPr lang="zh-CN" altLang="en-US" smtClean="0"/>
              <a:pPr/>
              <a:t>‹#›</a:t>
            </a:fld>
            <a:endParaRPr lang="zh-CN" altLang="en-US"/>
          </a:p>
        </p:txBody>
      </p:sp>
    </p:spTree>
    <p:extLst>
      <p:ext uri="{BB962C8B-B14F-4D97-AF65-F5344CB8AC3E}">
        <p14:creationId xmlns:p14="http://schemas.microsoft.com/office/powerpoint/2010/main" val="186586192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ACB7BFE-9EBF-443A-8679-8AF843CFD0EF}" type="datetimeFigureOut">
              <a:rPr lang="zh-CN" altLang="en-US" smtClean="0"/>
              <a:pPr/>
              <a:t>2022/5/1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F1A4AF3-C084-4856-8930-5BEA8F4528FC}" type="slidenum">
              <a:rPr lang="zh-CN" altLang="en-US" smtClean="0"/>
              <a:pPr/>
              <a:t>‹#›</a:t>
            </a:fld>
            <a:endParaRPr lang="zh-CN" altLang="en-US"/>
          </a:p>
        </p:txBody>
      </p:sp>
    </p:spTree>
    <p:extLst>
      <p:ext uri="{BB962C8B-B14F-4D97-AF65-F5344CB8AC3E}">
        <p14:creationId xmlns:p14="http://schemas.microsoft.com/office/powerpoint/2010/main" val="275812091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en-US" dirty="0"/>
          </a:p>
        </p:txBody>
      </p:sp>
      <p:sp>
        <p:nvSpPr>
          <p:cNvPr id="7" name="Date Placeholder 6"/>
          <p:cNvSpPr>
            <a:spLocks noGrp="1"/>
          </p:cNvSpPr>
          <p:nvPr>
            <p:ph type="dt" sz="half" idx="10"/>
          </p:nvPr>
        </p:nvSpPr>
        <p:spPr/>
        <p:txBody>
          <a:bodyPr/>
          <a:lstStyle/>
          <a:p>
            <a:fld id="{052722CA-8953-493B-BC39-EBABAF1F38BB}" type="datetime1">
              <a:rPr lang="zh-CN" altLang="en-US" smtClean="0"/>
              <a:pPr/>
              <a:t>2022/5/1</a:t>
            </a:fld>
            <a:endParaRPr lang="zh-CN" altLang="en-US"/>
          </a:p>
        </p:txBody>
      </p:sp>
      <p:sp>
        <p:nvSpPr>
          <p:cNvPr id="8" name="Slide Number Placeholder 7"/>
          <p:cNvSpPr>
            <a:spLocks noGrp="1"/>
          </p:cNvSpPr>
          <p:nvPr>
            <p:ph type="sldNum" sz="quarter" idx="11"/>
          </p:nvPr>
        </p:nvSpPr>
        <p:spPr/>
        <p:txBody>
          <a:bodyPr/>
          <a:lstStyle/>
          <a:p>
            <a:fld id="{0C913308-F349-4B6D-A68A-DD1791B4A57B}" type="slidenum">
              <a:rPr lang="zh-CN" altLang="en-US" smtClean="0"/>
              <a:pPr/>
              <a:t>‹#›</a:t>
            </a:fld>
            <a:endParaRPr lang="zh-CN" altLang="en-US"/>
          </a:p>
        </p:txBody>
      </p:sp>
      <p:sp>
        <p:nvSpPr>
          <p:cNvPr id="9" name="Footer Placeholder 8"/>
          <p:cNvSpPr>
            <a:spLocks noGrp="1"/>
          </p:cNvSpPr>
          <p:nvPr>
            <p:ph type="ftr" sz="quarter" idx="12"/>
          </p:nvPr>
        </p:nvSpPr>
        <p:spPr/>
        <p:txBody>
          <a:bodyPr/>
          <a:lstStyle/>
          <a:p>
            <a:r>
              <a:rPr lang="zh-CN" altLang="en-US"/>
              <a:t>大数据技术解析</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771800" y="0"/>
            <a:ext cx="5915000" cy="692696"/>
          </a:xfrm>
        </p:spPr>
        <p:txBody>
          <a:bodyPr/>
          <a:lstStyle>
            <a:lvl1pPr>
              <a:defRPr sz="3600"/>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vl7pPr>
              <a:defRPr/>
            </a:lvl7pPr>
            <a:lvl8pPr>
              <a:defRPr/>
            </a:lvl8pPr>
            <a:lvl9pPr>
              <a:buFont typeface="Arial" pitchFamily="34" charset="0"/>
              <a:buChar char="•"/>
              <a:defRPr/>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AAA3484A-CA2E-45E0-B405-28587CFBD2C0}" type="datetime1">
              <a:rPr lang="zh-CN" altLang="en-US" smtClean="0"/>
              <a:pPr/>
              <a:t>2022/5/1</a:t>
            </a:fld>
            <a:endParaRPr lang="zh-CN" altLang="en-US"/>
          </a:p>
        </p:txBody>
      </p:sp>
      <p:sp>
        <p:nvSpPr>
          <p:cNvPr id="5" name="Footer Placeholder 4"/>
          <p:cNvSpPr>
            <a:spLocks noGrp="1"/>
          </p:cNvSpPr>
          <p:nvPr>
            <p:ph type="ftr" sz="quarter" idx="11"/>
          </p:nvPr>
        </p:nvSpPr>
        <p:spPr/>
        <p:txBody>
          <a:bodyPr/>
          <a:lstStyle/>
          <a:p>
            <a:r>
              <a:rPr lang="zh-CN" altLang="en-US"/>
              <a:t>大数据技术解析</a:t>
            </a:r>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Date Placeholder 3"/>
          <p:cNvSpPr>
            <a:spLocks noGrp="1"/>
          </p:cNvSpPr>
          <p:nvPr>
            <p:ph type="dt" sz="half" idx="10"/>
          </p:nvPr>
        </p:nvSpPr>
        <p:spPr/>
        <p:txBody>
          <a:bodyPr/>
          <a:lstStyle/>
          <a:p>
            <a:fld id="{834E361F-F7DB-431C-98BD-5EFE64DECAA7}" type="datetime1">
              <a:rPr lang="zh-CN" altLang="en-US" smtClean="0"/>
              <a:pPr/>
              <a:t>2022/5/1</a:t>
            </a:fld>
            <a:endParaRPr lang="zh-CN" altLang="en-US"/>
          </a:p>
        </p:txBody>
      </p:sp>
      <p:sp>
        <p:nvSpPr>
          <p:cNvPr id="5" name="Footer Placeholder 4"/>
          <p:cNvSpPr>
            <a:spLocks noGrp="1"/>
          </p:cNvSpPr>
          <p:nvPr>
            <p:ph type="ftr" sz="quarter" idx="11"/>
          </p:nvPr>
        </p:nvSpPr>
        <p:spPr/>
        <p:txBody>
          <a:bodyPr/>
          <a:lstStyle/>
          <a:p>
            <a:r>
              <a:rPr lang="zh-CN" altLang="en-US"/>
              <a:t>大数据技术解析</a:t>
            </a:r>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Date Placeholder 4"/>
          <p:cNvSpPr>
            <a:spLocks noGrp="1"/>
          </p:cNvSpPr>
          <p:nvPr>
            <p:ph type="dt" sz="half" idx="10"/>
          </p:nvPr>
        </p:nvSpPr>
        <p:spPr/>
        <p:txBody>
          <a:bodyPr/>
          <a:lstStyle/>
          <a:p>
            <a:fld id="{2F7B1B68-2398-4ABF-BA4A-9113BD4FC642}" type="datetime1">
              <a:rPr lang="zh-CN" altLang="en-US" smtClean="0"/>
              <a:pPr/>
              <a:t>2022/5/1</a:t>
            </a:fld>
            <a:endParaRPr lang="zh-CN" altLang="en-US"/>
          </a:p>
        </p:txBody>
      </p:sp>
      <p:sp>
        <p:nvSpPr>
          <p:cNvPr id="6" name="Footer Placeholder 5"/>
          <p:cNvSpPr>
            <a:spLocks noGrp="1"/>
          </p:cNvSpPr>
          <p:nvPr>
            <p:ph type="ftr" sz="quarter" idx="11"/>
          </p:nvPr>
        </p:nvSpPr>
        <p:spPr/>
        <p:txBody>
          <a:bodyPr/>
          <a:lstStyle/>
          <a:p>
            <a:r>
              <a:rPr lang="zh-CN" altLang="en-US"/>
              <a:t>大数据技术解析</a:t>
            </a:r>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9" name="Content Placeholder 8"/>
          <p:cNvSpPr>
            <a:spLocks noGrp="1"/>
          </p:cNvSpPr>
          <p:nvPr>
            <p:ph sz="quarter" idx="13"/>
          </p:nvPr>
        </p:nvSpPr>
        <p:spPr>
          <a:xfrm>
            <a:off x="365760" y="1600200"/>
            <a:ext cx="4041648" cy="45262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7" name="Date Placeholder 6"/>
          <p:cNvSpPr>
            <a:spLocks noGrp="1"/>
          </p:cNvSpPr>
          <p:nvPr>
            <p:ph type="dt" sz="half" idx="10"/>
          </p:nvPr>
        </p:nvSpPr>
        <p:spPr/>
        <p:txBody>
          <a:bodyPr/>
          <a:lstStyle/>
          <a:p>
            <a:fld id="{A8C62046-0D79-4FBE-A2D4-14D9C212C2E0}" type="datetime1">
              <a:rPr lang="zh-CN" altLang="en-US" smtClean="0"/>
              <a:pPr/>
              <a:t>2022/5/1</a:t>
            </a:fld>
            <a:endParaRPr lang="zh-CN" altLang="en-US"/>
          </a:p>
        </p:txBody>
      </p:sp>
      <p:sp>
        <p:nvSpPr>
          <p:cNvPr id="8" name="Footer Placeholder 7"/>
          <p:cNvSpPr>
            <a:spLocks noGrp="1"/>
          </p:cNvSpPr>
          <p:nvPr>
            <p:ph type="ftr" sz="quarter" idx="11"/>
          </p:nvPr>
        </p:nvSpPr>
        <p:spPr/>
        <p:txBody>
          <a:bodyPr/>
          <a:lstStyle/>
          <a:p>
            <a:r>
              <a:rPr lang="zh-CN" altLang="en-US"/>
              <a:t>大数据技术解析</a:t>
            </a:r>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11" name="Content Placeholder 10"/>
          <p:cNvSpPr>
            <a:spLocks noGrp="1"/>
          </p:cNvSpPr>
          <p:nvPr>
            <p:ph sz="quarter" idx="13"/>
          </p:nvPr>
        </p:nvSpPr>
        <p:spPr>
          <a:xfrm>
            <a:off x="457200" y="2212848"/>
            <a:ext cx="4041648" cy="3913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13" name="Content Placeholder 12"/>
          <p:cNvSpPr>
            <a:spLocks noGrp="1"/>
          </p:cNvSpPr>
          <p:nvPr>
            <p:ph sz="quarter" idx="14"/>
          </p:nvPr>
        </p:nvSpPr>
        <p:spPr>
          <a:xfrm>
            <a:off x="4672584" y="2212848"/>
            <a:ext cx="4041648" cy="391318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D05B47D-F102-4D6F-B439-E483512A0C85}" type="datetime1">
              <a:rPr lang="zh-CN" altLang="en-US" smtClean="0"/>
              <a:pPr/>
              <a:t>2022/5/1</a:t>
            </a:fld>
            <a:endParaRPr lang="zh-CN" altLang="en-US"/>
          </a:p>
        </p:txBody>
      </p:sp>
      <p:sp>
        <p:nvSpPr>
          <p:cNvPr id="4" name="Footer Placeholder 3"/>
          <p:cNvSpPr>
            <a:spLocks noGrp="1"/>
          </p:cNvSpPr>
          <p:nvPr>
            <p:ph type="ftr" sz="quarter" idx="11"/>
          </p:nvPr>
        </p:nvSpPr>
        <p:spPr/>
        <p:txBody>
          <a:bodyPr/>
          <a:lstStyle/>
          <a:p>
            <a:r>
              <a:rPr lang="zh-CN" altLang="en-US"/>
              <a:t>大数据技术解析</a:t>
            </a:r>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EEC616-41D4-4FE1-AF7B-9B255AB44F4C}" type="datetime1">
              <a:rPr lang="zh-CN" altLang="en-US" smtClean="0"/>
              <a:pPr/>
              <a:t>2022/5/1</a:t>
            </a:fld>
            <a:endParaRPr lang="zh-CN" altLang="en-US"/>
          </a:p>
        </p:txBody>
      </p:sp>
      <p:sp>
        <p:nvSpPr>
          <p:cNvPr id="3" name="Footer Placeholder 2"/>
          <p:cNvSpPr>
            <a:spLocks noGrp="1"/>
          </p:cNvSpPr>
          <p:nvPr>
            <p:ph type="ftr" sz="quarter" idx="11"/>
          </p:nvPr>
        </p:nvSpPr>
        <p:spPr/>
        <p:txBody>
          <a:bodyPr/>
          <a:lstStyle/>
          <a:p>
            <a:r>
              <a:rPr lang="zh-CN" altLang="en-US"/>
              <a:t>大数据技术解析</a:t>
            </a:r>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zh-CN" altLang="en-US"/>
              <a:t>单击此处编辑母版标题样式</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solidFill>
                  <a:schemeClr val="tx1"/>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Date Placeholder 4"/>
          <p:cNvSpPr>
            <a:spLocks noGrp="1"/>
          </p:cNvSpPr>
          <p:nvPr>
            <p:ph type="dt" sz="half" idx="10"/>
          </p:nvPr>
        </p:nvSpPr>
        <p:spPr/>
        <p:txBody>
          <a:bodyPr/>
          <a:lstStyle/>
          <a:p>
            <a:fld id="{2BF2CAA6-1C77-48BC-BD78-2DD63065DED6}" type="datetime1">
              <a:rPr lang="zh-CN" altLang="en-US" smtClean="0"/>
              <a:pPr/>
              <a:t>2022/5/1</a:t>
            </a:fld>
            <a:endParaRPr lang="zh-CN" altLang="en-US"/>
          </a:p>
        </p:txBody>
      </p:sp>
      <p:sp>
        <p:nvSpPr>
          <p:cNvPr id="6" name="Footer Placeholder 5"/>
          <p:cNvSpPr>
            <a:spLocks noGrp="1"/>
          </p:cNvSpPr>
          <p:nvPr>
            <p:ph type="ftr" sz="quarter" idx="11"/>
          </p:nvPr>
        </p:nvSpPr>
        <p:spPr/>
        <p:txBody>
          <a:bodyPr/>
          <a:lstStyle/>
          <a:p>
            <a:r>
              <a:rPr lang="zh-CN" altLang="en-US"/>
              <a:t>大数据技术解析</a:t>
            </a:r>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zh-CN" altLang="en-US"/>
              <a:t>单击此处编辑母版标题样式</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Date Placeholder 4"/>
          <p:cNvSpPr>
            <a:spLocks noGrp="1"/>
          </p:cNvSpPr>
          <p:nvPr>
            <p:ph type="dt" sz="half" idx="10"/>
          </p:nvPr>
        </p:nvSpPr>
        <p:spPr/>
        <p:txBody>
          <a:bodyPr/>
          <a:lstStyle/>
          <a:p>
            <a:fld id="{06C22C38-AB17-4648-91C2-FC8E92FF2B81}" type="datetime1">
              <a:rPr lang="zh-CN" altLang="en-US" smtClean="0"/>
              <a:pPr/>
              <a:t>2022/5/1</a:t>
            </a:fld>
            <a:endParaRPr lang="zh-CN" altLang="en-US"/>
          </a:p>
        </p:txBody>
      </p:sp>
      <p:sp>
        <p:nvSpPr>
          <p:cNvPr id="6" name="Footer Placeholder 5"/>
          <p:cNvSpPr>
            <a:spLocks noGrp="1"/>
          </p:cNvSpPr>
          <p:nvPr>
            <p:ph type="ftr" sz="quarter" idx="11"/>
          </p:nvPr>
        </p:nvSpPr>
        <p:spPr/>
        <p:txBody>
          <a:bodyPr/>
          <a:lstStyle/>
          <a:p>
            <a:r>
              <a:rPr lang="zh-CN" altLang="en-US"/>
              <a:t>大数据技术解析</a:t>
            </a:r>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F541969B-6A2F-4F37-ABFF-0E23C20D1BC9}" type="datetime1">
              <a:rPr lang="zh-CN" altLang="en-US" smtClean="0"/>
              <a:pPr/>
              <a:t>2022/5/1</a:t>
            </a:fld>
            <a:endParaRPr lang="zh-CN" altLang="en-US"/>
          </a:p>
        </p:txBody>
      </p:sp>
      <p:sp>
        <p:nvSpPr>
          <p:cNvPr id="5" name="Footer Placeholder 4"/>
          <p:cNvSpPr>
            <a:spLocks noGrp="1"/>
          </p:cNvSpPr>
          <p:nvPr>
            <p:ph type="ftr" sz="quarter" idx="11"/>
          </p:nvPr>
        </p:nvSpPr>
        <p:spPr/>
        <p:txBody>
          <a:bodyPr/>
          <a:lstStyle/>
          <a:p>
            <a:r>
              <a:rPr lang="zh-CN" altLang="en-US"/>
              <a:t>大数据技术解析</a:t>
            </a:r>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CDDF1C36-52AB-4ACA-8AE8-F13C7FB4D9E1}" type="datetime1">
              <a:rPr lang="zh-CN" altLang="en-US" smtClean="0"/>
              <a:pPr/>
              <a:t>2022/5/1</a:t>
            </a:fld>
            <a:endParaRPr lang="zh-CN" altLang="en-US"/>
          </a:p>
        </p:txBody>
      </p:sp>
      <p:sp>
        <p:nvSpPr>
          <p:cNvPr id="5" name="Footer Placeholder 4"/>
          <p:cNvSpPr>
            <a:spLocks noGrp="1"/>
          </p:cNvSpPr>
          <p:nvPr>
            <p:ph type="ftr" sz="quarter" idx="11"/>
          </p:nvPr>
        </p:nvSpPr>
        <p:spPr/>
        <p:txBody>
          <a:bodyPr/>
          <a:lstStyle/>
          <a:p>
            <a:r>
              <a:rPr lang="zh-CN" altLang="en-US"/>
              <a:t>大数据技术解析</a:t>
            </a:r>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71800" y="0"/>
            <a:ext cx="5786413" cy="736600"/>
          </a:xfrm>
          <a:prstGeom prst="rect">
            <a:avLst/>
          </a:prstGeom>
        </p:spPr>
        <p:txBody>
          <a:bodyPr vert="horz" lIns="91440" tIns="45720" rIns="91440" bIns="45720" rtlCol="0" anchor="b">
            <a:no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A5764426-67E6-485B-9DBB-BFCB5D4FF33E}" type="datetime1">
              <a:rPr lang="zh-CN" altLang="en-US" smtClean="0"/>
              <a:pPr/>
              <a:t>2022/5/1</a:t>
            </a:fld>
            <a:endParaRPr lang="zh-CN" altLang="en-US"/>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r>
              <a:rPr lang="zh-CN" altLang="en-US"/>
              <a:t>大数据技术解析</a:t>
            </a:r>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0C913308-F349-4B6D-A68A-DD1791B4A57B}" type="slidenum">
              <a:rPr lang="zh-CN" altLang="en-US" smtClean="0"/>
              <a:pPr/>
              <a:t>‹#›</a:t>
            </a:fld>
            <a:endParaRPr lang="zh-CN" altLang="en-US" dirty="0"/>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01600" y="30163"/>
            <a:ext cx="8456613" cy="70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lnSpc>
          <a:spcPts val="5800"/>
        </a:lnSpc>
        <a:spcBef>
          <a:spcPct val="0"/>
        </a:spcBef>
        <a:buNone/>
        <a:defRPr sz="36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emf"/><Relationship Id="rId7" Type="http://schemas.openxmlformats.org/officeDocument/2006/relationships/hyperlink" Target="http://baike.baidu.com/item/SQL" TargetMode="Externa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hyperlink" Target="http://baike.baidu.com/item/ACID" TargetMode="External"/><Relationship Id="rId5" Type="http://schemas.openxmlformats.org/officeDocument/2006/relationships/hyperlink" Target="http://baike.baidu.com/item/%E6%95%B0%E6%8D%AE%E5%BA%93" TargetMode="External"/><Relationship Id="rId4" Type="http://schemas.openxmlformats.org/officeDocument/2006/relationships/hyperlink" Target="http://baike.baidu.com/item/NoSQL"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hyperlink" Target="http://www.google.com.hk/url?sa=i&amp;rct=j&amp;q=cap%20%E7%90%86%E8%AE%BA&amp;source=images&amp;cd=&amp;cad=rja&amp;docid=x079owmUda5H1M&amp;tbnid=7qMJyibf4uAiVM:&amp;ved=&amp;url=http://www.ituring.com.cn/article/54064&amp;ei=5MqKUsrOO-yYiAeOtICYAw&amp;psig=AFQjCNGokyUr6mefqZmdCuyFamHkiQLz1A&amp;ust=1384914021437389" TargetMode="External"/><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19.jpe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4.jpe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www.read.seas.harvard.edu/~kohler/class/cs239-w08/decandia07dynamo.pdf" TargetMode="Externa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4.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42910" y="2071678"/>
            <a:ext cx="7772400" cy="1470025"/>
          </a:xfrm>
        </p:spPr>
        <p:txBody>
          <a:bodyPr>
            <a:normAutofit/>
          </a:bodyPr>
          <a:lstStyle/>
          <a:p>
            <a:r>
              <a:rPr lang="en-US" altLang="zh-CN" sz="4800" b="1" dirty="0" err="1"/>
              <a:t>NoSQL</a:t>
            </a:r>
            <a:r>
              <a:rPr lang="zh-CN" altLang="en-US" sz="4800" b="1" dirty="0"/>
              <a:t>综述</a:t>
            </a:r>
          </a:p>
        </p:txBody>
      </p:sp>
      <p:sp>
        <p:nvSpPr>
          <p:cNvPr id="3" name="日期占位符 2"/>
          <p:cNvSpPr>
            <a:spLocks noGrp="1"/>
          </p:cNvSpPr>
          <p:nvPr>
            <p:ph type="dt" sz="half" idx="10"/>
          </p:nvPr>
        </p:nvSpPr>
        <p:spPr/>
        <p:txBody>
          <a:bodyPr/>
          <a:lstStyle/>
          <a:p>
            <a:fld id="{C951A95F-CD75-4B1B-A81D-25B5FCA50FCF}" type="datetime1">
              <a:rPr lang="zh-CN" altLang="en-US" smtClean="0"/>
              <a:pPr/>
              <a:t>2022/5/1</a:t>
            </a:fld>
            <a:endParaRPr lang="zh-CN" altLang="en-US"/>
          </a:p>
        </p:txBody>
      </p:sp>
      <p:sp>
        <p:nvSpPr>
          <p:cNvPr id="7" name="灯片编号占位符 6"/>
          <p:cNvSpPr>
            <a:spLocks noGrp="1"/>
          </p:cNvSpPr>
          <p:nvPr>
            <p:ph type="sldNum" sz="quarter" idx="11"/>
          </p:nvPr>
        </p:nvSpPr>
        <p:spPr/>
        <p:txBody>
          <a:bodyPr/>
          <a:lstStyle/>
          <a:p>
            <a:fld id="{0C913308-F349-4B6D-A68A-DD1791B4A57B}" type="slidenum">
              <a:rPr lang="zh-CN" altLang="en-US" smtClean="0"/>
              <a:pPr/>
              <a:t>1</a:t>
            </a:fld>
            <a:endParaRPr lang="zh-CN" altLang="en-US"/>
          </a:p>
        </p:txBody>
      </p:sp>
      <p:sp>
        <p:nvSpPr>
          <p:cNvPr id="5" name="页脚占位符 4"/>
          <p:cNvSpPr>
            <a:spLocks noGrp="1"/>
          </p:cNvSpPr>
          <p:nvPr>
            <p:ph type="ftr" sz="quarter" idx="12"/>
          </p:nvPr>
        </p:nvSpPr>
        <p:spPr/>
        <p:txBody>
          <a:bodyPr/>
          <a:lstStyle/>
          <a:p>
            <a:r>
              <a:rPr lang="zh-CN" altLang="en-US"/>
              <a:t>大数据技术解析</a:t>
            </a:r>
          </a:p>
        </p:txBody>
      </p:sp>
      <p:pic>
        <p:nvPicPr>
          <p:cNvPr id="4" name="Picture 2"/>
          <p:cNvPicPr>
            <a:picLocks noChangeAspect="1" noChangeArrowheads="1"/>
          </p:cNvPicPr>
          <p:nvPr/>
        </p:nvPicPr>
        <p:blipFill>
          <a:blip r:embed="rId2"/>
          <a:srcRect/>
          <a:stretch>
            <a:fillRect/>
          </a:stretch>
        </p:blipFill>
        <p:spPr bwMode="auto">
          <a:xfrm>
            <a:off x="3482001" y="3645024"/>
            <a:ext cx="2000232" cy="1367940"/>
          </a:xfrm>
          <a:prstGeom prst="rect">
            <a:avLst/>
          </a:prstGeom>
          <a:noFill/>
          <a:ln w="9525">
            <a:noFill/>
            <a:miter lim="800000"/>
            <a:headEnd/>
            <a:tailEnd/>
          </a:ln>
          <a:effectLst/>
        </p:spPr>
      </p:pic>
      <p:pic>
        <p:nvPicPr>
          <p:cNvPr id="9" name="图片 4" descr="4.jpg"/>
          <p:cNvPicPr>
            <a:picLocks noChangeAspect="1"/>
          </p:cNvPicPr>
          <p:nvPr/>
        </p:nvPicPr>
        <p:blipFill>
          <a:blip r:embed="rId3"/>
          <a:srcRect/>
          <a:stretch>
            <a:fillRect/>
          </a:stretch>
        </p:blipFill>
        <p:spPr bwMode="auto">
          <a:xfrm>
            <a:off x="0" y="0"/>
            <a:ext cx="9144000" cy="1371600"/>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21768" y="0"/>
            <a:ext cx="5710671" cy="763863"/>
          </a:xfrm>
          <a:prstGeom prst="rect">
            <a:avLst/>
          </a:prstGeom>
          <a:noFill/>
        </p:spPr>
        <p:txBody>
          <a:bodyPr wrap="square" rtlCol="0">
            <a:spAutoFit/>
          </a:bodyPr>
          <a:lstStyle/>
          <a:p>
            <a:pPr algn="r">
              <a:lnSpc>
                <a:spcPts val="5800"/>
              </a:lnSpc>
              <a:spcBef>
                <a:spcPct val="0"/>
              </a:spcBef>
            </a:pPr>
            <a:r>
              <a:rPr lang="en-US" altLang="zh-CN" sz="3600" dirty="0">
                <a:solidFill>
                  <a:schemeClr val="tx2"/>
                </a:solidFill>
                <a:effectLst>
                  <a:outerShdw blurRad="63500" dist="38100" dir="5400000" algn="t" rotWithShape="0">
                    <a:prstClr val="black">
                      <a:alpha val="25000"/>
                    </a:prstClr>
                  </a:outerShdw>
                </a:effectLst>
                <a:ea typeface="+mj-ea"/>
                <a:cs typeface="+mj-cs"/>
              </a:rPr>
              <a:t>NoSQL</a:t>
            </a:r>
            <a:r>
              <a:rPr lang="zh-CN" altLang="en-US" sz="3600" dirty="0">
                <a:solidFill>
                  <a:schemeClr val="tx2"/>
                </a:solidFill>
                <a:effectLst>
                  <a:outerShdw blurRad="63500" dist="38100" dir="5400000" algn="t" rotWithShape="0">
                    <a:prstClr val="black">
                      <a:alpha val="25000"/>
                    </a:prstClr>
                  </a:outerShdw>
                </a:effectLst>
                <a:ea typeface="+mj-ea"/>
                <a:cs typeface="+mj-cs"/>
              </a:rPr>
              <a:t>数据库</a:t>
            </a:r>
          </a:p>
        </p:txBody>
      </p:sp>
      <p:sp>
        <p:nvSpPr>
          <p:cNvPr id="2" name="日期占位符 1"/>
          <p:cNvSpPr>
            <a:spLocks noGrp="1"/>
          </p:cNvSpPr>
          <p:nvPr>
            <p:ph type="dt" sz="half" idx="10"/>
          </p:nvPr>
        </p:nvSpPr>
        <p:spPr/>
        <p:txBody>
          <a:bodyPr/>
          <a:lstStyle/>
          <a:p>
            <a:fld id="{99403276-9EE4-43F6-A087-B50A910E58E2}" type="datetime1">
              <a:rPr lang="zh-CN" altLang="en-US" smtClean="0"/>
              <a:pPr/>
              <a:t>2022/5/2</a:t>
            </a:fld>
            <a:endParaRPr lang="zh-CN" altLang="en-US"/>
          </a:p>
        </p:txBody>
      </p:sp>
      <p:sp>
        <p:nvSpPr>
          <p:cNvPr id="3" name="页脚占位符 2"/>
          <p:cNvSpPr>
            <a:spLocks noGrp="1"/>
          </p:cNvSpPr>
          <p:nvPr>
            <p:ph type="ftr" sz="quarter" idx="11"/>
          </p:nvPr>
        </p:nvSpPr>
        <p:spPr/>
        <p:txBody>
          <a:bodyPr/>
          <a:lstStyle/>
          <a:p>
            <a:r>
              <a:rPr lang="zh-CN" altLang="en-US" dirty="0"/>
              <a:t>大数据处理</a:t>
            </a:r>
          </a:p>
        </p:txBody>
      </p:sp>
      <p:sp>
        <p:nvSpPr>
          <p:cNvPr id="10" name="灯片编号占位符 9"/>
          <p:cNvSpPr>
            <a:spLocks noGrp="1"/>
          </p:cNvSpPr>
          <p:nvPr>
            <p:ph type="sldNum" sz="quarter" idx="12"/>
          </p:nvPr>
        </p:nvSpPr>
        <p:spPr/>
        <p:txBody>
          <a:bodyPr/>
          <a:lstStyle/>
          <a:p>
            <a:fld id="{0C913308-F349-4B6D-A68A-DD1791B4A57B}" type="slidenum">
              <a:rPr lang="zh-CN" altLang="en-US" smtClean="0"/>
              <a:pPr/>
              <a:t>2</a:t>
            </a:fld>
            <a:endParaRPr lang="zh-CN" altLang="en-US"/>
          </a:p>
        </p:txBody>
      </p:sp>
      <p:pic>
        <p:nvPicPr>
          <p:cNvPr id="11" name="图片 4" descr="4.jpg"/>
          <p:cNvPicPr>
            <a:picLocks noChangeAspect="1"/>
          </p:cNvPicPr>
          <p:nvPr/>
        </p:nvPicPr>
        <p:blipFill>
          <a:blip r:embed="rId2"/>
          <a:srcRect/>
          <a:stretch>
            <a:fillRect/>
          </a:stretch>
        </p:blipFill>
        <p:spPr bwMode="auto">
          <a:xfrm>
            <a:off x="1" y="0"/>
            <a:ext cx="4214809" cy="785794"/>
          </a:xfrm>
          <a:prstGeom prst="rect">
            <a:avLst/>
          </a:prstGeom>
          <a:noFill/>
          <a:ln w="9525">
            <a:noFill/>
            <a:miter lim="800000"/>
            <a:headEnd/>
            <a:tailEnd/>
          </a:ln>
        </p:spPr>
      </p:pic>
      <p:grpSp>
        <p:nvGrpSpPr>
          <p:cNvPr id="15" name="组合 14">
            <a:extLst>
              <a:ext uri="{FF2B5EF4-FFF2-40B4-BE49-F238E27FC236}">
                <a16:creationId xmlns:a16="http://schemas.microsoft.com/office/drawing/2014/main" id="{758FA07F-2B37-6785-21F0-241D6C446649}"/>
              </a:ext>
            </a:extLst>
          </p:cNvPr>
          <p:cNvGrpSpPr/>
          <p:nvPr/>
        </p:nvGrpSpPr>
        <p:grpSpPr>
          <a:xfrm>
            <a:off x="-12052" y="1073353"/>
            <a:ext cx="9149334" cy="4731911"/>
            <a:chOff x="-12052" y="1124744"/>
            <a:chExt cx="9149334" cy="4731911"/>
          </a:xfrm>
        </p:grpSpPr>
        <p:pic>
          <p:nvPicPr>
            <p:cNvPr id="14" name="图片 13">
              <a:extLst>
                <a:ext uri="{FF2B5EF4-FFF2-40B4-BE49-F238E27FC236}">
                  <a16:creationId xmlns:a16="http://schemas.microsoft.com/office/drawing/2014/main" id="{F1DC84C2-87DC-F788-B21E-BF983F7D8468}"/>
                </a:ext>
              </a:extLst>
            </p:cNvPr>
            <p:cNvPicPr>
              <a:picLocks noChangeAspect="1"/>
            </p:cNvPicPr>
            <p:nvPr/>
          </p:nvPicPr>
          <p:blipFill>
            <a:blip r:embed="rId3"/>
            <a:stretch>
              <a:fillRect/>
            </a:stretch>
          </p:blipFill>
          <p:spPr>
            <a:xfrm>
              <a:off x="-12052" y="1124744"/>
              <a:ext cx="9144000" cy="4731911"/>
            </a:xfrm>
            <a:prstGeom prst="rect">
              <a:avLst/>
            </a:prstGeom>
          </p:spPr>
        </p:pic>
        <p:pic>
          <p:nvPicPr>
            <p:cNvPr id="12" name="图片 11">
              <a:extLst>
                <a:ext uri="{FF2B5EF4-FFF2-40B4-BE49-F238E27FC236}">
                  <a16:creationId xmlns:a16="http://schemas.microsoft.com/office/drawing/2014/main" id="{F145C08A-4897-40FC-D783-94C4B8B00149}"/>
                </a:ext>
              </a:extLst>
            </p:cNvPr>
            <p:cNvPicPr>
              <a:picLocks noChangeAspect="1"/>
            </p:cNvPicPr>
            <p:nvPr/>
          </p:nvPicPr>
          <p:blipFill>
            <a:blip r:embed="rId4"/>
            <a:stretch>
              <a:fillRect/>
            </a:stretch>
          </p:blipFill>
          <p:spPr>
            <a:xfrm>
              <a:off x="8502282" y="1124744"/>
              <a:ext cx="635000" cy="1584176"/>
            </a:xfrm>
            <a:prstGeom prst="rect">
              <a:avLst/>
            </a:prstGeom>
          </p:spPr>
        </p:pic>
      </p:grpSp>
      <p:sp>
        <p:nvSpPr>
          <p:cNvPr id="16" name="文本框 15">
            <a:extLst>
              <a:ext uri="{FF2B5EF4-FFF2-40B4-BE49-F238E27FC236}">
                <a16:creationId xmlns:a16="http://schemas.microsoft.com/office/drawing/2014/main" id="{15E53B41-B857-4F7F-7F63-517F549F8893}"/>
              </a:ext>
            </a:extLst>
          </p:cNvPr>
          <p:cNvSpPr txBox="1"/>
          <p:nvPr/>
        </p:nvSpPr>
        <p:spPr>
          <a:xfrm>
            <a:off x="304655" y="5997924"/>
            <a:ext cx="7773282" cy="369332"/>
          </a:xfrm>
          <a:prstGeom prst="rect">
            <a:avLst/>
          </a:prstGeom>
          <a:noFill/>
        </p:spPr>
        <p:txBody>
          <a:bodyPr wrap="none" rtlCol="0">
            <a:spAutoFit/>
          </a:bodyPr>
          <a:lstStyle/>
          <a:p>
            <a:r>
              <a:rPr kumimoji="1" lang="zh-CN" altLang="en-US" dirty="0"/>
              <a:t>注：部分内容源自阿里巴巴集团数据库团队李飞飞博士，阿里巴巴副总裁</a:t>
            </a:r>
          </a:p>
        </p:txBody>
      </p:sp>
    </p:spTree>
    <p:extLst>
      <p:ext uri="{BB962C8B-B14F-4D97-AF65-F5344CB8AC3E}">
        <p14:creationId xmlns:p14="http://schemas.microsoft.com/office/powerpoint/2010/main" val="3490992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21768" y="0"/>
            <a:ext cx="5710671" cy="763863"/>
          </a:xfrm>
          <a:prstGeom prst="rect">
            <a:avLst/>
          </a:prstGeom>
          <a:noFill/>
        </p:spPr>
        <p:txBody>
          <a:bodyPr wrap="square" rtlCol="0">
            <a:spAutoFit/>
          </a:bodyPr>
          <a:lstStyle/>
          <a:p>
            <a:pPr algn="r">
              <a:lnSpc>
                <a:spcPts val="5800"/>
              </a:lnSpc>
              <a:spcBef>
                <a:spcPct val="0"/>
              </a:spcBef>
            </a:pPr>
            <a:r>
              <a:rPr lang="en-US" altLang="zh-CN" sz="3600" dirty="0">
                <a:solidFill>
                  <a:schemeClr val="tx2"/>
                </a:solidFill>
                <a:effectLst>
                  <a:outerShdw blurRad="63500" dist="38100" dir="5400000" algn="t" rotWithShape="0">
                    <a:prstClr val="black">
                      <a:alpha val="25000"/>
                    </a:prstClr>
                  </a:outerShdw>
                </a:effectLst>
                <a:ea typeface="+mj-ea"/>
                <a:cs typeface="+mj-cs"/>
              </a:rPr>
              <a:t>NoSQL</a:t>
            </a:r>
            <a:r>
              <a:rPr lang="zh-CN" altLang="en-US" sz="3600" dirty="0">
                <a:solidFill>
                  <a:schemeClr val="tx2"/>
                </a:solidFill>
                <a:effectLst>
                  <a:outerShdw blurRad="63500" dist="38100" dir="5400000" algn="t" rotWithShape="0">
                    <a:prstClr val="black">
                      <a:alpha val="25000"/>
                    </a:prstClr>
                  </a:outerShdw>
                </a:effectLst>
                <a:ea typeface="+mj-ea"/>
                <a:cs typeface="+mj-cs"/>
              </a:rPr>
              <a:t>数据库</a:t>
            </a:r>
          </a:p>
        </p:txBody>
      </p:sp>
      <p:sp>
        <p:nvSpPr>
          <p:cNvPr id="2" name="日期占位符 1"/>
          <p:cNvSpPr>
            <a:spLocks noGrp="1"/>
          </p:cNvSpPr>
          <p:nvPr>
            <p:ph type="dt" sz="half" idx="10"/>
          </p:nvPr>
        </p:nvSpPr>
        <p:spPr/>
        <p:txBody>
          <a:bodyPr/>
          <a:lstStyle/>
          <a:p>
            <a:fld id="{99403276-9EE4-43F6-A087-B50A910E58E2}" type="datetime1">
              <a:rPr lang="zh-CN" altLang="en-US" smtClean="0"/>
              <a:pPr/>
              <a:t>2022/5/1</a:t>
            </a:fld>
            <a:endParaRPr lang="zh-CN" altLang="en-US"/>
          </a:p>
        </p:txBody>
      </p:sp>
      <p:sp>
        <p:nvSpPr>
          <p:cNvPr id="3" name="页脚占位符 2"/>
          <p:cNvSpPr>
            <a:spLocks noGrp="1"/>
          </p:cNvSpPr>
          <p:nvPr>
            <p:ph type="ftr" sz="quarter" idx="11"/>
          </p:nvPr>
        </p:nvSpPr>
        <p:spPr/>
        <p:txBody>
          <a:bodyPr/>
          <a:lstStyle/>
          <a:p>
            <a:r>
              <a:rPr lang="zh-CN" altLang="en-US" dirty="0"/>
              <a:t>大数据处理</a:t>
            </a:r>
          </a:p>
        </p:txBody>
      </p:sp>
      <p:sp>
        <p:nvSpPr>
          <p:cNvPr id="10" name="灯片编号占位符 9"/>
          <p:cNvSpPr>
            <a:spLocks noGrp="1"/>
          </p:cNvSpPr>
          <p:nvPr>
            <p:ph type="sldNum" sz="quarter" idx="12"/>
          </p:nvPr>
        </p:nvSpPr>
        <p:spPr/>
        <p:txBody>
          <a:bodyPr/>
          <a:lstStyle/>
          <a:p>
            <a:fld id="{0C913308-F349-4B6D-A68A-DD1791B4A57B}" type="slidenum">
              <a:rPr lang="zh-CN" altLang="en-US" smtClean="0"/>
              <a:pPr/>
              <a:t>3</a:t>
            </a:fld>
            <a:endParaRPr lang="zh-CN" altLang="en-US"/>
          </a:p>
        </p:txBody>
      </p:sp>
      <p:pic>
        <p:nvPicPr>
          <p:cNvPr id="11" name="图片 4" descr="4.jpg"/>
          <p:cNvPicPr>
            <a:picLocks noChangeAspect="1"/>
          </p:cNvPicPr>
          <p:nvPr/>
        </p:nvPicPr>
        <p:blipFill>
          <a:blip r:embed="rId2"/>
          <a:srcRect/>
          <a:stretch>
            <a:fillRect/>
          </a:stretch>
        </p:blipFill>
        <p:spPr bwMode="auto">
          <a:xfrm>
            <a:off x="1" y="0"/>
            <a:ext cx="4214809" cy="785794"/>
          </a:xfrm>
          <a:prstGeom prst="rect">
            <a:avLst/>
          </a:prstGeom>
          <a:noFill/>
          <a:ln w="9525">
            <a:noFill/>
            <a:miter lim="800000"/>
            <a:headEnd/>
            <a:tailEnd/>
          </a:ln>
        </p:spPr>
      </p:pic>
      <p:grpSp>
        <p:nvGrpSpPr>
          <p:cNvPr id="7" name="组合 6">
            <a:extLst>
              <a:ext uri="{FF2B5EF4-FFF2-40B4-BE49-F238E27FC236}">
                <a16:creationId xmlns:a16="http://schemas.microsoft.com/office/drawing/2014/main" id="{FF8FCD06-D62B-564F-5668-676235AF848B}"/>
              </a:ext>
            </a:extLst>
          </p:cNvPr>
          <p:cNvGrpSpPr/>
          <p:nvPr/>
        </p:nvGrpSpPr>
        <p:grpSpPr>
          <a:xfrm>
            <a:off x="0" y="1223805"/>
            <a:ext cx="9144000" cy="4694533"/>
            <a:chOff x="0" y="1223805"/>
            <a:chExt cx="9144000" cy="4694533"/>
          </a:xfrm>
        </p:grpSpPr>
        <p:pic>
          <p:nvPicPr>
            <p:cNvPr id="4" name="图片 3">
              <a:extLst>
                <a:ext uri="{FF2B5EF4-FFF2-40B4-BE49-F238E27FC236}">
                  <a16:creationId xmlns:a16="http://schemas.microsoft.com/office/drawing/2014/main" id="{DF654354-0F14-B1D0-CE6B-A52FF98575C0}"/>
                </a:ext>
              </a:extLst>
            </p:cNvPr>
            <p:cNvPicPr>
              <a:picLocks noChangeAspect="1"/>
            </p:cNvPicPr>
            <p:nvPr/>
          </p:nvPicPr>
          <p:blipFill>
            <a:blip r:embed="rId3"/>
            <a:stretch>
              <a:fillRect/>
            </a:stretch>
          </p:blipFill>
          <p:spPr>
            <a:xfrm>
              <a:off x="0" y="1223805"/>
              <a:ext cx="9144000" cy="4694533"/>
            </a:xfrm>
            <a:prstGeom prst="rect">
              <a:avLst/>
            </a:prstGeom>
          </p:spPr>
        </p:pic>
        <p:pic>
          <p:nvPicPr>
            <p:cNvPr id="6" name="图片 5">
              <a:extLst>
                <a:ext uri="{FF2B5EF4-FFF2-40B4-BE49-F238E27FC236}">
                  <a16:creationId xmlns:a16="http://schemas.microsoft.com/office/drawing/2014/main" id="{FB793C2F-5C8E-8578-518A-3542F26DC579}"/>
                </a:ext>
              </a:extLst>
            </p:cNvPr>
            <p:cNvPicPr>
              <a:picLocks noChangeAspect="1"/>
            </p:cNvPicPr>
            <p:nvPr/>
          </p:nvPicPr>
          <p:blipFill>
            <a:blip r:embed="rId4"/>
            <a:stretch>
              <a:fillRect/>
            </a:stretch>
          </p:blipFill>
          <p:spPr>
            <a:xfrm>
              <a:off x="0" y="1245736"/>
              <a:ext cx="1231900" cy="596900"/>
            </a:xfrm>
            <a:prstGeom prst="rect">
              <a:avLst/>
            </a:prstGeom>
          </p:spPr>
        </p:pic>
      </p:grpSp>
    </p:spTree>
    <p:extLst>
      <p:ext uri="{BB962C8B-B14F-4D97-AF65-F5344CB8AC3E}">
        <p14:creationId xmlns:p14="http://schemas.microsoft.com/office/powerpoint/2010/main" val="3380746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21768" y="0"/>
            <a:ext cx="5710671" cy="763863"/>
          </a:xfrm>
          <a:prstGeom prst="rect">
            <a:avLst/>
          </a:prstGeom>
          <a:noFill/>
        </p:spPr>
        <p:txBody>
          <a:bodyPr wrap="square" rtlCol="0">
            <a:spAutoFit/>
          </a:bodyPr>
          <a:lstStyle/>
          <a:p>
            <a:pPr algn="r">
              <a:lnSpc>
                <a:spcPts val="5800"/>
              </a:lnSpc>
              <a:spcBef>
                <a:spcPct val="0"/>
              </a:spcBef>
            </a:pPr>
            <a:r>
              <a:rPr lang="en-US" altLang="zh-CN" sz="3600" dirty="0">
                <a:solidFill>
                  <a:schemeClr val="tx2"/>
                </a:solidFill>
                <a:effectLst>
                  <a:outerShdw blurRad="63500" dist="38100" dir="5400000" algn="t" rotWithShape="0">
                    <a:prstClr val="black">
                      <a:alpha val="25000"/>
                    </a:prstClr>
                  </a:outerShdw>
                </a:effectLst>
                <a:ea typeface="+mj-ea"/>
                <a:cs typeface="+mj-cs"/>
              </a:rPr>
              <a:t>NoSQL</a:t>
            </a:r>
            <a:r>
              <a:rPr lang="zh-CN" altLang="en-US" sz="3600" dirty="0">
                <a:solidFill>
                  <a:schemeClr val="tx2"/>
                </a:solidFill>
                <a:effectLst>
                  <a:outerShdw blurRad="63500" dist="38100" dir="5400000" algn="t" rotWithShape="0">
                    <a:prstClr val="black">
                      <a:alpha val="25000"/>
                    </a:prstClr>
                  </a:outerShdw>
                </a:effectLst>
                <a:ea typeface="+mj-ea"/>
                <a:cs typeface="+mj-cs"/>
              </a:rPr>
              <a:t>数据库</a:t>
            </a:r>
          </a:p>
        </p:txBody>
      </p:sp>
      <p:sp>
        <p:nvSpPr>
          <p:cNvPr id="2" name="日期占位符 1"/>
          <p:cNvSpPr>
            <a:spLocks noGrp="1"/>
          </p:cNvSpPr>
          <p:nvPr>
            <p:ph type="dt" sz="half" idx="10"/>
          </p:nvPr>
        </p:nvSpPr>
        <p:spPr/>
        <p:txBody>
          <a:bodyPr/>
          <a:lstStyle/>
          <a:p>
            <a:fld id="{99403276-9EE4-43F6-A087-B50A910E58E2}" type="datetime1">
              <a:rPr lang="zh-CN" altLang="en-US" smtClean="0"/>
              <a:pPr/>
              <a:t>2022/5/1</a:t>
            </a:fld>
            <a:endParaRPr lang="zh-CN" altLang="en-US"/>
          </a:p>
        </p:txBody>
      </p:sp>
      <p:sp>
        <p:nvSpPr>
          <p:cNvPr id="3" name="页脚占位符 2"/>
          <p:cNvSpPr>
            <a:spLocks noGrp="1"/>
          </p:cNvSpPr>
          <p:nvPr>
            <p:ph type="ftr" sz="quarter" idx="11"/>
          </p:nvPr>
        </p:nvSpPr>
        <p:spPr/>
        <p:txBody>
          <a:bodyPr/>
          <a:lstStyle/>
          <a:p>
            <a:r>
              <a:rPr lang="zh-CN" altLang="en-US" dirty="0"/>
              <a:t>大数据处理</a:t>
            </a:r>
          </a:p>
        </p:txBody>
      </p:sp>
      <p:sp>
        <p:nvSpPr>
          <p:cNvPr id="10" name="灯片编号占位符 9"/>
          <p:cNvSpPr>
            <a:spLocks noGrp="1"/>
          </p:cNvSpPr>
          <p:nvPr>
            <p:ph type="sldNum" sz="quarter" idx="12"/>
          </p:nvPr>
        </p:nvSpPr>
        <p:spPr/>
        <p:txBody>
          <a:bodyPr/>
          <a:lstStyle/>
          <a:p>
            <a:fld id="{0C913308-F349-4B6D-A68A-DD1791B4A57B}" type="slidenum">
              <a:rPr lang="zh-CN" altLang="en-US" smtClean="0"/>
              <a:pPr/>
              <a:t>4</a:t>
            </a:fld>
            <a:endParaRPr lang="zh-CN" altLang="en-US"/>
          </a:p>
        </p:txBody>
      </p:sp>
      <p:pic>
        <p:nvPicPr>
          <p:cNvPr id="11" name="图片 4" descr="4.jpg"/>
          <p:cNvPicPr>
            <a:picLocks noChangeAspect="1"/>
          </p:cNvPicPr>
          <p:nvPr/>
        </p:nvPicPr>
        <p:blipFill>
          <a:blip r:embed="rId2"/>
          <a:srcRect/>
          <a:stretch>
            <a:fillRect/>
          </a:stretch>
        </p:blipFill>
        <p:spPr bwMode="auto">
          <a:xfrm>
            <a:off x="1" y="0"/>
            <a:ext cx="4214809" cy="785794"/>
          </a:xfrm>
          <a:prstGeom prst="rect">
            <a:avLst/>
          </a:prstGeom>
          <a:noFill/>
          <a:ln w="9525">
            <a:noFill/>
            <a:miter lim="800000"/>
            <a:headEnd/>
            <a:tailEnd/>
          </a:ln>
        </p:spPr>
      </p:pic>
      <p:grpSp>
        <p:nvGrpSpPr>
          <p:cNvPr id="9" name="组合 8">
            <a:extLst>
              <a:ext uri="{FF2B5EF4-FFF2-40B4-BE49-F238E27FC236}">
                <a16:creationId xmlns:a16="http://schemas.microsoft.com/office/drawing/2014/main" id="{682CBC45-8CDF-1C98-6594-D7A5B4F98163}"/>
              </a:ext>
            </a:extLst>
          </p:cNvPr>
          <p:cNvGrpSpPr/>
          <p:nvPr/>
        </p:nvGrpSpPr>
        <p:grpSpPr>
          <a:xfrm>
            <a:off x="-1276" y="1114922"/>
            <a:ext cx="9144000" cy="5186817"/>
            <a:chOff x="-1276" y="1114922"/>
            <a:chExt cx="9144000" cy="5186817"/>
          </a:xfrm>
        </p:grpSpPr>
        <p:grpSp>
          <p:nvGrpSpPr>
            <p:cNvPr id="7" name="组合 6">
              <a:extLst>
                <a:ext uri="{FF2B5EF4-FFF2-40B4-BE49-F238E27FC236}">
                  <a16:creationId xmlns:a16="http://schemas.microsoft.com/office/drawing/2014/main" id="{9412C3E0-55A0-BFD7-E484-C8B47447B8BD}"/>
                </a:ext>
              </a:extLst>
            </p:cNvPr>
            <p:cNvGrpSpPr/>
            <p:nvPr/>
          </p:nvGrpSpPr>
          <p:grpSpPr>
            <a:xfrm>
              <a:off x="-1276" y="1114922"/>
              <a:ext cx="9144000" cy="5186817"/>
              <a:chOff x="-1276" y="1114922"/>
              <a:chExt cx="9144000" cy="5186817"/>
            </a:xfrm>
          </p:grpSpPr>
          <p:pic>
            <p:nvPicPr>
              <p:cNvPr id="4" name="图片 3">
                <a:extLst>
                  <a:ext uri="{FF2B5EF4-FFF2-40B4-BE49-F238E27FC236}">
                    <a16:creationId xmlns:a16="http://schemas.microsoft.com/office/drawing/2014/main" id="{BB27ADE3-F69C-1567-1204-6A9D4F943E47}"/>
                  </a:ext>
                </a:extLst>
              </p:cNvPr>
              <p:cNvPicPr>
                <a:picLocks noChangeAspect="1"/>
              </p:cNvPicPr>
              <p:nvPr/>
            </p:nvPicPr>
            <p:blipFill>
              <a:blip r:embed="rId3"/>
              <a:stretch>
                <a:fillRect/>
              </a:stretch>
            </p:blipFill>
            <p:spPr>
              <a:xfrm>
                <a:off x="-1276" y="1114922"/>
                <a:ext cx="9144000" cy="5186817"/>
              </a:xfrm>
              <a:prstGeom prst="rect">
                <a:avLst/>
              </a:prstGeom>
            </p:spPr>
          </p:pic>
          <p:pic>
            <p:nvPicPr>
              <p:cNvPr id="6" name="图片 5">
                <a:extLst>
                  <a:ext uri="{FF2B5EF4-FFF2-40B4-BE49-F238E27FC236}">
                    <a16:creationId xmlns:a16="http://schemas.microsoft.com/office/drawing/2014/main" id="{CE8A4BA9-E600-5B74-267A-5C119719A45A}"/>
                  </a:ext>
                </a:extLst>
              </p:cNvPr>
              <p:cNvPicPr>
                <a:picLocks noChangeAspect="1"/>
              </p:cNvPicPr>
              <p:nvPr/>
            </p:nvPicPr>
            <p:blipFill>
              <a:blip r:embed="rId4"/>
              <a:stretch>
                <a:fillRect/>
              </a:stretch>
            </p:blipFill>
            <p:spPr>
              <a:xfrm>
                <a:off x="-1276" y="4581128"/>
                <a:ext cx="261705" cy="785794"/>
              </a:xfrm>
              <a:prstGeom prst="rect">
                <a:avLst/>
              </a:prstGeom>
            </p:spPr>
          </p:pic>
        </p:grpSp>
        <p:pic>
          <p:nvPicPr>
            <p:cNvPr id="8" name="图片 7">
              <a:extLst>
                <a:ext uri="{FF2B5EF4-FFF2-40B4-BE49-F238E27FC236}">
                  <a16:creationId xmlns:a16="http://schemas.microsoft.com/office/drawing/2014/main" id="{7B746338-8957-D8FC-2963-9089292890C8}"/>
                </a:ext>
              </a:extLst>
            </p:cNvPr>
            <p:cNvPicPr>
              <a:picLocks noChangeAspect="1"/>
            </p:cNvPicPr>
            <p:nvPr/>
          </p:nvPicPr>
          <p:blipFill>
            <a:blip r:embed="rId5"/>
            <a:stretch>
              <a:fillRect/>
            </a:stretch>
          </p:blipFill>
          <p:spPr>
            <a:xfrm>
              <a:off x="395536" y="5939743"/>
              <a:ext cx="2066192" cy="266924"/>
            </a:xfrm>
            <a:prstGeom prst="rect">
              <a:avLst/>
            </a:prstGeom>
          </p:spPr>
        </p:pic>
      </p:grpSp>
    </p:spTree>
    <p:extLst>
      <p:ext uri="{BB962C8B-B14F-4D97-AF65-F5344CB8AC3E}">
        <p14:creationId xmlns:p14="http://schemas.microsoft.com/office/powerpoint/2010/main" val="245024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21768" y="0"/>
            <a:ext cx="5710671" cy="763863"/>
          </a:xfrm>
          <a:prstGeom prst="rect">
            <a:avLst/>
          </a:prstGeom>
          <a:noFill/>
        </p:spPr>
        <p:txBody>
          <a:bodyPr wrap="square" rtlCol="0">
            <a:spAutoFit/>
          </a:bodyPr>
          <a:lstStyle/>
          <a:p>
            <a:pPr algn="r">
              <a:lnSpc>
                <a:spcPts val="5800"/>
              </a:lnSpc>
              <a:spcBef>
                <a:spcPct val="0"/>
              </a:spcBef>
            </a:pPr>
            <a:r>
              <a:rPr lang="en-US" altLang="zh-CN" sz="3600" dirty="0">
                <a:solidFill>
                  <a:schemeClr val="tx2"/>
                </a:solidFill>
                <a:effectLst>
                  <a:outerShdw blurRad="63500" dist="38100" dir="5400000" algn="t" rotWithShape="0">
                    <a:prstClr val="black">
                      <a:alpha val="25000"/>
                    </a:prstClr>
                  </a:outerShdw>
                </a:effectLst>
                <a:ea typeface="+mj-ea"/>
                <a:cs typeface="+mj-cs"/>
              </a:rPr>
              <a:t>NoSQL</a:t>
            </a:r>
            <a:r>
              <a:rPr lang="zh-CN" altLang="en-US" sz="3600" dirty="0">
                <a:solidFill>
                  <a:schemeClr val="tx2"/>
                </a:solidFill>
                <a:effectLst>
                  <a:outerShdw blurRad="63500" dist="38100" dir="5400000" algn="t" rotWithShape="0">
                    <a:prstClr val="black">
                      <a:alpha val="25000"/>
                    </a:prstClr>
                  </a:outerShdw>
                </a:effectLst>
                <a:ea typeface="+mj-ea"/>
                <a:cs typeface="+mj-cs"/>
              </a:rPr>
              <a:t>数据库</a:t>
            </a:r>
          </a:p>
        </p:txBody>
      </p:sp>
      <p:sp>
        <p:nvSpPr>
          <p:cNvPr id="2" name="日期占位符 1"/>
          <p:cNvSpPr>
            <a:spLocks noGrp="1"/>
          </p:cNvSpPr>
          <p:nvPr>
            <p:ph type="dt" sz="half" idx="10"/>
          </p:nvPr>
        </p:nvSpPr>
        <p:spPr/>
        <p:txBody>
          <a:bodyPr/>
          <a:lstStyle/>
          <a:p>
            <a:fld id="{99403276-9EE4-43F6-A087-B50A910E58E2}" type="datetime1">
              <a:rPr lang="zh-CN" altLang="en-US" smtClean="0"/>
              <a:pPr/>
              <a:t>2022/5/1</a:t>
            </a:fld>
            <a:endParaRPr lang="zh-CN" altLang="en-US"/>
          </a:p>
        </p:txBody>
      </p:sp>
      <p:sp>
        <p:nvSpPr>
          <p:cNvPr id="3" name="页脚占位符 2"/>
          <p:cNvSpPr>
            <a:spLocks noGrp="1"/>
          </p:cNvSpPr>
          <p:nvPr>
            <p:ph type="ftr" sz="quarter" idx="11"/>
          </p:nvPr>
        </p:nvSpPr>
        <p:spPr/>
        <p:txBody>
          <a:bodyPr/>
          <a:lstStyle/>
          <a:p>
            <a:r>
              <a:rPr lang="zh-CN" altLang="en-US" dirty="0"/>
              <a:t>大数据处理</a:t>
            </a:r>
          </a:p>
        </p:txBody>
      </p:sp>
      <p:sp>
        <p:nvSpPr>
          <p:cNvPr id="10" name="灯片编号占位符 9"/>
          <p:cNvSpPr>
            <a:spLocks noGrp="1"/>
          </p:cNvSpPr>
          <p:nvPr>
            <p:ph type="sldNum" sz="quarter" idx="12"/>
          </p:nvPr>
        </p:nvSpPr>
        <p:spPr/>
        <p:txBody>
          <a:bodyPr/>
          <a:lstStyle/>
          <a:p>
            <a:fld id="{0C913308-F349-4B6D-A68A-DD1791B4A57B}" type="slidenum">
              <a:rPr lang="zh-CN" altLang="en-US" smtClean="0"/>
              <a:pPr/>
              <a:t>5</a:t>
            </a:fld>
            <a:endParaRPr lang="zh-CN" altLang="en-US"/>
          </a:p>
        </p:txBody>
      </p:sp>
      <p:pic>
        <p:nvPicPr>
          <p:cNvPr id="11" name="图片 4" descr="4.jpg"/>
          <p:cNvPicPr>
            <a:picLocks noChangeAspect="1"/>
          </p:cNvPicPr>
          <p:nvPr/>
        </p:nvPicPr>
        <p:blipFill>
          <a:blip r:embed="rId2"/>
          <a:srcRect/>
          <a:stretch>
            <a:fillRect/>
          </a:stretch>
        </p:blipFill>
        <p:spPr bwMode="auto">
          <a:xfrm>
            <a:off x="1" y="0"/>
            <a:ext cx="4214809" cy="785794"/>
          </a:xfrm>
          <a:prstGeom prst="rect">
            <a:avLst/>
          </a:prstGeom>
          <a:noFill/>
          <a:ln w="9525">
            <a:noFill/>
            <a:miter lim="800000"/>
            <a:headEnd/>
            <a:tailEnd/>
          </a:ln>
        </p:spPr>
      </p:pic>
      <p:pic>
        <p:nvPicPr>
          <p:cNvPr id="4" name="图片 3">
            <a:extLst>
              <a:ext uri="{FF2B5EF4-FFF2-40B4-BE49-F238E27FC236}">
                <a16:creationId xmlns:a16="http://schemas.microsoft.com/office/drawing/2014/main" id="{EA0BCA4B-C791-977F-AF3B-7E6CF24B8F38}"/>
              </a:ext>
            </a:extLst>
          </p:cNvPr>
          <p:cNvPicPr>
            <a:picLocks noChangeAspect="1"/>
          </p:cNvPicPr>
          <p:nvPr/>
        </p:nvPicPr>
        <p:blipFill>
          <a:blip r:embed="rId3"/>
          <a:stretch>
            <a:fillRect/>
          </a:stretch>
        </p:blipFill>
        <p:spPr>
          <a:xfrm>
            <a:off x="8318" y="1008116"/>
            <a:ext cx="9144000" cy="5326303"/>
          </a:xfrm>
          <a:prstGeom prst="rect">
            <a:avLst/>
          </a:prstGeom>
        </p:spPr>
      </p:pic>
    </p:spTree>
    <p:extLst>
      <p:ext uri="{BB962C8B-B14F-4D97-AF65-F5344CB8AC3E}">
        <p14:creationId xmlns:p14="http://schemas.microsoft.com/office/powerpoint/2010/main" val="2247056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21768" y="0"/>
            <a:ext cx="5710671" cy="763863"/>
          </a:xfrm>
          <a:prstGeom prst="rect">
            <a:avLst/>
          </a:prstGeom>
          <a:noFill/>
        </p:spPr>
        <p:txBody>
          <a:bodyPr wrap="square" rtlCol="0">
            <a:spAutoFit/>
          </a:bodyPr>
          <a:lstStyle/>
          <a:p>
            <a:pPr algn="r">
              <a:lnSpc>
                <a:spcPts val="5800"/>
              </a:lnSpc>
              <a:spcBef>
                <a:spcPct val="0"/>
              </a:spcBef>
            </a:pPr>
            <a:r>
              <a:rPr lang="en-US" altLang="zh-CN" sz="3600" dirty="0">
                <a:solidFill>
                  <a:schemeClr val="tx2"/>
                </a:solidFill>
                <a:effectLst>
                  <a:outerShdw blurRad="63500" dist="38100" dir="5400000" algn="t" rotWithShape="0">
                    <a:prstClr val="black">
                      <a:alpha val="25000"/>
                    </a:prstClr>
                  </a:outerShdw>
                </a:effectLst>
                <a:ea typeface="+mj-ea"/>
                <a:cs typeface="+mj-cs"/>
              </a:rPr>
              <a:t>NoSQL</a:t>
            </a:r>
            <a:r>
              <a:rPr lang="zh-CN" altLang="en-US" sz="3600" dirty="0">
                <a:solidFill>
                  <a:schemeClr val="tx2"/>
                </a:solidFill>
                <a:effectLst>
                  <a:outerShdw blurRad="63500" dist="38100" dir="5400000" algn="t" rotWithShape="0">
                    <a:prstClr val="black">
                      <a:alpha val="25000"/>
                    </a:prstClr>
                  </a:outerShdw>
                </a:effectLst>
                <a:ea typeface="+mj-ea"/>
                <a:cs typeface="+mj-cs"/>
              </a:rPr>
              <a:t>数据库</a:t>
            </a:r>
          </a:p>
        </p:txBody>
      </p:sp>
      <p:sp>
        <p:nvSpPr>
          <p:cNvPr id="2" name="日期占位符 1"/>
          <p:cNvSpPr>
            <a:spLocks noGrp="1"/>
          </p:cNvSpPr>
          <p:nvPr>
            <p:ph type="dt" sz="half" idx="10"/>
          </p:nvPr>
        </p:nvSpPr>
        <p:spPr/>
        <p:txBody>
          <a:bodyPr/>
          <a:lstStyle/>
          <a:p>
            <a:fld id="{99403276-9EE4-43F6-A087-B50A910E58E2}" type="datetime1">
              <a:rPr lang="zh-CN" altLang="en-US" smtClean="0"/>
              <a:pPr/>
              <a:t>2022/5/1</a:t>
            </a:fld>
            <a:endParaRPr lang="zh-CN" altLang="en-US"/>
          </a:p>
        </p:txBody>
      </p:sp>
      <p:sp>
        <p:nvSpPr>
          <p:cNvPr id="3" name="页脚占位符 2"/>
          <p:cNvSpPr>
            <a:spLocks noGrp="1"/>
          </p:cNvSpPr>
          <p:nvPr>
            <p:ph type="ftr" sz="quarter" idx="11"/>
          </p:nvPr>
        </p:nvSpPr>
        <p:spPr/>
        <p:txBody>
          <a:bodyPr/>
          <a:lstStyle/>
          <a:p>
            <a:r>
              <a:rPr lang="zh-CN" altLang="en-US" dirty="0"/>
              <a:t>大数据处理</a:t>
            </a:r>
          </a:p>
        </p:txBody>
      </p:sp>
      <p:sp>
        <p:nvSpPr>
          <p:cNvPr id="10" name="灯片编号占位符 9"/>
          <p:cNvSpPr>
            <a:spLocks noGrp="1"/>
          </p:cNvSpPr>
          <p:nvPr>
            <p:ph type="sldNum" sz="quarter" idx="12"/>
          </p:nvPr>
        </p:nvSpPr>
        <p:spPr/>
        <p:txBody>
          <a:bodyPr/>
          <a:lstStyle/>
          <a:p>
            <a:fld id="{0C913308-F349-4B6D-A68A-DD1791B4A57B}" type="slidenum">
              <a:rPr lang="zh-CN" altLang="en-US" smtClean="0"/>
              <a:pPr/>
              <a:t>6</a:t>
            </a:fld>
            <a:endParaRPr lang="zh-CN" altLang="en-US"/>
          </a:p>
        </p:txBody>
      </p:sp>
      <p:pic>
        <p:nvPicPr>
          <p:cNvPr id="11" name="图片 4" descr="4.jpg"/>
          <p:cNvPicPr>
            <a:picLocks noChangeAspect="1"/>
          </p:cNvPicPr>
          <p:nvPr/>
        </p:nvPicPr>
        <p:blipFill>
          <a:blip r:embed="rId2"/>
          <a:srcRect/>
          <a:stretch>
            <a:fillRect/>
          </a:stretch>
        </p:blipFill>
        <p:spPr bwMode="auto">
          <a:xfrm>
            <a:off x="1" y="0"/>
            <a:ext cx="4214809" cy="785794"/>
          </a:xfrm>
          <a:prstGeom prst="rect">
            <a:avLst/>
          </a:prstGeom>
          <a:noFill/>
          <a:ln w="9525">
            <a:noFill/>
            <a:miter lim="800000"/>
            <a:headEnd/>
            <a:tailEnd/>
          </a:ln>
        </p:spPr>
      </p:pic>
      <p:pic>
        <p:nvPicPr>
          <p:cNvPr id="4" name="图片 3">
            <a:extLst>
              <a:ext uri="{FF2B5EF4-FFF2-40B4-BE49-F238E27FC236}">
                <a16:creationId xmlns:a16="http://schemas.microsoft.com/office/drawing/2014/main" id="{4E8EA41B-417F-0885-66AE-0648480E78B8}"/>
              </a:ext>
            </a:extLst>
          </p:cNvPr>
          <p:cNvPicPr>
            <a:picLocks noChangeAspect="1"/>
          </p:cNvPicPr>
          <p:nvPr/>
        </p:nvPicPr>
        <p:blipFill>
          <a:blip r:embed="rId3"/>
          <a:stretch>
            <a:fillRect/>
          </a:stretch>
        </p:blipFill>
        <p:spPr>
          <a:xfrm>
            <a:off x="0" y="1196752"/>
            <a:ext cx="9144000" cy="4898291"/>
          </a:xfrm>
          <a:prstGeom prst="rect">
            <a:avLst/>
          </a:prstGeom>
        </p:spPr>
      </p:pic>
    </p:spTree>
    <p:extLst>
      <p:ext uri="{BB962C8B-B14F-4D97-AF65-F5344CB8AC3E}">
        <p14:creationId xmlns:p14="http://schemas.microsoft.com/office/powerpoint/2010/main" val="1668858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21768" y="0"/>
            <a:ext cx="5710671" cy="763863"/>
          </a:xfrm>
          <a:prstGeom prst="rect">
            <a:avLst/>
          </a:prstGeom>
          <a:noFill/>
        </p:spPr>
        <p:txBody>
          <a:bodyPr wrap="square" rtlCol="0">
            <a:spAutoFit/>
          </a:bodyPr>
          <a:lstStyle/>
          <a:p>
            <a:pPr algn="r">
              <a:lnSpc>
                <a:spcPts val="5800"/>
              </a:lnSpc>
              <a:spcBef>
                <a:spcPct val="0"/>
              </a:spcBef>
            </a:pPr>
            <a:r>
              <a:rPr lang="en-US" altLang="zh-CN" sz="3600" dirty="0">
                <a:solidFill>
                  <a:schemeClr val="tx2"/>
                </a:solidFill>
                <a:effectLst>
                  <a:outerShdw blurRad="63500" dist="38100" dir="5400000" algn="t" rotWithShape="0">
                    <a:prstClr val="black">
                      <a:alpha val="25000"/>
                    </a:prstClr>
                  </a:outerShdw>
                </a:effectLst>
                <a:ea typeface="+mj-ea"/>
                <a:cs typeface="+mj-cs"/>
              </a:rPr>
              <a:t>NoSQL</a:t>
            </a:r>
            <a:r>
              <a:rPr lang="zh-CN" altLang="en-US" sz="3600" dirty="0">
                <a:solidFill>
                  <a:schemeClr val="tx2"/>
                </a:solidFill>
                <a:effectLst>
                  <a:outerShdw blurRad="63500" dist="38100" dir="5400000" algn="t" rotWithShape="0">
                    <a:prstClr val="black">
                      <a:alpha val="25000"/>
                    </a:prstClr>
                  </a:outerShdw>
                </a:effectLst>
                <a:ea typeface="+mj-ea"/>
                <a:cs typeface="+mj-cs"/>
              </a:rPr>
              <a:t>数据库</a:t>
            </a:r>
          </a:p>
        </p:txBody>
      </p:sp>
      <p:sp>
        <p:nvSpPr>
          <p:cNvPr id="2" name="日期占位符 1"/>
          <p:cNvSpPr>
            <a:spLocks noGrp="1"/>
          </p:cNvSpPr>
          <p:nvPr>
            <p:ph type="dt" sz="half" idx="10"/>
          </p:nvPr>
        </p:nvSpPr>
        <p:spPr/>
        <p:txBody>
          <a:bodyPr/>
          <a:lstStyle/>
          <a:p>
            <a:fld id="{99403276-9EE4-43F6-A087-B50A910E58E2}" type="datetime1">
              <a:rPr lang="zh-CN" altLang="en-US" smtClean="0"/>
              <a:pPr/>
              <a:t>2022/5/1</a:t>
            </a:fld>
            <a:endParaRPr lang="zh-CN" altLang="en-US"/>
          </a:p>
        </p:txBody>
      </p:sp>
      <p:sp>
        <p:nvSpPr>
          <p:cNvPr id="3" name="页脚占位符 2"/>
          <p:cNvSpPr>
            <a:spLocks noGrp="1"/>
          </p:cNvSpPr>
          <p:nvPr>
            <p:ph type="ftr" sz="quarter" idx="11"/>
          </p:nvPr>
        </p:nvSpPr>
        <p:spPr/>
        <p:txBody>
          <a:bodyPr/>
          <a:lstStyle/>
          <a:p>
            <a:r>
              <a:rPr lang="zh-CN" altLang="en-US" dirty="0"/>
              <a:t>大数据处理</a:t>
            </a:r>
          </a:p>
        </p:txBody>
      </p:sp>
      <p:sp>
        <p:nvSpPr>
          <p:cNvPr id="10" name="灯片编号占位符 9"/>
          <p:cNvSpPr>
            <a:spLocks noGrp="1"/>
          </p:cNvSpPr>
          <p:nvPr>
            <p:ph type="sldNum" sz="quarter" idx="12"/>
          </p:nvPr>
        </p:nvSpPr>
        <p:spPr/>
        <p:txBody>
          <a:bodyPr/>
          <a:lstStyle/>
          <a:p>
            <a:fld id="{0C913308-F349-4B6D-A68A-DD1791B4A57B}" type="slidenum">
              <a:rPr lang="zh-CN" altLang="en-US" smtClean="0"/>
              <a:pPr/>
              <a:t>7</a:t>
            </a:fld>
            <a:endParaRPr lang="zh-CN" altLang="en-US"/>
          </a:p>
        </p:txBody>
      </p:sp>
      <p:pic>
        <p:nvPicPr>
          <p:cNvPr id="11" name="图片 4" descr="4.jpg"/>
          <p:cNvPicPr>
            <a:picLocks noChangeAspect="1"/>
          </p:cNvPicPr>
          <p:nvPr/>
        </p:nvPicPr>
        <p:blipFill>
          <a:blip r:embed="rId2"/>
          <a:srcRect/>
          <a:stretch>
            <a:fillRect/>
          </a:stretch>
        </p:blipFill>
        <p:spPr bwMode="auto">
          <a:xfrm>
            <a:off x="1" y="0"/>
            <a:ext cx="4214809" cy="785794"/>
          </a:xfrm>
          <a:prstGeom prst="rect">
            <a:avLst/>
          </a:prstGeom>
          <a:noFill/>
          <a:ln w="9525">
            <a:noFill/>
            <a:miter lim="800000"/>
            <a:headEnd/>
            <a:tailEnd/>
          </a:ln>
        </p:spPr>
      </p:pic>
      <p:pic>
        <p:nvPicPr>
          <p:cNvPr id="6" name="图片 5">
            <a:extLst>
              <a:ext uri="{FF2B5EF4-FFF2-40B4-BE49-F238E27FC236}">
                <a16:creationId xmlns:a16="http://schemas.microsoft.com/office/drawing/2014/main" id="{0D5B6F22-31D8-7228-EEB6-64D625E15F16}"/>
              </a:ext>
            </a:extLst>
          </p:cNvPr>
          <p:cNvPicPr>
            <a:picLocks noChangeAspect="1"/>
          </p:cNvPicPr>
          <p:nvPr/>
        </p:nvPicPr>
        <p:blipFill>
          <a:blip r:embed="rId3"/>
          <a:stretch>
            <a:fillRect/>
          </a:stretch>
        </p:blipFill>
        <p:spPr>
          <a:xfrm>
            <a:off x="0" y="772012"/>
            <a:ext cx="9144000" cy="5488188"/>
          </a:xfrm>
          <a:prstGeom prst="rect">
            <a:avLst/>
          </a:prstGeom>
        </p:spPr>
      </p:pic>
    </p:spTree>
    <p:extLst>
      <p:ext uri="{BB962C8B-B14F-4D97-AF65-F5344CB8AC3E}">
        <p14:creationId xmlns:p14="http://schemas.microsoft.com/office/powerpoint/2010/main" val="2262936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21768" y="0"/>
            <a:ext cx="5710671" cy="776495"/>
          </a:xfrm>
          <a:prstGeom prst="rect">
            <a:avLst/>
          </a:prstGeom>
          <a:noFill/>
        </p:spPr>
        <p:txBody>
          <a:bodyPr wrap="square" rtlCol="0">
            <a:spAutoFit/>
          </a:bodyPr>
          <a:lstStyle/>
          <a:p>
            <a:pPr algn="r">
              <a:lnSpc>
                <a:spcPts val="5800"/>
              </a:lnSpc>
              <a:spcBef>
                <a:spcPct val="0"/>
              </a:spcBef>
            </a:pPr>
            <a:r>
              <a:rPr lang="zh-CN" altLang="en-US" sz="3600" dirty="0">
                <a:solidFill>
                  <a:schemeClr val="tx2"/>
                </a:solidFill>
                <a:effectLst>
                  <a:outerShdw blurRad="63500" dist="38100" dir="5400000" algn="t" rotWithShape="0">
                    <a:prstClr val="black">
                      <a:alpha val="25000"/>
                    </a:prstClr>
                  </a:outerShdw>
                </a:effectLst>
                <a:ea typeface="+mj-ea"/>
                <a:cs typeface="+mj-cs"/>
              </a:rPr>
              <a:t>数据库新发展</a:t>
            </a:r>
          </a:p>
        </p:txBody>
      </p:sp>
      <p:sp>
        <p:nvSpPr>
          <p:cNvPr id="2" name="日期占位符 1"/>
          <p:cNvSpPr>
            <a:spLocks noGrp="1"/>
          </p:cNvSpPr>
          <p:nvPr>
            <p:ph type="dt" sz="half" idx="10"/>
          </p:nvPr>
        </p:nvSpPr>
        <p:spPr/>
        <p:txBody>
          <a:bodyPr/>
          <a:lstStyle/>
          <a:p>
            <a:fld id="{99403276-9EE4-43F6-A087-B50A910E58E2}" type="datetime1">
              <a:rPr lang="zh-CN" altLang="en-US" smtClean="0"/>
              <a:pPr/>
              <a:t>2022/5/1</a:t>
            </a:fld>
            <a:endParaRPr lang="zh-CN" altLang="en-US"/>
          </a:p>
        </p:txBody>
      </p:sp>
      <p:sp>
        <p:nvSpPr>
          <p:cNvPr id="3" name="页脚占位符 2"/>
          <p:cNvSpPr>
            <a:spLocks noGrp="1"/>
          </p:cNvSpPr>
          <p:nvPr>
            <p:ph type="ftr" sz="quarter" idx="11"/>
          </p:nvPr>
        </p:nvSpPr>
        <p:spPr/>
        <p:txBody>
          <a:bodyPr/>
          <a:lstStyle/>
          <a:p>
            <a:r>
              <a:rPr lang="zh-CN" altLang="en-US" dirty="0"/>
              <a:t>大数据处理</a:t>
            </a:r>
          </a:p>
        </p:txBody>
      </p:sp>
      <p:sp>
        <p:nvSpPr>
          <p:cNvPr id="10" name="灯片编号占位符 9"/>
          <p:cNvSpPr>
            <a:spLocks noGrp="1"/>
          </p:cNvSpPr>
          <p:nvPr>
            <p:ph type="sldNum" sz="quarter" idx="12"/>
          </p:nvPr>
        </p:nvSpPr>
        <p:spPr/>
        <p:txBody>
          <a:bodyPr/>
          <a:lstStyle/>
          <a:p>
            <a:fld id="{0C913308-F349-4B6D-A68A-DD1791B4A57B}" type="slidenum">
              <a:rPr lang="zh-CN" altLang="en-US" smtClean="0"/>
              <a:pPr/>
              <a:t>8</a:t>
            </a:fld>
            <a:endParaRPr lang="zh-CN" altLang="en-US"/>
          </a:p>
        </p:txBody>
      </p:sp>
      <p:pic>
        <p:nvPicPr>
          <p:cNvPr id="11" name="图片 4" descr="4.jpg"/>
          <p:cNvPicPr>
            <a:picLocks noChangeAspect="1"/>
          </p:cNvPicPr>
          <p:nvPr/>
        </p:nvPicPr>
        <p:blipFill>
          <a:blip r:embed="rId2"/>
          <a:srcRect/>
          <a:stretch>
            <a:fillRect/>
          </a:stretch>
        </p:blipFill>
        <p:spPr bwMode="auto">
          <a:xfrm>
            <a:off x="1" y="0"/>
            <a:ext cx="4214809" cy="785794"/>
          </a:xfrm>
          <a:prstGeom prst="rect">
            <a:avLst/>
          </a:prstGeom>
          <a:noFill/>
          <a:ln w="9525">
            <a:noFill/>
            <a:miter lim="800000"/>
            <a:headEnd/>
            <a:tailEnd/>
          </a:ln>
        </p:spPr>
      </p:pic>
      <p:pic>
        <p:nvPicPr>
          <p:cNvPr id="15"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6672" y="1120292"/>
            <a:ext cx="7543800" cy="509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6"/>
          <p:cNvSpPr>
            <a:spLocks noChangeArrowheads="1"/>
          </p:cNvSpPr>
          <p:nvPr/>
        </p:nvSpPr>
        <p:spPr bwMode="auto">
          <a:xfrm>
            <a:off x="1763688" y="6343095"/>
            <a:ext cx="5391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i="1">
                <a:solidFill>
                  <a:schemeClr val="tx1"/>
                </a:solidFill>
                <a:latin typeface="Verdana" panose="020B0604030504040204" pitchFamily="34" charset="0"/>
                <a:cs typeface="Arial" panose="020B0604020202020204" pitchFamily="34" charset="0"/>
              </a:defRPr>
            </a:lvl1pPr>
            <a:lvl2pPr marL="742950" indent="-285750">
              <a:defRPr i="1">
                <a:solidFill>
                  <a:schemeClr val="tx1"/>
                </a:solidFill>
                <a:latin typeface="Verdana" panose="020B0604030504040204" pitchFamily="34" charset="0"/>
                <a:cs typeface="Arial" panose="020B0604020202020204" pitchFamily="34" charset="0"/>
              </a:defRPr>
            </a:lvl2pPr>
            <a:lvl3pPr marL="1143000" indent="-228600">
              <a:defRPr i="1">
                <a:solidFill>
                  <a:schemeClr val="tx1"/>
                </a:solidFill>
                <a:latin typeface="Verdana" panose="020B0604030504040204" pitchFamily="34" charset="0"/>
                <a:cs typeface="Arial" panose="020B0604020202020204" pitchFamily="34" charset="0"/>
              </a:defRPr>
            </a:lvl3pPr>
            <a:lvl4pPr marL="1600200" indent="-228600">
              <a:defRPr i="1">
                <a:solidFill>
                  <a:schemeClr val="tx1"/>
                </a:solidFill>
                <a:latin typeface="Verdana" panose="020B0604030504040204" pitchFamily="34" charset="0"/>
                <a:cs typeface="Arial" panose="020B0604020202020204" pitchFamily="34" charset="0"/>
              </a:defRPr>
            </a:lvl4pPr>
            <a:lvl5pPr marL="2057400" indent="-228600">
              <a:defRPr i="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i="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i="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i="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i="1">
                <a:solidFill>
                  <a:schemeClr val="tx1"/>
                </a:solidFill>
                <a:latin typeface="Verdana" panose="020B0604030504040204" pitchFamily="34" charset="0"/>
                <a:cs typeface="Arial" panose="020B0604020202020204" pitchFamily="34" charset="0"/>
              </a:defRPr>
            </a:lvl9pPr>
          </a:lstStyle>
          <a:p>
            <a:pPr eaLnBrk="1" hangingPunct="1"/>
            <a:r>
              <a:rPr lang="zh-CN" altLang="en-US" i="0">
                <a:latin typeface="Arial" panose="020B0604020202020204" pitchFamily="34" charset="0"/>
              </a:rPr>
              <a:t>关系数据库、</a:t>
            </a:r>
            <a:r>
              <a:rPr lang="en-US" altLang="zh-CN" i="0">
                <a:latin typeface="Arial" panose="020B0604020202020204" pitchFamily="34" charset="0"/>
              </a:rPr>
              <a:t>NoSQL</a:t>
            </a:r>
            <a:r>
              <a:rPr lang="zh-CN" altLang="en-US" i="0">
                <a:latin typeface="Arial" panose="020B0604020202020204" pitchFamily="34" charset="0"/>
              </a:rPr>
              <a:t>和</a:t>
            </a:r>
            <a:r>
              <a:rPr lang="en-US" altLang="zh-CN" i="0">
                <a:latin typeface="Arial" panose="020B0604020202020204" pitchFamily="34" charset="0"/>
              </a:rPr>
              <a:t>NewSQL</a:t>
            </a:r>
            <a:r>
              <a:rPr lang="zh-CN" altLang="en-US" i="0">
                <a:latin typeface="Arial" panose="020B0604020202020204" pitchFamily="34" charset="0"/>
              </a:rPr>
              <a:t>数据库产品分类图 </a:t>
            </a:r>
          </a:p>
        </p:txBody>
      </p:sp>
      <p:sp>
        <p:nvSpPr>
          <p:cNvPr id="9" name="矩形 2">
            <a:extLst>
              <a:ext uri="{FF2B5EF4-FFF2-40B4-BE49-F238E27FC236}">
                <a16:creationId xmlns:a16="http://schemas.microsoft.com/office/drawing/2014/main" id="{3BF0DFBD-B0E8-5441-B23C-37470F5CFA69}"/>
              </a:ext>
            </a:extLst>
          </p:cNvPr>
          <p:cNvSpPr>
            <a:spLocks noChangeArrowheads="1"/>
          </p:cNvSpPr>
          <p:nvPr/>
        </p:nvSpPr>
        <p:spPr bwMode="auto">
          <a:xfrm>
            <a:off x="179512" y="1110993"/>
            <a:ext cx="4824536"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i="1">
                <a:solidFill>
                  <a:schemeClr val="tx1"/>
                </a:solidFill>
                <a:latin typeface="Verdana" panose="020B0604030504040204" pitchFamily="34" charset="0"/>
                <a:cs typeface="Arial" panose="020B0604020202020204" pitchFamily="34" charset="0"/>
              </a:defRPr>
            </a:lvl1pPr>
            <a:lvl2pPr marL="742950" indent="-285750">
              <a:defRPr i="1">
                <a:solidFill>
                  <a:schemeClr val="tx1"/>
                </a:solidFill>
                <a:latin typeface="Verdana" panose="020B0604030504040204" pitchFamily="34" charset="0"/>
                <a:cs typeface="Arial" panose="020B0604020202020204" pitchFamily="34" charset="0"/>
              </a:defRPr>
            </a:lvl2pPr>
            <a:lvl3pPr marL="1143000" indent="-228600">
              <a:defRPr i="1">
                <a:solidFill>
                  <a:schemeClr val="tx1"/>
                </a:solidFill>
                <a:latin typeface="Verdana" panose="020B0604030504040204" pitchFamily="34" charset="0"/>
                <a:cs typeface="Arial" panose="020B0604020202020204" pitchFamily="34" charset="0"/>
              </a:defRPr>
            </a:lvl3pPr>
            <a:lvl4pPr marL="1600200" indent="-228600">
              <a:defRPr i="1">
                <a:solidFill>
                  <a:schemeClr val="tx1"/>
                </a:solidFill>
                <a:latin typeface="Verdana" panose="020B0604030504040204" pitchFamily="34" charset="0"/>
                <a:cs typeface="Arial" panose="020B0604020202020204" pitchFamily="34" charset="0"/>
              </a:defRPr>
            </a:lvl4pPr>
            <a:lvl5pPr marL="2057400" indent="-228600">
              <a:defRPr i="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i="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i="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i="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i="1">
                <a:solidFill>
                  <a:schemeClr val="tx1"/>
                </a:solidFill>
                <a:latin typeface="Verdana" panose="020B0604030504040204" pitchFamily="34" charset="0"/>
                <a:cs typeface="Arial" panose="020B0604020202020204" pitchFamily="34" charset="0"/>
              </a:defRPr>
            </a:lvl9pPr>
          </a:lstStyle>
          <a:p>
            <a:pPr algn="just"/>
            <a:r>
              <a:rPr lang="en-US" altLang="zh-CN" sz="2000" b="1" i="0" dirty="0">
                <a:latin typeface="Arial" panose="020B0604020202020204" pitchFamily="34" charset="0"/>
              </a:rPr>
              <a:t>NoSQL</a:t>
            </a:r>
            <a:r>
              <a:rPr lang="zh-CN" altLang="en-US" sz="2000" b="1" i="0" dirty="0">
                <a:latin typeface="Arial" panose="020B0604020202020204" pitchFamily="34" charset="0"/>
              </a:rPr>
              <a:t>尚未成熟，</a:t>
            </a:r>
            <a:r>
              <a:rPr lang="en-US" altLang="zh-CN" sz="2000" b="1" i="0" dirty="0">
                <a:latin typeface="Arial" panose="020B0604020202020204" pitchFamily="34" charset="0"/>
              </a:rPr>
              <a:t>NewSQL</a:t>
            </a:r>
            <a:r>
              <a:rPr lang="zh-CN" altLang="en-US" sz="2000" b="1" i="0" dirty="0">
                <a:latin typeface="Arial" panose="020B0604020202020204" pitchFamily="34" charset="0"/>
              </a:rPr>
              <a:t>迅速登场</a:t>
            </a:r>
            <a:r>
              <a:rPr lang="zh-CN" altLang="en-US" sz="2000" i="0" dirty="0">
                <a:solidFill>
                  <a:srgbClr val="333333"/>
                </a:solidFill>
                <a:latin typeface="Arial" panose="020B0604020202020204" pitchFamily="34" charset="0"/>
              </a:rPr>
              <a:t>：</a:t>
            </a:r>
            <a:r>
              <a:rPr lang="en-US" altLang="zh-CN" sz="2000" i="0" dirty="0">
                <a:solidFill>
                  <a:srgbClr val="333333"/>
                </a:solidFill>
                <a:latin typeface="Arial" panose="020B0604020202020204" pitchFamily="34" charset="0"/>
              </a:rPr>
              <a:t>NewSQL </a:t>
            </a:r>
            <a:r>
              <a:rPr lang="zh-CN" altLang="en-US" sz="2000" i="0" dirty="0">
                <a:solidFill>
                  <a:srgbClr val="333333"/>
                </a:solidFill>
                <a:latin typeface="Arial" panose="020B0604020202020204" pitchFamily="34" charset="0"/>
              </a:rPr>
              <a:t>是对各种新的可扩展</a:t>
            </a:r>
            <a:r>
              <a:rPr lang="en-US" altLang="zh-CN" sz="2000" i="0" dirty="0">
                <a:solidFill>
                  <a:srgbClr val="333333"/>
                </a:solidFill>
                <a:latin typeface="Arial" panose="020B0604020202020204" pitchFamily="34" charset="0"/>
              </a:rPr>
              <a:t>/</a:t>
            </a:r>
            <a:r>
              <a:rPr lang="zh-CN" altLang="en-US" sz="2000" i="0" dirty="0">
                <a:solidFill>
                  <a:srgbClr val="333333"/>
                </a:solidFill>
                <a:latin typeface="Arial" panose="020B0604020202020204" pitchFamily="34" charset="0"/>
              </a:rPr>
              <a:t>高性能数据库的简称，这类数据库不仅具有</a:t>
            </a:r>
            <a:r>
              <a:rPr lang="en-US" altLang="zh-CN" sz="2000" i="0" dirty="0">
                <a:solidFill>
                  <a:srgbClr val="136EC2"/>
                </a:solidFill>
                <a:latin typeface="Arial" panose="020B0604020202020204" pitchFamily="34" charset="0"/>
                <a:hlinkClick r:id="rId4"/>
              </a:rPr>
              <a:t>NoSQL</a:t>
            </a:r>
            <a:r>
              <a:rPr lang="zh-CN" altLang="en-US" sz="2000" i="0" dirty="0">
                <a:solidFill>
                  <a:srgbClr val="333333"/>
                </a:solidFill>
                <a:latin typeface="Arial" panose="020B0604020202020204" pitchFamily="34" charset="0"/>
              </a:rPr>
              <a:t>对海量数据的存储管理能力，还保持传统</a:t>
            </a:r>
            <a:r>
              <a:rPr lang="zh-CN" altLang="en-US" sz="2000" i="0" dirty="0">
                <a:solidFill>
                  <a:srgbClr val="136EC2"/>
                </a:solidFill>
                <a:latin typeface="Arial" panose="020B0604020202020204" pitchFamily="34" charset="0"/>
                <a:hlinkClick r:id="rId5"/>
              </a:rPr>
              <a:t>数据库</a:t>
            </a:r>
            <a:r>
              <a:rPr lang="zh-CN" altLang="en-US" sz="2000" i="0" dirty="0">
                <a:solidFill>
                  <a:srgbClr val="333333"/>
                </a:solidFill>
                <a:latin typeface="Arial" panose="020B0604020202020204" pitchFamily="34" charset="0"/>
              </a:rPr>
              <a:t>支持</a:t>
            </a:r>
            <a:r>
              <a:rPr lang="en-US" altLang="zh-CN" sz="2000" i="0" dirty="0">
                <a:solidFill>
                  <a:srgbClr val="136EC2"/>
                </a:solidFill>
                <a:latin typeface="Arial" panose="020B0604020202020204" pitchFamily="34" charset="0"/>
                <a:hlinkClick r:id="rId6"/>
              </a:rPr>
              <a:t>ACID</a:t>
            </a:r>
            <a:r>
              <a:rPr lang="zh-CN" altLang="en-US" sz="2000" i="0" dirty="0">
                <a:solidFill>
                  <a:srgbClr val="333333"/>
                </a:solidFill>
                <a:latin typeface="Arial" panose="020B0604020202020204" pitchFamily="34" charset="0"/>
              </a:rPr>
              <a:t>和</a:t>
            </a:r>
            <a:r>
              <a:rPr lang="en-US" altLang="zh-CN" sz="2000" i="0" dirty="0">
                <a:solidFill>
                  <a:srgbClr val="136EC2"/>
                </a:solidFill>
                <a:latin typeface="Arial" panose="020B0604020202020204" pitchFamily="34" charset="0"/>
                <a:hlinkClick r:id="rId7"/>
              </a:rPr>
              <a:t>SQL</a:t>
            </a:r>
            <a:r>
              <a:rPr lang="zh-CN" altLang="en-US" sz="2000" i="0" dirty="0">
                <a:solidFill>
                  <a:srgbClr val="333333"/>
                </a:solidFill>
                <a:latin typeface="Arial" panose="020B0604020202020204" pitchFamily="34" charset="0"/>
              </a:rPr>
              <a:t>等特性。</a:t>
            </a:r>
            <a:endParaRPr lang="zh-CN" altLang="en-US" sz="2000" dirty="0"/>
          </a:p>
        </p:txBody>
      </p:sp>
    </p:spTree>
    <p:extLst>
      <p:ext uri="{BB962C8B-B14F-4D97-AF65-F5344CB8AC3E}">
        <p14:creationId xmlns:p14="http://schemas.microsoft.com/office/powerpoint/2010/main" val="1309040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21768" y="0"/>
            <a:ext cx="5710671" cy="763863"/>
          </a:xfrm>
          <a:prstGeom prst="rect">
            <a:avLst/>
          </a:prstGeom>
          <a:noFill/>
        </p:spPr>
        <p:txBody>
          <a:bodyPr wrap="square" rtlCol="0">
            <a:spAutoFit/>
          </a:bodyPr>
          <a:lstStyle/>
          <a:p>
            <a:pPr algn="r">
              <a:lnSpc>
                <a:spcPts val="5800"/>
              </a:lnSpc>
              <a:spcBef>
                <a:spcPct val="0"/>
              </a:spcBef>
            </a:pPr>
            <a:r>
              <a:rPr lang="en-US" altLang="zh-CN" sz="3600" dirty="0">
                <a:solidFill>
                  <a:schemeClr val="tx2"/>
                </a:solidFill>
                <a:effectLst>
                  <a:outerShdw blurRad="63500" dist="38100" dir="5400000" algn="t" rotWithShape="0">
                    <a:prstClr val="black">
                      <a:alpha val="25000"/>
                    </a:prstClr>
                  </a:outerShdw>
                </a:effectLst>
                <a:ea typeface="+mj-ea"/>
                <a:cs typeface="+mj-cs"/>
              </a:rPr>
              <a:t>NoSQL</a:t>
            </a:r>
            <a:r>
              <a:rPr lang="zh-CN" altLang="en-US" sz="3600" dirty="0">
                <a:solidFill>
                  <a:schemeClr val="tx2"/>
                </a:solidFill>
                <a:effectLst>
                  <a:outerShdw blurRad="63500" dist="38100" dir="5400000" algn="t" rotWithShape="0">
                    <a:prstClr val="black">
                      <a:alpha val="25000"/>
                    </a:prstClr>
                  </a:outerShdw>
                </a:effectLst>
                <a:ea typeface="+mj-ea"/>
                <a:cs typeface="+mj-cs"/>
              </a:rPr>
              <a:t>数据库</a:t>
            </a:r>
          </a:p>
        </p:txBody>
      </p:sp>
      <p:sp>
        <p:nvSpPr>
          <p:cNvPr id="2" name="日期占位符 1"/>
          <p:cNvSpPr>
            <a:spLocks noGrp="1"/>
          </p:cNvSpPr>
          <p:nvPr>
            <p:ph type="dt" sz="half" idx="10"/>
          </p:nvPr>
        </p:nvSpPr>
        <p:spPr/>
        <p:txBody>
          <a:bodyPr/>
          <a:lstStyle/>
          <a:p>
            <a:fld id="{99403276-9EE4-43F6-A087-B50A910E58E2}" type="datetime1">
              <a:rPr lang="zh-CN" altLang="en-US" smtClean="0"/>
              <a:pPr/>
              <a:t>2022/5/1</a:t>
            </a:fld>
            <a:endParaRPr lang="zh-CN" altLang="en-US"/>
          </a:p>
        </p:txBody>
      </p:sp>
      <p:sp>
        <p:nvSpPr>
          <p:cNvPr id="3" name="页脚占位符 2"/>
          <p:cNvSpPr>
            <a:spLocks noGrp="1"/>
          </p:cNvSpPr>
          <p:nvPr>
            <p:ph type="ftr" sz="quarter" idx="11"/>
          </p:nvPr>
        </p:nvSpPr>
        <p:spPr/>
        <p:txBody>
          <a:bodyPr/>
          <a:lstStyle/>
          <a:p>
            <a:r>
              <a:rPr lang="zh-CN" altLang="en-US" dirty="0"/>
              <a:t>大数据处理</a:t>
            </a:r>
          </a:p>
        </p:txBody>
      </p:sp>
      <p:sp>
        <p:nvSpPr>
          <p:cNvPr id="10" name="灯片编号占位符 9"/>
          <p:cNvSpPr>
            <a:spLocks noGrp="1"/>
          </p:cNvSpPr>
          <p:nvPr>
            <p:ph type="sldNum" sz="quarter" idx="12"/>
          </p:nvPr>
        </p:nvSpPr>
        <p:spPr/>
        <p:txBody>
          <a:bodyPr/>
          <a:lstStyle/>
          <a:p>
            <a:fld id="{0C913308-F349-4B6D-A68A-DD1791B4A57B}" type="slidenum">
              <a:rPr lang="zh-CN" altLang="en-US" smtClean="0"/>
              <a:pPr/>
              <a:t>9</a:t>
            </a:fld>
            <a:endParaRPr lang="zh-CN" altLang="en-US"/>
          </a:p>
        </p:txBody>
      </p:sp>
      <p:pic>
        <p:nvPicPr>
          <p:cNvPr id="11" name="图片 4" descr="4.jpg"/>
          <p:cNvPicPr>
            <a:picLocks noChangeAspect="1"/>
          </p:cNvPicPr>
          <p:nvPr/>
        </p:nvPicPr>
        <p:blipFill>
          <a:blip r:embed="rId2"/>
          <a:srcRect/>
          <a:stretch>
            <a:fillRect/>
          </a:stretch>
        </p:blipFill>
        <p:spPr bwMode="auto">
          <a:xfrm>
            <a:off x="1" y="0"/>
            <a:ext cx="4214809" cy="785794"/>
          </a:xfrm>
          <a:prstGeom prst="rect">
            <a:avLst/>
          </a:prstGeom>
          <a:noFill/>
          <a:ln w="9525">
            <a:noFill/>
            <a:miter lim="800000"/>
            <a:headEnd/>
            <a:tailEnd/>
          </a:ln>
        </p:spPr>
      </p:pic>
      <p:sp>
        <p:nvSpPr>
          <p:cNvPr id="7" name="Rectangle 3"/>
          <p:cNvSpPr>
            <a:spLocks noGrp="1" noChangeArrowheads="1"/>
          </p:cNvSpPr>
          <p:nvPr>
            <p:ph idx="1"/>
          </p:nvPr>
        </p:nvSpPr>
        <p:spPr>
          <a:xfrm>
            <a:off x="457200" y="1219200"/>
            <a:ext cx="8686800" cy="1066800"/>
          </a:xfrm>
        </p:spPr>
        <p:txBody>
          <a:bodyPr/>
          <a:lstStyle/>
          <a:p>
            <a:pPr eaLnBrk="1" hangingPunct="1"/>
            <a:r>
              <a:rPr lang="zh-CN" altLang="en-US" sz="2400"/>
              <a:t>它是</a:t>
            </a:r>
            <a:r>
              <a:rPr lang="en-US" altLang="zh-CN" sz="2400" b="1"/>
              <a:t>N</a:t>
            </a:r>
            <a:r>
              <a:rPr lang="en-US" altLang="zh-CN" sz="2400"/>
              <a:t>ot </a:t>
            </a:r>
            <a:r>
              <a:rPr lang="en-US" altLang="zh-CN" sz="2400" b="1"/>
              <a:t>O</a:t>
            </a:r>
            <a:r>
              <a:rPr lang="en-US" altLang="zh-CN" sz="2400"/>
              <a:t>nly </a:t>
            </a:r>
            <a:r>
              <a:rPr lang="en-US" altLang="zh-CN" sz="2400" b="1"/>
              <a:t>SQL</a:t>
            </a:r>
            <a:r>
              <a:rPr lang="zh-CN" altLang="en-US" sz="2400"/>
              <a:t>的缩写</a:t>
            </a:r>
            <a:endParaRPr lang="en-US" altLang="zh-CN" sz="2400"/>
          </a:p>
          <a:p>
            <a:pPr eaLnBrk="1" hangingPunct="1"/>
            <a:r>
              <a:rPr lang="zh-CN" altLang="en-US" sz="2400"/>
              <a:t>非关系型数据存储系统。</a:t>
            </a:r>
            <a:endParaRPr lang="en-US" altLang="zh-CN" sz="2400"/>
          </a:p>
          <a:p>
            <a:pPr eaLnBrk="1" hangingPunct="1"/>
            <a:endParaRPr lang="en-US" altLang="zh-CN" sz="2400"/>
          </a:p>
        </p:txBody>
      </p:sp>
      <p:sp>
        <p:nvSpPr>
          <p:cNvPr id="8" name="文本框 1"/>
          <p:cNvSpPr txBox="1">
            <a:spLocks noChangeArrowheads="1"/>
          </p:cNvSpPr>
          <p:nvPr/>
        </p:nvSpPr>
        <p:spPr bwMode="auto">
          <a:xfrm>
            <a:off x="762000" y="3933056"/>
            <a:ext cx="7294563" cy="224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i="1">
                <a:solidFill>
                  <a:schemeClr val="tx1"/>
                </a:solidFill>
                <a:latin typeface="Verdana" panose="020B0604030504040204" pitchFamily="34" charset="0"/>
                <a:cs typeface="Arial" panose="020B0604020202020204" pitchFamily="34" charset="0"/>
              </a:defRPr>
            </a:lvl1pPr>
            <a:lvl2pPr marL="742950" indent="-285750">
              <a:defRPr i="1">
                <a:solidFill>
                  <a:schemeClr val="tx1"/>
                </a:solidFill>
                <a:latin typeface="Verdana" panose="020B0604030504040204" pitchFamily="34" charset="0"/>
                <a:cs typeface="Arial" panose="020B0604020202020204" pitchFamily="34" charset="0"/>
              </a:defRPr>
            </a:lvl2pPr>
            <a:lvl3pPr marL="1143000" indent="-228600">
              <a:defRPr i="1">
                <a:solidFill>
                  <a:schemeClr val="tx1"/>
                </a:solidFill>
                <a:latin typeface="Verdana" panose="020B0604030504040204" pitchFamily="34" charset="0"/>
                <a:cs typeface="Arial" panose="020B0604020202020204" pitchFamily="34" charset="0"/>
              </a:defRPr>
            </a:lvl3pPr>
            <a:lvl4pPr marL="1600200" indent="-228600">
              <a:defRPr i="1">
                <a:solidFill>
                  <a:schemeClr val="tx1"/>
                </a:solidFill>
                <a:latin typeface="Verdana" panose="020B0604030504040204" pitchFamily="34" charset="0"/>
                <a:cs typeface="Arial" panose="020B0604020202020204" pitchFamily="34" charset="0"/>
              </a:defRPr>
            </a:lvl4pPr>
            <a:lvl5pPr marL="2057400" indent="-228600">
              <a:defRPr i="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i="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i="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i="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i="1">
                <a:solidFill>
                  <a:schemeClr val="tx1"/>
                </a:solidFill>
                <a:latin typeface="Verdana" panose="020B0604030504040204" pitchFamily="34" charset="0"/>
                <a:cs typeface="Arial" panose="020B0604020202020204" pitchFamily="34" charset="0"/>
              </a:defRPr>
            </a:lvl9pPr>
          </a:lstStyle>
          <a:p>
            <a:pPr>
              <a:lnSpc>
                <a:spcPct val="150000"/>
              </a:lnSpc>
            </a:pPr>
            <a:r>
              <a:rPr lang="zh-CN" altLang="zh-CN" sz="2400" i="0" dirty="0">
                <a:latin typeface="Consolas" panose="020B0609020204030204" pitchFamily="49" charset="0"/>
              </a:rPr>
              <a:t>通常</a:t>
            </a:r>
            <a:r>
              <a:rPr lang="zh-CN" altLang="en-US" sz="2400" i="0" dirty="0">
                <a:latin typeface="Consolas" panose="020B0609020204030204" pitchFamily="49" charset="0"/>
              </a:rPr>
              <a:t>，</a:t>
            </a:r>
            <a:r>
              <a:rPr lang="en-US" altLang="zh-CN" sz="2400" i="0" dirty="0">
                <a:latin typeface="Consolas" panose="020B0609020204030204" pitchFamily="49" charset="0"/>
              </a:rPr>
              <a:t>NoSQL</a:t>
            </a:r>
            <a:r>
              <a:rPr lang="zh-CN" altLang="zh-CN" sz="2400" i="0" dirty="0">
                <a:latin typeface="Consolas" panose="020B0609020204030204" pitchFamily="49" charset="0"/>
              </a:rPr>
              <a:t>数据库具有以下几个特点：</a:t>
            </a:r>
          </a:p>
          <a:p>
            <a:pPr>
              <a:lnSpc>
                <a:spcPct val="150000"/>
              </a:lnSpc>
            </a:pPr>
            <a:r>
              <a:rPr lang="zh-CN" altLang="zh-CN" sz="2400" b="1" i="0" dirty="0">
                <a:latin typeface="Consolas" panose="020B0609020204030204" pitchFamily="49" charset="0"/>
              </a:rPr>
              <a:t>（</a:t>
            </a:r>
            <a:r>
              <a:rPr lang="en-US" altLang="zh-CN" sz="2400" b="1" i="0" dirty="0">
                <a:latin typeface="Consolas" panose="020B0609020204030204" pitchFamily="49" charset="0"/>
              </a:rPr>
              <a:t>1</a:t>
            </a:r>
            <a:r>
              <a:rPr lang="zh-CN" altLang="zh-CN" sz="2400" b="1" i="0" dirty="0">
                <a:latin typeface="Consolas" panose="020B0609020204030204" pitchFamily="49" charset="0"/>
              </a:rPr>
              <a:t>）灵活的可扩展性</a:t>
            </a:r>
            <a:endParaRPr lang="zh-CN" altLang="zh-CN" sz="2400" i="0" dirty="0">
              <a:latin typeface="Consolas" panose="020B0609020204030204" pitchFamily="49" charset="0"/>
            </a:endParaRPr>
          </a:p>
          <a:p>
            <a:pPr>
              <a:lnSpc>
                <a:spcPct val="150000"/>
              </a:lnSpc>
            </a:pPr>
            <a:r>
              <a:rPr lang="zh-CN" altLang="zh-CN" sz="2400" b="1" i="0" dirty="0">
                <a:latin typeface="Consolas" panose="020B0609020204030204" pitchFamily="49" charset="0"/>
              </a:rPr>
              <a:t>（</a:t>
            </a:r>
            <a:r>
              <a:rPr lang="en-US" altLang="zh-CN" sz="2400" b="1" i="0" dirty="0">
                <a:latin typeface="Consolas" panose="020B0609020204030204" pitchFamily="49" charset="0"/>
              </a:rPr>
              <a:t>2</a:t>
            </a:r>
            <a:r>
              <a:rPr lang="zh-CN" altLang="zh-CN" sz="2400" b="1" i="0" dirty="0">
                <a:latin typeface="Consolas" panose="020B0609020204030204" pitchFamily="49" charset="0"/>
              </a:rPr>
              <a:t>）灵活的数据模型</a:t>
            </a:r>
            <a:endParaRPr lang="zh-CN" altLang="zh-CN" sz="2400" i="0" dirty="0">
              <a:latin typeface="Consolas" panose="020B0609020204030204" pitchFamily="49" charset="0"/>
            </a:endParaRPr>
          </a:p>
          <a:p>
            <a:pPr>
              <a:lnSpc>
                <a:spcPct val="150000"/>
              </a:lnSpc>
            </a:pPr>
            <a:r>
              <a:rPr lang="zh-CN" altLang="zh-CN" sz="2400" b="1" i="0" dirty="0">
                <a:latin typeface="Consolas" panose="020B0609020204030204" pitchFamily="49" charset="0"/>
              </a:rPr>
              <a:t>（</a:t>
            </a:r>
            <a:r>
              <a:rPr lang="en-US" altLang="zh-CN" sz="2400" b="1" i="0" dirty="0">
                <a:latin typeface="Consolas" panose="020B0609020204030204" pitchFamily="49" charset="0"/>
              </a:rPr>
              <a:t>3</a:t>
            </a:r>
            <a:r>
              <a:rPr lang="zh-CN" altLang="zh-CN" sz="2400" b="1" i="0" dirty="0">
                <a:latin typeface="Consolas" panose="020B0609020204030204" pitchFamily="49" charset="0"/>
              </a:rPr>
              <a:t>）与云计算</a:t>
            </a:r>
            <a:r>
              <a:rPr lang="zh-CN" altLang="en-US" sz="2400" b="1" i="0" dirty="0">
                <a:latin typeface="Consolas" panose="020B0609020204030204" pitchFamily="49" charset="0"/>
              </a:rPr>
              <a:t>和大数据</a:t>
            </a:r>
            <a:r>
              <a:rPr lang="zh-CN" altLang="zh-CN" sz="2400" b="1" i="0" dirty="0">
                <a:latin typeface="Consolas" panose="020B0609020204030204" pitchFamily="49" charset="0"/>
              </a:rPr>
              <a:t>紧密融合</a:t>
            </a:r>
            <a:endParaRPr lang="zh-CN" altLang="zh-CN" sz="2400" i="0" dirty="0">
              <a:latin typeface="Consolas" panose="020B0609020204030204" pitchFamily="49" charset="0"/>
            </a:endParaRPr>
          </a:p>
        </p:txBody>
      </p:sp>
      <p:pic>
        <p:nvPicPr>
          <p:cNvPr id="9"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2286000"/>
            <a:ext cx="8628063"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479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srcRect/>
          <a:stretch>
            <a:fillRect/>
          </a:stretch>
        </p:blipFill>
        <p:spPr bwMode="auto">
          <a:xfrm>
            <a:off x="520525" y="3325828"/>
            <a:ext cx="2000232" cy="1367940"/>
          </a:xfrm>
          <a:prstGeom prst="rect">
            <a:avLst/>
          </a:prstGeom>
          <a:noFill/>
          <a:ln w="9525">
            <a:noFill/>
            <a:miter lim="800000"/>
            <a:headEnd/>
            <a:tailEnd/>
          </a:ln>
          <a:effectLst/>
        </p:spPr>
      </p:pic>
      <p:sp>
        <p:nvSpPr>
          <p:cNvPr id="5" name="TextBox 4"/>
          <p:cNvSpPr txBox="1"/>
          <p:nvPr/>
        </p:nvSpPr>
        <p:spPr>
          <a:xfrm>
            <a:off x="2821768" y="0"/>
            <a:ext cx="5710671" cy="776495"/>
          </a:xfrm>
          <a:prstGeom prst="rect">
            <a:avLst/>
          </a:prstGeom>
          <a:noFill/>
        </p:spPr>
        <p:txBody>
          <a:bodyPr wrap="square" rtlCol="0">
            <a:spAutoFit/>
          </a:bodyPr>
          <a:lstStyle/>
          <a:p>
            <a:pPr algn="r">
              <a:lnSpc>
                <a:spcPts val="5800"/>
              </a:lnSpc>
              <a:spcBef>
                <a:spcPct val="0"/>
              </a:spcBef>
            </a:pPr>
            <a:r>
              <a:rPr lang="en-US" altLang="zh-CN" sz="3600" dirty="0" err="1">
                <a:solidFill>
                  <a:schemeClr val="tx2"/>
                </a:solidFill>
                <a:effectLst>
                  <a:outerShdw blurRad="63500" dist="38100" dir="5400000" algn="t" rotWithShape="0">
                    <a:prstClr val="black">
                      <a:alpha val="25000"/>
                    </a:prstClr>
                  </a:outerShdw>
                </a:effectLst>
                <a:ea typeface="+mj-ea"/>
                <a:cs typeface="+mj-cs"/>
              </a:rPr>
              <a:t>NoSQL</a:t>
            </a:r>
            <a:r>
              <a:rPr lang="zh-CN" altLang="en-US" sz="3600" dirty="0">
                <a:solidFill>
                  <a:schemeClr val="tx2"/>
                </a:solidFill>
                <a:effectLst>
                  <a:outerShdw blurRad="63500" dist="38100" dir="5400000" algn="t" rotWithShape="0">
                    <a:prstClr val="black">
                      <a:alpha val="25000"/>
                    </a:prstClr>
                  </a:outerShdw>
                </a:effectLst>
                <a:ea typeface="+mj-ea"/>
                <a:cs typeface="+mj-cs"/>
              </a:rPr>
              <a:t>产生的背景</a:t>
            </a:r>
          </a:p>
        </p:txBody>
      </p:sp>
      <p:sp>
        <p:nvSpPr>
          <p:cNvPr id="6" name="TextBox 5"/>
          <p:cNvSpPr txBox="1"/>
          <p:nvPr/>
        </p:nvSpPr>
        <p:spPr>
          <a:xfrm>
            <a:off x="428596" y="1037635"/>
            <a:ext cx="8429684" cy="2031325"/>
          </a:xfrm>
          <a:prstGeom prst="rect">
            <a:avLst/>
          </a:prstGeom>
          <a:noFill/>
        </p:spPr>
        <p:txBody>
          <a:bodyPr wrap="square" rtlCol="0">
            <a:spAutoFit/>
          </a:bodyPr>
          <a:lstStyle/>
          <a:p>
            <a:pPr algn="just"/>
            <a:r>
              <a:rPr lang="zh-CN" altLang="en-US" dirty="0"/>
              <a:t>         传统的关系型数据库以及数据仓库在面对大数据的处理时显得越来越力不从心。因为关系数据库管理系统</a:t>
            </a:r>
            <a:r>
              <a:rPr lang="en-US" dirty="0"/>
              <a:t> (RDBMS)</a:t>
            </a:r>
            <a:r>
              <a:rPr lang="zh-CN" altLang="en-US" dirty="0"/>
              <a:t>的设计从未考虑过能够处理日益增长且格式多变的数据，以及访问数据并进行分析的用户需求呈爆炸式增长的势头。它们一般都是固定的</a:t>
            </a:r>
            <a:r>
              <a:rPr lang="en-US" dirty="0"/>
              <a:t>schema</a:t>
            </a:r>
            <a:r>
              <a:rPr lang="zh-CN" altLang="en-US" dirty="0"/>
              <a:t>，缺乏对非结构化数据的支持，同时对数据分片存储、系统扩展性的支持也比较局限，系统的扩容过程也比较复杂。另外，许多传统的数据库方法是为长期的策略性分析而非实时决策构造的。在这样的背景下，</a:t>
            </a:r>
            <a:r>
              <a:rPr lang="en-US" dirty="0" err="1"/>
              <a:t>NoSQL</a:t>
            </a:r>
            <a:r>
              <a:rPr lang="zh-CN" altLang="en-US" dirty="0"/>
              <a:t>数据库就应运而生了。</a:t>
            </a:r>
          </a:p>
        </p:txBody>
      </p:sp>
      <p:sp>
        <p:nvSpPr>
          <p:cNvPr id="8" name="TextBox 7"/>
          <p:cNvSpPr txBox="1"/>
          <p:nvPr/>
        </p:nvSpPr>
        <p:spPr>
          <a:xfrm>
            <a:off x="2643174" y="6286520"/>
            <a:ext cx="4643470" cy="369332"/>
          </a:xfrm>
          <a:prstGeom prst="rect">
            <a:avLst/>
          </a:prstGeom>
          <a:noFill/>
        </p:spPr>
        <p:txBody>
          <a:bodyPr wrap="square" rtlCol="0">
            <a:spAutoFit/>
          </a:bodyPr>
          <a:lstStyle/>
          <a:p>
            <a:r>
              <a:rPr lang="zh-CN" altLang="en-US" dirty="0"/>
              <a:t>图</a:t>
            </a:r>
            <a:r>
              <a:rPr lang="en-US" altLang="zh-CN" dirty="0"/>
              <a:t>1  </a:t>
            </a:r>
            <a:r>
              <a:rPr lang="zh-CN" altLang="en-US" dirty="0"/>
              <a:t>近几年全球数据量变化情况（单位</a:t>
            </a:r>
            <a:r>
              <a:rPr lang="en-US" altLang="zh-CN" dirty="0"/>
              <a:t>ZB</a:t>
            </a:r>
            <a:r>
              <a:rPr lang="zh-CN" altLang="en-US" dirty="0"/>
              <a:t>）</a:t>
            </a:r>
          </a:p>
        </p:txBody>
      </p:sp>
      <p:sp>
        <p:nvSpPr>
          <p:cNvPr id="2" name="日期占位符 1"/>
          <p:cNvSpPr>
            <a:spLocks noGrp="1"/>
          </p:cNvSpPr>
          <p:nvPr>
            <p:ph type="dt" sz="half" idx="10"/>
          </p:nvPr>
        </p:nvSpPr>
        <p:spPr/>
        <p:txBody>
          <a:bodyPr/>
          <a:lstStyle/>
          <a:p>
            <a:fld id="{99403276-9EE4-43F6-A087-B50A910E58E2}" type="datetime1">
              <a:rPr lang="zh-CN" altLang="en-US" smtClean="0"/>
              <a:pPr/>
              <a:t>2022/5/1</a:t>
            </a:fld>
            <a:endParaRPr lang="zh-CN" altLang="en-US"/>
          </a:p>
        </p:txBody>
      </p:sp>
      <p:sp>
        <p:nvSpPr>
          <p:cNvPr id="3" name="页脚占位符 2"/>
          <p:cNvSpPr>
            <a:spLocks noGrp="1"/>
          </p:cNvSpPr>
          <p:nvPr>
            <p:ph type="ftr" sz="quarter" idx="11"/>
          </p:nvPr>
        </p:nvSpPr>
        <p:spPr/>
        <p:txBody>
          <a:bodyPr/>
          <a:lstStyle/>
          <a:p>
            <a:r>
              <a:rPr lang="zh-CN" altLang="en-US" dirty="0"/>
              <a:t>大数据处理</a:t>
            </a:r>
          </a:p>
        </p:txBody>
      </p:sp>
      <p:sp>
        <p:nvSpPr>
          <p:cNvPr id="10" name="灯片编号占位符 9"/>
          <p:cNvSpPr>
            <a:spLocks noGrp="1"/>
          </p:cNvSpPr>
          <p:nvPr>
            <p:ph type="sldNum" sz="quarter" idx="12"/>
          </p:nvPr>
        </p:nvSpPr>
        <p:spPr/>
        <p:txBody>
          <a:bodyPr/>
          <a:lstStyle/>
          <a:p>
            <a:fld id="{0C913308-F349-4B6D-A68A-DD1791B4A57B}" type="slidenum">
              <a:rPr lang="zh-CN" altLang="en-US" smtClean="0"/>
              <a:pPr/>
              <a:t>10</a:t>
            </a:fld>
            <a:endParaRPr lang="zh-CN" altLang="en-US"/>
          </a:p>
        </p:txBody>
      </p:sp>
      <p:pic>
        <p:nvPicPr>
          <p:cNvPr id="11" name="图片 4" descr="4.jpg"/>
          <p:cNvPicPr>
            <a:picLocks noChangeAspect="1"/>
          </p:cNvPicPr>
          <p:nvPr/>
        </p:nvPicPr>
        <p:blipFill>
          <a:blip r:embed="rId3"/>
          <a:srcRect/>
          <a:stretch>
            <a:fillRect/>
          </a:stretch>
        </p:blipFill>
        <p:spPr bwMode="auto">
          <a:xfrm>
            <a:off x="1" y="0"/>
            <a:ext cx="4214809" cy="785794"/>
          </a:xfrm>
          <a:prstGeom prst="rect">
            <a:avLst/>
          </a:prstGeom>
          <a:noFill/>
          <a:ln w="9525">
            <a:noFill/>
            <a:miter lim="800000"/>
            <a:headEnd/>
            <a:tailEnd/>
          </a:ln>
        </p:spPr>
      </p:pic>
      <p:pic>
        <p:nvPicPr>
          <p:cNvPr id="1026" name="Picture 2" descr="数据猿发布《2021中国数据智能产业发展报告》_第1页_比特网">
            <a:extLst>
              <a:ext uri="{FF2B5EF4-FFF2-40B4-BE49-F238E27FC236}">
                <a16:creationId xmlns:a16="http://schemas.microsoft.com/office/drawing/2014/main" id="{A349374F-C174-9945-B01D-C8474D138C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3174" y="2825135"/>
            <a:ext cx="5503560" cy="3398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71800" y="0"/>
            <a:ext cx="5832648" cy="776495"/>
          </a:xfrm>
          <a:prstGeom prst="rect">
            <a:avLst/>
          </a:prstGeom>
          <a:noFill/>
        </p:spPr>
        <p:txBody>
          <a:bodyPr wrap="square" rtlCol="0">
            <a:spAutoFit/>
          </a:bodyPr>
          <a:lstStyle/>
          <a:p>
            <a:pPr algn="r">
              <a:lnSpc>
                <a:spcPts val="5800"/>
              </a:lnSpc>
              <a:spcBef>
                <a:spcPct val="0"/>
              </a:spcBef>
            </a:pPr>
            <a:r>
              <a:rPr lang="en-US" altLang="zh-CN" sz="3600" dirty="0">
                <a:solidFill>
                  <a:schemeClr val="tx2"/>
                </a:solidFill>
                <a:effectLst>
                  <a:outerShdw blurRad="63500" dist="38100" dir="5400000" algn="t" rotWithShape="0">
                    <a:prstClr val="black">
                      <a:alpha val="25000"/>
                    </a:prstClr>
                  </a:outerShdw>
                </a:effectLst>
                <a:ea typeface="+mj-ea"/>
                <a:cs typeface="+mj-cs"/>
              </a:rPr>
              <a:t>CAP</a:t>
            </a:r>
            <a:r>
              <a:rPr lang="zh-CN" altLang="en-US" sz="3600" dirty="0">
                <a:solidFill>
                  <a:schemeClr val="tx2"/>
                </a:solidFill>
                <a:effectLst>
                  <a:outerShdw blurRad="63500" dist="38100" dir="5400000" algn="t" rotWithShape="0">
                    <a:prstClr val="black">
                      <a:alpha val="25000"/>
                    </a:prstClr>
                  </a:outerShdw>
                </a:effectLst>
                <a:ea typeface="+mj-ea"/>
                <a:cs typeface="+mj-cs"/>
              </a:rPr>
              <a:t>理论</a:t>
            </a:r>
          </a:p>
        </p:txBody>
      </p:sp>
      <p:pic>
        <p:nvPicPr>
          <p:cNvPr id="1026" name="Picture 2"/>
          <p:cNvPicPr>
            <a:picLocks noChangeAspect="1" noChangeArrowheads="1"/>
          </p:cNvPicPr>
          <p:nvPr/>
        </p:nvPicPr>
        <p:blipFill>
          <a:blip r:embed="rId2"/>
          <a:srcRect/>
          <a:stretch>
            <a:fillRect/>
          </a:stretch>
        </p:blipFill>
        <p:spPr bwMode="auto">
          <a:xfrm>
            <a:off x="107504" y="1484784"/>
            <a:ext cx="5129169" cy="3364996"/>
          </a:xfrm>
          <a:prstGeom prst="rect">
            <a:avLst/>
          </a:prstGeom>
          <a:noFill/>
          <a:ln w="9525">
            <a:noFill/>
            <a:miter lim="800000"/>
            <a:headEnd/>
            <a:tailEnd/>
          </a:ln>
          <a:effectLst/>
        </p:spPr>
      </p:pic>
      <p:sp>
        <p:nvSpPr>
          <p:cNvPr id="6" name="TextBox 5"/>
          <p:cNvSpPr txBox="1"/>
          <p:nvPr/>
        </p:nvSpPr>
        <p:spPr>
          <a:xfrm>
            <a:off x="1142976" y="5214950"/>
            <a:ext cx="7286676" cy="769441"/>
          </a:xfrm>
          <a:prstGeom prst="rect">
            <a:avLst/>
          </a:prstGeom>
          <a:noFill/>
        </p:spPr>
        <p:txBody>
          <a:bodyPr wrap="square" rtlCol="0">
            <a:spAutoFit/>
          </a:bodyPr>
          <a:lstStyle/>
          <a:p>
            <a:pPr algn="just"/>
            <a:r>
              <a:rPr lang="en-US" altLang="zh-CN" sz="2200" dirty="0"/>
              <a:t>CAP</a:t>
            </a:r>
            <a:r>
              <a:rPr lang="zh-CN" altLang="en-US" sz="2200" dirty="0"/>
              <a:t>理论核心思想：任何分布式系统，只可同时满足一致性、可用性和分区容错性其中的两点，不能三者兼顾。</a:t>
            </a:r>
          </a:p>
        </p:txBody>
      </p:sp>
      <p:sp>
        <p:nvSpPr>
          <p:cNvPr id="2" name="日期占位符 1"/>
          <p:cNvSpPr>
            <a:spLocks noGrp="1"/>
          </p:cNvSpPr>
          <p:nvPr>
            <p:ph type="dt" sz="half" idx="10"/>
          </p:nvPr>
        </p:nvSpPr>
        <p:spPr/>
        <p:txBody>
          <a:bodyPr/>
          <a:lstStyle/>
          <a:p>
            <a:fld id="{FCE4934A-CA7A-43E2-B3F7-D943779FE232}" type="datetime1">
              <a:rPr lang="zh-CN" altLang="en-US" smtClean="0"/>
              <a:pPr/>
              <a:t>2022/5/1</a:t>
            </a:fld>
            <a:endParaRPr lang="zh-CN" altLang="en-US"/>
          </a:p>
        </p:txBody>
      </p:sp>
      <p:sp>
        <p:nvSpPr>
          <p:cNvPr id="3" name="页脚占位符 2"/>
          <p:cNvSpPr>
            <a:spLocks noGrp="1"/>
          </p:cNvSpPr>
          <p:nvPr>
            <p:ph type="ftr" sz="quarter" idx="11"/>
          </p:nvPr>
        </p:nvSpPr>
        <p:spPr/>
        <p:txBody>
          <a:bodyPr/>
          <a:lstStyle/>
          <a:p>
            <a:r>
              <a:rPr lang="zh-CN" altLang="en-US"/>
              <a:t>大数据技术解析</a:t>
            </a:r>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11</a:t>
            </a:fld>
            <a:endParaRPr lang="zh-CN" altLang="en-US"/>
          </a:p>
        </p:txBody>
      </p:sp>
      <p:pic>
        <p:nvPicPr>
          <p:cNvPr id="1029" name="Picture 5" descr="http://t1.gstatic.com/images?q=tbn:ANd9GcRyWufR--981sT6MvBHMfadyaH-JS2sjGFdkhlqn6hsnvK0UYaF">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8417" y="1556792"/>
            <a:ext cx="3418039" cy="3113299"/>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4" descr="4.jpg"/>
          <p:cNvPicPr>
            <a:picLocks noChangeAspect="1"/>
          </p:cNvPicPr>
          <p:nvPr/>
        </p:nvPicPr>
        <p:blipFill>
          <a:blip r:embed="rId5"/>
          <a:srcRect/>
          <a:stretch>
            <a:fillRect/>
          </a:stretch>
        </p:blipFill>
        <p:spPr bwMode="auto">
          <a:xfrm>
            <a:off x="1" y="0"/>
            <a:ext cx="4214809" cy="785794"/>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r"/>
            <a:r>
              <a:rPr lang="en-US" altLang="zh-CN" dirty="0"/>
              <a:t>SQL </a:t>
            </a:r>
            <a:r>
              <a:rPr lang="en-US" altLang="zh-CN" dirty="0" err="1"/>
              <a:t>vs</a:t>
            </a:r>
            <a:r>
              <a:rPr lang="en-US" altLang="zh-CN" dirty="0"/>
              <a:t> </a:t>
            </a:r>
            <a:r>
              <a:rPr lang="en-US" altLang="zh-CN" dirty="0" err="1"/>
              <a:t>NoSQL</a:t>
            </a:r>
            <a:endParaRPr lang="en-US" dirty="0"/>
          </a:p>
        </p:txBody>
      </p:sp>
      <p:sp>
        <p:nvSpPr>
          <p:cNvPr id="4" name="日期占位符 3"/>
          <p:cNvSpPr>
            <a:spLocks noGrp="1"/>
          </p:cNvSpPr>
          <p:nvPr>
            <p:ph type="dt" sz="half" idx="10"/>
          </p:nvPr>
        </p:nvSpPr>
        <p:spPr/>
        <p:txBody>
          <a:bodyPr/>
          <a:lstStyle/>
          <a:p>
            <a:fld id="{AAA3484A-CA2E-45E0-B405-28587CFBD2C0}" type="datetime1">
              <a:rPr lang="zh-CN" altLang="en-US" smtClean="0"/>
              <a:pPr/>
              <a:t>2022/5/1</a:t>
            </a:fld>
            <a:endParaRPr lang="zh-CN" altLang="en-US"/>
          </a:p>
        </p:txBody>
      </p:sp>
      <p:sp>
        <p:nvSpPr>
          <p:cNvPr id="5" name="页脚占位符 4"/>
          <p:cNvSpPr>
            <a:spLocks noGrp="1"/>
          </p:cNvSpPr>
          <p:nvPr>
            <p:ph type="ftr" sz="quarter" idx="11"/>
          </p:nvPr>
        </p:nvSpPr>
        <p:spPr/>
        <p:txBody>
          <a:bodyPr/>
          <a:lstStyle/>
          <a:p>
            <a:r>
              <a:rPr lang="zh-CN" altLang="en-US"/>
              <a:t>大数据技术解析</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12</a:t>
            </a:fld>
            <a:endParaRPr lang="zh-CN" altLang="en-US"/>
          </a:p>
        </p:txBody>
      </p:sp>
      <p:sp>
        <p:nvSpPr>
          <p:cNvPr id="7" name="TextBox 6"/>
          <p:cNvSpPr txBox="1"/>
          <p:nvPr/>
        </p:nvSpPr>
        <p:spPr>
          <a:xfrm>
            <a:off x="4603750" y="1236663"/>
            <a:ext cx="4447638" cy="1754326"/>
          </a:xfrm>
          <a:prstGeom prst="rect">
            <a:avLst/>
          </a:prstGeom>
          <a:noFill/>
        </p:spPr>
        <p:txBody>
          <a:bodyPr wrap="square" rtlCol="0">
            <a:spAutoFit/>
          </a:bodyPr>
          <a:lstStyle/>
          <a:p>
            <a:r>
              <a:rPr lang="en-US" altLang="zh-CN" dirty="0"/>
              <a:t>SQL</a:t>
            </a:r>
            <a:r>
              <a:rPr lang="zh-CN" altLang="en-US" dirty="0"/>
              <a:t>：</a:t>
            </a:r>
            <a:endParaRPr lang="en-US" altLang="zh-CN" dirty="0"/>
          </a:p>
          <a:p>
            <a:r>
              <a:rPr lang="zh-CN" altLang="en-US" dirty="0"/>
              <a:t>结构化存储，固定</a:t>
            </a:r>
            <a:r>
              <a:rPr lang="en-US" altLang="zh-CN" dirty="0"/>
              <a:t>Schema</a:t>
            </a:r>
          </a:p>
          <a:p>
            <a:r>
              <a:rPr lang="zh-CN" altLang="en-US" dirty="0"/>
              <a:t>索引</a:t>
            </a:r>
            <a:endParaRPr lang="en-US" altLang="zh-CN" dirty="0"/>
          </a:p>
          <a:p>
            <a:r>
              <a:rPr lang="zh-CN" altLang="en-US" dirty="0"/>
              <a:t>标准化查询语言</a:t>
            </a:r>
            <a:endParaRPr lang="en-US" altLang="zh-CN" dirty="0"/>
          </a:p>
          <a:p>
            <a:r>
              <a:rPr lang="en-US" altLang="zh-CN" dirty="0"/>
              <a:t>ACID</a:t>
            </a:r>
          </a:p>
          <a:p>
            <a:r>
              <a:rPr lang="zh-CN" altLang="en-US" dirty="0"/>
              <a:t>扩展性弱</a:t>
            </a:r>
            <a:endParaRPr lang="en-US" dirty="0"/>
          </a:p>
        </p:txBody>
      </p:sp>
      <p:sp>
        <p:nvSpPr>
          <p:cNvPr id="8" name="TextBox 7"/>
          <p:cNvSpPr txBox="1"/>
          <p:nvPr/>
        </p:nvSpPr>
        <p:spPr>
          <a:xfrm>
            <a:off x="155575" y="4022718"/>
            <a:ext cx="4111625" cy="2308324"/>
          </a:xfrm>
          <a:prstGeom prst="rect">
            <a:avLst/>
          </a:prstGeom>
          <a:noFill/>
        </p:spPr>
        <p:txBody>
          <a:bodyPr wrap="square" rtlCol="0">
            <a:spAutoFit/>
          </a:bodyPr>
          <a:lstStyle/>
          <a:p>
            <a:r>
              <a:rPr lang="en-US" altLang="zh-CN" dirty="0" err="1"/>
              <a:t>NoSQL</a:t>
            </a:r>
            <a:r>
              <a:rPr lang="zh-CN" altLang="en-US" dirty="0"/>
              <a:t>：</a:t>
            </a:r>
            <a:endParaRPr lang="en-US" altLang="zh-CN" dirty="0"/>
          </a:p>
          <a:p>
            <a:r>
              <a:rPr lang="en-US" altLang="zh-CN" dirty="0"/>
              <a:t>Schema</a:t>
            </a:r>
            <a:r>
              <a:rPr lang="zh-CN" altLang="en-US" dirty="0"/>
              <a:t>不固定，可以动态改变</a:t>
            </a:r>
            <a:endParaRPr lang="en-US" altLang="zh-CN" dirty="0"/>
          </a:p>
          <a:p>
            <a:r>
              <a:rPr lang="zh-CN" altLang="en-US" dirty="0"/>
              <a:t>没有固定查询语言</a:t>
            </a:r>
            <a:endParaRPr lang="en-US" altLang="zh-CN" dirty="0"/>
          </a:p>
          <a:p>
            <a:r>
              <a:rPr lang="en-US" altLang="zh-CN" dirty="0"/>
              <a:t>BASE </a:t>
            </a:r>
            <a:r>
              <a:rPr lang="zh-CN" altLang="en-US" dirty="0"/>
              <a:t>（</a:t>
            </a:r>
            <a:r>
              <a:rPr lang="en-US" altLang="zh-CN" dirty="0"/>
              <a:t>Basically Available</a:t>
            </a:r>
            <a:r>
              <a:rPr lang="zh-CN" altLang="en-US" dirty="0"/>
              <a:t>， </a:t>
            </a:r>
            <a:r>
              <a:rPr lang="en-US" altLang="zh-CN" dirty="0"/>
              <a:t>Soft State</a:t>
            </a:r>
            <a:r>
              <a:rPr lang="zh-CN" altLang="en-US" dirty="0"/>
              <a:t>， </a:t>
            </a:r>
            <a:r>
              <a:rPr lang="en-US" altLang="zh-CN" dirty="0"/>
              <a:t>Eventually Consistency</a:t>
            </a:r>
            <a:r>
              <a:rPr lang="zh-CN" altLang="en-US" dirty="0"/>
              <a:t>）</a:t>
            </a:r>
            <a:endParaRPr lang="en-US" altLang="zh-CN" dirty="0"/>
          </a:p>
          <a:p>
            <a:r>
              <a:rPr lang="zh-CN" altLang="en-US" dirty="0"/>
              <a:t>最终一致性</a:t>
            </a:r>
            <a:endParaRPr lang="en-US" altLang="zh-CN" dirty="0"/>
          </a:p>
          <a:p>
            <a:r>
              <a:rPr lang="zh-CN" altLang="en-US" dirty="0"/>
              <a:t>可以扩展到很大规模</a:t>
            </a:r>
            <a:endParaRPr lang="en-US" altLang="zh-CN" dirty="0"/>
          </a:p>
          <a:p>
            <a:r>
              <a:rPr lang="zh-CN" altLang="en-US" dirty="0"/>
              <a:t>高容错性</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5975" y="3968289"/>
            <a:ext cx="4295915" cy="23627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455" y="1124744"/>
            <a:ext cx="1756593" cy="12823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455" y="2447190"/>
            <a:ext cx="2095500" cy="4157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5"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9220" y="1792577"/>
            <a:ext cx="1620951" cy="13268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6"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7455" y="2862964"/>
            <a:ext cx="1905000" cy="49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图片 4" descr="4.jpg"/>
          <p:cNvPicPr>
            <a:picLocks noChangeAspect="1"/>
          </p:cNvPicPr>
          <p:nvPr/>
        </p:nvPicPr>
        <p:blipFill>
          <a:blip r:embed="rId7"/>
          <a:srcRect/>
          <a:stretch>
            <a:fillRect/>
          </a:stretch>
        </p:blipFill>
        <p:spPr bwMode="auto">
          <a:xfrm>
            <a:off x="1" y="0"/>
            <a:ext cx="4214809" cy="785794"/>
          </a:xfrm>
          <a:prstGeom prst="rect">
            <a:avLst/>
          </a:prstGeom>
          <a:noFill/>
          <a:ln w="9525">
            <a:noFill/>
            <a:miter lim="800000"/>
            <a:headEnd/>
            <a:tailEnd/>
          </a:ln>
        </p:spPr>
      </p:pic>
    </p:spTree>
    <p:extLst>
      <p:ext uri="{BB962C8B-B14F-4D97-AF65-F5344CB8AC3E}">
        <p14:creationId xmlns:p14="http://schemas.microsoft.com/office/powerpoint/2010/main" val="2756023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71800" y="0"/>
            <a:ext cx="5729290" cy="776495"/>
          </a:xfrm>
          <a:prstGeom prst="rect">
            <a:avLst/>
          </a:prstGeom>
          <a:noFill/>
        </p:spPr>
        <p:txBody>
          <a:bodyPr wrap="square" rtlCol="0">
            <a:spAutoFit/>
          </a:bodyPr>
          <a:lstStyle/>
          <a:p>
            <a:pPr algn="r">
              <a:lnSpc>
                <a:spcPts val="5800"/>
              </a:lnSpc>
              <a:spcBef>
                <a:spcPct val="0"/>
              </a:spcBef>
            </a:pPr>
            <a:r>
              <a:rPr lang="en-US" altLang="zh-CN" sz="3600" dirty="0" err="1">
                <a:solidFill>
                  <a:schemeClr val="tx2"/>
                </a:solidFill>
                <a:effectLst>
                  <a:outerShdw blurRad="63500" dist="38100" dir="5400000" algn="t" rotWithShape="0">
                    <a:prstClr val="black">
                      <a:alpha val="25000"/>
                    </a:prstClr>
                  </a:outerShdw>
                </a:effectLst>
                <a:ea typeface="+mj-ea"/>
                <a:cs typeface="+mj-cs"/>
              </a:rPr>
              <a:t>NoSQL</a:t>
            </a:r>
            <a:r>
              <a:rPr lang="zh-CN" altLang="en-US" sz="3600" dirty="0">
                <a:solidFill>
                  <a:schemeClr val="tx2"/>
                </a:solidFill>
                <a:effectLst>
                  <a:outerShdw blurRad="63500" dist="38100" dir="5400000" algn="t" rotWithShape="0">
                    <a:prstClr val="black">
                      <a:alpha val="25000"/>
                    </a:prstClr>
                  </a:outerShdw>
                </a:effectLst>
                <a:ea typeface="+mj-ea"/>
                <a:cs typeface="+mj-cs"/>
              </a:rPr>
              <a:t>数据库特点</a:t>
            </a:r>
          </a:p>
        </p:txBody>
      </p:sp>
      <p:sp>
        <p:nvSpPr>
          <p:cNvPr id="5" name="TextBox 4"/>
          <p:cNvSpPr txBox="1"/>
          <p:nvPr/>
        </p:nvSpPr>
        <p:spPr>
          <a:xfrm>
            <a:off x="428596" y="857232"/>
            <a:ext cx="8072494" cy="5709255"/>
          </a:xfrm>
          <a:prstGeom prst="rect">
            <a:avLst/>
          </a:prstGeom>
          <a:noFill/>
        </p:spPr>
        <p:txBody>
          <a:bodyPr wrap="square" rtlCol="0">
            <a:spAutoFit/>
          </a:bodyPr>
          <a:lstStyle/>
          <a:p>
            <a:pPr marL="342900" indent="-342900" algn="just">
              <a:spcBef>
                <a:spcPts val="600"/>
              </a:spcBef>
              <a:buFont typeface="Wingdings" pitchFamily="2" charset="2"/>
              <a:buChar char="Ø"/>
            </a:pPr>
            <a:r>
              <a:rPr lang="en-US" altLang="zh-CN" sz="2000" b="1" dirty="0" err="1"/>
              <a:t>NoSQL</a:t>
            </a:r>
            <a:r>
              <a:rPr lang="zh-CN" altLang="en-US" sz="2000" b="1" dirty="0"/>
              <a:t>数据库可以处理海量的数据</a:t>
            </a:r>
            <a:endParaRPr lang="en-US" altLang="zh-CN" sz="2000" dirty="0"/>
          </a:p>
          <a:p>
            <a:pPr marL="342900" indent="-342900" algn="just">
              <a:spcBef>
                <a:spcPts val="600"/>
              </a:spcBef>
            </a:pPr>
            <a:r>
              <a:rPr lang="en-US" altLang="zh-CN" sz="2000" dirty="0"/>
              <a:t>      </a:t>
            </a:r>
            <a:r>
              <a:rPr lang="en-US" altLang="zh-CN" sz="2000" dirty="0" err="1"/>
              <a:t>NoSQL</a:t>
            </a:r>
            <a:r>
              <a:rPr lang="zh-CN" altLang="en-US" sz="2000" dirty="0"/>
              <a:t>数据库采用分布式的方式，系统的存储和处理能力，可以简单地通过增加机器来线性提升，因此可以存储和处理海量的数据；</a:t>
            </a:r>
            <a:endParaRPr lang="en-US" altLang="zh-CN" sz="2000" dirty="0"/>
          </a:p>
          <a:p>
            <a:pPr marL="342900" indent="-342900" algn="just">
              <a:spcBef>
                <a:spcPts val="600"/>
              </a:spcBef>
              <a:buFont typeface="Wingdings" pitchFamily="2" charset="2"/>
              <a:buChar char="Ø"/>
            </a:pPr>
            <a:r>
              <a:rPr lang="en-US" altLang="zh-CN" sz="2000" b="1" dirty="0" err="1"/>
              <a:t>NoSQL</a:t>
            </a:r>
            <a:r>
              <a:rPr lang="zh-CN" altLang="en-US" sz="2000" b="1" dirty="0"/>
              <a:t>数据库可以运行在便宜的</a:t>
            </a:r>
            <a:r>
              <a:rPr lang="en-US" altLang="zh-CN" sz="2000" b="1" dirty="0"/>
              <a:t>PC</a:t>
            </a:r>
            <a:r>
              <a:rPr lang="zh-CN" altLang="en-US" sz="2000" b="1" dirty="0"/>
              <a:t>服务器集群上</a:t>
            </a:r>
            <a:endParaRPr lang="zh-CN" altLang="en-US" sz="2000" dirty="0"/>
          </a:p>
          <a:p>
            <a:pPr marL="342900" indent="-342900" algn="just">
              <a:spcBef>
                <a:spcPts val="600"/>
              </a:spcBef>
            </a:pPr>
            <a:r>
              <a:rPr lang="en-US" altLang="zh-CN" sz="2000" dirty="0"/>
              <a:t>      PC</a:t>
            </a:r>
            <a:r>
              <a:rPr lang="zh-CN" altLang="en-US" sz="2000" dirty="0"/>
              <a:t>集群扩充起来非常方便并且成本很低，避免了“</a:t>
            </a:r>
            <a:r>
              <a:rPr lang="en-US" altLang="zh-CN" sz="2000" dirty="0" err="1"/>
              <a:t>sharding</a:t>
            </a:r>
            <a:r>
              <a:rPr lang="en-US" altLang="zh-CN" sz="2000" dirty="0"/>
              <a:t>”</a:t>
            </a:r>
            <a:r>
              <a:rPr lang="zh-CN" altLang="en-US" sz="2000" dirty="0"/>
              <a:t>操作的复杂性和成本，可以为企业应用节约很大一部分开销；</a:t>
            </a:r>
          </a:p>
          <a:p>
            <a:pPr marL="342900" indent="-342900" algn="just">
              <a:spcBef>
                <a:spcPts val="600"/>
              </a:spcBef>
              <a:buFont typeface="Wingdings" pitchFamily="2" charset="2"/>
              <a:buChar char="Ø"/>
            </a:pPr>
            <a:r>
              <a:rPr lang="en-US" altLang="zh-CN" sz="2000" b="1" dirty="0" err="1"/>
              <a:t>NoSQL</a:t>
            </a:r>
            <a:r>
              <a:rPr lang="zh-CN" altLang="en-US" sz="2000" b="1" dirty="0"/>
              <a:t>数据库打破了性能瓶颈</a:t>
            </a:r>
            <a:endParaRPr lang="zh-CN" altLang="en-US" sz="2000" dirty="0"/>
          </a:p>
          <a:p>
            <a:pPr marL="342900" indent="-342900" algn="just">
              <a:spcBef>
                <a:spcPts val="600"/>
              </a:spcBef>
            </a:pPr>
            <a:r>
              <a:rPr lang="en-US" altLang="zh-CN" sz="2000" dirty="0"/>
              <a:t>      </a:t>
            </a:r>
            <a:r>
              <a:rPr lang="zh-CN" altLang="en-US" sz="2000" dirty="0"/>
              <a:t>通过</a:t>
            </a:r>
            <a:r>
              <a:rPr lang="en-US" altLang="zh-CN" sz="2000" dirty="0" err="1"/>
              <a:t>NoSQL</a:t>
            </a:r>
            <a:r>
              <a:rPr lang="zh-CN" altLang="en-US" sz="2000" dirty="0"/>
              <a:t>架构可以省去将</a:t>
            </a:r>
            <a:r>
              <a:rPr lang="en-US" altLang="zh-CN" sz="2000" dirty="0"/>
              <a:t>Web</a:t>
            </a:r>
            <a:r>
              <a:rPr lang="zh-CN" altLang="en-US" sz="2000" dirty="0"/>
              <a:t>或</a:t>
            </a:r>
            <a:r>
              <a:rPr lang="en-US" altLang="zh-CN" sz="2000" dirty="0"/>
              <a:t>Java</a:t>
            </a:r>
            <a:r>
              <a:rPr lang="zh-CN" altLang="en-US" sz="2000" dirty="0"/>
              <a:t>应用和数据转换成</a:t>
            </a:r>
            <a:r>
              <a:rPr lang="en-US" altLang="zh-CN" sz="2000" dirty="0"/>
              <a:t>SQL</a:t>
            </a:r>
            <a:r>
              <a:rPr lang="zh-CN" altLang="en-US" sz="2000" dirty="0"/>
              <a:t>友好格式的时间，执行速度变得更快，并且分布式的处理架构能够有效提升系统整体性能；</a:t>
            </a:r>
          </a:p>
          <a:p>
            <a:pPr marL="342900" indent="-342900" algn="just">
              <a:spcBef>
                <a:spcPts val="600"/>
              </a:spcBef>
              <a:buFont typeface="Wingdings" pitchFamily="2" charset="2"/>
              <a:buChar char="Ø"/>
            </a:pPr>
            <a:r>
              <a:rPr lang="zh-CN" altLang="en-US" sz="2000" b="1" dirty="0"/>
              <a:t>支持简单操作</a:t>
            </a:r>
            <a:endParaRPr lang="zh-CN" altLang="en-US" sz="2000" dirty="0"/>
          </a:p>
          <a:p>
            <a:pPr marL="342900" indent="-342900" algn="just">
              <a:spcBef>
                <a:spcPts val="600"/>
              </a:spcBef>
            </a:pPr>
            <a:r>
              <a:rPr lang="zh-CN" altLang="en-US" sz="2000" dirty="0"/>
              <a:t>      </a:t>
            </a:r>
            <a:r>
              <a:rPr lang="en-US" altLang="zh-CN" sz="2000" dirty="0"/>
              <a:t>RDBMS</a:t>
            </a:r>
            <a:r>
              <a:rPr lang="zh-CN" altLang="en-US" sz="2000" dirty="0"/>
              <a:t>提供了无可比拟的功能集合，而且在数据完整性也发挥绝对稳定，但同时企业的具体需求可能没有那么多；</a:t>
            </a:r>
          </a:p>
          <a:p>
            <a:pPr marL="342900" indent="-342900" algn="just">
              <a:spcBef>
                <a:spcPts val="600"/>
              </a:spcBef>
              <a:buFont typeface="Wingdings" pitchFamily="2" charset="2"/>
              <a:buChar char="Ø"/>
            </a:pPr>
            <a:r>
              <a:rPr lang="zh-CN" altLang="en-US" sz="2000" b="1" dirty="0"/>
              <a:t>需要更多支持</a:t>
            </a:r>
            <a:endParaRPr lang="zh-CN" altLang="en-US" sz="2000" dirty="0"/>
          </a:p>
          <a:p>
            <a:pPr marL="342900" indent="-342900" algn="just">
              <a:spcBef>
                <a:spcPts val="600"/>
              </a:spcBef>
            </a:pPr>
            <a:r>
              <a:rPr lang="zh-CN" altLang="en-US" sz="2000" dirty="0"/>
              <a:t>      </a:t>
            </a:r>
            <a:r>
              <a:rPr lang="en-US" altLang="zh-CN" sz="2000" dirty="0" err="1"/>
              <a:t>NoSQL</a:t>
            </a:r>
            <a:r>
              <a:rPr lang="zh-CN" altLang="en-US" sz="2000" dirty="0"/>
              <a:t>项目都是开源的，因此它们缺乏供应商提供的正式支持，这一点它们与大多数开源项目一样，不得不从社区中寻求支持；</a:t>
            </a:r>
          </a:p>
        </p:txBody>
      </p:sp>
      <p:sp>
        <p:nvSpPr>
          <p:cNvPr id="2" name="日期占位符 1"/>
          <p:cNvSpPr>
            <a:spLocks noGrp="1"/>
          </p:cNvSpPr>
          <p:nvPr>
            <p:ph type="dt" sz="half" idx="10"/>
          </p:nvPr>
        </p:nvSpPr>
        <p:spPr/>
        <p:txBody>
          <a:bodyPr/>
          <a:lstStyle/>
          <a:p>
            <a:fld id="{839EDAAF-EA8F-43BA-B4A3-E57CDDA211D1}" type="datetime1">
              <a:rPr lang="zh-CN" altLang="en-US" smtClean="0"/>
              <a:pPr/>
              <a:t>2022/5/1</a:t>
            </a:fld>
            <a:endParaRPr lang="zh-CN" altLang="en-US"/>
          </a:p>
        </p:txBody>
      </p:sp>
      <p:sp>
        <p:nvSpPr>
          <p:cNvPr id="3" name="页脚占位符 2"/>
          <p:cNvSpPr>
            <a:spLocks noGrp="1"/>
          </p:cNvSpPr>
          <p:nvPr>
            <p:ph type="ftr" sz="quarter" idx="11"/>
          </p:nvPr>
        </p:nvSpPr>
        <p:spPr/>
        <p:txBody>
          <a:bodyPr/>
          <a:lstStyle/>
          <a:p>
            <a:r>
              <a:rPr lang="zh-CN" altLang="en-US"/>
              <a:t>大数据技术解析</a:t>
            </a:r>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13</a:t>
            </a:fld>
            <a:endParaRPr lang="zh-CN" altLang="en-US"/>
          </a:p>
        </p:txBody>
      </p:sp>
      <p:pic>
        <p:nvPicPr>
          <p:cNvPr id="8" name="图片 4" descr="4.jpg"/>
          <p:cNvPicPr>
            <a:picLocks noChangeAspect="1"/>
          </p:cNvPicPr>
          <p:nvPr/>
        </p:nvPicPr>
        <p:blipFill>
          <a:blip r:embed="rId2"/>
          <a:srcRect/>
          <a:stretch>
            <a:fillRect/>
          </a:stretch>
        </p:blipFill>
        <p:spPr bwMode="auto">
          <a:xfrm>
            <a:off x="1" y="0"/>
            <a:ext cx="4214809" cy="785794"/>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71800" y="0"/>
            <a:ext cx="5760640" cy="776495"/>
          </a:xfrm>
          <a:prstGeom prst="rect">
            <a:avLst/>
          </a:prstGeom>
          <a:noFill/>
        </p:spPr>
        <p:txBody>
          <a:bodyPr wrap="square" rtlCol="0">
            <a:spAutoFit/>
          </a:bodyPr>
          <a:lstStyle/>
          <a:p>
            <a:pPr algn="r">
              <a:lnSpc>
                <a:spcPts val="5800"/>
              </a:lnSpc>
              <a:spcBef>
                <a:spcPct val="0"/>
              </a:spcBef>
            </a:pPr>
            <a:r>
              <a:rPr lang="en-US" altLang="zh-CN" sz="3600" dirty="0" err="1">
                <a:solidFill>
                  <a:schemeClr val="tx2"/>
                </a:solidFill>
                <a:effectLst>
                  <a:outerShdw blurRad="63500" dist="38100" dir="5400000" algn="t" rotWithShape="0">
                    <a:prstClr val="black">
                      <a:alpha val="25000"/>
                    </a:prstClr>
                  </a:outerShdw>
                </a:effectLst>
                <a:ea typeface="+mj-ea"/>
                <a:cs typeface="+mj-cs"/>
              </a:rPr>
              <a:t>NoSQL</a:t>
            </a:r>
            <a:r>
              <a:rPr lang="zh-CN" altLang="en-US" sz="3600" dirty="0">
                <a:solidFill>
                  <a:schemeClr val="tx2"/>
                </a:solidFill>
                <a:effectLst>
                  <a:outerShdw blurRad="63500" dist="38100" dir="5400000" algn="t" rotWithShape="0">
                    <a:prstClr val="black">
                      <a:alpha val="25000"/>
                    </a:prstClr>
                  </a:outerShdw>
                </a:effectLst>
                <a:ea typeface="+mj-ea"/>
                <a:cs typeface="+mj-cs"/>
              </a:rPr>
              <a:t>数据库优势</a:t>
            </a:r>
          </a:p>
        </p:txBody>
      </p:sp>
      <p:pic>
        <p:nvPicPr>
          <p:cNvPr id="6" name="Picture 2"/>
          <p:cNvPicPr>
            <a:picLocks noChangeAspect="1" noChangeArrowheads="1"/>
          </p:cNvPicPr>
          <p:nvPr/>
        </p:nvPicPr>
        <p:blipFill>
          <a:blip r:embed="rId2"/>
          <a:srcRect/>
          <a:stretch>
            <a:fillRect/>
          </a:stretch>
        </p:blipFill>
        <p:spPr bwMode="auto">
          <a:xfrm>
            <a:off x="1" y="5490060"/>
            <a:ext cx="2000232" cy="1367940"/>
          </a:xfrm>
          <a:prstGeom prst="rect">
            <a:avLst/>
          </a:prstGeom>
          <a:noFill/>
          <a:ln w="9525">
            <a:noFill/>
            <a:miter lim="800000"/>
            <a:headEnd/>
            <a:tailEnd/>
          </a:ln>
          <a:effectLst/>
        </p:spPr>
      </p:pic>
      <p:sp>
        <p:nvSpPr>
          <p:cNvPr id="5" name="TextBox 4"/>
          <p:cNvSpPr txBox="1"/>
          <p:nvPr/>
        </p:nvSpPr>
        <p:spPr>
          <a:xfrm>
            <a:off x="214282" y="857232"/>
            <a:ext cx="8715436" cy="5247590"/>
          </a:xfrm>
          <a:prstGeom prst="rect">
            <a:avLst/>
          </a:prstGeom>
          <a:noFill/>
        </p:spPr>
        <p:txBody>
          <a:bodyPr wrap="square" rtlCol="0">
            <a:spAutoFit/>
          </a:bodyPr>
          <a:lstStyle/>
          <a:p>
            <a:pPr marL="342900" indent="-342900" algn="just">
              <a:spcBef>
                <a:spcPts val="600"/>
              </a:spcBef>
              <a:buFont typeface="Wingdings" pitchFamily="2" charset="2"/>
              <a:buChar char="Ø"/>
            </a:pPr>
            <a:r>
              <a:rPr lang="zh-CN" altLang="en-US" sz="2000" b="1" dirty="0"/>
              <a:t>高扩展性</a:t>
            </a:r>
          </a:p>
          <a:p>
            <a:pPr marL="342900" indent="-342900" algn="just">
              <a:spcBef>
                <a:spcPts val="600"/>
              </a:spcBef>
            </a:pPr>
            <a:r>
              <a:rPr lang="en-US" altLang="zh-CN" sz="2000" dirty="0"/>
              <a:t>       </a:t>
            </a:r>
            <a:r>
              <a:rPr lang="en-US" altLang="zh-CN" sz="2000" dirty="0" err="1"/>
              <a:t>NoSQL</a:t>
            </a:r>
            <a:r>
              <a:rPr lang="zh-CN" altLang="en-US" sz="2000" dirty="0"/>
              <a:t>数据库打破传统关系型数据库的范式约束，解放了数据的</a:t>
            </a:r>
            <a:r>
              <a:rPr lang="en-US" altLang="zh-CN" sz="2000" dirty="0"/>
              <a:t>schema</a:t>
            </a:r>
            <a:r>
              <a:rPr lang="zh-CN" altLang="en-US" sz="2000" dirty="0"/>
              <a:t>，使得数据之间彼此的约束性降低，加上分布式的部署环境，大大提升了</a:t>
            </a:r>
            <a:r>
              <a:rPr lang="en-US" altLang="zh-CN" sz="2000" dirty="0" err="1"/>
              <a:t>NoSQL</a:t>
            </a:r>
            <a:r>
              <a:rPr lang="zh-CN" altLang="en-US" sz="2000" dirty="0"/>
              <a:t>数据库的扩展性；</a:t>
            </a:r>
            <a:endParaRPr lang="en-US" altLang="zh-CN" sz="2000" dirty="0"/>
          </a:p>
          <a:p>
            <a:pPr marL="342900" indent="-342900" algn="just">
              <a:spcBef>
                <a:spcPts val="600"/>
              </a:spcBef>
              <a:buFont typeface="Wingdings" pitchFamily="2" charset="2"/>
              <a:buChar char="Ø"/>
            </a:pPr>
            <a:r>
              <a:rPr lang="zh-CN" altLang="en-US" sz="2000" b="1" dirty="0"/>
              <a:t>高可用性</a:t>
            </a:r>
          </a:p>
          <a:p>
            <a:pPr marL="342900" indent="-342900" algn="just">
              <a:spcBef>
                <a:spcPts val="600"/>
              </a:spcBef>
            </a:pPr>
            <a:r>
              <a:rPr lang="en-US" altLang="zh-CN" sz="2000" dirty="0"/>
              <a:t>       </a:t>
            </a:r>
            <a:r>
              <a:rPr lang="en-US" altLang="zh-CN" sz="2000" dirty="0" err="1"/>
              <a:t>NoSQL</a:t>
            </a:r>
            <a:r>
              <a:rPr lang="zh-CN" altLang="en-US" sz="2000" dirty="0"/>
              <a:t>数据库通过采用分布式部署环境和冗余备份机制，使得在有处理节点发生宕机和数据丢失的情况下，能够快速自动恢复或者其他节点来替代故障节点，从而完成相应工作；</a:t>
            </a:r>
          </a:p>
          <a:p>
            <a:pPr marL="342900" indent="-342900" algn="just">
              <a:spcBef>
                <a:spcPts val="600"/>
              </a:spcBef>
              <a:buFont typeface="Wingdings" pitchFamily="2" charset="2"/>
              <a:buChar char="Ø"/>
            </a:pPr>
            <a:r>
              <a:rPr lang="zh-CN" altLang="en-US" sz="2000" b="1" dirty="0"/>
              <a:t>灵活的数据模型</a:t>
            </a:r>
          </a:p>
          <a:p>
            <a:pPr marL="342900" indent="-342900" algn="just">
              <a:spcBef>
                <a:spcPts val="600"/>
              </a:spcBef>
            </a:pPr>
            <a:r>
              <a:rPr lang="en-US" altLang="zh-CN" sz="2000" dirty="0"/>
              <a:t>       </a:t>
            </a:r>
            <a:r>
              <a:rPr lang="en-US" altLang="zh-CN" sz="2000" dirty="0" err="1"/>
              <a:t>NoSQL</a:t>
            </a:r>
            <a:r>
              <a:rPr lang="zh-CN" altLang="en-US" sz="2000" dirty="0"/>
              <a:t>无需事先为要存储的数据建立字段，可以在需要时随意添加或修改，大大提高了数据模式的灵活性；</a:t>
            </a:r>
          </a:p>
          <a:p>
            <a:pPr marL="342900" indent="-342900" algn="just">
              <a:spcBef>
                <a:spcPts val="600"/>
              </a:spcBef>
              <a:buFont typeface="Wingdings" pitchFamily="2" charset="2"/>
              <a:buChar char="Ø"/>
            </a:pPr>
            <a:r>
              <a:rPr lang="zh-CN" altLang="en-US" sz="2000" b="1" dirty="0"/>
              <a:t>海量数据存储、处理，高性能</a:t>
            </a:r>
            <a:endParaRPr lang="en-US" altLang="zh-CN" sz="2000" b="1" dirty="0"/>
          </a:p>
          <a:p>
            <a:pPr marL="342900" indent="-342900" algn="just">
              <a:spcBef>
                <a:spcPts val="600"/>
              </a:spcBef>
            </a:pPr>
            <a:r>
              <a:rPr lang="zh-CN" altLang="en-US" sz="2000" dirty="0"/>
              <a:t>       因为高扩展性和分布式部署的原因，系统的存储能力和处理能力，可以简单的通过不断添加机器和设备，来达到线性增加的目的，因此系统的性能也能够线性提升；</a:t>
            </a:r>
          </a:p>
        </p:txBody>
      </p:sp>
      <p:sp>
        <p:nvSpPr>
          <p:cNvPr id="2" name="日期占位符 1"/>
          <p:cNvSpPr>
            <a:spLocks noGrp="1"/>
          </p:cNvSpPr>
          <p:nvPr>
            <p:ph type="dt" sz="half" idx="10"/>
          </p:nvPr>
        </p:nvSpPr>
        <p:spPr/>
        <p:txBody>
          <a:bodyPr/>
          <a:lstStyle/>
          <a:p>
            <a:fld id="{DB444C5C-ED48-40B7-8C9F-FAE076C4BDF3}" type="datetime1">
              <a:rPr lang="zh-CN" altLang="en-US" smtClean="0"/>
              <a:pPr/>
              <a:t>2022/5/1</a:t>
            </a:fld>
            <a:endParaRPr lang="zh-CN" altLang="en-US"/>
          </a:p>
        </p:txBody>
      </p:sp>
      <p:sp>
        <p:nvSpPr>
          <p:cNvPr id="3" name="页脚占位符 2"/>
          <p:cNvSpPr>
            <a:spLocks noGrp="1"/>
          </p:cNvSpPr>
          <p:nvPr>
            <p:ph type="ftr" sz="quarter" idx="11"/>
          </p:nvPr>
        </p:nvSpPr>
        <p:spPr/>
        <p:txBody>
          <a:bodyPr/>
          <a:lstStyle/>
          <a:p>
            <a:r>
              <a:rPr lang="zh-CN" altLang="en-US"/>
              <a:t>大数据技术解析</a:t>
            </a:r>
          </a:p>
        </p:txBody>
      </p:sp>
      <p:sp>
        <p:nvSpPr>
          <p:cNvPr id="8" name="灯片编号占位符 7"/>
          <p:cNvSpPr>
            <a:spLocks noGrp="1"/>
          </p:cNvSpPr>
          <p:nvPr>
            <p:ph type="sldNum" sz="quarter" idx="12"/>
          </p:nvPr>
        </p:nvSpPr>
        <p:spPr/>
        <p:txBody>
          <a:bodyPr/>
          <a:lstStyle/>
          <a:p>
            <a:fld id="{0C913308-F349-4B6D-A68A-DD1791B4A57B}" type="slidenum">
              <a:rPr lang="zh-CN" altLang="en-US" smtClean="0"/>
              <a:pPr/>
              <a:t>14</a:t>
            </a:fld>
            <a:endParaRPr lang="zh-CN" altLang="en-US"/>
          </a:p>
        </p:txBody>
      </p:sp>
      <p:pic>
        <p:nvPicPr>
          <p:cNvPr id="9" name="图片 4" descr="4.jpg"/>
          <p:cNvPicPr>
            <a:picLocks noChangeAspect="1"/>
          </p:cNvPicPr>
          <p:nvPr/>
        </p:nvPicPr>
        <p:blipFill>
          <a:blip r:embed="rId3"/>
          <a:srcRect/>
          <a:stretch>
            <a:fillRect/>
          </a:stretch>
        </p:blipFill>
        <p:spPr bwMode="auto">
          <a:xfrm>
            <a:off x="1" y="0"/>
            <a:ext cx="4214809" cy="785794"/>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71800" y="0"/>
            <a:ext cx="5760640" cy="776495"/>
          </a:xfrm>
          <a:prstGeom prst="rect">
            <a:avLst/>
          </a:prstGeom>
          <a:noFill/>
        </p:spPr>
        <p:txBody>
          <a:bodyPr wrap="square" rtlCol="0">
            <a:spAutoFit/>
          </a:bodyPr>
          <a:lstStyle/>
          <a:p>
            <a:pPr algn="r">
              <a:lnSpc>
                <a:spcPts val="5800"/>
              </a:lnSpc>
              <a:spcBef>
                <a:spcPct val="0"/>
              </a:spcBef>
            </a:pPr>
            <a:r>
              <a:rPr lang="en-US" altLang="zh-CN" sz="3600" dirty="0" err="1">
                <a:solidFill>
                  <a:schemeClr val="tx2"/>
                </a:solidFill>
                <a:effectLst>
                  <a:outerShdw blurRad="63500" dist="38100" dir="5400000" algn="t" rotWithShape="0">
                    <a:prstClr val="black">
                      <a:alpha val="25000"/>
                    </a:prstClr>
                  </a:outerShdw>
                </a:effectLst>
                <a:ea typeface="+mj-ea"/>
                <a:cs typeface="+mj-cs"/>
              </a:rPr>
              <a:t>NoSQL</a:t>
            </a:r>
            <a:r>
              <a:rPr lang="zh-CN" altLang="en-US" sz="3600" dirty="0">
                <a:solidFill>
                  <a:schemeClr val="tx2"/>
                </a:solidFill>
                <a:effectLst>
                  <a:outerShdw blurRad="63500" dist="38100" dir="5400000" algn="t" rotWithShape="0">
                    <a:prstClr val="black">
                      <a:alpha val="25000"/>
                    </a:prstClr>
                  </a:outerShdw>
                </a:effectLst>
                <a:ea typeface="+mj-ea"/>
                <a:cs typeface="+mj-cs"/>
              </a:rPr>
              <a:t>数据库不足</a:t>
            </a:r>
          </a:p>
        </p:txBody>
      </p:sp>
      <p:sp>
        <p:nvSpPr>
          <p:cNvPr id="5" name="TextBox 4"/>
          <p:cNvSpPr txBox="1"/>
          <p:nvPr/>
        </p:nvSpPr>
        <p:spPr>
          <a:xfrm>
            <a:off x="428596" y="1071546"/>
            <a:ext cx="7858180" cy="3862596"/>
          </a:xfrm>
          <a:prstGeom prst="rect">
            <a:avLst/>
          </a:prstGeom>
          <a:noFill/>
        </p:spPr>
        <p:txBody>
          <a:bodyPr wrap="square" rtlCol="0">
            <a:spAutoFit/>
          </a:bodyPr>
          <a:lstStyle/>
          <a:p>
            <a:pPr marL="342900" indent="-342900" algn="just">
              <a:spcBef>
                <a:spcPts val="600"/>
              </a:spcBef>
              <a:buFont typeface="Wingdings" pitchFamily="2" charset="2"/>
              <a:buChar char="Ø"/>
            </a:pPr>
            <a:r>
              <a:rPr lang="zh-CN" altLang="en-US" sz="2200" b="1" dirty="0"/>
              <a:t>不提供对</a:t>
            </a:r>
            <a:r>
              <a:rPr lang="en-US" altLang="zh-CN" sz="2200" b="1" dirty="0"/>
              <a:t>SQL</a:t>
            </a:r>
            <a:r>
              <a:rPr lang="zh-CN" altLang="en-US" sz="2200" b="1" dirty="0"/>
              <a:t>的支持</a:t>
            </a:r>
            <a:endParaRPr lang="en-US" altLang="zh-CN" sz="2200" b="1" dirty="0"/>
          </a:p>
          <a:p>
            <a:pPr marL="342900" indent="-342900" algn="just">
              <a:spcBef>
                <a:spcPts val="600"/>
              </a:spcBef>
            </a:pPr>
            <a:r>
              <a:rPr lang="zh-CN" altLang="en-US" sz="2200" dirty="0"/>
              <a:t>      因为</a:t>
            </a:r>
            <a:r>
              <a:rPr lang="en-US" altLang="zh-CN" sz="2200" dirty="0" err="1"/>
              <a:t>NoSQL</a:t>
            </a:r>
            <a:r>
              <a:rPr lang="zh-CN" altLang="en-US" sz="2200" dirty="0"/>
              <a:t>不支持</a:t>
            </a:r>
            <a:r>
              <a:rPr lang="en-US" altLang="zh-CN" sz="2200" dirty="0"/>
              <a:t>SQL</a:t>
            </a:r>
            <a:r>
              <a:rPr lang="zh-CN" altLang="en-US" sz="2200" dirty="0"/>
              <a:t>这样的工业标准，将会对用户产生一定的学习和应用迁移成本；</a:t>
            </a:r>
            <a:endParaRPr lang="en-US" altLang="zh-CN" sz="2200" dirty="0"/>
          </a:p>
          <a:p>
            <a:pPr marL="342900" indent="-342900" algn="just">
              <a:spcBef>
                <a:spcPts val="600"/>
              </a:spcBef>
              <a:buFont typeface="Wingdings" pitchFamily="2" charset="2"/>
              <a:buChar char="Ø"/>
            </a:pPr>
            <a:r>
              <a:rPr lang="zh-CN" altLang="en-US" sz="2200" b="1" dirty="0"/>
              <a:t>支持的特性不够丰富</a:t>
            </a:r>
            <a:endParaRPr lang="en-US" altLang="zh-CN" sz="2200" b="1" dirty="0"/>
          </a:p>
          <a:p>
            <a:pPr marL="342900" indent="-342900" algn="just">
              <a:spcBef>
                <a:spcPts val="600"/>
              </a:spcBef>
            </a:pPr>
            <a:r>
              <a:rPr lang="zh-CN" altLang="en-US" sz="2200" dirty="0"/>
              <a:t>      现有产品所提供的功能都比较有限，大多数</a:t>
            </a:r>
            <a:r>
              <a:rPr lang="en-US" altLang="zh-CN" sz="2200" dirty="0" err="1"/>
              <a:t>NoSQL</a:t>
            </a:r>
            <a:r>
              <a:rPr lang="zh-CN" altLang="en-US" sz="2200" dirty="0"/>
              <a:t>数据库都不支持事务，也不像</a:t>
            </a:r>
            <a:r>
              <a:rPr lang="en-US" altLang="zh-CN" sz="2200" dirty="0"/>
              <a:t>MS SQL Server</a:t>
            </a:r>
            <a:r>
              <a:rPr lang="zh-CN" altLang="en-US" sz="2200" dirty="0"/>
              <a:t>和</a:t>
            </a:r>
            <a:r>
              <a:rPr lang="en-US" altLang="zh-CN" sz="2200" dirty="0"/>
              <a:t>Oracle</a:t>
            </a:r>
            <a:r>
              <a:rPr lang="zh-CN" altLang="en-US" sz="2200" dirty="0"/>
              <a:t>那样能提供各种附加功能；</a:t>
            </a:r>
            <a:endParaRPr lang="en-US" altLang="zh-CN" sz="2200" dirty="0"/>
          </a:p>
          <a:p>
            <a:pPr marL="342900" indent="-342900" algn="just">
              <a:spcBef>
                <a:spcPts val="600"/>
              </a:spcBef>
              <a:buFont typeface="Wingdings" pitchFamily="2" charset="2"/>
              <a:buChar char="Ø"/>
            </a:pPr>
            <a:r>
              <a:rPr lang="zh-CN" altLang="en-US" sz="2200" b="1" dirty="0"/>
              <a:t>现有产品的不够成熟</a:t>
            </a:r>
            <a:endParaRPr lang="en-US" altLang="zh-CN" sz="2200" b="1" dirty="0"/>
          </a:p>
          <a:p>
            <a:pPr marL="342900" indent="-342900" algn="just">
              <a:spcBef>
                <a:spcPts val="600"/>
              </a:spcBef>
            </a:pPr>
            <a:r>
              <a:rPr lang="zh-CN" altLang="en-US" sz="2200" dirty="0"/>
              <a:t>      大多数产品都还处于初创期，和关系型数据库几十年的完善不可同日而语；</a:t>
            </a:r>
          </a:p>
        </p:txBody>
      </p:sp>
      <p:sp>
        <p:nvSpPr>
          <p:cNvPr id="2" name="日期占位符 1"/>
          <p:cNvSpPr>
            <a:spLocks noGrp="1"/>
          </p:cNvSpPr>
          <p:nvPr>
            <p:ph type="dt" sz="half" idx="10"/>
          </p:nvPr>
        </p:nvSpPr>
        <p:spPr/>
        <p:txBody>
          <a:bodyPr/>
          <a:lstStyle/>
          <a:p>
            <a:fld id="{E8036D97-CD1B-4B9F-A66D-0ECCDE21AFAE}" type="datetime1">
              <a:rPr lang="zh-CN" altLang="en-US" smtClean="0"/>
              <a:pPr/>
              <a:t>2022/5/1</a:t>
            </a:fld>
            <a:endParaRPr lang="zh-CN" altLang="en-US"/>
          </a:p>
        </p:txBody>
      </p:sp>
      <p:sp>
        <p:nvSpPr>
          <p:cNvPr id="3" name="页脚占位符 2"/>
          <p:cNvSpPr>
            <a:spLocks noGrp="1"/>
          </p:cNvSpPr>
          <p:nvPr>
            <p:ph type="ftr" sz="quarter" idx="11"/>
          </p:nvPr>
        </p:nvSpPr>
        <p:spPr/>
        <p:txBody>
          <a:bodyPr/>
          <a:lstStyle/>
          <a:p>
            <a:r>
              <a:rPr lang="zh-CN" altLang="en-US" dirty="0"/>
              <a:t>大数据处理</a:t>
            </a:r>
          </a:p>
        </p:txBody>
      </p:sp>
      <p:sp>
        <p:nvSpPr>
          <p:cNvPr id="8" name="灯片编号占位符 7"/>
          <p:cNvSpPr>
            <a:spLocks noGrp="1"/>
          </p:cNvSpPr>
          <p:nvPr>
            <p:ph type="sldNum" sz="quarter" idx="12"/>
          </p:nvPr>
        </p:nvSpPr>
        <p:spPr/>
        <p:txBody>
          <a:bodyPr/>
          <a:lstStyle/>
          <a:p>
            <a:fld id="{0C913308-F349-4B6D-A68A-DD1791B4A57B}" type="slidenum">
              <a:rPr lang="zh-CN" altLang="en-US" smtClean="0"/>
              <a:pPr/>
              <a:t>15</a:t>
            </a:fld>
            <a:endParaRPr lang="zh-CN" altLang="en-US"/>
          </a:p>
        </p:txBody>
      </p:sp>
      <p:pic>
        <p:nvPicPr>
          <p:cNvPr id="9" name="图片 4" descr="4.jpg"/>
          <p:cNvPicPr>
            <a:picLocks noChangeAspect="1"/>
          </p:cNvPicPr>
          <p:nvPr/>
        </p:nvPicPr>
        <p:blipFill>
          <a:blip r:embed="rId2"/>
          <a:srcRect/>
          <a:stretch>
            <a:fillRect/>
          </a:stretch>
        </p:blipFill>
        <p:spPr bwMode="auto">
          <a:xfrm>
            <a:off x="1" y="0"/>
            <a:ext cx="4214809" cy="785794"/>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71800" y="0"/>
            <a:ext cx="5729290" cy="1285860"/>
          </a:xfrm>
        </p:spPr>
        <p:txBody>
          <a:bodyPr/>
          <a:lstStyle/>
          <a:p>
            <a:pPr algn="r"/>
            <a:r>
              <a:rPr lang="en-US" altLang="zh-CN" sz="2800" dirty="0" err="1"/>
              <a:t>NoSQL</a:t>
            </a:r>
            <a:r>
              <a:rPr lang="zh-CN" altLang="en-US" sz="2800" dirty="0"/>
              <a:t>数据库分类</a:t>
            </a:r>
            <a:br>
              <a:rPr lang="en-US" altLang="zh-CN" sz="2800" dirty="0"/>
            </a:br>
            <a:r>
              <a:rPr lang="en-US" altLang="zh-CN" sz="2800" dirty="0"/>
              <a:t>——</a:t>
            </a:r>
            <a:r>
              <a:rPr lang="zh-CN" altLang="en-US" sz="2800" dirty="0"/>
              <a:t>按存储模型</a:t>
            </a:r>
          </a:p>
        </p:txBody>
      </p:sp>
      <p:sp>
        <p:nvSpPr>
          <p:cNvPr id="4" name="日期占位符 3"/>
          <p:cNvSpPr>
            <a:spLocks noGrp="1"/>
          </p:cNvSpPr>
          <p:nvPr>
            <p:ph type="dt" sz="half" idx="10"/>
          </p:nvPr>
        </p:nvSpPr>
        <p:spPr/>
        <p:txBody>
          <a:bodyPr/>
          <a:lstStyle/>
          <a:p>
            <a:fld id="{AAA3484A-CA2E-45E0-B405-28587CFBD2C0}" type="datetime1">
              <a:rPr lang="zh-CN" altLang="en-US" smtClean="0"/>
              <a:pPr/>
              <a:t>2022/5/1</a:t>
            </a:fld>
            <a:endParaRPr lang="zh-CN" altLang="en-US"/>
          </a:p>
        </p:txBody>
      </p:sp>
      <p:sp>
        <p:nvSpPr>
          <p:cNvPr id="5" name="页脚占位符 4"/>
          <p:cNvSpPr>
            <a:spLocks noGrp="1"/>
          </p:cNvSpPr>
          <p:nvPr>
            <p:ph type="ftr" sz="quarter" idx="11"/>
          </p:nvPr>
        </p:nvSpPr>
        <p:spPr/>
        <p:txBody>
          <a:bodyPr/>
          <a:lstStyle/>
          <a:p>
            <a:r>
              <a:rPr lang="zh-CN" altLang="en-US"/>
              <a:t>大数据技术解析</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16</a:t>
            </a:fld>
            <a:endParaRPr lang="zh-CN" altLang="en-US"/>
          </a:p>
        </p:txBody>
      </p:sp>
      <p:graphicFrame>
        <p:nvGraphicFramePr>
          <p:cNvPr id="7" name="表格 6"/>
          <p:cNvGraphicFramePr>
            <a:graphicFrameLocks noGrp="1"/>
          </p:cNvGraphicFramePr>
          <p:nvPr>
            <p:extLst>
              <p:ext uri="{D42A27DB-BD31-4B8C-83A1-F6EECF244321}">
                <p14:modId xmlns:p14="http://schemas.microsoft.com/office/powerpoint/2010/main" val="902345682"/>
              </p:ext>
            </p:extLst>
          </p:nvPr>
        </p:nvGraphicFramePr>
        <p:xfrm>
          <a:off x="683568" y="1285860"/>
          <a:ext cx="7632847" cy="4896544"/>
        </p:xfrm>
        <a:graphic>
          <a:graphicData uri="http://schemas.openxmlformats.org/drawingml/2006/table">
            <a:tbl>
              <a:tblPr firstRow="1" firstCol="1" bandRow="1" bandCol="1">
                <a:tableStyleId>{5C22544A-7EE6-4342-B048-85BDC9FD1C3A}</a:tableStyleId>
              </a:tblPr>
              <a:tblGrid>
                <a:gridCol w="1504383">
                  <a:extLst>
                    <a:ext uri="{9D8B030D-6E8A-4147-A177-3AD203B41FA5}">
                      <a16:colId xmlns:a16="http://schemas.microsoft.com/office/drawing/2014/main" val="20000"/>
                    </a:ext>
                  </a:extLst>
                </a:gridCol>
                <a:gridCol w="2042821">
                  <a:extLst>
                    <a:ext uri="{9D8B030D-6E8A-4147-A177-3AD203B41FA5}">
                      <a16:colId xmlns:a16="http://schemas.microsoft.com/office/drawing/2014/main" val="20001"/>
                    </a:ext>
                  </a:extLst>
                </a:gridCol>
                <a:gridCol w="4085643">
                  <a:extLst>
                    <a:ext uri="{9D8B030D-6E8A-4147-A177-3AD203B41FA5}">
                      <a16:colId xmlns:a16="http://schemas.microsoft.com/office/drawing/2014/main" val="20002"/>
                    </a:ext>
                  </a:extLst>
                </a:gridCol>
              </a:tblGrid>
              <a:tr h="351477">
                <a:tc>
                  <a:txBody>
                    <a:bodyPr/>
                    <a:lstStyle/>
                    <a:p>
                      <a:pPr algn="ctr">
                        <a:lnSpc>
                          <a:spcPct val="150000"/>
                        </a:lnSpc>
                        <a:spcAft>
                          <a:spcPts val="375"/>
                        </a:spcAft>
                      </a:pPr>
                      <a:r>
                        <a:rPr lang="zh-CN" sz="1400" kern="0" dirty="0">
                          <a:effectLst/>
                        </a:rPr>
                        <a:t>类型</a:t>
                      </a:r>
                      <a:endParaRPr lang="zh-CN" sz="1400" kern="100" dirty="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zh-CN" sz="1400" kern="0">
                          <a:effectLst/>
                        </a:rPr>
                        <a:t>代表产品</a:t>
                      </a:r>
                      <a:endParaRPr lang="zh-CN" sz="1400" kern="10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zh-CN" sz="1400" kern="0">
                          <a:effectLst/>
                        </a:rPr>
                        <a:t>特点</a:t>
                      </a:r>
                      <a:endParaRPr lang="zh-CN" sz="1400" kern="10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748728">
                <a:tc>
                  <a:txBody>
                    <a:bodyPr/>
                    <a:lstStyle/>
                    <a:p>
                      <a:pPr algn="ctr">
                        <a:lnSpc>
                          <a:spcPct val="150000"/>
                        </a:lnSpc>
                        <a:spcAft>
                          <a:spcPts val="375"/>
                        </a:spcAft>
                      </a:pPr>
                      <a:r>
                        <a:rPr lang="en-US" sz="1400" kern="0">
                          <a:effectLst/>
                        </a:rPr>
                        <a:t>Key-Value</a:t>
                      </a:r>
                      <a:r>
                        <a:rPr lang="zh-CN" sz="1400" kern="0">
                          <a:effectLst/>
                        </a:rPr>
                        <a:t>存储</a:t>
                      </a:r>
                      <a:endParaRPr lang="zh-CN" sz="1400" kern="100">
                        <a:effectLst/>
                        <a:latin typeface="Calibri"/>
                        <a:ea typeface="宋体"/>
                        <a:cs typeface="Times New Roman"/>
                      </a:endParaRPr>
                    </a:p>
                  </a:txBody>
                  <a:tcPr marL="68580" marR="68580" marT="0" marB="0" anchor="ctr"/>
                </a:tc>
                <a:tc>
                  <a:txBody>
                    <a:bodyPr/>
                    <a:lstStyle/>
                    <a:p>
                      <a:pPr algn="just">
                        <a:lnSpc>
                          <a:spcPct val="150000"/>
                        </a:lnSpc>
                        <a:spcAft>
                          <a:spcPts val="375"/>
                        </a:spcAft>
                      </a:pPr>
                      <a:r>
                        <a:rPr lang="en-US" sz="1400" kern="0">
                          <a:effectLst/>
                        </a:rPr>
                        <a:t>Dynamo</a:t>
                      </a:r>
                      <a:r>
                        <a:rPr lang="zh-CN" sz="1400" kern="0">
                          <a:effectLst/>
                        </a:rPr>
                        <a:t>、</a:t>
                      </a:r>
                      <a:r>
                        <a:rPr lang="en-US" sz="1400" kern="100">
                          <a:effectLst/>
                        </a:rPr>
                        <a:t>Voldemort</a:t>
                      </a:r>
                      <a:r>
                        <a:rPr lang="zh-CN" sz="1400" kern="0">
                          <a:effectLst/>
                        </a:rPr>
                        <a:t>、</a:t>
                      </a:r>
                      <a:r>
                        <a:rPr lang="en-US" sz="1400" kern="0">
                          <a:effectLst/>
                        </a:rPr>
                        <a:t>MemcacheDB</a:t>
                      </a:r>
                      <a:r>
                        <a:rPr lang="zh-CN" sz="1400" kern="0">
                          <a:effectLst/>
                        </a:rPr>
                        <a:t>、</a:t>
                      </a:r>
                      <a:r>
                        <a:rPr lang="en-US" sz="1400" kern="0">
                          <a:effectLst/>
                        </a:rPr>
                        <a:t>Redis</a:t>
                      </a:r>
                      <a:endParaRPr lang="zh-CN" sz="1400" kern="100">
                        <a:effectLst/>
                        <a:latin typeface="Calibri"/>
                        <a:ea typeface="宋体"/>
                        <a:cs typeface="Times New Roman"/>
                      </a:endParaRPr>
                    </a:p>
                  </a:txBody>
                  <a:tcPr marL="68580" marR="68580" marT="0" marB="0" anchor="ctr"/>
                </a:tc>
                <a:tc>
                  <a:txBody>
                    <a:bodyPr/>
                    <a:lstStyle/>
                    <a:p>
                      <a:pPr algn="just">
                        <a:lnSpc>
                          <a:spcPct val="150000"/>
                        </a:lnSpc>
                        <a:spcAft>
                          <a:spcPts val="375"/>
                        </a:spcAft>
                      </a:pPr>
                      <a:r>
                        <a:rPr lang="zh-CN" sz="1400" kern="0" dirty="0">
                          <a:effectLst/>
                        </a:rPr>
                        <a:t>可以通过</a:t>
                      </a:r>
                      <a:r>
                        <a:rPr lang="en-US" sz="1400" kern="0" dirty="0">
                          <a:effectLst/>
                        </a:rPr>
                        <a:t>Key</a:t>
                      </a:r>
                      <a:r>
                        <a:rPr lang="zh-CN" sz="1400" kern="0" dirty="0">
                          <a:effectLst/>
                        </a:rPr>
                        <a:t>快速查询相应</a:t>
                      </a:r>
                      <a:r>
                        <a:rPr lang="en-US" sz="1400" kern="0" dirty="0">
                          <a:effectLst/>
                        </a:rPr>
                        <a:t>Value</a:t>
                      </a:r>
                      <a:r>
                        <a:rPr lang="zh-CN" sz="1400" kern="0" dirty="0">
                          <a:effectLst/>
                        </a:rPr>
                        <a:t>，不必考虑</a:t>
                      </a:r>
                      <a:r>
                        <a:rPr lang="en-US" sz="1400" kern="0" dirty="0">
                          <a:effectLst/>
                        </a:rPr>
                        <a:t>Value</a:t>
                      </a:r>
                      <a:r>
                        <a:rPr lang="zh-CN" sz="1400" kern="0" dirty="0">
                          <a:effectLst/>
                        </a:rPr>
                        <a:t>的存储格式。</a:t>
                      </a:r>
                      <a:endParaRPr lang="zh-CN" sz="1400" kern="1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1149862">
                <a:tc>
                  <a:txBody>
                    <a:bodyPr/>
                    <a:lstStyle/>
                    <a:p>
                      <a:pPr algn="ctr">
                        <a:lnSpc>
                          <a:spcPct val="150000"/>
                        </a:lnSpc>
                        <a:spcAft>
                          <a:spcPts val="375"/>
                        </a:spcAft>
                      </a:pPr>
                      <a:r>
                        <a:rPr lang="zh-CN" sz="1400" kern="0">
                          <a:effectLst/>
                        </a:rPr>
                        <a:t>列存储</a:t>
                      </a:r>
                      <a:endParaRPr lang="zh-CN" sz="1400" kern="100">
                        <a:effectLst/>
                        <a:latin typeface="Calibri"/>
                        <a:ea typeface="宋体"/>
                        <a:cs typeface="Times New Roman"/>
                      </a:endParaRPr>
                    </a:p>
                  </a:txBody>
                  <a:tcPr marL="68580" marR="68580" marT="0" marB="0" anchor="ctr"/>
                </a:tc>
                <a:tc>
                  <a:txBody>
                    <a:bodyPr/>
                    <a:lstStyle/>
                    <a:p>
                      <a:pPr algn="just">
                        <a:lnSpc>
                          <a:spcPct val="150000"/>
                        </a:lnSpc>
                        <a:spcAft>
                          <a:spcPts val="375"/>
                        </a:spcAft>
                      </a:pPr>
                      <a:r>
                        <a:rPr lang="en-US" sz="1400" kern="0">
                          <a:effectLst/>
                        </a:rPr>
                        <a:t>Bigtable</a:t>
                      </a:r>
                      <a:r>
                        <a:rPr lang="zh-CN" sz="1400" kern="0">
                          <a:effectLst/>
                        </a:rPr>
                        <a:t>、</a:t>
                      </a:r>
                      <a:r>
                        <a:rPr lang="en-US" sz="1400" kern="0">
                          <a:effectLst/>
                        </a:rPr>
                        <a:t>Hbase</a:t>
                      </a:r>
                      <a:r>
                        <a:rPr lang="zh-CN" sz="1400" kern="0">
                          <a:effectLst/>
                        </a:rPr>
                        <a:t>、</a:t>
                      </a:r>
                      <a:r>
                        <a:rPr lang="en-US" sz="1400" kern="0">
                          <a:effectLst/>
                        </a:rPr>
                        <a:t>Cassandra</a:t>
                      </a:r>
                      <a:r>
                        <a:rPr lang="zh-CN" sz="1400" kern="0">
                          <a:effectLst/>
                        </a:rPr>
                        <a:t>、</a:t>
                      </a:r>
                      <a:r>
                        <a:rPr lang="en-US" sz="1400" kern="0">
                          <a:effectLst/>
                        </a:rPr>
                        <a:t>Hypertable</a:t>
                      </a:r>
                      <a:endParaRPr lang="zh-CN" sz="1400" kern="100">
                        <a:effectLst/>
                        <a:latin typeface="Calibri"/>
                        <a:ea typeface="宋体"/>
                        <a:cs typeface="Times New Roman"/>
                      </a:endParaRPr>
                    </a:p>
                  </a:txBody>
                  <a:tcPr marL="68580" marR="68580" marT="0" marB="0" anchor="ctr"/>
                </a:tc>
                <a:tc>
                  <a:txBody>
                    <a:bodyPr/>
                    <a:lstStyle/>
                    <a:p>
                      <a:pPr algn="just">
                        <a:lnSpc>
                          <a:spcPct val="150000"/>
                        </a:lnSpc>
                        <a:spcAft>
                          <a:spcPts val="375"/>
                        </a:spcAft>
                      </a:pPr>
                      <a:r>
                        <a:rPr lang="zh-CN" sz="1400" kern="0">
                          <a:effectLst/>
                        </a:rPr>
                        <a:t>方便存储结构化和半结构化数据，方便做数据压缩，对针对某一列或某几列的查询具有</a:t>
                      </a:r>
                      <a:r>
                        <a:rPr lang="en-US" sz="1400" kern="0">
                          <a:effectLst/>
                        </a:rPr>
                        <a:t>I/O</a:t>
                      </a:r>
                      <a:r>
                        <a:rPr lang="zh-CN" sz="1400" kern="0">
                          <a:effectLst/>
                        </a:rPr>
                        <a:t>优势</a:t>
                      </a:r>
                      <a:endParaRPr lang="zh-CN" sz="1400" kern="10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r h="1145137">
                <a:tc>
                  <a:txBody>
                    <a:bodyPr/>
                    <a:lstStyle/>
                    <a:p>
                      <a:pPr algn="ctr">
                        <a:lnSpc>
                          <a:spcPct val="150000"/>
                        </a:lnSpc>
                        <a:spcAft>
                          <a:spcPts val="375"/>
                        </a:spcAft>
                      </a:pPr>
                      <a:r>
                        <a:rPr lang="zh-CN" sz="1400" kern="0">
                          <a:effectLst/>
                        </a:rPr>
                        <a:t>文档存储</a:t>
                      </a:r>
                      <a:endParaRPr lang="zh-CN" sz="1400" kern="100">
                        <a:effectLst/>
                        <a:latin typeface="Calibri"/>
                        <a:ea typeface="宋体"/>
                        <a:cs typeface="Times New Roman"/>
                      </a:endParaRPr>
                    </a:p>
                  </a:txBody>
                  <a:tcPr marL="68580" marR="68580" marT="0" marB="0" anchor="ctr"/>
                </a:tc>
                <a:tc>
                  <a:txBody>
                    <a:bodyPr/>
                    <a:lstStyle/>
                    <a:p>
                      <a:pPr algn="just">
                        <a:lnSpc>
                          <a:spcPct val="150000"/>
                        </a:lnSpc>
                        <a:spcAft>
                          <a:spcPts val="375"/>
                        </a:spcAft>
                      </a:pPr>
                      <a:r>
                        <a:rPr lang="en-US" sz="1400" kern="100" dirty="0" err="1">
                          <a:effectLst/>
                        </a:rPr>
                        <a:t>SimpleDB</a:t>
                      </a:r>
                      <a:r>
                        <a:rPr lang="zh-CN" sz="1400" kern="100" dirty="0">
                          <a:effectLst/>
                        </a:rPr>
                        <a:t>、</a:t>
                      </a:r>
                      <a:r>
                        <a:rPr lang="en-US" sz="1400" kern="0" dirty="0" err="1">
                          <a:effectLst/>
                        </a:rPr>
                        <a:t>MongoDB</a:t>
                      </a:r>
                      <a:r>
                        <a:rPr lang="zh-CN" sz="1400" kern="0" dirty="0">
                          <a:effectLst/>
                        </a:rPr>
                        <a:t>、</a:t>
                      </a:r>
                      <a:r>
                        <a:rPr lang="en-US" sz="1400" kern="0" dirty="0" err="1">
                          <a:effectLst/>
                        </a:rPr>
                        <a:t>CouchDB</a:t>
                      </a:r>
                      <a:endParaRPr lang="zh-CN" sz="1400" kern="100" dirty="0">
                        <a:effectLst/>
                        <a:latin typeface="Calibri"/>
                        <a:ea typeface="宋体"/>
                        <a:cs typeface="Times New Roman"/>
                      </a:endParaRPr>
                    </a:p>
                  </a:txBody>
                  <a:tcPr marL="68580" marR="68580" marT="0" marB="0" anchor="ctr"/>
                </a:tc>
                <a:tc>
                  <a:txBody>
                    <a:bodyPr/>
                    <a:lstStyle/>
                    <a:p>
                      <a:pPr algn="just">
                        <a:lnSpc>
                          <a:spcPct val="150000"/>
                        </a:lnSpc>
                        <a:spcAft>
                          <a:spcPts val="375"/>
                        </a:spcAft>
                      </a:pPr>
                      <a:r>
                        <a:rPr lang="zh-CN" sz="1400" kern="0" dirty="0">
                          <a:effectLst/>
                        </a:rPr>
                        <a:t>一般用类似</a:t>
                      </a:r>
                      <a:r>
                        <a:rPr lang="en-US" sz="1400" kern="0" dirty="0">
                          <a:effectLst/>
                        </a:rPr>
                        <a:t>JSON</a:t>
                      </a:r>
                      <a:r>
                        <a:rPr lang="zh-CN" sz="1400" kern="0" dirty="0">
                          <a:effectLst/>
                        </a:rPr>
                        <a:t>的格式存储，存储的内容是文档型的，便于对某些字段建立索引，实现关系数据库的部分功能。</a:t>
                      </a:r>
                      <a:endParaRPr lang="zh-CN" sz="1400" kern="1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3"/>
                  </a:ext>
                </a:extLst>
              </a:tr>
              <a:tr h="753032">
                <a:tc>
                  <a:txBody>
                    <a:bodyPr/>
                    <a:lstStyle/>
                    <a:p>
                      <a:pPr algn="ctr">
                        <a:lnSpc>
                          <a:spcPct val="150000"/>
                        </a:lnSpc>
                        <a:spcAft>
                          <a:spcPts val="375"/>
                        </a:spcAft>
                      </a:pPr>
                      <a:r>
                        <a:rPr lang="zh-CN" sz="1400" kern="0">
                          <a:effectLst/>
                        </a:rPr>
                        <a:t>图存储</a:t>
                      </a:r>
                      <a:endParaRPr lang="zh-CN" sz="1400" kern="100">
                        <a:effectLst/>
                        <a:latin typeface="Calibri"/>
                        <a:ea typeface="宋体"/>
                        <a:cs typeface="Times New Roman"/>
                      </a:endParaRPr>
                    </a:p>
                  </a:txBody>
                  <a:tcPr marL="68580" marR="68580" marT="0" marB="0" anchor="ctr"/>
                </a:tc>
                <a:tc>
                  <a:txBody>
                    <a:bodyPr/>
                    <a:lstStyle/>
                    <a:p>
                      <a:pPr algn="just">
                        <a:lnSpc>
                          <a:spcPct val="150000"/>
                        </a:lnSpc>
                        <a:spcAft>
                          <a:spcPts val="375"/>
                        </a:spcAft>
                      </a:pPr>
                      <a:r>
                        <a:rPr lang="en-US" sz="1400" kern="0">
                          <a:effectLst/>
                        </a:rPr>
                        <a:t>Neo4j</a:t>
                      </a:r>
                      <a:r>
                        <a:rPr lang="zh-CN" sz="1400" kern="0">
                          <a:effectLst/>
                        </a:rPr>
                        <a:t>、</a:t>
                      </a:r>
                      <a:r>
                        <a:rPr lang="en-US" sz="1400" kern="0">
                          <a:effectLst/>
                        </a:rPr>
                        <a:t>Pregel</a:t>
                      </a:r>
                      <a:r>
                        <a:rPr lang="zh-CN" sz="1400" kern="0">
                          <a:effectLst/>
                        </a:rPr>
                        <a:t>、</a:t>
                      </a:r>
                      <a:r>
                        <a:rPr lang="en-US" sz="1400" kern="0">
                          <a:effectLst/>
                        </a:rPr>
                        <a:t>FlockDB</a:t>
                      </a:r>
                      <a:endParaRPr lang="zh-CN" sz="1400" kern="100">
                        <a:effectLst/>
                        <a:latin typeface="Calibri"/>
                        <a:ea typeface="宋体"/>
                        <a:cs typeface="Times New Roman"/>
                      </a:endParaRPr>
                    </a:p>
                  </a:txBody>
                  <a:tcPr marL="68580" marR="68580" marT="0" marB="0" anchor="ctr"/>
                </a:tc>
                <a:tc>
                  <a:txBody>
                    <a:bodyPr/>
                    <a:lstStyle/>
                    <a:p>
                      <a:pPr algn="just">
                        <a:lnSpc>
                          <a:spcPct val="150000"/>
                        </a:lnSpc>
                        <a:spcAft>
                          <a:spcPts val="375"/>
                        </a:spcAft>
                      </a:pPr>
                      <a:r>
                        <a:rPr lang="zh-CN" sz="1400" kern="0">
                          <a:effectLst/>
                        </a:rPr>
                        <a:t>图形关系的最佳存储，如果使用关系型数据库存储的话，性能低下，而且设计复杂。</a:t>
                      </a:r>
                      <a:endParaRPr lang="zh-CN" sz="1400" kern="100">
                        <a:effectLst/>
                        <a:latin typeface="Calibri"/>
                        <a:ea typeface="宋体"/>
                        <a:cs typeface="Times New Roman"/>
                      </a:endParaRPr>
                    </a:p>
                  </a:txBody>
                  <a:tcPr marL="68580" marR="68580" marT="0" marB="0" anchor="ctr"/>
                </a:tc>
                <a:extLst>
                  <a:ext uri="{0D108BD9-81ED-4DB2-BD59-A6C34878D82A}">
                    <a16:rowId xmlns:a16="http://schemas.microsoft.com/office/drawing/2014/main" val="10004"/>
                  </a:ext>
                </a:extLst>
              </a:tr>
              <a:tr h="748308">
                <a:tc>
                  <a:txBody>
                    <a:bodyPr/>
                    <a:lstStyle/>
                    <a:p>
                      <a:pPr algn="ctr">
                        <a:lnSpc>
                          <a:spcPct val="150000"/>
                        </a:lnSpc>
                        <a:spcAft>
                          <a:spcPts val="375"/>
                        </a:spcAft>
                      </a:pPr>
                      <a:r>
                        <a:rPr lang="zh-CN" sz="1400" kern="0">
                          <a:effectLst/>
                        </a:rPr>
                        <a:t>对象存储</a:t>
                      </a:r>
                      <a:endParaRPr lang="zh-CN" sz="1400" kern="100">
                        <a:effectLst/>
                        <a:latin typeface="Calibri"/>
                        <a:ea typeface="宋体"/>
                        <a:cs typeface="Times New Roman"/>
                      </a:endParaRPr>
                    </a:p>
                  </a:txBody>
                  <a:tcPr marL="68580" marR="68580" marT="0" marB="0" anchor="ctr"/>
                </a:tc>
                <a:tc>
                  <a:txBody>
                    <a:bodyPr/>
                    <a:lstStyle/>
                    <a:p>
                      <a:pPr algn="just">
                        <a:lnSpc>
                          <a:spcPct val="150000"/>
                        </a:lnSpc>
                        <a:spcAft>
                          <a:spcPts val="375"/>
                        </a:spcAft>
                      </a:pPr>
                      <a:r>
                        <a:rPr lang="en-US" sz="1400" kern="0">
                          <a:effectLst/>
                        </a:rPr>
                        <a:t>Db4o</a:t>
                      </a:r>
                      <a:r>
                        <a:rPr lang="zh-CN" sz="1400" kern="0">
                          <a:effectLst/>
                        </a:rPr>
                        <a:t>、</a:t>
                      </a:r>
                      <a:r>
                        <a:rPr lang="en-US" sz="1400" kern="0">
                          <a:effectLst/>
                        </a:rPr>
                        <a:t>Versant</a:t>
                      </a:r>
                      <a:endParaRPr lang="zh-CN" sz="1400" kern="100">
                        <a:effectLst/>
                        <a:latin typeface="Calibri"/>
                        <a:ea typeface="宋体"/>
                        <a:cs typeface="Times New Roman"/>
                      </a:endParaRPr>
                    </a:p>
                  </a:txBody>
                  <a:tcPr marL="68580" marR="68580" marT="0" marB="0" anchor="ctr"/>
                </a:tc>
                <a:tc>
                  <a:txBody>
                    <a:bodyPr/>
                    <a:lstStyle/>
                    <a:p>
                      <a:pPr algn="just">
                        <a:lnSpc>
                          <a:spcPct val="150000"/>
                        </a:lnSpc>
                        <a:spcAft>
                          <a:spcPts val="375"/>
                        </a:spcAft>
                      </a:pPr>
                      <a:r>
                        <a:rPr lang="zh-CN" sz="1400" kern="0" dirty="0">
                          <a:effectLst/>
                        </a:rPr>
                        <a:t>通过类似面向对象语言的语法操作数据库，通过对象的方式存取数据。</a:t>
                      </a:r>
                      <a:endParaRPr lang="zh-CN" sz="1400" kern="1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5"/>
                  </a:ext>
                </a:extLst>
              </a:tr>
            </a:tbl>
          </a:graphicData>
        </a:graphic>
      </p:graphicFrame>
      <p:pic>
        <p:nvPicPr>
          <p:cNvPr id="8" name="图片 4" descr="4.jpg"/>
          <p:cNvPicPr>
            <a:picLocks noChangeAspect="1"/>
          </p:cNvPicPr>
          <p:nvPr/>
        </p:nvPicPr>
        <p:blipFill>
          <a:blip r:embed="rId2"/>
          <a:srcRect/>
          <a:stretch>
            <a:fillRect/>
          </a:stretch>
        </p:blipFill>
        <p:spPr bwMode="auto">
          <a:xfrm>
            <a:off x="1" y="0"/>
            <a:ext cx="4214809" cy="785794"/>
          </a:xfrm>
          <a:prstGeom prst="rect">
            <a:avLst/>
          </a:prstGeom>
          <a:noFill/>
          <a:ln w="9525">
            <a:noFill/>
            <a:miter lim="800000"/>
            <a:headEnd/>
            <a:tailEnd/>
          </a:ln>
        </p:spPr>
      </p:pic>
    </p:spTree>
    <p:extLst>
      <p:ext uri="{BB962C8B-B14F-4D97-AF65-F5344CB8AC3E}">
        <p14:creationId xmlns:p14="http://schemas.microsoft.com/office/powerpoint/2010/main" val="8132310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71800" y="0"/>
            <a:ext cx="6372200" cy="692696"/>
          </a:xfrm>
        </p:spPr>
        <p:txBody>
          <a:bodyPr/>
          <a:lstStyle/>
          <a:p>
            <a:pPr algn="r"/>
            <a:r>
              <a:rPr lang="en-US" altLang="zh-CN" dirty="0" err="1"/>
              <a:t>NoSQL</a:t>
            </a:r>
            <a:r>
              <a:rPr lang="zh-CN" altLang="en-US" dirty="0"/>
              <a:t>数据库性能对比</a:t>
            </a:r>
          </a:p>
        </p:txBody>
      </p:sp>
      <p:sp>
        <p:nvSpPr>
          <p:cNvPr id="4" name="日期占位符 3"/>
          <p:cNvSpPr>
            <a:spLocks noGrp="1"/>
          </p:cNvSpPr>
          <p:nvPr>
            <p:ph type="dt" sz="half" idx="10"/>
          </p:nvPr>
        </p:nvSpPr>
        <p:spPr/>
        <p:txBody>
          <a:bodyPr/>
          <a:lstStyle/>
          <a:p>
            <a:fld id="{AAA3484A-CA2E-45E0-B405-28587CFBD2C0}" type="datetime1">
              <a:rPr lang="zh-CN" altLang="en-US" smtClean="0"/>
              <a:pPr/>
              <a:t>2022/5/1</a:t>
            </a:fld>
            <a:endParaRPr lang="zh-CN" altLang="en-US"/>
          </a:p>
        </p:txBody>
      </p:sp>
      <p:sp>
        <p:nvSpPr>
          <p:cNvPr id="5" name="页脚占位符 4"/>
          <p:cNvSpPr>
            <a:spLocks noGrp="1"/>
          </p:cNvSpPr>
          <p:nvPr>
            <p:ph type="ftr" sz="quarter" idx="11"/>
          </p:nvPr>
        </p:nvSpPr>
        <p:spPr/>
        <p:txBody>
          <a:bodyPr/>
          <a:lstStyle/>
          <a:p>
            <a:r>
              <a:rPr lang="zh-CN" altLang="en-US"/>
              <a:t>大数据技术解析</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17</a:t>
            </a:fld>
            <a:endParaRPr lang="zh-CN" altLang="en-US"/>
          </a:p>
        </p:txBody>
      </p:sp>
      <p:graphicFrame>
        <p:nvGraphicFramePr>
          <p:cNvPr id="7" name="表格 6"/>
          <p:cNvGraphicFramePr>
            <a:graphicFrameLocks noGrp="1"/>
          </p:cNvGraphicFramePr>
          <p:nvPr>
            <p:extLst>
              <p:ext uri="{D42A27DB-BD31-4B8C-83A1-F6EECF244321}">
                <p14:modId xmlns:p14="http://schemas.microsoft.com/office/powerpoint/2010/main" val="4037599202"/>
              </p:ext>
            </p:extLst>
          </p:nvPr>
        </p:nvGraphicFramePr>
        <p:xfrm>
          <a:off x="755574" y="1268759"/>
          <a:ext cx="7560841" cy="4824535"/>
        </p:xfrm>
        <a:graphic>
          <a:graphicData uri="http://schemas.openxmlformats.org/drawingml/2006/table">
            <a:tbl>
              <a:tblPr firstRow="1" firstCol="1" bandRow="1">
                <a:tableStyleId>{5C22544A-7EE6-4342-B048-85BDC9FD1C3A}</a:tableStyleId>
              </a:tblPr>
              <a:tblGrid>
                <a:gridCol w="1339584">
                  <a:extLst>
                    <a:ext uri="{9D8B030D-6E8A-4147-A177-3AD203B41FA5}">
                      <a16:colId xmlns:a16="http://schemas.microsoft.com/office/drawing/2014/main" val="20000"/>
                    </a:ext>
                  </a:extLst>
                </a:gridCol>
                <a:gridCol w="1243901">
                  <a:extLst>
                    <a:ext uri="{9D8B030D-6E8A-4147-A177-3AD203B41FA5}">
                      <a16:colId xmlns:a16="http://schemas.microsoft.com/office/drawing/2014/main" val="20001"/>
                    </a:ext>
                  </a:extLst>
                </a:gridCol>
                <a:gridCol w="1369431">
                  <a:extLst>
                    <a:ext uri="{9D8B030D-6E8A-4147-A177-3AD203B41FA5}">
                      <a16:colId xmlns:a16="http://schemas.microsoft.com/office/drawing/2014/main" val="20002"/>
                    </a:ext>
                  </a:extLst>
                </a:gridCol>
                <a:gridCol w="1000739">
                  <a:extLst>
                    <a:ext uri="{9D8B030D-6E8A-4147-A177-3AD203B41FA5}">
                      <a16:colId xmlns:a16="http://schemas.microsoft.com/office/drawing/2014/main" val="20003"/>
                    </a:ext>
                  </a:extLst>
                </a:gridCol>
                <a:gridCol w="1119247">
                  <a:extLst>
                    <a:ext uri="{9D8B030D-6E8A-4147-A177-3AD203B41FA5}">
                      <a16:colId xmlns:a16="http://schemas.microsoft.com/office/drawing/2014/main" val="20004"/>
                    </a:ext>
                  </a:extLst>
                </a:gridCol>
                <a:gridCol w="1487939">
                  <a:extLst>
                    <a:ext uri="{9D8B030D-6E8A-4147-A177-3AD203B41FA5}">
                      <a16:colId xmlns:a16="http://schemas.microsoft.com/office/drawing/2014/main" val="20005"/>
                    </a:ext>
                  </a:extLst>
                </a:gridCol>
              </a:tblGrid>
              <a:tr h="1113354">
                <a:tc>
                  <a:txBody>
                    <a:bodyPr/>
                    <a:lstStyle/>
                    <a:p>
                      <a:pPr algn="ctr">
                        <a:lnSpc>
                          <a:spcPct val="150000"/>
                        </a:lnSpc>
                        <a:spcAft>
                          <a:spcPts val="375"/>
                        </a:spcAft>
                      </a:pPr>
                      <a:r>
                        <a:rPr lang="zh-CN" sz="1400" kern="0" dirty="0">
                          <a:effectLst/>
                        </a:rPr>
                        <a:t>类型</a:t>
                      </a:r>
                      <a:endParaRPr lang="zh-CN" sz="1400" kern="100" dirty="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a:effectLst/>
                        </a:rPr>
                        <a:t>Performance</a:t>
                      </a:r>
                      <a:endParaRPr lang="zh-CN" sz="1400" kern="10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a:effectLst/>
                        </a:rPr>
                        <a:t>Scalability</a:t>
                      </a:r>
                      <a:endParaRPr lang="zh-CN" sz="1400" kern="10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a:effectLst/>
                        </a:rPr>
                        <a:t>Flexibility</a:t>
                      </a:r>
                      <a:endParaRPr lang="zh-CN" sz="1400" kern="10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a:effectLst/>
                        </a:rPr>
                        <a:t>Complexity</a:t>
                      </a:r>
                      <a:endParaRPr lang="zh-CN" sz="1400" kern="10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a:effectLst/>
                        </a:rPr>
                        <a:t>Functionality</a:t>
                      </a:r>
                      <a:endParaRPr lang="zh-CN" sz="1400" kern="10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1060337">
                <a:tc>
                  <a:txBody>
                    <a:bodyPr/>
                    <a:lstStyle/>
                    <a:p>
                      <a:pPr algn="ctr">
                        <a:lnSpc>
                          <a:spcPct val="150000"/>
                        </a:lnSpc>
                        <a:spcAft>
                          <a:spcPts val="375"/>
                        </a:spcAft>
                      </a:pPr>
                      <a:r>
                        <a:rPr lang="en-US" sz="1200" kern="0" dirty="0">
                          <a:effectLst/>
                        </a:rPr>
                        <a:t>Key-Value</a:t>
                      </a:r>
                      <a:r>
                        <a:rPr lang="zh-CN" sz="1200" kern="0" dirty="0">
                          <a:effectLst/>
                        </a:rPr>
                        <a:t>存储</a:t>
                      </a:r>
                      <a:endParaRPr lang="zh-CN" sz="1400" kern="100" dirty="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dirty="0">
                          <a:effectLst/>
                        </a:rPr>
                        <a:t>High</a:t>
                      </a:r>
                      <a:endParaRPr lang="zh-CN" sz="1600" kern="100" dirty="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dirty="0">
                          <a:effectLst/>
                        </a:rPr>
                        <a:t>High</a:t>
                      </a:r>
                      <a:endParaRPr lang="zh-CN" sz="1600" kern="100" dirty="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a:effectLst/>
                        </a:rPr>
                        <a:t>High</a:t>
                      </a:r>
                      <a:endParaRPr lang="zh-CN" sz="1600" kern="10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a:effectLst/>
                        </a:rPr>
                        <a:t>None</a:t>
                      </a:r>
                      <a:endParaRPr lang="zh-CN" sz="1600" kern="10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a:effectLst/>
                        </a:rPr>
                        <a:t>Variable(None)</a:t>
                      </a:r>
                      <a:endParaRPr lang="zh-CN" sz="1600" kern="10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530169">
                <a:tc>
                  <a:txBody>
                    <a:bodyPr/>
                    <a:lstStyle/>
                    <a:p>
                      <a:pPr algn="ctr">
                        <a:lnSpc>
                          <a:spcPct val="150000"/>
                        </a:lnSpc>
                        <a:spcAft>
                          <a:spcPts val="375"/>
                        </a:spcAft>
                      </a:pPr>
                      <a:r>
                        <a:rPr lang="zh-CN" sz="1200" kern="0">
                          <a:effectLst/>
                        </a:rPr>
                        <a:t>列存储</a:t>
                      </a:r>
                      <a:endParaRPr lang="zh-CN" sz="1400" kern="10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a:effectLst/>
                        </a:rPr>
                        <a:t>High</a:t>
                      </a:r>
                      <a:endParaRPr lang="zh-CN" sz="1600" kern="10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dirty="0">
                          <a:effectLst/>
                        </a:rPr>
                        <a:t>High</a:t>
                      </a:r>
                      <a:endParaRPr lang="zh-CN" sz="1600" kern="100" dirty="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a:effectLst/>
                        </a:rPr>
                        <a:t>Moderate</a:t>
                      </a:r>
                      <a:endParaRPr lang="zh-CN" sz="1600" kern="10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a:effectLst/>
                        </a:rPr>
                        <a:t>Low</a:t>
                      </a:r>
                      <a:endParaRPr lang="zh-CN" sz="1600" kern="10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a:effectLst/>
                        </a:rPr>
                        <a:t>Minimal</a:t>
                      </a:r>
                      <a:endParaRPr lang="zh-CN" sz="1600" kern="10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r h="530169">
                <a:tc>
                  <a:txBody>
                    <a:bodyPr/>
                    <a:lstStyle/>
                    <a:p>
                      <a:pPr algn="ctr">
                        <a:lnSpc>
                          <a:spcPct val="150000"/>
                        </a:lnSpc>
                        <a:spcAft>
                          <a:spcPts val="375"/>
                        </a:spcAft>
                      </a:pPr>
                      <a:r>
                        <a:rPr lang="zh-CN" sz="1200" kern="0">
                          <a:effectLst/>
                        </a:rPr>
                        <a:t>文档存储</a:t>
                      </a:r>
                      <a:endParaRPr lang="zh-CN" sz="1400" kern="10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a:effectLst/>
                        </a:rPr>
                        <a:t>High</a:t>
                      </a:r>
                      <a:endParaRPr lang="zh-CN" sz="1600" kern="10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dirty="0">
                          <a:effectLst/>
                        </a:rPr>
                        <a:t>Variable(High)</a:t>
                      </a:r>
                      <a:endParaRPr lang="zh-CN" sz="1600" kern="100" dirty="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dirty="0">
                          <a:effectLst/>
                        </a:rPr>
                        <a:t>High</a:t>
                      </a:r>
                      <a:endParaRPr lang="zh-CN" sz="1600" kern="100" dirty="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a:effectLst/>
                        </a:rPr>
                        <a:t>Low</a:t>
                      </a:r>
                      <a:endParaRPr lang="zh-CN" sz="1600" kern="10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a:effectLst/>
                        </a:rPr>
                        <a:t>Variable(Low)</a:t>
                      </a:r>
                      <a:endParaRPr lang="zh-CN" sz="1600" kern="100">
                        <a:effectLst/>
                        <a:latin typeface="Calibri"/>
                        <a:ea typeface="宋体"/>
                        <a:cs typeface="Times New Roman"/>
                      </a:endParaRPr>
                    </a:p>
                  </a:txBody>
                  <a:tcPr marL="68580" marR="68580" marT="0" marB="0" anchor="ctr"/>
                </a:tc>
                <a:extLst>
                  <a:ext uri="{0D108BD9-81ED-4DB2-BD59-A6C34878D82A}">
                    <a16:rowId xmlns:a16="http://schemas.microsoft.com/office/drawing/2014/main" val="10003"/>
                  </a:ext>
                </a:extLst>
              </a:tr>
              <a:tr h="530169">
                <a:tc>
                  <a:txBody>
                    <a:bodyPr/>
                    <a:lstStyle/>
                    <a:p>
                      <a:pPr algn="ctr">
                        <a:lnSpc>
                          <a:spcPct val="150000"/>
                        </a:lnSpc>
                        <a:spcAft>
                          <a:spcPts val="375"/>
                        </a:spcAft>
                      </a:pPr>
                      <a:r>
                        <a:rPr lang="zh-CN" sz="1200" kern="0">
                          <a:effectLst/>
                        </a:rPr>
                        <a:t>图存储</a:t>
                      </a:r>
                      <a:endParaRPr lang="zh-CN" sz="1400" kern="10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a:effectLst/>
                        </a:rPr>
                        <a:t>Variable</a:t>
                      </a:r>
                      <a:endParaRPr lang="zh-CN" sz="1600" kern="10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a:effectLst/>
                        </a:rPr>
                        <a:t>Variable</a:t>
                      </a:r>
                      <a:endParaRPr lang="zh-CN" sz="1600" kern="10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a:effectLst/>
                        </a:rPr>
                        <a:t>High</a:t>
                      </a:r>
                      <a:endParaRPr lang="zh-CN" sz="1600" kern="10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dirty="0">
                          <a:effectLst/>
                        </a:rPr>
                        <a:t>High</a:t>
                      </a:r>
                      <a:endParaRPr lang="zh-CN" sz="1600" kern="100" dirty="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a:effectLst/>
                        </a:rPr>
                        <a:t>Graph theory</a:t>
                      </a:r>
                      <a:endParaRPr lang="zh-CN" sz="1600" kern="100">
                        <a:effectLst/>
                        <a:latin typeface="Calibri"/>
                        <a:ea typeface="宋体"/>
                        <a:cs typeface="Times New Roman"/>
                      </a:endParaRPr>
                    </a:p>
                  </a:txBody>
                  <a:tcPr marL="68580" marR="68580" marT="0" marB="0" anchor="ctr"/>
                </a:tc>
                <a:extLst>
                  <a:ext uri="{0D108BD9-81ED-4DB2-BD59-A6C34878D82A}">
                    <a16:rowId xmlns:a16="http://schemas.microsoft.com/office/drawing/2014/main" val="10004"/>
                  </a:ext>
                </a:extLst>
              </a:tr>
              <a:tr h="1060337">
                <a:tc>
                  <a:txBody>
                    <a:bodyPr/>
                    <a:lstStyle/>
                    <a:p>
                      <a:pPr algn="ctr">
                        <a:lnSpc>
                          <a:spcPct val="150000"/>
                        </a:lnSpc>
                        <a:spcAft>
                          <a:spcPts val="375"/>
                        </a:spcAft>
                      </a:pPr>
                      <a:r>
                        <a:rPr lang="zh-CN" sz="1200" kern="0">
                          <a:effectLst/>
                        </a:rPr>
                        <a:t>并行数据库</a:t>
                      </a:r>
                      <a:endParaRPr lang="zh-CN" sz="1400" kern="10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dirty="0">
                          <a:effectLst/>
                        </a:rPr>
                        <a:t>Variable</a:t>
                      </a:r>
                      <a:endParaRPr lang="zh-CN" sz="1600" kern="100" dirty="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a:effectLst/>
                        </a:rPr>
                        <a:t>Variable</a:t>
                      </a:r>
                      <a:endParaRPr lang="zh-CN" sz="1600" kern="10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a:effectLst/>
                        </a:rPr>
                        <a:t>Low</a:t>
                      </a:r>
                      <a:endParaRPr lang="zh-CN" sz="1600" kern="10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dirty="0">
                          <a:effectLst/>
                        </a:rPr>
                        <a:t>Moderate</a:t>
                      </a:r>
                      <a:endParaRPr lang="zh-CN" sz="1600" kern="100" dirty="0">
                        <a:effectLst/>
                        <a:latin typeface="Calibri"/>
                        <a:ea typeface="宋体"/>
                        <a:cs typeface="Times New Roman"/>
                      </a:endParaRPr>
                    </a:p>
                  </a:txBody>
                  <a:tcPr marL="68580" marR="68580" marT="0" marB="0" anchor="ctr"/>
                </a:tc>
                <a:tc>
                  <a:txBody>
                    <a:bodyPr/>
                    <a:lstStyle/>
                    <a:p>
                      <a:pPr algn="ctr">
                        <a:lnSpc>
                          <a:spcPct val="150000"/>
                        </a:lnSpc>
                        <a:spcAft>
                          <a:spcPts val="375"/>
                        </a:spcAft>
                      </a:pPr>
                      <a:r>
                        <a:rPr lang="en-US" sz="1400" kern="0" dirty="0">
                          <a:effectLst/>
                        </a:rPr>
                        <a:t>Relational algebra</a:t>
                      </a:r>
                      <a:endParaRPr lang="zh-CN" sz="1600" kern="1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5"/>
                  </a:ext>
                </a:extLst>
              </a:tr>
            </a:tbl>
          </a:graphicData>
        </a:graphic>
      </p:graphicFrame>
      <p:pic>
        <p:nvPicPr>
          <p:cNvPr id="8" name="图片 4" descr="4.jpg"/>
          <p:cNvPicPr>
            <a:picLocks noChangeAspect="1"/>
          </p:cNvPicPr>
          <p:nvPr/>
        </p:nvPicPr>
        <p:blipFill>
          <a:blip r:embed="rId2"/>
          <a:srcRect/>
          <a:stretch>
            <a:fillRect/>
          </a:stretch>
        </p:blipFill>
        <p:spPr bwMode="auto">
          <a:xfrm>
            <a:off x="1" y="0"/>
            <a:ext cx="4214809" cy="785794"/>
          </a:xfrm>
          <a:prstGeom prst="rect">
            <a:avLst/>
          </a:prstGeom>
          <a:noFill/>
          <a:ln w="9525">
            <a:noFill/>
            <a:miter lim="800000"/>
            <a:headEnd/>
            <a:tailEnd/>
          </a:ln>
        </p:spPr>
      </p:pic>
    </p:spTree>
    <p:extLst>
      <p:ext uri="{BB962C8B-B14F-4D97-AF65-F5344CB8AC3E}">
        <p14:creationId xmlns:p14="http://schemas.microsoft.com/office/powerpoint/2010/main" val="596845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21768" y="0"/>
            <a:ext cx="5710671" cy="776495"/>
          </a:xfrm>
          <a:prstGeom prst="rect">
            <a:avLst/>
          </a:prstGeom>
          <a:noFill/>
        </p:spPr>
        <p:txBody>
          <a:bodyPr wrap="square" rtlCol="0">
            <a:spAutoFit/>
          </a:bodyPr>
          <a:lstStyle/>
          <a:p>
            <a:pPr algn="r">
              <a:lnSpc>
                <a:spcPts val="5800"/>
              </a:lnSpc>
              <a:spcBef>
                <a:spcPct val="0"/>
              </a:spcBef>
            </a:pPr>
            <a:r>
              <a:rPr lang="zh-CN" altLang="en-US" sz="3600" dirty="0">
                <a:solidFill>
                  <a:schemeClr val="tx2"/>
                </a:solidFill>
                <a:effectLst>
                  <a:outerShdw blurRad="63500" dist="38100" dir="5400000" algn="t" rotWithShape="0">
                    <a:prstClr val="black">
                      <a:alpha val="25000"/>
                    </a:prstClr>
                  </a:outerShdw>
                </a:effectLst>
                <a:ea typeface="+mj-ea"/>
                <a:cs typeface="+mj-cs"/>
              </a:rPr>
              <a:t>主要分类</a:t>
            </a:r>
          </a:p>
        </p:txBody>
      </p:sp>
      <p:sp>
        <p:nvSpPr>
          <p:cNvPr id="2" name="日期占位符 1"/>
          <p:cNvSpPr>
            <a:spLocks noGrp="1"/>
          </p:cNvSpPr>
          <p:nvPr>
            <p:ph type="dt" sz="half" idx="10"/>
          </p:nvPr>
        </p:nvSpPr>
        <p:spPr/>
        <p:txBody>
          <a:bodyPr/>
          <a:lstStyle/>
          <a:p>
            <a:fld id="{99403276-9EE4-43F6-A087-B50A910E58E2}" type="datetime1">
              <a:rPr lang="zh-CN" altLang="en-US" smtClean="0"/>
              <a:pPr/>
              <a:t>2022/5/1</a:t>
            </a:fld>
            <a:endParaRPr lang="zh-CN" altLang="en-US"/>
          </a:p>
        </p:txBody>
      </p:sp>
      <p:sp>
        <p:nvSpPr>
          <p:cNvPr id="3" name="页脚占位符 2"/>
          <p:cNvSpPr>
            <a:spLocks noGrp="1"/>
          </p:cNvSpPr>
          <p:nvPr>
            <p:ph type="ftr" sz="quarter" idx="11"/>
          </p:nvPr>
        </p:nvSpPr>
        <p:spPr/>
        <p:txBody>
          <a:bodyPr/>
          <a:lstStyle/>
          <a:p>
            <a:r>
              <a:rPr lang="zh-CN" altLang="en-US" dirty="0"/>
              <a:t>大数据处理</a:t>
            </a:r>
          </a:p>
        </p:txBody>
      </p:sp>
      <p:sp>
        <p:nvSpPr>
          <p:cNvPr id="10" name="灯片编号占位符 9"/>
          <p:cNvSpPr>
            <a:spLocks noGrp="1"/>
          </p:cNvSpPr>
          <p:nvPr>
            <p:ph type="sldNum" sz="quarter" idx="12"/>
          </p:nvPr>
        </p:nvSpPr>
        <p:spPr/>
        <p:txBody>
          <a:bodyPr/>
          <a:lstStyle/>
          <a:p>
            <a:fld id="{0C913308-F349-4B6D-A68A-DD1791B4A57B}" type="slidenum">
              <a:rPr lang="zh-CN" altLang="en-US" smtClean="0"/>
              <a:pPr/>
              <a:t>18</a:t>
            </a:fld>
            <a:endParaRPr lang="zh-CN" altLang="en-US"/>
          </a:p>
        </p:txBody>
      </p:sp>
      <p:pic>
        <p:nvPicPr>
          <p:cNvPr id="11" name="图片 4" descr="4.jpg"/>
          <p:cNvPicPr>
            <a:picLocks noChangeAspect="1"/>
          </p:cNvPicPr>
          <p:nvPr/>
        </p:nvPicPr>
        <p:blipFill>
          <a:blip r:embed="rId2"/>
          <a:srcRect/>
          <a:stretch>
            <a:fillRect/>
          </a:stretch>
        </p:blipFill>
        <p:spPr bwMode="auto">
          <a:xfrm>
            <a:off x="1" y="0"/>
            <a:ext cx="4214809" cy="785794"/>
          </a:xfrm>
          <a:prstGeom prst="rect">
            <a:avLst/>
          </a:prstGeom>
          <a:noFill/>
          <a:ln w="9525">
            <a:noFill/>
            <a:miter lim="800000"/>
            <a:headEnd/>
            <a:tailEnd/>
          </a:ln>
        </p:spPr>
      </p:pic>
      <p:pic>
        <p:nvPicPr>
          <p:cNvPr id="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1412776"/>
            <a:ext cx="8129779" cy="46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75930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21768" y="0"/>
            <a:ext cx="5710671" cy="776495"/>
          </a:xfrm>
          <a:prstGeom prst="rect">
            <a:avLst/>
          </a:prstGeom>
          <a:noFill/>
        </p:spPr>
        <p:txBody>
          <a:bodyPr wrap="square" rtlCol="0">
            <a:spAutoFit/>
          </a:bodyPr>
          <a:lstStyle/>
          <a:p>
            <a:pPr algn="r">
              <a:lnSpc>
                <a:spcPts val="5800"/>
              </a:lnSpc>
              <a:spcBef>
                <a:spcPct val="0"/>
              </a:spcBef>
            </a:pPr>
            <a:r>
              <a:rPr lang="zh-CN" altLang="en-US" sz="3600" dirty="0">
                <a:solidFill>
                  <a:schemeClr val="tx2"/>
                </a:solidFill>
                <a:effectLst>
                  <a:outerShdw blurRad="63500" dist="38100" dir="5400000" algn="t" rotWithShape="0">
                    <a:prstClr val="black">
                      <a:alpha val="25000"/>
                    </a:prstClr>
                  </a:outerShdw>
                </a:effectLst>
                <a:ea typeface="+mj-ea"/>
                <a:cs typeface="+mj-cs"/>
              </a:rPr>
              <a:t>主要分类</a:t>
            </a:r>
          </a:p>
        </p:txBody>
      </p:sp>
      <p:sp>
        <p:nvSpPr>
          <p:cNvPr id="2" name="日期占位符 1"/>
          <p:cNvSpPr>
            <a:spLocks noGrp="1"/>
          </p:cNvSpPr>
          <p:nvPr>
            <p:ph type="dt" sz="half" idx="10"/>
          </p:nvPr>
        </p:nvSpPr>
        <p:spPr/>
        <p:txBody>
          <a:bodyPr/>
          <a:lstStyle/>
          <a:p>
            <a:fld id="{99403276-9EE4-43F6-A087-B50A910E58E2}" type="datetime1">
              <a:rPr lang="zh-CN" altLang="en-US" smtClean="0"/>
              <a:pPr/>
              <a:t>2022/5/1</a:t>
            </a:fld>
            <a:endParaRPr lang="zh-CN" altLang="en-US"/>
          </a:p>
        </p:txBody>
      </p:sp>
      <p:sp>
        <p:nvSpPr>
          <p:cNvPr id="3" name="页脚占位符 2"/>
          <p:cNvSpPr>
            <a:spLocks noGrp="1"/>
          </p:cNvSpPr>
          <p:nvPr>
            <p:ph type="ftr" sz="quarter" idx="11"/>
          </p:nvPr>
        </p:nvSpPr>
        <p:spPr/>
        <p:txBody>
          <a:bodyPr/>
          <a:lstStyle/>
          <a:p>
            <a:r>
              <a:rPr lang="zh-CN" altLang="en-US" dirty="0"/>
              <a:t>大数据处理</a:t>
            </a:r>
          </a:p>
        </p:txBody>
      </p:sp>
      <p:sp>
        <p:nvSpPr>
          <p:cNvPr id="10" name="灯片编号占位符 9"/>
          <p:cNvSpPr>
            <a:spLocks noGrp="1"/>
          </p:cNvSpPr>
          <p:nvPr>
            <p:ph type="sldNum" sz="quarter" idx="12"/>
          </p:nvPr>
        </p:nvSpPr>
        <p:spPr/>
        <p:txBody>
          <a:bodyPr/>
          <a:lstStyle/>
          <a:p>
            <a:fld id="{0C913308-F349-4B6D-A68A-DD1791B4A57B}" type="slidenum">
              <a:rPr lang="zh-CN" altLang="en-US" smtClean="0"/>
              <a:pPr/>
              <a:t>19</a:t>
            </a:fld>
            <a:endParaRPr lang="zh-CN" altLang="en-US"/>
          </a:p>
        </p:txBody>
      </p:sp>
      <p:pic>
        <p:nvPicPr>
          <p:cNvPr id="11" name="图片 4" descr="4.jpg"/>
          <p:cNvPicPr>
            <a:picLocks noChangeAspect="1"/>
          </p:cNvPicPr>
          <p:nvPr/>
        </p:nvPicPr>
        <p:blipFill>
          <a:blip r:embed="rId2"/>
          <a:srcRect/>
          <a:stretch>
            <a:fillRect/>
          </a:stretch>
        </p:blipFill>
        <p:spPr bwMode="auto">
          <a:xfrm>
            <a:off x="1" y="0"/>
            <a:ext cx="4214809" cy="785794"/>
          </a:xfrm>
          <a:prstGeom prst="rect">
            <a:avLst/>
          </a:prstGeom>
          <a:noFill/>
          <a:ln w="9525">
            <a:noFill/>
            <a:miter lim="800000"/>
            <a:headEnd/>
            <a:tailEnd/>
          </a:ln>
        </p:spPr>
      </p:pic>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677888"/>
            <a:ext cx="8831263"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68614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2285984" y="3214686"/>
            <a:ext cx="4951451" cy="3214686"/>
          </a:xfrm>
          <a:prstGeom prst="rect">
            <a:avLst/>
          </a:prstGeom>
          <a:noFill/>
          <a:ln w="9525">
            <a:noFill/>
            <a:miter lim="800000"/>
            <a:headEnd/>
            <a:tailEnd/>
          </a:ln>
          <a:effectLst/>
        </p:spPr>
      </p:pic>
      <p:sp>
        <p:nvSpPr>
          <p:cNvPr id="4" name="TextBox 3"/>
          <p:cNvSpPr txBox="1"/>
          <p:nvPr/>
        </p:nvSpPr>
        <p:spPr>
          <a:xfrm>
            <a:off x="571472" y="1428736"/>
            <a:ext cx="8215370" cy="1631216"/>
          </a:xfrm>
          <a:prstGeom prst="rect">
            <a:avLst/>
          </a:prstGeom>
          <a:noFill/>
        </p:spPr>
        <p:txBody>
          <a:bodyPr wrap="square" rtlCol="0">
            <a:spAutoFit/>
          </a:bodyPr>
          <a:lstStyle/>
          <a:p>
            <a:pPr algn="just"/>
            <a:r>
              <a:rPr lang="en-US" sz="2000" dirty="0"/>
              <a:t>        </a:t>
            </a:r>
            <a:r>
              <a:rPr lang="en-US" sz="2000" dirty="0" err="1"/>
              <a:t>HBase</a:t>
            </a:r>
            <a:r>
              <a:rPr lang="zh-CN" altLang="en-US" sz="2000" dirty="0"/>
              <a:t>是一个分布式的、面向列的开源数据库，该技术来源于</a:t>
            </a:r>
            <a:r>
              <a:rPr lang="en-US" sz="2000" dirty="0"/>
              <a:t>Chang et al</a:t>
            </a:r>
            <a:r>
              <a:rPr lang="zh-CN" altLang="en-US" sz="2000" dirty="0"/>
              <a:t>所撰写的</a:t>
            </a:r>
            <a:r>
              <a:rPr lang="en-US" sz="2000" dirty="0"/>
              <a:t>Google</a:t>
            </a:r>
            <a:r>
              <a:rPr lang="zh-CN" altLang="en-US" sz="2000" dirty="0"/>
              <a:t>论文“</a:t>
            </a:r>
            <a:r>
              <a:rPr lang="en-US" sz="2000" dirty="0" err="1"/>
              <a:t>Bigtable</a:t>
            </a:r>
            <a:r>
              <a:rPr lang="en-US" sz="2000" dirty="0"/>
              <a:t>：</a:t>
            </a:r>
            <a:r>
              <a:rPr lang="zh-CN" altLang="en-US" sz="2000" dirty="0"/>
              <a:t>一个结构化数据的分布式存储系统”。就像</a:t>
            </a:r>
            <a:r>
              <a:rPr lang="en-US" sz="2000" dirty="0" err="1"/>
              <a:t>Bigtable</a:t>
            </a:r>
            <a:r>
              <a:rPr lang="zh-CN" altLang="en-US" sz="2000" dirty="0"/>
              <a:t>利用了</a:t>
            </a:r>
            <a:r>
              <a:rPr lang="en-US" sz="2000" dirty="0"/>
              <a:t>Google</a:t>
            </a:r>
            <a:r>
              <a:rPr lang="zh-CN" altLang="en-US" sz="2000" dirty="0"/>
              <a:t>文件系统（</a:t>
            </a:r>
            <a:r>
              <a:rPr lang="en-US" sz="2000" dirty="0"/>
              <a:t>GFS）</a:t>
            </a:r>
            <a:r>
              <a:rPr lang="zh-CN" altLang="en-US" sz="2000" dirty="0"/>
              <a:t>所提供的分布式数据存储一样，</a:t>
            </a:r>
            <a:r>
              <a:rPr lang="en-US" sz="2000" dirty="0" err="1"/>
              <a:t>HBase</a:t>
            </a:r>
            <a:r>
              <a:rPr lang="zh-CN" altLang="en-US" sz="2000" dirty="0"/>
              <a:t>在</a:t>
            </a:r>
            <a:r>
              <a:rPr lang="en-US" sz="2000" dirty="0" err="1"/>
              <a:t>Hadoop</a:t>
            </a:r>
            <a:r>
              <a:rPr lang="zh-CN" altLang="en-US" sz="2000" dirty="0"/>
              <a:t>之上提供了类似于</a:t>
            </a:r>
            <a:r>
              <a:rPr lang="en-US" sz="2000" dirty="0" err="1"/>
              <a:t>Bigtable</a:t>
            </a:r>
            <a:r>
              <a:rPr lang="zh-CN" altLang="en-US" sz="2000" dirty="0"/>
              <a:t>的能力。如果需要实时地随机读</a:t>
            </a:r>
            <a:r>
              <a:rPr lang="en-US" sz="2000" dirty="0"/>
              <a:t>/</a:t>
            </a:r>
            <a:r>
              <a:rPr lang="zh-CN" altLang="en-US" sz="2000" dirty="0"/>
              <a:t>写超大规模数据集，就可以使用</a:t>
            </a:r>
            <a:r>
              <a:rPr lang="en-US" sz="2000" dirty="0" err="1"/>
              <a:t>HBase</a:t>
            </a:r>
            <a:r>
              <a:rPr lang="zh-CN" altLang="en-US" sz="2000" dirty="0"/>
              <a:t>这一</a:t>
            </a:r>
            <a:r>
              <a:rPr lang="en-US" sz="2000" dirty="0" err="1"/>
              <a:t>Hadoop</a:t>
            </a:r>
            <a:r>
              <a:rPr lang="zh-CN" altLang="en-US" sz="2000" dirty="0"/>
              <a:t>应用。</a:t>
            </a:r>
          </a:p>
        </p:txBody>
      </p:sp>
      <p:sp>
        <p:nvSpPr>
          <p:cNvPr id="2" name="日期占位符 1"/>
          <p:cNvSpPr>
            <a:spLocks noGrp="1"/>
          </p:cNvSpPr>
          <p:nvPr>
            <p:ph type="dt" sz="half" idx="10"/>
          </p:nvPr>
        </p:nvSpPr>
        <p:spPr/>
        <p:txBody>
          <a:bodyPr/>
          <a:lstStyle/>
          <a:p>
            <a:fld id="{FB819330-B3BC-4883-9A90-6A1DECA3EFE6}" type="datetime1">
              <a:rPr lang="zh-CN" altLang="en-US" smtClean="0"/>
              <a:pPr/>
              <a:t>2022/5/1</a:t>
            </a:fld>
            <a:endParaRPr lang="zh-CN" altLang="en-US"/>
          </a:p>
        </p:txBody>
      </p:sp>
      <p:sp>
        <p:nvSpPr>
          <p:cNvPr id="3" name="页脚占位符 2"/>
          <p:cNvSpPr>
            <a:spLocks noGrp="1"/>
          </p:cNvSpPr>
          <p:nvPr>
            <p:ph type="ftr" sz="quarter" idx="11"/>
          </p:nvPr>
        </p:nvSpPr>
        <p:spPr/>
        <p:txBody>
          <a:bodyPr/>
          <a:lstStyle/>
          <a:p>
            <a:r>
              <a:rPr lang="zh-CN" altLang="en-US"/>
              <a:t>大数据技术解析</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20</a:t>
            </a:fld>
            <a:endParaRPr lang="zh-CN" altLang="en-US"/>
          </a:p>
        </p:txBody>
      </p:sp>
      <p:sp>
        <p:nvSpPr>
          <p:cNvPr id="8" name="TextBox 7"/>
          <p:cNvSpPr txBox="1"/>
          <p:nvPr/>
        </p:nvSpPr>
        <p:spPr>
          <a:xfrm>
            <a:off x="2771800" y="0"/>
            <a:ext cx="5760640" cy="786754"/>
          </a:xfrm>
          <a:prstGeom prst="rect">
            <a:avLst/>
          </a:prstGeom>
          <a:noFill/>
        </p:spPr>
        <p:txBody>
          <a:bodyPr wrap="square" rtlCol="0">
            <a:spAutoFit/>
          </a:bodyPr>
          <a:lstStyle/>
          <a:p>
            <a:pPr algn="r">
              <a:lnSpc>
                <a:spcPts val="5800"/>
              </a:lnSpc>
              <a:spcBef>
                <a:spcPct val="0"/>
              </a:spcBef>
            </a:pPr>
            <a:r>
              <a:rPr lang="en-US" altLang="zh-CN" sz="3600" dirty="0" err="1">
                <a:solidFill>
                  <a:schemeClr val="tx2"/>
                </a:solidFill>
                <a:effectLst>
                  <a:outerShdw blurRad="63500" dist="38100" dir="5400000" algn="t" rotWithShape="0">
                    <a:prstClr val="black">
                      <a:alpha val="25000"/>
                    </a:prstClr>
                  </a:outerShdw>
                </a:effectLst>
                <a:ea typeface="+mj-ea"/>
                <a:cs typeface="+mj-cs"/>
              </a:rPr>
              <a:t>HBase</a:t>
            </a:r>
            <a:endParaRPr lang="zh-CN" altLang="en-US" sz="3600" dirty="0">
              <a:solidFill>
                <a:schemeClr val="tx2"/>
              </a:solidFill>
              <a:effectLst>
                <a:outerShdw blurRad="63500" dist="38100" dir="5400000" algn="t" rotWithShape="0">
                  <a:prstClr val="black">
                    <a:alpha val="25000"/>
                  </a:prstClr>
                </a:outerShdw>
              </a:effectLst>
              <a:ea typeface="+mj-ea"/>
              <a:cs typeface="+mj-cs"/>
            </a:endParaRPr>
          </a:p>
        </p:txBody>
      </p:sp>
      <p:pic>
        <p:nvPicPr>
          <p:cNvPr id="9" name="图片 4" descr="4.jpg"/>
          <p:cNvPicPr>
            <a:picLocks noChangeAspect="1"/>
          </p:cNvPicPr>
          <p:nvPr/>
        </p:nvPicPr>
        <p:blipFill>
          <a:blip r:embed="rId3"/>
          <a:srcRect/>
          <a:stretch>
            <a:fillRect/>
          </a:stretch>
        </p:blipFill>
        <p:spPr bwMode="auto">
          <a:xfrm>
            <a:off x="1" y="0"/>
            <a:ext cx="4214809" cy="785794"/>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r"/>
            <a:r>
              <a:rPr lang="en-US" altLang="zh-CN" dirty="0"/>
              <a:t>Amazon </a:t>
            </a:r>
            <a:r>
              <a:rPr lang="en-US" altLang="zh-CN" dirty="0" err="1"/>
              <a:t>DynamoDB</a:t>
            </a:r>
            <a:endParaRPr lang="en-US" dirty="0"/>
          </a:p>
        </p:txBody>
      </p:sp>
      <p:sp>
        <p:nvSpPr>
          <p:cNvPr id="3" name="内容占位符 2"/>
          <p:cNvSpPr>
            <a:spLocks noGrp="1"/>
          </p:cNvSpPr>
          <p:nvPr>
            <p:ph idx="1"/>
          </p:nvPr>
        </p:nvSpPr>
        <p:spPr/>
        <p:txBody>
          <a:bodyPr/>
          <a:lstStyle/>
          <a:p>
            <a:r>
              <a:rPr lang="en-US" altLang="zh-CN" i="1" u="sng" dirty="0">
                <a:hlinkClick r:id="rId2"/>
              </a:rPr>
              <a:t>Dynamo</a:t>
            </a:r>
            <a:r>
              <a:rPr lang="en-US" altLang="zh-CN" u="sng" dirty="0">
                <a:hlinkClick r:id="rId2"/>
              </a:rPr>
              <a:t>: </a:t>
            </a:r>
            <a:r>
              <a:rPr lang="en-US" altLang="zh-CN" i="1" u="sng" dirty="0">
                <a:hlinkClick r:id="rId2"/>
              </a:rPr>
              <a:t>Amazon's</a:t>
            </a:r>
            <a:r>
              <a:rPr lang="zh-CN" altLang="en-US" u="sng" dirty="0">
                <a:hlinkClick r:id="rId2"/>
              </a:rPr>
              <a:t> </a:t>
            </a:r>
            <a:r>
              <a:rPr lang="en-US" altLang="zh-CN" u="sng" dirty="0">
                <a:hlinkClick r:id="rId2"/>
              </a:rPr>
              <a:t>Highly Available Key-value Store</a:t>
            </a:r>
            <a:endParaRPr lang="en-US" altLang="zh-CN" u="sng" dirty="0"/>
          </a:p>
          <a:p>
            <a:r>
              <a:rPr lang="zh-CN" altLang="en-US" dirty="0"/>
              <a:t>去中心化架构</a:t>
            </a:r>
            <a:endParaRPr lang="en-US" altLang="zh-CN" dirty="0"/>
          </a:p>
          <a:p>
            <a:r>
              <a:rPr lang="zh-CN" altLang="en-US" dirty="0"/>
              <a:t>一致性</a:t>
            </a:r>
            <a:r>
              <a:rPr lang="en-US" altLang="zh-CN" dirty="0"/>
              <a:t>Hash</a:t>
            </a:r>
          </a:p>
          <a:p>
            <a:r>
              <a:rPr lang="en-US" altLang="zh-CN" dirty="0"/>
              <a:t>Replica</a:t>
            </a:r>
            <a:r>
              <a:rPr lang="zh-CN" altLang="en-US" dirty="0"/>
              <a:t>副本技术</a:t>
            </a:r>
            <a:endParaRPr lang="en-US" altLang="zh-CN" dirty="0"/>
          </a:p>
          <a:p>
            <a:r>
              <a:rPr lang="zh-CN" altLang="en-US" dirty="0"/>
              <a:t>节点发现</a:t>
            </a:r>
            <a:r>
              <a:rPr lang="en-US" altLang="zh-CN" dirty="0"/>
              <a:t>Gossip</a:t>
            </a:r>
          </a:p>
          <a:p>
            <a:r>
              <a:rPr lang="zh-CN" altLang="en-US" dirty="0"/>
              <a:t>写操作高可用</a:t>
            </a:r>
            <a:r>
              <a:rPr lang="en-US" altLang="zh-CN" dirty="0"/>
              <a:t>/</a:t>
            </a:r>
            <a:r>
              <a:rPr lang="zh-CN" altLang="en-US" dirty="0"/>
              <a:t>多版本</a:t>
            </a:r>
            <a:endParaRPr lang="en-US" altLang="zh-CN" dirty="0"/>
          </a:p>
          <a:p>
            <a:r>
              <a:rPr lang="zh-CN" altLang="en-US" dirty="0"/>
              <a:t>最终一致性</a:t>
            </a:r>
            <a:endParaRPr lang="en-US" altLang="zh-CN" dirty="0"/>
          </a:p>
          <a:p>
            <a:r>
              <a:rPr lang="zh-CN" altLang="en-US" dirty="0"/>
              <a:t>提示交接</a:t>
            </a:r>
            <a:r>
              <a:rPr lang="en-US" altLang="zh-CN" dirty="0"/>
              <a:t>Hinted Handoff</a:t>
            </a:r>
          </a:p>
          <a:p>
            <a:r>
              <a:rPr lang="zh-CN" altLang="en-US" dirty="0"/>
              <a:t>三个关键参数</a:t>
            </a:r>
            <a:r>
              <a:rPr lang="en-US" altLang="zh-CN" dirty="0"/>
              <a:t>N</a:t>
            </a:r>
            <a:r>
              <a:rPr lang="zh-CN" altLang="en-US" dirty="0"/>
              <a:t>，</a:t>
            </a:r>
            <a:r>
              <a:rPr lang="en-US" altLang="zh-CN" dirty="0"/>
              <a:t>R</a:t>
            </a:r>
            <a:r>
              <a:rPr lang="zh-CN" altLang="en-US" dirty="0"/>
              <a:t>，</a:t>
            </a:r>
            <a:r>
              <a:rPr lang="en-US" altLang="zh-CN" dirty="0"/>
              <a:t>W</a:t>
            </a:r>
            <a:endParaRPr lang="en-US" dirty="0"/>
          </a:p>
        </p:txBody>
      </p:sp>
      <p:sp>
        <p:nvSpPr>
          <p:cNvPr id="4" name="日期占位符 3"/>
          <p:cNvSpPr>
            <a:spLocks noGrp="1"/>
          </p:cNvSpPr>
          <p:nvPr>
            <p:ph type="dt" sz="half" idx="10"/>
          </p:nvPr>
        </p:nvSpPr>
        <p:spPr/>
        <p:txBody>
          <a:bodyPr/>
          <a:lstStyle/>
          <a:p>
            <a:fld id="{AAA3484A-CA2E-45E0-B405-28587CFBD2C0}" type="datetime1">
              <a:rPr lang="zh-CN" altLang="en-US" smtClean="0"/>
              <a:pPr/>
              <a:t>2022/5/1</a:t>
            </a:fld>
            <a:endParaRPr lang="zh-CN" altLang="en-US"/>
          </a:p>
        </p:txBody>
      </p:sp>
      <p:sp>
        <p:nvSpPr>
          <p:cNvPr id="5" name="页脚占位符 4"/>
          <p:cNvSpPr>
            <a:spLocks noGrp="1"/>
          </p:cNvSpPr>
          <p:nvPr>
            <p:ph type="ftr" sz="quarter" idx="11"/>
          </p:nvPr>
        </p:nvSpPr>
        <p:spPr/>
        <p:txBody>
          <a:bodyPr/>
          <a:lstStyle/>
          <a:p>
            <a:r>
              <a:rPr lang="zh-CN" altLang="en-US"/>
              <a:t>大数据技术解析</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21</a:t>
            </a:fld>
            <a:endParaRPr lang="zh-CN" alt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8024" y="2060848"/>
            <a:ext cx="3528392" cy="45381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图片 4" descr="4.jpg"/>
          <p:cNvPicPr>
            <a:picLocks noChangeAspect="1"/>
          </p:cNvPicPr>
          <p:nvPr/>
        </p:nvPicPr>
        <p:blipFill>
          <a:blip r:embed="rId4"/>
          <a:srcRect/>
          <a:stretch>
            <a:fillRect/>
          </a:stretch>
        </p:blipFill>
        <p:spPr bwMode="auto">
          <a:xfrm>
            <a:off x="1" y="0"/>
            <a:ext cx="4214809" cy="785794"/>
          </a:xfrm>
          <a:prstGeom prst="rect">
            <a:avLst/>
          </a:prstGeom>
          <a:noFill/>
          <a:ln w="9525">
            <a:noFill/>
            <a:miter lim="800000"/>
            <a:headEnd/>
            <a:tailEnd/>
          </a:ln>
        </p:spPr>
      </p:pic>
    </p:spTree>
    <p:extLst>
      <p:ext uri="{BB962C8B-B14F-4D97-AF65-F5344CB8AC3E}">
        <p14:creationId xmlns:p14="http://schemas.microsoft.com/office/powerpoint/2010/main" val="37580027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r"/>
            <a:r>
              <a:rPr lang="en-US" altLang="zh-CN" dirty="0" err="1"/>
              <a:t>DynamoDB</a:t>
            </a:r>
            <a:endParaRPr lang="en-US" dirty="0"/>
          </a:p>
        </p:txBody>
      </p:sp>
      <p:sp>
        <p:nvSpPr>
          <p:cNvPr id="4" name="日期占位符 3"/>
          <p:cNvSpPr>
            <a:spLocks noGrp="1"/>
          </p:cNvSpPr>
          <p:nvPr>
            <p:ph type="dt" sz="half" idx="10"/>
          </p:nvPr>
        </p:nvSpPr>
        <p:spPr/>
        <p:txBody>
          <a:bodyPr/>
          <a:lstStyle/>
          <a:p>
            <a:fld id="{AAA3484A-CA2E-45E0-B405-28587CFBD2C0}" type="datetime1">
              <a:rPr lang="zh-CN" altLang="en-US" smtClean="0"/>
              <a:pPr/>
              <a:t>2022/5/1</a:t>
            </a:fld>
            <a:endParaRPr lang="zh-CN" altLang="en-US"/>
          </a:p>
        </p:txBody>
      </p:sp>
      <p:sp>
        <p:nvSpPr>
          <p:cNvPr id="5" name="页脚占位符 4"/>
          <p:cNvSpPr>
            <a:spLocks noGrp="1"/>
          </p:cNvSpPr>
          <p:nvPr>
            <p:ph type="ftr" sz="quarter" idx="11"/>
          </p:nvPr>
        </p:nvSpPr>
        <p:spPr/>
        <p:txBody>
          <a:bodyPr/>
          <a:lstStyle/>
          <a:p>
            <a:r>
              <a:rPr lang="zh-CN" altLang="en-US"/>
              <a:t>大数据技术解析</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22</a:t>
            </a:fld>
            <a:endParaRPr lang="zh-CN" altLang="en-US"/>
          </a:p>
        </p:txBody>
      </p:sp>
      <p:pic>
        <p:nvPicPr>
          <p:cNvPr id="7" name="图片 4" descr="4.jpg"/>
          <p:cNvPicPr>
            <a:picLocks noChangeAspect="1"/>
          </p:cNvPicPr>
          <p:nvPr/>
        </p:nvPicPr>
        <p:blipFill>
          <a:blip r:embed="rId2"/>
          <a:srcRect/>
          <a:stretch>
            <a:fillRect/>
          </a:stretch>
        </p:blipFill>
        <p:spPr bwMode="auto">
          <a:xfrm>
            <a:off x="1" y="0"/>
            <a:ext cx="4214809" cy="785794"/>
          </a:xfrm>
          <a:prstGeom prst="rect">
            <a:avLst/>
          </a:prstGeom>
          <a:noFill/>
          <a:ln w="9525">
            <a:noFill/>
            <a:miter lim="800000"/>
            <a:headEnd/>
            <a:tailEnd/>
          </a:ln>
        </p:spPr>
      </p:pic>
      <p:sp>
        <p:nvSpPr>
          <p:cNvPr id="13313" name="AutoShape 1" descr="C:\Users\Administrator\AppData\Roaming\Tencent\Users\12738737\QQ\WinTemp\RichOle\%U%B`C[L(P8GC)$B@E47.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3314" name="AutoShape 2" descr="C:\Users\Administrator\AppData\Roaming\Tencent\Users\12738737\QQ\WinTemp\RichOle\%U%B`C[L(P8GC)$B@E47.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pic>
        <p:nvPicPr>
          <p:cNvPr id="13315" name="Picture 3"/>
          <p:cNvPicPr>
            <a:picLocks noChangeAspect="1" noChangeArrowheads="1"/>
          </p:cNvPicPr>
          <p:nvPr/>
        </p:nvPicPr>
        <p:blipFill>
          <a:blip r:embed="rId3"/>
          <a:srcRect/>
          <a:stretch>
            <a:fillRect/>
          </a:stretch>
        </p:blipFill>
        <p:spPr bwMode="auto">
          <a:xfrm>
            <a:off x="1214414" y="1643050"/>
            <a:ext cx="6548870" cy="4320000"/>
          </a:xfrm>
          <a:prstGeom prst="rect">
            <a:avLst/>
          </a:prstGeom>
          <a:noFill/>
          <a:ln w="9525">
            <a:noFill/>
            <a:miter lim="800000"/>
            <a:headEnd/>
            <a:tailEnd/>
          </a:ln>
          <a:effectLst/>
        </p:spPr>
      </p:pic>
    </p:spTree>
    <p:extLst>
      <p:ext uri="{BB962C8B-B14F-4D97-AF65-F5344CB8AC3E}">
        <p14:creationId xmlns:p14="http://schemas.microsoft.com/office/powerpoint/2010/main" val="37921674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1214422"/>
            <a:ext cx="8215370" cy="2246769"/>
          </a:xfrm>
          <a:prstGeom prst="rect">
            <a:avLst/>
          </a:prstGeom>
          <a:noFill/>
        </p:spPr>
        <p:txBody>
          <a:bodyPr wrap="square" rtlCol="0">
            <a:spAutoFit/>
          </a:bodyPr>
          <a:lstStyle/>
          <a:p>
            <a:pPr algn="just"/>
            <a:r>
              <a:rPr lang="en-US" altLang="zh-CN" sz="2000" dirty="0"/>
              <a:t>         Cassandra</a:t>
            </a:r>
            <a:r>
              <a:rPr lang="zh-CN" altLang="en-US" sz="2000" dirty="0"/>
              <a:t>是一个混合型的非关系的数据库，类似于</a:t>
            </a:r>
            <a:r>
              <a:rPr lang="en-US" altLang="zh-CN" sz="2000" dirty="0"/>
              <a:t>Google</a:t>
            </a:r>
            <a:r>
              <a:rPr lang="zh-CN" altLang="en-US" sz="2000" dirty="0"/>
              <a:t>的</a:t>
            </a:r>
            <a:r>
              <a:rPr lang="en-US" altLang="zh-CN" sz="2000" dirty="0" err="1"/>
              <a:t>BigTable</a:t>
            </a:r>
            <a:r>
              <a:rPr lang="zh-CN" altLang="en-US" sz="2000" dirty="0"/>
              <a:t>。其主要功能比</a:t>
            </a:r>
            <a:r>
              <a:rPr lang="en-US" altLang="zh-CN" sz="2000" dirty="0"/>
              <a:t>Dynamo</a:t>
            </a:r>
            <a:r>
              <a:rPr lang="zh-CN" altLang="en-US" sz="2000" dirty="0"/>
              <a:t>更丰富，但支持度却不如文档存储</a:t>
            </a:r>
            <a:r>
              <a:rPr lang="en-US" altLang="zh-CN" sz="2000" dirty="0" err="1"/>
              <a:t>MongoDB</a:t>
            </a:r>
            <a:r>
              <a:rPr lang="zh-CN" altLang="en-US" sz="2000" dirty="0"/>
              <a:t>。</a:t>
            </a:r>
            <a:r>
              <a:rPr lang="en-US" altLang="zh-CN" sz="2000" dirty="0"/>
              <a:t>Cassandra</a:t>
            </a:r>
            <a:r>
              <a:rPr lang="zh-CN" altLang="en-US" sz="2000" dirty="0"/>
              <a:t>最初由</a:t>
            </a:r>
            <a:r>
              <a:rPr lang="en-US" altLang="zh-CN" sz="2000" dirty="0" err="1"/>
              <a:t>Facebook</a:t>
            </a:r>
            <a:r>
              <a:rPr lang="zh-CN" altLang="en-US" sz="2000" dirty="0"/>
              <a:t>开发，后转变成了开源项目，它是一个网络社交云计算方面理想的数据库。以</a:t>
            </a:r>
            <a:r>
              <a:rPr lang="en-US" altLang="zh-CN" sz="2000" dirty="0"/>
              <a:t>Amazon</a:t>
            </a:r>
            <a:r>
              <a:rPr lang="zh-CN" altLang="en-US" sz="2000" dirty="0"/>
              <a:t>专有的完全分布式的</a:t>
            </a:r>
            <a:r>
              <a:rPr lang="en-US" altLang="zh-CN" sz="2000" dirty="0"/>
              <a:t>Dynamo</a:t>
            </a:r>
            <a:r>
              <a:rPr lang="zh-CN" altLang="en-US" sz="2000" dirty="0"/>
              <a:t>为基础，结合了</a:t>
            </a:r>
            <a:r>
              <a:rPr lang="en-US" altLang="zh-CN" sz="2000" dirty="0"/>
              <a:t>Google </a:t>
            </a:r>
            <a:r>
              <a:rPr lang="en-US" altLang="zh-CN" sz="2000" dirty="0" err="1"/>
              <a:t>BigTable</a:t>
            </a:r>
            <a:r>
              <a:rPr lang="zh-CN" altLang="en-US" sz="2000" dirty="0"/>
              <a:t>基于列族（</a:t>
            </a:r>
            <a:r>
              <a:rPr lang="en-US" altLang="zh-CN" sz="2000" dirty="0"/>
              <a:t>Column Family</a:t>
            </a:r>
            <a:r>
              <a:rPr lang="zh-CN" altLang="en-US" sz="2000" dirty="0"/>
              <a:t>）的数据模型，</a:t>
            </a:r>
            <a:r>
              <a:rPr lang="en-US" altLang="zh-CN" sz="2000" dirty="0"/>
              <a:t>P2P</a:t>
            </a:r>
            <a:r>
              <a:rPr lang="zh-CN" altLang="en-US" sz="2000" dirty="0"/>
              <a:t>去中心化的存储，很多方面都可以称之为</a:t>
            </a:r>
            <a:r>
              <a:rPr lang="en-US" altLang="zh-CN" sz="2000" dirty="0"/>
              <a:t>Dynamo 2.0</a:t>
            </a:r>
            <a:r>
              <a:rPr lang="zh-CN" altLang="en-US" sz="2000" dirty="0"/>
              <a:t>。</a:t>
            </a:r>
          </a:p>
        </p:txBody>
      </p:sp>
      <p:pic>
        <p:nvPicPr>
          <p:cNvPr id="3074" name="Picture 2"/>
          <p:cNvPicPr>
            <a:picLocks noChangeAspect="1" noChangeArrowheads="1"/>
          </p:cNvPicPr>
          <p:nvPr/>
        </p:nvPicPr>
        <p:blipFill>
          <a:blip r:embed="rId2"/>
          <a:srcRect/>
          <a:stretch>
            <a:fillRect/>
          </a:stretch>
        </p:blipFill>
        <p:spPr bwMode="auto">
          <a:xfrm>
            <a:off x="2214546" y="3571876"/>
            <a:ext cx="4857784" cy="2786297"/>
          </a:xfrm>
          <a:prstGeom prst="rect">
            <a:avLst/>
          </a:prstGeom>
          <a:noFill/>
          <a:ln w="9525">
            <a:noFill/>
            <a:miter lim="800000"/>
            <a:headEnd/>
            <a:tailEnd/>
          </a:ln>
          <a:effectLst/>
        </p:spPr>
      </p:pic>
      <p:sp>
        <p:nvSpPr>
          <p:cNvPr id="2" name="日期占位符 1"/>
          <p:cNvSpPr>
            <a:spLocks noGrp="1"/>
          </p:cNvSpPr>
          <p:nvPr>
            <p:ph type="dt" sz="half" idx="10"/>
          </p:nvPr>
        </p:nvSpPr>
        <p:spPr/>
        <p:txBody>
          <a:bodyPr/>
          <a:lstStyle/>
          <a:p>
            <a:fld id="{1A047B35-92A4-4B85-9C47-9CC06D137E7D}" type="datetime1">
              <a:rPr lang="zh-CN" altLang="en-US" smtClean="0"/>
              <a:pPr/>
              <a:t>2022/5/1</a:t>
            </a:fld>
            <a:endParaRPr lang="zh-CN" altLang="en-US"/>
          </a:p>
        </p:txBody>
      </p:sp>
      <p:sp>
        <p:nvSpPr>
          <p:cNvPr id="4" name="页脚占位符 3"/>
          <p:cNvSpPr>
            <a:spLocks noGrp="1"/>
          </p:cNvSpPr>
          <p:nvPr>
            <p:ph type="ftr" sz="quarter" idx="11"/>
          </p:nvPr>
        </p:nvSpPr>
        <p:spPr/>
        <p:txBody>
          <a:bodyPr/>
          <a:lstStyle/>
          <a:p>
            <a:r>
              <a:rPr lang="zh-CN" altLang="en-US"/>
              <a:t>大数据技术解析</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23</a:t>
            </a:fld>
            <a:endParaRPr lang="zh-CN" altLang="en-US"/>
          </a:p>
        </p:txBody>
      </p:sp>
      <p:sp>
        <p:nvSpPr>
          <p:cNvPr id="8" name="TextBox 7"/>
          <p:cNvSpPr txBox="1"/>
          <p:nvPr/>
        </p:nvSpPr>
        <p:spPr>
          <a:xfrm>
            <a:off x="2771800" y="0"/>
            <a:ext cx="5760640" cy="786754"/>
          </a:xfrm>
          <a:prstGeom prst="rect">
            <a:avLst/>
          </a:prstGeom>
          <a:noFill/>
        </p:spPr>
        <p:txBody>
          <a:bodyPr wrap="square" rtlCol="0">
            <a:spAutoFit/>
          </a:bodyPr>
          <a:lstStyle/>
          <a:p>
            <a:pPr algn="r">
              <a:lnSpc>
                <a:spcPts val="5800"/>
              </a:lnSpc>
              <a:spcBef>
                <a:spcPct val="0"/>
              </a:spcBef>
            </a:pPr>
            <a:r>
              <a:rPr lang="en-US" altLang="zh-CN" sz="3600" dirty="0">
                <a:solidFill>
                  <a:schemeClr val="tx2"/>
                </a:solidFill>
                <a:effectLst>
                  <a:outerShdw blurRad="63500" dist="38100" dir="5400000" algn="t" rotWithShape="0">
                    <a:prstClr val="black">
                      <a:alpha val="25000"/>
                    </a:prstClr>
                  </a:outerShdw>
                </a:effectLst>
                <a:ea typeface="+mj-ea"/>
                <a:cs typeface="+mj-cs"/>
              </a:rPr>
              <a:t>Cassandra</a:t>
            </a:r>
            <a:endParaRPr lang="zh-CN" altLang="en-US" sz="3600" dirty="0">
              <a:solidFill>
                <a:schemeClr val="tx2"/>
              </a:solidFill>
              <a:effectLst>
                <a:outerShdw blurRad="63500" dist="38100" dir="5400000" algn="t" rotWithShape="0">
                  <a:prstClr val="black">
                    <a:alpha val="25000"/>
                  </a:prstClr>
                </a:outerShdw>
              </a:effectLst>
              <a:ea typeface="+mj-ea"/>
              <a:cs typeface="+mj-cs"/>
            </a:endParaRPr>
          </a:p>
        </p:txBody>
      </p:sp>
      <p:pic>
        <p:nvPicPr>
          <p:cNvPr id="9" name="图片 4" descr="4.jpg"/>
          <p:cNvPicPr>
            <a:picLocks noChangeAspect="1"/>
          </p:cNvPicPr>
          <p:nvPr/>
        </p:nvPicPr>
        <p:blipFill>
          <a:blip r:embed="rId3"/>
          <a:srcRect/>
          <a:stretch>
            <a:fillRect/>
          </a:stretch>
        </p:blipFill>
        <p:spPr bwMode="auto">
          <a:xfrm>
            <a:off x="1" y="0"/>
            <a:ext cx="4214809" cy="785794"/>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71800" y="0"/>
            <a:ext cx="6372200" cy="692696"/>
          </a:xfrm>
        </p:spPr>
        <p:txBody>
          <a:bodyPr/>
          <a:lstStyle/>
          <a:p>
            <a:pPr algn="r"/>
            <a:r>
              <a:rPr lang="en-US" altLang="zh-CN" dirty="0"/>
              <a:t>Cassandra</a:t>
            </a:r>
            <a:r>
              <a:rPr lang="zh-CN" altLang="en-US" dirty="0"/>
              <a:t>架构与组成</a:t>
            </a:r>
          </a:p>
        </p:txBody>
      </p:sp>
      <p:sp>
        <p:nvSpPr>
          <p:cNvPr id="4" name="日期占位符 3"/>
          <p:cNvSpPr>
            <a:spLocks noGrp="1"/>
          </p:cNvSpPr>
          <p:nvPr>
            <p:ph type="dt" sz="half" idx="10"/>
          </p:nvPr>
        </p:nvSpPr>
        <p:spPr/>
        <p:txBody>
          <a:bodyPr/>
          <a:lstStyle/>
          <a:p>
            <a:fld id="{AAA3484A-CA2E-45E0-B405-28587CFBD2C0}" type="datetime1">
              <a:rPr lang="zh-CN" altLang="en-US" smtClean="0"/>
              <a:pPr/>
              <a:t>2022/5/1</a:t>
            </a:fld>
            <a:endParaRPr lang="zh-CN" altLang="en-US"/>
          </a:p>
        </p:txBody>
      </p:sp>
      <p:sp>
        <p:nvSpPr>
          <p:cNvPr id="5" name="页脚占位符 4"/>
          <p:cNvSpPr>
            <a:spLocks noGrp="1"/>
          </p:cNvSpPr>
          <p:nvPr>
            <p:ph type="ftr" sz="quarter" idx="11"/>
          </p:nvPr>
        </p:nvSpPr>
        <p:spPr/>
        <p:txBody>
          <a:bodyPr/>
          <a:lstStyle/>
          <a:p>
            <a:r>
              <a:rPr lang="zh-CN" altLang="en-US"/>
              <a:t>大数据技术解析</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24</a:t>
            </a:fld>
            <a:endParaRPr lang="zh-CN" altLang="en-US"/>
          </a:p>
        </p:txBody>
      </p:sp>
      <p:graphicFrame>
        <p:nvGraphicFramePr>
          <p:cNvPr id="7" name="表格 6"/>
          <p:cNvGraphicFramePr>
            <a:graphicFrameLocks noGrp="1"/>
          </p:cNvGraphicFramePr>
          <p:nvPr>
            <p:extLst>
              <p:ext uri="{D42A27DB-BD31-4B8C-83A1-F6EECF244321}">
                <p14:modId xmlns:p14="http://schemas.microsoft.com/office/powerpoint/2010/main" val="822494503"/>
              </p:ext>
            </p:extLst>
          </p:nvPr>
        </p:nvGraphicFramePr>
        <p:xfrm>
          <a:off x="611560" y="1340768"/>
          <a:ext cx="8136904" cy="4248472"/>
        </p:xfrm>
        <a:graphic>
          <a:graphicData uri="http://schemas.openxmlformats.org/drawingml/2006/table">
            <a:tbl>
              <a:tblPr firstRow="1" firstCol="1" bandRow="1">
                <a:tableStyleId>{5C22544A-7EE6-4342-B048-85BDC9FD1C3A}</a:tableStyleId>
              </a:tblPr>
              <a:tblGrid>
                <a:gridCol w="3220857">
                  <a:extLst>
                    <a:ext uri="{9D8B030D-6E8A-4147-A177-3AD203B41FA5}">
                      <a16:colId xmlns:a16="http://schemas.microsoft.com/office/drawing/2014/main" val="20000"/>
                    </a:ext>
                  </a:extLst>
                </a:gridCol>
                <a:gridCol w="2569140">
                  <a:extLst>
                    <a:ext uri="{9D8B030D-6E8A-4147-A177-3AD203B41FA5}">
                      <a16:colId xmlns:a16="http://schemas.microsoft.com/office/drawing/2014/main" val="20001"/>
                    </a:ext>
                  </a:extLst>
                </a:gridCol>
                <a:gridCol w="2346907">
                  <a:extLst>
                    <a:ext uri="{9D8B030D-6E8A-4147-A177-3AD203B41FA5}">
                      <a16:colId xmlns:a16="http://schemas.microsoft.com/office/drawing/2014/main" val="20002"/>
                    </a:ext>
                  </a:extLst>
                </a:gridCol>
              </a:tblGrid>
              <a:tr h="768341">
                <a:tc>
                  <a:txBody>
                    <a:bodyPr/>
                    <a:lstStyle/>
                    <a:p>
                      <a:pPr algn="just">
                        <a:spcAft>
                          <a:spcPts val="0"/>
                        </a:spcAft>
                      </a:pPr>
                      <a:r>
                        <a:rPr lang="en-US" sz="2400" kern="0" dirty="0">
                          <a:effectLst/>
                        </a:rPr>
                        <a:t>Core Layer</a:t>
                      </a:r>
                      <a:endParaRPr lang="zh-CN" sz="1800" kern="100" dirty="0">
                        <a:effectLst/>
                        <a:latin typeface="Calibri"/>
                        <a:ea typeface="宋体"/>
                        <a:cs typeface="Times New Roman"/>
                      </a:endParaRPr>
                    </a:p>
                  </a:txBody>
                  <a:tcPr marL="76200" marR="76200" marT="38100" marB="38100" anchor="ctr"/>
                </a:tc>
                <a:tc>
                  <a:txBody>
                    <a:bodyPr/>
                    <a:lstStyle/>
                    <a:p>
                      <a:pPr algn="just">
                        <a:spcAft>
                          <a:spcPts val="0"/>
                        </a:spcAft>
                      </a:pPr>
                      <a:r>
                        <a:rPr lang="en-US" sz="2400" kern="0">
                          <a:effectLst/>
                        </a:rPr>
                        <a:t>Middle Layer</a:t>
                      </a:r>
                      <a:endParaRPr lang="zh-CN" sz="1800" kern="100">
                        <a:effectLst/>
                        <a:latin typeface="Calibri"/>
                        <a:ea typeface="宋体"/>
                        <a:cs typeface="Times New Roman"/>
                      </a:endParaRPr>
                    </a:p>
                  </a:txBody>
                  <a:tcPr marL="76200" marR="76200" marT="38100" marB="38100" anchor="ctr"/>
                </a:tc>
                <a:tc>
                  <a:txBody>
                    <a:bodyPr/>
                    <a:lstStyle/>
                    <a:p>
                      <a:pPr algn="just">
                        <a:spcAft>
                          <a:spcPts val="0"/>
                        </a:spcAft>
                      </a:pPr>
                      <a:r>
                        <a:rPr lang="en-US" sz="2400" kern="0">
                          <a:effectLst/>
                        </a:rPr>
                        <a:t>Top Layer</a:t>
                      </a:r>
                      <a:endParaRPr lang="zh-CN" sz="1800" kern="100">
                        <a:effectLst/>
                        <a:latin typeface="Calibri"/>
                        <a:ea typeface="宋体"/>
                        <a:cs typeface="Times New Roman"/>
                      </a:endParaRPr>
                    </a:p>
                  </a:txBody>
                  <a:tcPr marL="76200" marR="76200" marT="38100" marB="38100" anchor="ctr"/>
                </a:tc>
                <a:extLst>
                  <a:ext uri="{0D108BD9-81ED-4DB2-BD59-A6C34878D82A}">
                    <a16:rowId xmlns:a16="http://schemas.microsoft.com/office/drawing/2014/main" val="10000"/>
                  </a:ext>
                </a:extLst>
              </a:tr>
              <a:tr h="3480131">
                <a:tc>
                  <a:txBody>
                    <a:bodyPr/>
                    <a:lstStyle/>
                    <a:p>
                      <a:pPr algn="just">
                        <a:spcAft>
                          <a:spcPts val="0"/>
                        </a:spcAft>
                      </a:pPr>
                      <a:r>
                        <a:rPr lang="en-US" sz="2400" kern="0">
                          <a:effectLst/>
                        </a:rPr>
                        <a:t>Messaging service</a:t>
                      </a:r>
                      <a:endParaRPr lang="zh-CN" sz="1800" kern="100">
                        <a:effectLst/>
                      </a:endParaRPr>
                    </a:p>
                    <a:p>
                      <a:pPr algn="just">
                        <a:spcAft>
                          <a:spcPts val="0"/>
                        </a:spcAft>
                      </a:pPr>
                      <a:r>
                        <a:rPr lang="en-US" sz="2400" kern="0">
                          <a:effectLst/>
                        </a:rPr>
                        <a:t>Gossip</a:t>
                      </a:r>
                      <a:endParaRPr lang="zh-CN" sz="1800" kern="100">
                        <a:effectLst/>
                      </a:endParaRPr>
                    </a:p>
                    <a:p>
                      <a:pPr algn="just">
                        <a:spcAft>
                          <a:spcPts val="0"/>
                        </a:spcAft>
                      </a:pPr>
                      <a:r>
                        <a:rPr lang="en-US" sz="2400" kern="0">
                          <a:effectLst/>
                        </a:rPr>
                        <a:t>Failure detection</a:t>
                      </a:r>
                      <a:endParaRPr lang="zh-CN" sz="1800" kern="100">
                        <a:effectLst/>
                      </a:endParaRPr>
                    </a:p>
                    <a:p>
                      <a:pPr algn="just">
                        <a:spcAft>
                          <a:spcPts val="0"/>
                        </a:spcAft>
                      </a:pPr>
                      <a:r>
                        <a:rPr lang="en-US" sz="2400" kern="0">
                          <a:effectLst/>
                        </a:rPr>
                        <a:t>Cluster state</a:t>
                      </a:r>
                      <a:endParaRPr lang="zh-CN" sz="1800" kern="100">
                        <a:effectLst/>
                      </a:endParaRPr>
                    </a:p>
                    <a:p>
                      <a:pPr algn="just">
                        <a:spcAft>
                          <a:spcPts val="0"/>
                        </a:spcAft>
                      </a:pPr>
                      <a:r>
                        <a:rPr lang="en-US" sz="2400" kern="0">
                          <a:effectLst/>
                        </a:rPr>
                        <a:t>Partitioner</a:t>
                      </a:r>
                      <a:endParaRPr lang="zh-CN" sz="1800" kern="100">
                        <a:effectLst/>
                      </a:endParaRPr>
                    </a:p>
                    <a:p>
                      <a:pPr algn="just">
                        <a:spcAft>
                          <a:spcPts val="0"/>
                        </a:spcAft>
                      </a:pPr>
                      <a:r>
                        <a:rPr lang="en-US" sz="2400" kern="0">
                          <a:effectLst/>
                        </a:rPr>
                        <a:t>Replication</a:t>
                      </a:r>
                      <a:endParaRPr lang="zh-CN" sz="1800" kern="100">
                        <a:effectLst/>
                        <a:latin typeface="Calibri"/>
                        <a:ea typeface="宋体"/>
                        <a:cs typeface="Times New Roman"/>
                      </a:endParaRPr>
                    </a:p>
                  </a:txBody>
                  <a:tcPr marL="76200" marR="76200" marT="38100" marB="38100" anchor="ctr"/>
                </a:tc>
                <a:tc>
                  <a:txBody>
                    <a:bodyPr/>
                    <a:lstStyle/>
                    <a:p>
                      <a:pPr algn="just">
                        <a:spcAft>
                          <a:spcPts val="0"/>
                        </a:spcAft>
                      </a:pPr>
                      <a:r>
                        <a:rPr lang="en-US" sz="2400" kern="0" dirty="0">
                          <a:effectLst/>
                        </a:rPr>
                        <a:t>Commit log</a:t>
                      </a:r>
                      <a:endParaRPr lang="zh-CN" sz="1800" kern="100" dirty="0">
                        <a:effectLst/>
                      </a:endParaRPr>
                    </a:p>
                    <a:p>
                      <a:pPr algn="just">
                        <a:spcAft>
                          <a:spcPts val="0"/>
                        </a:spcAft>
                      </a:pPr>
                      <a:r>
                        <a:rPr lang="en-US" sz="2400" kern="0" dirty="0" err="1">
                          <a:effectLst/>
                        </a:rPr>
                        <a:t>Memtable</a:t>
                      </a:r>
                      <a:endParaRPr lang="zh-CN" sz="1800" kern="100" dirty="0">
                        <a:effectLst/>
                      </a:endParaRPr>
                    </a:p>
                    <a:p>
                      <a:pPr algn="just">
                        <a:spcAft>
                          <a:spcPts val="0"/>
                        </a:spcAft>
                      </a:pPr>
                      <a:r>
                        <a:rPr lang="en-US" sz="2400" kern="0" dirty="0" err="1">
                          <a:effectLst/>
                        </a:rPr>
                        <a:t>SSTable</a:t>
                      </a:r>
                      <a:endParaRPr lang="zh-CN" sz="1800" kern="100" dirty="0">
                        <a:effectLst/>
                      </a:endParaRPr>
                    </a:p>
                    <a:p>
                      <a:pPr algn="just">
                        <a:spcAft>
                          <a:spcPts val="0"/>
                        </a:spcAft>
                      </a:pPr>
                      <a:r>
                        <a:rPr lang="en-US" sz="2400" kern="0" dirty="0">
                          <a:effectLst/>
                        </a:rPr>
                        <a:t>Indexes</a:t>
                      </a:r>
                      <a:endParaRPr lang="zh-CN" sz="1800" kern="100" dirty="0">
                        <a:effectLst/>
                      </a:endParaRPr>
                    </a:p>
                    <a:p>
                      <a:pPr algn="just">
                        <a:spcAft>
                          <a:spcPts val="0"/>
                        </a:spcAft>
                      </a:pPr>
                      <a:r>
                        <a:rPr lang="en-US" sz="2400" kern="0" dirty="0">
                          <a:effectLst/>
                        </a:rPr>
                        <a:t>Compaction</a:t>
                      </a:r>
                      <a:endParaRPr lang="zh-CN" sz="1800" kern="100" dirty="0">
                        <a:effectLst/>
                        <a:latin typeface="Calibri"/>
                        <a:ea typeface="宋体"/>
                        <a:cs typeface="Times New Roman"/>
                      </a:endParaRPr>
                    </a:p>
                  </a:txBody>
                  <a:tcPr marL="76200" marR="76200" marT="38100" marB="38100" anchor="ctr"/>
                </a:tc>
                <a:tc>
                  <a:txBody>
                    <a:bodyPr/>
                    <a:lstStyle/>
                    <a:p>
                      <a:pPr algn="just">
                        <a:spcAft>
                          <a:spcPts val="0"/>
                        </a:spcAft>
                      </a:pPr>
                      <a:r>
                        <a:rPr lang="en-US" sz="2400" kern="0" dirty="0">
                          <a:effectLst/>
                        </a:rPr>
                        <a:t>Tombstones</a:t>
                      </a:r>
                      <a:endParaRPr lang="zh-CN" sz="1800" kern="100" dirty="0">
                        <a:effectLst/>
                      </a:endParaRPr>
                    </a:p>
                    <a:p>
                      <a:pPr algn="just">
                        <a:spcAft>
                          <a:spcPts val="0"/>
                        </a:spcAft>
                      </a:pPr>
                      <a:r>
                        <a:rPr lang="en-US" sz="2400" kern="0" dirty="0">
                          <a:effectLst/>
                        </a:rPr>
                        <a:t>Hinted handoff</a:t>
                      </a:r>
                      <a:endParaRPr lang="zh-CN" sz="1800" kern="100" dirty="0">
                        <a:effectLst/>
                      </a:endParaRPr>
                    </a:p>
                    <a:p>
                      <a:pPr algn="just">
                        <a:spcAft>
                          <a:spcPts val="0"/>
                        </a:spcAft>
                      </a:pPr>
                      <a:r>
                        <a:rPr lang="en-US" sz="2400" kern="0" dirty="0">
                          <a:effectLst/>
                        </a:rPr>
                        <a:t>Read repair</a:t>
                      </a:r>
                      <a:endParaRPr lang="zh-CN" sz="1800" kern="100" dirty="0">
                        <a:effectLst/>
                      </a:endParaRPr>
                    </a:p>
                    <a:p>
                      <a:pPr algn="just">
                        <a:spcAft>
                          <a:spcPts val="0"/>
                        </a:spcAft>
                      </a:pPr>
                      <a:r>
                        <a:rPr lang="en-US" sz="2400" kern="0" dirty="0">
                          <a:effectLst/>
                        </a:rPr>
                        <a:t>Bootstrap</a:t>
                      </a:r>
                      <a:endParaRPr lang="zh-CN" sz="1800" kern="100" dirty="0">
                        <a:effectLst/>
                      </a:endParaRPr>
                    </a:p>
                    <a:p>
                      <a:pPr algn="just">
                        <a:spcAft>
                          <a:spcPts val="0"/>
                        </a:spcAft>
                      </a:pPr>
                      <a:r>
                        <a:rPr lang="en-US" sz="2400" kern="0" dirty="0">
                          <a:effectLst/>
                        </a:rPr>
                        <a:t>Monitoring</a:t>
                      </a:r>
                      <a:endParaRPr lang="zh-CN" sz="1800" kern="100" dirty="0">
                        <a:effectLst/>
                      </a:endParaRPr>
                    </a:p>
                    <a:p>
                      <a:pPr algn="just">
                        <a:spcAft>
                          <a:spcPts val="0"/>
                        </a:spcAft>
                      </a:pPr>
                      <a:r>
                        <a:rPr lang="en-US" sz="2400" kern="0" dirty="0">
                          <a:effectLst/>
                        </a:rPr>
                        <a:t>Admin tools</a:t>
                      </a:r>
                      <a:endParaRPr lang="zh-CN" sz="1800" kern="100" dirty="0">
                        <a:effectLst/>
                        <a:latin typeface="Calibri"/>
                        <a:ea typeface="宋体"/>
                        <a:cs typeface="Times New Roman"/>
                      </a:endParaRPr>
                    </a:p>
                  </a:txBody>
                  <a:tcPr marL="76200" marR="76200" marT="38100" marB="38100" anchor="ctr"/>
                </a:tc>
                <a:extLst>
                  <a:ext uri="{0D108BD9-81ED-4DB2-BD59-A6C34878D82A}">
                    <a16:rowId xmlns:a16="http://schemas.microsoft.com/office/drawing/2014/main" val="10001"/>
                  </a:ext>
                </a:extLst>
              </a:tr>
            </a:tbl>
          </a:graphicData>
        </a:graphic>
      </p:graphicFrame>
      <p:pic>
        <p:nvPicPr>
          <p:cNvPr id="8" name="图片 4" descr="4.jpg"/>
          <p:cNvPicPr>
            <a:picLocks noChangeAspect="1"/>
          </p:cNvPicPr>
          <p:nvPr/>
        </p:nvPicPr>
        <p:blipFill>
          <a:blip r:embed="rId2"/>
          <a:srcRect/>
          <a:stretch>
            <a:fillRect/>
          </a:stretch>
        </p:blipFill>
        <p:spPr bwMode="auto">
          <a:xfrm>
            <a:off x="1" y="0"/>
            <a:ext cx="4214809" cy="785794"/>
          </a:xfrm>
          <a:prstGeom prst="rect">
            <a:avLst/>
          </a:prstGeom>
          <a:noFill/>
          <a:ln w="9525">
            <a:noFill/>
            <a:miter lim="800000"/>
            <a:headEnd/>
            <a:tailEnd/>
          </a:ln>
        </p:spPr>
      </p:pic>
    </p:spTree>
    <p:extLst>
      <p:ext uri="{BB962C8B-B14F-4D97-AF65-F5344CB8AC3E}">
        <p14:creationId xmlns:p14="http://schemas.microsoft.com/office/powerpoint/2010/main" val="564562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r"/>
            <a:r>
              <a:rPr lang="en-US" altLang="zh-CN" dirty="0"/>
              <a:t>Cassandra</a:t>
            </a:r>
            <a:r>
              <a:rPr lang="zh-CN" altLang="en-US" dirty="0"/>
              <a:t>特点</a:t>
            </a:r>
          </a:p>
        </p:txBody>
      </p:sp>
      <p:sp>
        <p:nvSpPr>
          <p:cNvPr id="4" name="日期占位符 3"/>
          <p:cNvSpPr>
            <a:spLocks noGrp="1"/>
          </p:cNvSpPr>
          <p:nvPr>
            <p:ph type="dt" sz="half" idx="10"/>
          </p:nvPr>
        </p:nvSpPr>
        <p:spPr/>
        <p:txBody>
          <a:bodyPr/>
          <a:lstStyle/>
          <a:p>
            <a:fld id="{AAA3484A-CA2E-45E0-B405-28587CFBD2C0}" type="datetime1">
              <a:rPr lang="zh-CN" altLang="en-US" smtClean="0"/>
              <a:pPr/>
              <a:t>2022/5/1</a:t>
            </a:fld>
            <a:endParaRPr lang="zh-CN" altLang="en-US"/>
          </a:p>
        </p:txBody>
      </p:sp>
      <p:sp>
        <p:nvSpPr>
          <p:cNvPr id="5" name="页脚占位符 4"/>
          <p:cNvSpPr>
            <a:spLocks noGrp="1"/>
          </p:cNvSpPr>
          <p:nvPr>
            <p:ph type="ftr" sz="quarter" idx="11"/>
          </p:nvPr>
        </p:nvSpPr>
        <p:spPr/>
        <p:txBody>
          <a:bodyPr/>
          <a:lstStyle/>
          <a:p>
            <a:r>
              <a:rPr lang="zh-CN" altLang="en-US"/>
              <a:t>大数据技术解析</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25</a:t>
            </a:fld>
            <a:endParaRPr lang="zh-CN" altLang="en-US"/>
          </a:p>
        </p:txBody>
      </p:sp>
      <p:sp>
        <p:nvSpPr>
          <p:cNvPr id="7" name="矩形 6"/>
          <p:cNvSpPr/>
          <p:nvPr/>
        </p:nvSpPr>
        <p:spPr>
          <a:xfrm>
            <a:off x="755576" y="980728"/>
            <a:ext cx="7704856" cy="5308313"/>
          </a:xfrm>
          <a:prstGeom prst="rect">
            <a:avLst/>
          </a:prstGeom>
        </p:spPr>
        <p:txBody>
          <a:bodyPr wrap="square">
            <a:spAutoFit/>
          </a:bodyPr>
          <a:lstStyle/>
          <a:p>
            <a:pPr marL="285750" lvl="0" indent="-285750">
              <a:lnSpc>
                <a:spcPct val="150000"/>
              </a:lnSpc>
              <a:buFont typeface="Wingdings" pitchFamily="2" charset="2"/>
              <a:buChar char="Ø"/>
            </a:pPr>
            <a:r>
              <a:rPr lang="zh-CN" altLang="zh-CN" sz="2800" b="1" dirty="0"/>
              <a:t>模式灵活</a:t>
            </a:r>
          </a:p>
          <a:p>
            <a:pPr>
              <a:lnSpc>
                <a:spcPct val="150000"/>
              </a:lnSpc>
            </a:pPr>
            <a:r>
              <a:rPr lang="zh-CN" altLang="zh-CN" dirty="0"/>
              <a:t>使用</a:t>
            </a:r>
            <a:r>
              <a:rPr lang="en-US" altLang="zh-CN" dirty="0"/>
              <a:t>Cassandra</a:t>
            </a:r>
            <a:r>
              <a:rPr lang="zh-CN" altLang="zh-CN" dirty="0"/>
              <a:t>，像文档存储，你不必提前决定记录中的字段。你可以在系统运行时随意的添加或移除字段。这是一个惊人的效率提升，特别是在大型部署上。</a:t>
            </a:r>
          </a:p>
          <a:p>
            <a:pPr marL="285750" indent="-285750">
              <a:lnSpc>
                <a:spcPct val="150000"/>
              </a:lnSpc>
              <a:buFont typeface="Wingdings" pitchFamily="2" charset="2"/>
              <a:buChar char="Ø"/>
            </a:pPr>
            <a:r>
              <a:rPr lang="zh-CN" altLang="zh-CN" sz="2800" b="1" dirty="0"/>
              <a:t>高可扩展性</a:t>
            </a:r>
          </a:p>
          <a:p>
            <a:pPr>
              <a:lnSpc>
                <a:spcPct val="150000"/>
              </a:lnSpc>
            </a:pPr>
            <a:r>
              <a:rPr lang="en-US" altLang="zh-CN" dirty="0"/>
              <a:t>Cassandra</a:t>
            </a:r>
            <a:r>
              <a:rPr lang="zh-CN" altLang="zh-CN" dirty="0"/>
              <a:t>是纯粹意义上的水平扩展。为给集群添加更多容量，可以随时添加并指向另一台电脑。你不必重启任何进程，改变应用查询，或手动迁移任何数据。</a:t>
            </a:r>
          </a:p>
          <a:p>
            <a:pPr marL="285750" indent="-285750">
              <a:lnSpc>
                <a:spcPct val="150000"/>
              </a:lnSpc>
              <a:buFont typeface="Wingdings" pitchFamily="2" charset="2"/>
              <a:buChar char="Ø"/>
            </a:pPr>
            <a:r>
              <a:rPr lang="zh-CN" altLang="zh-CN" sz="2800" b="1" dirty="0"/>
              <a:t>多数据中心识别</a:t>
            </a:r>
          </a:p>
          <a:p>
            <a:pPr>
              <a:lnSpc>
                <a:spcPct val="150000"/>
              </a:lnSpc>
            </a:pPr>
            <a:r>
              <a:rPr lang="zh-CN" altLang="zh-CN" dirty="0"/>
              <a:t>可以调整节点布局来避免某一个数据中心</a:t>
            </a:r>
            <a:r>
              <a:rPr lang="zh-CN" altLang="en-US" dirty="0"/>
              <a:t>故障</a:t>
            </a:r>
            <a:r>
              <a:rPr lang="zh-CN" altLang="zh-CN" dirty="0"/>
              <a:t>，一个备用的数据中心将至少有每条记录的完全复制。</a:t>
            </a:r>
          </a:p>
        </p:txBody>
      </p:sp>
      <p:pic>
        <p:nvPicPr>
          <p:cNvPr id="8" name="图片 4" descr="4.jpg"/>
          <p:cNvPicPr>
            <a:picLocks noChangeAspect="1"/>
          </p:cNvPicPr>
          <p:nvPr/>
        </p:nvPicPr>
        <p:blipFill>
          <a:blip r:embed="rId2"/>
          <a:srcRect/>
          <a:stretch>
            <a:fillRect/>
          </a:stretch>
        </p:blipFill>
        <p:spPr bwMode="auto">
          <a:xfrm>
            <a:off x="1" y="0"/>
            <a:ext cx="4214809" cy="785794"/>
          </a:xfrm>
          <a:prstGeom prst="rect">
            <a:avLst/>
          </a:prstGeom>
          <a:noFill/>
          <a:ln w="9525">
            <a:noFill/>
            <a:miter lim="800000"/>
            <a:headEnd/>
            <a:tailEnd/>
          </a:ln>
        </p:spPr>
      </p:pic>
    </p:spTree>
    <p:extLst>
      <p:ext uri="{BB962C8B-B14F-4D97-AF65-F5344CB8AC3E}">
        <p14:creationId xmlns:p14="http://schemas.microsoft.com/office/powerpoint/2010/main" val="4124950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14612" y="-36875"/>
            <a:ext cx="6072230" cy="836126"/>
          </a:xfrm>
          <a:prstGeom prst="rect">
            <a:avLst/>
          </a:prstGeom>
          <a:noFill/>
        </p:spPr>
        <p:txBody>
          <a:bodyPr wrap="square" rtlCol="0">
            <a:spAutoFit/>
          </a:bodyPr>
          <a:lstStyle/>
          <a:p>
            <a:pPr algn="r">
              <a:lnSpc>
                <a:spcPts val="5800"/>
              </a:lnSpc>
              <a:spcBef>
                <a:spcPct val="0"/>
              </a:spcBef>
            </a:pPr>
            <a:r>
              <a:rPr lang="en-US" altLang="zh-CN" sz="2400" dirty="0" err="1">
                <a:solidFill>
                  <a:schemeClr val="tx2"/>
                </a:solidFill>
                <a:effectLst>
                  <a:outerShdw blurRad="63500" dist="38100" dir="5400000" algn="t" rotWithShape="0">
                    <a:prstClr val="black">
                      <a:alpha val="25000"/>
                    </a:prstClr>
                  </a:outerShdw>
                </a:effectLst>
                <a:ea typeface="+mj-ea"/>
                <a:cs typeface="+mj-cs"/>
              </a:rPr>
              <a:t>Hbase</a:t>
            </a:r>
            <a:r>
              <a:rPr lang="zh-CN" altLang="en-US" sz="2400" dirty="0">
                <a:solidFill>
                  <a:schemeClr val="tx2"/>
                </a:solidFill>
                <a:effectLst>
                  <a:outerShdw blurRad="63500" dist="38100" dir="5400000" algn="t" rotWithShape="0">
                    <a:prstClr val="black">
                      <a:alpha val="25000"/>
                    </a:prstClr>
                  </a:outerShdw>
                </a:effectLst>
                <a:ea typeface="+mj-ea"/>
                <a:cs typeface="+mj-cs"/>
              </a:rPr>
              <a:t>与</a:t>
            </a:r>
            <a:r>
              <a:rPr lang="en-US" altLang="zh-CN" sz="2400" dirty="0">
                <a:solidFill>
                  <a:schemeClr val="tx2"/>
                </a:solidFill>
                <a:effectLst>
                  <a:outerShdw blurRad="63500" dist="38100" dir="5400000" algn="t" rotWithShape="0">
                    <a:prstClr val="black">
                      <a:alpha val="25000"/>
                    </a:prstClr>
                  </a:outerShdw>
                </a:effectLst>
                <a:ea typeface="+mj-ea"/>
                <a:cs typeface="+mj-cs"/>
              </a:rPr>
              <a:t>Cassandra</a:t>
            </a:r>
            <a:r>
              <a:rPr lang="zh-CN" altLang="en-US" sz="2400" dirty="0">
                <a:solidFill>
                  <a:schemeClr val="tx2"/>
                </a:solidFill>
                <a:effectLst>
                  <a:outerShdw blurRad="63500" dist="38100" dir="5400000" algn="t" rotWithShape="0">
                    <a:prstClr val="black">
                      <a:alpha val="25000"/>
                    </a:prstClr>
                  </a:outerShdw>
                </a:effectLst>
                <a:ea typeface="+mj-ea"/>
                <a:cs typeface="+mj-cs"/>
              </a:rPr>
              <a:t>性能对比测试</a:t>
            </a:r>
          </a:p>
        </p:txBody>
      </p:sp>
      <p:sp>
        <p:nvSpPr>
          <p:cNvPr id="5" name="TextBox 4"/>
          <p:cNvSpPr txBox="1"/>
          <p:nvPr/>
        </p:nvSpPr>
        <p:spPr>
          <a:xfrm>
            <a:off x="357158" y="857232"/>
            <a:ext cx="7858180" cy="430887"/>
          </a:xfrm>
          <a:prstGeom prst="rect">
            <a:avLst/>
          </a:prstGeom>
          <a:noFill/>
        </p:spPr>
        <p:txBody>
          <a:bodyPr wrap="square" rtlCol="0">
            <a:spAutoFit/>
          </a:bodyPr>
          <a:lstStyle/>
          <a:p>
            <a:r>
              <a:rPr lang="zh-CN" altLang="en-US" sz="2200" dirty="0"/>
              <a:t>中国人民大学所做的对比测试，测试数据量</a:t>
            </a:r>
            <a:r>
              <a:rPr lang="en-US" altLang="zh-CN" sz="2200" dirty="0"/>
              <a:t>5GB</a:t>
            </a:r>
            <a:r>
              <a:rPr lang="zh-CN" altLang="en-US" sz="2200" dirty="0"/>
              <a:t>。</a:t>
            </a:r>
          </a:p>
        </p:txBody>
      </p:sp>
      <p:pic>
        <p:nvPicPr>
          <p:cNvPr id="7171" name="Picture 3"/>
          <p:cNvPicPr>
            <a:picLocks noChangeAspect="1" noChangeArrowheads="1"/>
          </p:cNvPicPr>
          <p:nvPr/>
        </p:nvPicPr>
        <p:blipFill>
          <a:blip r:embed="rId2"/>
          <a:srcRect/>
          <a:stretch>
            <a:fillRect/>
          </a:stretch>
        </p:blipFill>
        <p:spPr bwMode="auto">
          <a:xfrm>
            <a:off x="4714876" y="1359557"/>
            <a:ext cx="4248150" cy="1638300"/>
          </a:xfrm>
          <a:prstGeom prst="rect">
            <a:avLst/>
          </a:prstGeom>
          <a:noFill/>
          <a:ln w="9525">
            <a:noFill/>
            <a:miter lim="800000"/>
            <a:headEnd/>
            <a:tailEnd/>
          </a:ln>
          <a:effectLst/>
        </p:spPr>
      </p:pic>
      <p:pic>
        <p:nvPicPr>
          <p:cNvPr id="7172" name="Picture 4"/>
          <p:cNvPicPr>
            <a:picLocks noChangeAspect="1" noChangeArrowheads="1"/>
          </p:cNvPicPr>
          <p:nvPr/>
        </p:nvPicPr>
        <p:blipFill>
          <a:blip r:embed="rId3"/>
          <a:srcRect/>
          <a:stretch>
            <a:fillRect/>
          </a:stretch>
        </p:blipFill>
        <p:spPr bwMode="auto">
          <a:xfrm>
            <a:off x="428596" y="1285860"/>
            <a:ext cx="4191000" cy="1685925"/>
          </a:xfrm>
          <a:prstGeom prst="rect">
            <a:avLst/>
          </a:prstGeom>
          <a:noFill/>
          <a:ln w="9525">
            <a:noFill/>
            <a:miter lim="800000"/>
            <a:headEnd/>
            <a:tailEnd/>
          </a:ln>
          <a:effectLst/>
        </p:spPr>
      </p:pic>
      <p:pic>
        <p:nvPicPr>
          <p:cNvPr id="7173" name="Picture 5"/>
          <p:cNvPicPr>
            <a:picLocks noChangeAspect="1" noChangeArrowheads="1"/>
          </p:cNvPicPr>
          <p:nvPr/>
        </p:nvPicPr>
        <p:blipFill>
          <a:blip r:embed="rId4"/>
          <a:srcRect/>
          <a:stretch>
            <a:fillRect/>
          </a:stretch>
        </p:blipFill>
        <p:spPr bwMode="auto">
          <a:xfrm>
            <a:off x="429761" y="3713144"/>
            <a:ext cx="4042201" cy="1749447"/>
          </a:xfrm>
          <a:prstGeom prst="rect">
            <a:avLst/>
          </a:prstGeom>
          <a:noFill/>
          <a:ln w="9525">
            <a:noFill/>
            <a:miter lim="800000"/>
            <a:headEnd/>
            <a:tailEnd/>
          </a:ln>
          <a:effectLst/>
        </p:spPr>
      </p:pic>
      <p:pic>
        <p:nvPicPr>
          <p:cNvPr id="7174" name="Picture 6"/>
          <p:cNvPicPr>
            <a:picLocks noChangeAspect="1" noChangeArrowheads="1"/>
          </p:cNvPicPr>
          <p:nvPr/>
        </p:nvPicPr>
        <p:blipFill>
          <a:blip r:embed="rId5"/>
          <a:srcRect/>
          <a:stretch>
            <a:fillRect/>
          </a:stretch>
        </p:blipFill>
        <p:spPr bwMode="auto">
          <a:xfrm>
            <a:off x="4826647" y="3741551"/>
            <a:ext cx="4024608" cy="1782784"/>
          </a:xfrm>
          <a:prstGeom prst="rect">
            <a:avLst/>
          </a:prstGeom>
          <a:noFill/>
          <a:ln w="9525">
            <a:noFill/>
            <a:miter lim="800000"/>
            <a:headEnd/>
            <a:tailEnd/>
          </a:ln>
          <a:effectLst/>
        </p:spPr>
      </p:pic>
      <p:sp>
        <p:nvSpPr>
          <p:cNvPr id="8" name="TextBox 7"/>
          <p:cNvSpPr txBox="1"/>
          <p:nvPr/>
        </p:nvSpPr>
        <p:spPr>
          <a:xfrm>
            <a:off x="1500166" y="3071810"/>
            <a:ext cx="2928958" cy="307777"/>
          </a:xfrm>
          <a:prstGeom prst="rect">
            <a:avLst/>
          </a:prstGeom>
          <a:noFill/>
        </p:spPr>
        <p:txBody>
          <a:bodyPr wrap="square" rtlCol="0">
            <a:spAutoFit/>
          </a:bodyPr>
          <a:lstStyle/>
          <a:p>
            <a:r>
              <a:rPr lang="zh-CN" altLang="en-US" sz="1400" dirty="0"/>
              <a:t>图</a:t>
            </a:r>
            <a:r>
              <a:rPr lang="en-US" altLang="zh-CN" sz="1400" dirty="0"/>
              <a:t>1   20</a:t>
            </a:r>
            <a:r>
              <a:rPr lang="zh-CN" altLang="en-US" sz="1400" dirty="0"/>
              <a:t>个节点</a:t>
            </a:r>
            <a:r>
              <a:rPr lang="en-US" altLang="zh-CN" sz="1400" dirty="0" err="1"/>
              <a:t>HBase</a:t>
            </a:r>
            <a:r>
              <a:rPr lang="zh-CN" altLang="en-US" sz="1400" dirty="0"/>
              <a:t>的性能</a:t>
            </a:r>
          </a:p>
        </p:txBody>
      </p:sp>
      <p:sp>
        <p:nvSpPr>
          <p:cNvPr id="9" name="TextBox 8"/>
          <p:cNvSpPr txBox="1"/>
          <p:nvPr/>
        </p:nvSpPr>
        <p:spPr>
          <a:xfrm>
            <a:off x="5520364" y="3061926"/>
            <a:ext cx="2928958" cy="307777"/>
          </a:xfrm>
          <a:prstGeom prst="rect">
            <a:avLst/>
          </a:prstGeom>
          <a:noFill/>
        </p:spPr>
        <p:txBody>
          <a:bodyPr wrap="square" rtlCol="0">
            <a:spAutoFit/>
          </a:bodyPr>
          <a:lstStyle/>
          <a:p>
            <a:r>
              <a:rPr lang="zh-CN" altLang="en-US" sz="1400" dirty="0"/>
              <a:t>图</a:t>
            </a:r>
            <a:r>
              <a:rPr lang="en-US" altLang="zh-CN" sz="1400" dirty="0"/>
              <a:t>2   20</a:t>
            </a:r>
            <a:r>
              <a:rPr lang="zh-CN" altLang="en-US" sz="1400" dirty="0"/>
              <a:t>个节点</a:t>
            </a:r>
            <a:r>
              <a:rPr lang="en-US" altLang="zh-CN" sz="1400" dirty="0"/>
              <a:t>Cassandra</a:t>
            </a:r>
            <a:r>
              <a:rPr lang="zh-CN" altLang="en-US" sz="1400" dirty="0"/>
              <a:t>的性能</a:t>
            </a:r>
          </a:p>
        </p:txBody>
      </p:sp>
      <p:sp>
        <p:nvSpPr>
          <p:cNvPr id="10" name="TextBox 9"/>
          <p:cNvSpPr txBox="1"/>
          <p:nvPr/>
        </p:nvSpPr>
        <p:spPr>
          <a:xfrm>
            <a:off x="1428728" y="5715016"/>
            <a:ext cx="2928958" cy="307777"/>
          </a:xfrm>
          <a:prstGeom prst="rect">
            <a:avLst/>
          </a:prstGeom>
          <a:noFill/>
        </p:spPr>
        <p:txBody>
          <a:bodyPr wrap="square" rtlCol="0">
            <a:spAutoFit/>
          </a:bodyPr>
          <a:lstStyle/>
          <a:p>
            <a:r>
              <a:rPr lang="zh-CN" altLang="en-US" sz="1400" dirty="0"/>
              <a:t>图</a:t>
            </a:r>
            <a:r>
              <a:rPr lang="en-US" altLang="zh-CN" sz="1400" dirty="0"/>
              <a:t>3   </a:t>
            </a:r>
            <a:r>
              <a:rPr lang="en-US" altLang="zh-CN" sz="1400" dirty="0" err="1"/>
              <a:t>HBase</a:t>
            </a:r>
            <a:r>
              <a:rPr lang="zh-CN" altLang="en-US" sz="1400" dirty="0"/>
              <a:t>的扩展性测试</a:t>
            </a:r>
          </a:p>
        </p:txBody>
      </p:sp>
      <p:sp>
        <p:nvSpPr>
          <p:cNvPr id="11" name="TextBox 10"/>
          <p:cNvSpPr txBox="1"/>
          <p:nvPr/>
        </p:nvSpPr>
        <p:spPr>
          <a:xfrm>
            <a:off x="5614320" y="5676023"/>
            <a:ext cx="2928958" cy="307777"/>
          </a:xfrm>
          <a:prstGeom prst="rect">
            <a:avLst/>
          </a:prstGeom>
          <a:noFill/>
        </p:spPr>
        <p:txBody>
          <a:bodyPr wrap="square" rtlCol="0">
            <a:spAutoFit/>
          </a:bodyPr>
          <a:lstStyle/>
          <a:p>
            <a:r>
              <a:rPr lang="zh-CN" altLang="en-US" sz="1400" dirty="0"/>
              <a:t>图</a:t>
            </a:r>
            <a:r>
              <a:rPr lang="en-US" altLang="zh-CN" sz="1400" dirty="0"/>
              <a:t>4  Cassandra</a:t>
            </a:r>
            <a:r>
              <a:rPr lang="zh-CN" altLang="en-US" sz="1400" dirty="0"/>
              <a:t>的扩展性测试</a:t>
            </a:r>
          </a:p>
        </p:txBody>
      </p:sp>
      <p:sp>
        <p:nvSpPr>
          <p:cNvPr id="2" name="日期占位符 1"/>
          <p:cNvSpPr>
            <a:spLocks noGrp="1"/>
          </p:cNvSpPr>
          <p:nvPr>
            <p:ph type="dt" sz="half" idx="10"/>
          </p:nvPr>
        </p:nvSpPr>
        <p:spPr/>
        <p:txBody>
          <a:bodyPr/>
          <a:lstStyle/>
          <a:p>
            <a:fld id="{30F20588-9EE9-4C6A-B1B2-6C2FE71B5F8F}" type="datetime1">
              <a:rPr lang="zh-CN" altLang="en-US" smtClean="0"/>
              <a:pPr/>
              <a:t>2022/5/1</a:t>
            </a:fld>
            <a:endParaRPr lang="zh-CN" altLang="en-US"/>
          </a:p>
        </p:txBody>
      </p:sp>
      <p:sp>
        <p:nvSpPr>
          <p:cNvPr id="3" name="页脚占位符 2"/>
          <p:cNvSpPr>
            <a:spLocks noGrp="1"/>
          </p:cNvSpPr>
          <p:nvPr>
            <p:ph type="ftr" sz="quarter" idx="11"/>
          </p:nvPr>
        </p:nvSpPr>
        <p:spPr/>
        <p:txBody>
          <a:bodyPr/>
          <a:lstStyle/>
          <a:p>
            <a:r>
              <a:rPr lang="zh-CN" altLang="en-US"/>
              <a:t>大数据技术解析</a:t>
            </a:r>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26</a:t>
            </a:fld>
            <a:endParaRPr lang="zh-CN" altLang="en-US"/>
          </a:p>
        </p:txBody>
      </p:sp>
      <p:pic>
        <p:nvPicPr>
          <p:cNvPr id="15" name="图片 4" descr="4.jpg"/>
          <p:cNvPicPr>
            <a:picLocks noChangeAspect="1"/>
          </p:cNvPicPr>
          <p:nvPr/>
        </p:nvPicPr>
        <p:blipFill>
          <a:blip r:embed="rId6"/>
          <a:srcRect/>
          <a:stretch>
            <a:fillRect/>
          </a:stretch>
        </p:blipFill>
        <p:spPr bwMode="auto">
          <a:xfrm>
            <a:off x="1" y="0"/>
            <a:ext cx="4214809" cy="785794"/>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1357298"/>
            <a:ext cx="8072494" cy="2246769"/>
          </a:xfrm>
          <a:prstGeom prst="rect">
            <a:avLst/>
          </a:prstGeom>
          <a:noFill/>
        </p:spPr>
        <p:txBody>
          <a:bodyPr wrap="square" rtlCol="0">
            <a:spAutoFit/>
          </a:bodyPr>
          <a:lstStyle/>
          <a:p>
            <a:pPr algn="just"/>
            <a:r>
              <a:rPr lang="en-US" altLang="zh-CN" sz="2000" dirty="0"/>
              <a:t>        </a:t>
            </a:r>
            <a:r>
              <a:rPr lang="en-US" altLang="zh-CN" sz="2000" dirty="0" err="1"/>
              <a:t>MongoDB</a:t>
            </a:r>
            <a:r>
              <a:rPr lang="zh-CN" altLang="en-US" sz="2000" dirty="0"/>
              <a:t>是一个介于关系数据库和非关系数据库之间的产品，是非关系数据库当中功能最丰富，最像关系数据库的。</a:t>
            </a:r>
            <a:endParaRPr lang="en-US" altLang="zh-CN" sz="2000" dirty="0"/>
          </a:p>
          <a:p>
            <a:pPr algn="just"/>
            <a:r>
              <a:rPr lang="en-US" altLang="zh-CN" sz="2000" dirty="0"/>
              <a:t>        </a:t>
            </a:r>
            <a:r>
              <a:rPr lang="zh-CN" altLang="en-US" sz="2000" dirty="0"/>
              <a:t>支持的数据结构非常松散，是类似</a:t>
            </a:r>
            <a:r>
              <a:rPr lang="en-US" altLang="zh-CN" sz="2000" dirty="0" err="1"/>
              <a:t>json</a:t>
            </a:r>
            <a:r>
              <a:rPr lang="zh-CN" altLang="en-US" sz="2000" dirty="0"/>
              <a:t>的</a:t>
            </a:r>
            <a:r>
              <a:rPr lang="en-US" altLang="zh-CN" sz="2000" dirty="0" err="1"/>
              <a:t>bjson</a:t>
            </a:r>
            <a:r>
              <a:rPr lang="zh-CN" altLang="en-US" sz="2000" dirty="0"/>
              <a:t>格式，因此可以存储比较复杂的数据类型。</a:t>
            </a:r>
            <a:r>
              <a:rPr lang="en-US" altLang="zh-CN" sz="2000" dirty="0"/>
              <a:t>Mongo</a:t>
            </a:r>
            <a:r>
              <a:rPr lang="zh-CN" altLang="en-US" sz="2000" dirty="0"/>
              <a:t>最大的特点是他支持的查询语言非常强大，其语法有点类似于面向对象的查询语言，几乎可以实现类似关系数据库单表查询的绝大部分功能，而且还支持对数据建立索引。</a:t>
            </a:r>
            <a:endParaRPr lang="en-US" altLang="zh-CN" sz="2000" dirty="0"/>
          </a:p>
          <a:p>
            <a:pPr algn="just"/>
            <a:r>
              <a:rPr lang="en-US" altLang="zh-CN" sz="2000" dirty="0"/>
              <a:t>         </a:t>
            </a:r>
            <a:r>
              <a:rPr lang="zh-CN" altLang="en-US" sz="2000" dirty="0"/>
              <a:t>高性能、易部署、易使用，存储数据非常方便。</a:t>
            </a:r>
          </a:p>
        </p:txBody>
      </p:sp>
      <p:pic>
        <p:nvPicPr>
          <p:cNvPr id="4098" name="Picture 2"/>
          <p:cNvPicPr>
            <a:picLocks noChangeAspect="1" noChangeArrowheads="1"/>
          </p:cNvPicPr>
          <p:nvPr/>
        </p:nvPicPr>
        <p:blipFill>
          <a:blip r:embed="rId2"/>
          <a:srcRect/>
          <a:stretch>
            <a:fillRect/>
          </a:stretch>
        </p:blipFill>
        <p:spPr bwMode="auto">
          <a:xfrm>
            <a:off x="1857356" y="3571876"/>
            <a:ext cx="5357850" cy="2985370"/>
          </a:xfrm>
          <a:prstGeom prst="rect">
            <a:avLst/>
          </a:prstGeom>
          <a:noFill/>
          <a:ln w="9525">
            <a:noFill/>
            <a:miter lim="800000"/>
            <a:headEnd/>
            <a:tailEnd/>
          </a:ln>
          <a:effectLst/>
        </p:spPr>
      </p:pic>
      <p:sp>
        <p:nvSpPr>
          <p:cNvPr id="6" name="TextBox 5"/>
          <p:cNvSpPr txBox="1"/>
          <p:nvPr/>
        </p:nvSpPr>
        <p:spPr>
          <a:xfrm>
            <a:off x="5357818" y="6215082"/>
            <a:ext cx="2928958" cy="323165"/>
          </a:xfrm>
          <a:prstGeom prst="rect">
            <a:avLst/>
          </a:prstGeom>
          <a:noFill/>
        </p:spPr>
        <p:txBody>
          <a:bodyPr wrap="square" rtlCol="0">
            <a:spAutoFit/>
          </a:bodyPr>
          <a:lstStyle/>
          <a:p>
            <a:r>
              <a:rPr lang="zh-CN" altLang="en-US" sz="1500" dirty="0"/>
              <a:t>图</a:t>
            </a:r>
            <a:r>
              <a:rPr lang="en-US" altLang="zh-CN" sz="1500" dirty="0"/>
              <a:t>5  </a:t>
            </a:r>
            <a:r>
              <a:rPr lang="en-US" altLang="zh-CN" sz="1500" dirty="0" err="1"/>
              <a:t>MongoDB</a:t>
            </a:r>
            <a:r>
              <a:rPr lang="zh-CN" altLang="en-US" sz="1500" dirty="0"/>
              <a:t>的典型部署架构</a:t>
            </a:r>
          </a:p>
        </p:txBody>
      </p:sp>
      <p:sp>
        <p:nvSpPr>
          <p:cNvPr id="2" name="日期占位符 1"/>
          <p:cNvSpPr>
            <a:spLocks noGrp="1"/>
          </p:cNvSpPr>
          <p:nvPr>
            <p:ph type="dt" sz="half" idx="10"/>
          </p:nvPr>
        </p:nvSpPr>
        <p:spPr/>
        <p:txBody>
          <a:bodyPr/>
          <a:lstStyle/>
          <a:p>
            <a:fld id="{81F51D89-8EEA-4C9D-A9E9-687DBA5087FF}" type="datetime1">
              <a:rPr lang="zh-CN" altLang="en-US" smtClean="0"/>
              <a:pPr/>
              <a:t>2022/5/1</a:t>
            </a:fld>
            <a:endParaRPr lang="zh-CN" altLang="en-US"/>
          </a:p>
        </p:txBody>
      </p:sp>
      <p:sp>
        <p:nvSpPr>
          <p:cNvPr id="4" name="页脚占位符 3"/>
          <p:cNvSpPr>
            <a:spLocks noGrp="1"/>
          </p:cNvSpPr>
          <p:nvPr>
            <p:ph type="ftr" sz="quarter" idx="11"/>
          </p:nvPr>
        </p:nvSpPr>
        <p:spPr/>
        <p:txBody>
          <a:bodyPr/>
          <a:lstStyle/>
          <a:p>
            <a:r>
              <a:rPr lang="zh-CN" altLang="en-US"/>
              <a:t>大数据技术解析</a:t>
            </a:r>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27</a:t>
            </a:fld>
            <a:endParaRPr lang="zh-CN" altLang="en-US"/>
          </a:p>
        </p:txBody>
      </p:sp>
      <p:sp>
        <p:nvSpPr>
          <p:cNvPr id="9" name="TextBox 8"/>
          <p:cNvSpPr txBox="1"/>
          <p:nvPr/>
        </p:nvSpPr>
        <p:spPr>
          <a:xfrm>
            <a:off x="2771800" y="0"/>
            <a:ext cx="5760640" cy="786754"/>
          </a:xfrm>
          <a:prstGeom prst="rect">
            <a:avLst/>
          </a:prstGeom>
          <a:noFill/>
        </p:spPr>
        <p:txBody>
          <a:bodyPr wrap="square" rtlCol="0">
            <a:spAutoFit/>
          </a:bodyPr>
          <a:lstStyle/>
          <a:p>
            <a:pPr algn="r">
              <a:lnSpc>
                <a:spcPts val="5800"/>
              </a:lnSpc>
              <a:spcBef>
                <a:spcPct val="0"/>
              </a:spcBef>
            </a:pPr>
            <a:r>
              <a:rPr lang="en-US" altLang="zh-CN" sz="3600" dirty="0" err="1">
                <a:solidFill>
                  <a:schemeClr val="tx2"/>
                </a:solidFill>
                <a:effectLst>
                  <a:outerShdw blurRad="63500" dist="38100" dir="5400000" algn="t" rotWithShape="0">
                    <a:prstClr val="black">
                      <a:alpha val="25000"/>
                    </a:prstClr>
                  </a:outerShdw>
                </a:effectLst>
                <a:ea typeface="+mj-ea"/>
                <a:cs typeface="+mj-cs"/>
              </a:rPr>
              <a:t>MongoDB</a:t>
            </a:r>
            <a:endParaRPr lang="zh-CN" altLang="en-US" sz="3600" dirty="0">
              <a:solidFill>
                <a:schemeClr val="tx2"/>
              </a:solidFill>
              <a:effectLst>
                <a:outerShdw blurRad="63500" dist="38100" dir="5400000" algn="t" rotWithShape="0">
                  <a:prstClr val="black">
                    <a:alpha val="25000"/>
                  </a:prstClr>
                </a:outerShdw>
              </a:effectLst>
              <a:ea typeface="+mj-ea"/>
              <a:cs typeface="+mj-cs"/>
            </a:endParaRPr>
          </a:p>
        </p:txBody>
      </p:sp>
      <p:pic>
        <p:nvPicPr>
          <p:cNvPr id="10" name="图片 4" descr="4.jpg"/>
          <p:cNvPicPr>
            <a:picLocks noChangeAspect="1"/>
          </p:cNvPicPr>
          <p:nvPr/>
        </p:nvPicPr>
        <p:blipFill>
          <a:blip r:embed="rId3"/>
          <a:srcRect/>
          <a:stretch>
            <a:fillRect/>
          </a:stretch>
        </p:blipFill>
        <p:spPr bwMode="auto">
          <a:xfrm>
            <a:off x="1" y="0"/>
            <a:ext cx="4214809" cy="785794"/>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r"/>
            <a:r>
              <a:rPr lang="en-US" altLang="zh-CN" dirty="0" err="1"/>
              <a:t>MongDB</a:t>
            </a:r>
            <a:r>
              <a:rPr lang="zh-CN" altLang="en-US" dirty="0"/>
              <a:t>特性</a:t>
            </a:r>
          </a:p>
        </p:txBody>
      </p:sp>
      <p:sp>
        <p:nvSpPr>
          <p:cNvPr id="3" name="内容占位符 2"/>
          <p:cNvSpPr>
            <a:spLocks noGrp="1"/>
          </p:cNvSpPr>
          <p:nvPr>
            <p:ph idx="1"/>
          </p:nvPr>
        </p:nvSpPr>
        <p:spPr>
          <a:xfrm>
            <a:off x="457200" y="919261"/>
            <a:ext cx="8229600" cy="5174035"/>
          </a:xfrm>
        </p:spPr>
        <p:txBody>
          <a:bodyPr>
            <a:normAutofit lnSpcReduction="10000"/>
          </a:bodyPr>
          <a:lstStyle/>
          <a:p>
            <a:pPr lvl="1">
              <a:lnSpc>
                <a:spcPct val="150000"/>
              </a:lnSpc>
              <a:buFont typeface="Wingdings" pitchFamily="2" charset="2"/>
              <a:buChar char="Ø"/>
            </a:pPr>
            <a:r>
              <a:rPr lang="zh-CN" altLang="zh-CN" sz="1800" b="1" dirty="0"/>
              <a:t>面向集合的存储</a:t>
            </a:r>
            <a:r>
              <a:rPr lang="zh-CN" altLang="zh-CN" sz="1800" dirty="0"/>
              <a:t>：适合存储对象及形式的数据；</a:t>
            </a:r>
          </a:p>
          <a:p>
            <a:pPr lvl="1">
              <a:lnSpc>
                <a:spcPct val="150000"/>
              </a:lnSpc>
              <a:buFont typeface="Wingdings" pitchFamily="2" charset="2"/>
              <a:buChar char="Ø"/>
            </a:pPr>
            <a:r>
              <a:rPr lang="zh-CN" altLang="zh-CN" sz="1800" b="1" dirty="0"/>
              <a:t>动态查询</a:t>
            </a:r>
            <a:r>
              <a:rPr lang="zh-CN" altLang="zh-CN" sz="1800" dirty="0"/>
              <a:t>：</a:t>
            </a:r>
            <a:r>
              <a:rPr lang="en-US" altLang="zh-CN" sz="1800" dirty="0" err="1"/>
              <a:t>MongoDB</a:t>
            </a:r>
            <a:r>
              <a:rPr lang="zh-CN" altLang="zh-CN" sz="1800" dirty="0"/>
              <a:t>支持丰富的查询表达式。查询指令使用</a:t>
            </a:r>
            <a:r>
              <a:rPr lang="en-US" altLang="zh-CN" sz="1800" dirty="0"/>
              <a:t>JSON</a:t>
            </a:r>
            <a:r>
              <a:rPr lang="zh-CN" altLang="zh-CN" sz="1800" dirty="0"/>
              <a:t>形式的标记，可轻易查询文档中内嵌的对象及数组；</a:t>
            </a:r>
          </a:p>
          <a:p>
            <a:pPr lvl="1">
              <a:lnSpc>
                <a:spcPct val="150000"/>
              </a:lnSpc>
              <a:buFont typeface="Wingdings" pitchFamily="2" charset="2"/>
              <a:buChar char="Ø"/>
            </a:pPr>
            <a:r>
              <a:rPr lang="zh-CN" altLang="zh-CN" sz="1800" b="1" dirty="0"/>
              <a:t>完整的索引支持</a:t>
            </a:r>
            <a:r>
              <a:rPr lang="zh-CN" altLang="zh-CN" sz="1800" dirty="0"/>
              <a:t>：包括文档内嵌对象及数组。</a:t>
            </a:r>
            <a:r>
              <a:rPr lang="en-US" altLang="zh-CN" sz="1800" dirty="0" err="1"/>
              <a:t>MongoDB</a:t>
            </a:r>
            <a:r>
              <a:rPr lang="zh-CN" altLang="zh-CN" sz="1800" dirty="0"/>
              <a:t>的查询优化器会分析查询表达式，并生成一个高效的查询计划；</a:t>
            </a:r>
          </a:p>
          <a:p>
            <a:pPr lvl="1">
              <a:lnSpc>
                <a:spcPct val="150000"/>
              </a:lnSpc>
              <a:buFont typeface="Wingdings" pitchFamily="2" charset="2"/>
              <a:buChar char="Ø"/>
            </a:pPr>
            <a:r>
              <a:rPr lang="zh-CN" altLang="zh-CN" sz="1800" b="1" dirty="0"/>
              <a:t>查询监视</a:t>
            </a:r>
            <a:r>
              <a:rPr lang="zh-CN" altLang="zh-CN" sz="1800" dirty="0"/>
              <a:t>：</a:t>
            </a:r>
            <a:r>
              <a:rPr lang="en-US" altLang="zh-CN" sz="1800" dirty="0" err="1"/>
              <a:t>MongoDB</a:t>
            </a:r>
            <a:r>
              <a:rPr lang="zh-CN" altLang="zh-CN" sz="1800" dirty="0"/>
              <a:t>包含一个监视工具用于分析数据库操作的性能；</a:t>
            </a:r>
          </a:p>
          <a:p>
            <a:pPr lvl="1">
              <a:lnSpc>
                <a:spcPct val="150000"/>
              </a:lnSpc>
              <a:buFont typeface="Wingdings" pitchFamily="2" charset="2"/>
              <a:buChar char="Ø"/>
            </a:pPr>
            <a:r>
              <a:rPr lang="zh-CN" altLang="zh-CN" sz="1800" b="1" dirty="0"/>
              <a:t>复制及自动故障转移</a:t>
            </a:r>
            <a:r>
              <a:rPr lang="zh-CN" altLang="zh-CN" sz="1800" dirty="0"/>
              <a:t>：</a:t>
            </a:r>
            <a:r>
              <a:rPr lang="en-US" altLang="zh-CN" sz="1800" dirty="0" err="1"/>
              <a:t>MongoDB</a:t>
            </a:r>
            <a:r>
              <a:rPr lang="zh-CN" altLang="zh-CN" sz="1800" dirty="0"/>
              <a:t>数据库支持服务器之间的数据复制，支持主</a:t>
            </a:r>
            <a:r>
              <a:rPr lang="en-US" altLang="zh-CN" sz="1800" dirty="0"/>
              <a:t>-</a:t>
            </a:r>
            <a:r>
              <a:rPr lang="zh-CN" altLang="zh-CN" sz="1800" dirty="0"/>
              <a:t>从模式及服务器之间的相互复制。复制的主要目标是提供冗余及自动故障转移；</a:t>
            </a:r>
          </a:p>
          <a:p>
            <a:pPr lvl="1">
              <a:lnSpc>
                <a:spcPct val="150000"/>
              </a:lnSpc>
              <a:buFont typeface="Wingdings" pitchFamily="2" charset="2"/>
              <a:buChar char="Ø"/>
            </a:pPr>
            <a:r>
              <a:rPr lang="zh-CN" altLang="zh-CN" sz="1800" b="1" dirty="0"/>
              <a:t>高效的传统存储方式</a:t>
            </a:r>
            <a:r>
              <a:rPr lang="zh-CN" altLang="zh-CN" sz="1800" dirty="0"/>
              <a:t>：支持二进制数据及大型对象（如照片或图片）。</a:t>
            </a:r>
          </a:p>
          <a:p>
            <a:pPr lvl="1">
              <a:lnSpc>
                <a:spcPct val="150000"/>
              </a:lnSpc>
              <a:buFont typeface="Wingdings" pitchFamily="2" charset="2"/>
              <a:buChar char="Ø"/>
            </a:pPr>
            <a:r>
              <a:rPr lang="zh-CN" altLang="zh-CN" sz="1800" b="1" dirty="0"/>
              <a:t>自动分片以支持云级别的伸缩性</a:t>
            </a:r>
            <a:r>
              <a:rPr lang="zh-CN" altLang="zh-CN" sz="1800" dirty="0"/>
              <a:t>：自动分片功能支持水平的数据库集群，可动态添加额外的机器。</a:t>
            </a:r>
          </a:p>
          <a:p>
            <a:endParaRPr lang="zh-CN" altLang="en-US" dirty="0"/>
          </a:p>
        </p:txBody>
      </p:sp>
      <p:sp>
        <p:nvSpPr>
          <p:cNvPr id="4" name="日期占位符 3"/>
          <p:cNvSpPr>
            <a:spLocks noGrp="1"/>
          </p:cNvSpPr>
          <p:nvPr>
            <p:ph type="dt" sz="half" idx="10"/>
          </p:nvPr>
        </p:nvSpPr>
        <p:spPr/>
        <p:txBody>
          <a:bodyPr/>
          <a:lstStyle/>
          <a:p>
            <a:fld id="{AAA3484A-CA2E-45E0-B405-28587CFBD2C0}" type="datetime1">
              <a:rPr lang="zh-CN" altLang="en-US" smtClean="0"/>
              <a:pPr/>
              <a:t>2022/5/1</a:t>
            </a:fld>
            <a:endParaRPr lang="zh-CN" altLang="en-US"/>
          </a:p>
        </p:txBody>
      </p:sp>
      <p:sp>
        <p:nvSpPr>
          <p:cNvPr id="5" name="页脚占位符 4"/>
          <p:cNvSpPr>
            <a:spLocks noGrp="1"/>
          </p:cNvSpPr>
          <p:nvPr>
            <p:ph type="ftr" sz="quarter" idx="11"/>
          </p:nvPr>
        </p:nvSpPr>
        <p:spPr/>
        <p:txBody>
          <a:bodyPr/>
          <a:lstStyle/>
          <a:p>
            <a:r>
              <a:rPr lang="zh-CN" altLang="en-US"/>
              <a:t>大数据技术解析</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28</a:t>
            </a:fld>
            <a:endParaRPr lang="zh-CN" altLang="en-US"/>
          </a:p>
        </p:txBody>
      </p:sp>
      <p:pic>
        <p:nvPicPr>
          <p:cNvPr id="7" name="图片 4" descr="4.jpg"/>
          <p:cNvPicPr>
            <a:picLocks noChangeAspect="1"/>
          </p:cNvPicPr>
          <p:nvPr/>
        </p:nvPicPr>
        <p:blipFill>
          <a:blip r:embed="rId2"/>
          <a:srcRect/>
          <a:stretch>
            <a:fillRect/>
          </a:stretch>
        </p:blipFill>
        <p:spPr bwMode="auto">
          <a:xfrm>
            <a:off x="1" y="0"/>
            <a:ext cx="4214809" cy="785794"/>
          </a:xfrm>
          <a:prstGeom prst="rect">
            <a:avLst/>
          </a:prstGeom>
          <a:noFill/>
          <a:ln w="9525">
            <a:noFill/>
            <a:miter lim="800000"/>
            <a:headEnd/>
            <a:tailEnd/>
          </a:ln>
        </p:spPr>
      </p:pic>
    </p:spTree>
    <p:extLst>
      <p:ext uri="{BB962C8B-B14F-4D97-AF65-F5344CB8AC3E}">
        <p14:creationId xmlns:p14="http://schemas.microsoft.com/office/powerpoint/2010/main" val="39623362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r"/>
            <a:r>
              <a:rPr lang="en-US" altLang="zh-CN" dirty="0" err="1"/>
              <a:t>MongoDB</a:t>
            </a:r>
            <a:r>
              <a:rPr lang="zh-CN" altLang="en-US" dirty="0"/>
              <a:t>案例</a:t>
            </a:r>
            <a:endParaRPr lang="en-US" dirty="0"/>
          </a:p>
        </p:txBody>
      </p:sp>
      <p:sp>
        <p:nvSpPr>
          <p:cNvPr id="3" name="内容占位符 2"/>
          <p:cNvSpPr>
            <a:spLocks noGrp="1"/>
          </p:cNvSpPr>
          <p:nvPr>
            <p:ph idx="1"/>
          </p:nvPr>
        </p:nvSpPr>
        <p:spPr/>
        <p:txBody>
          <a:bodyPr/>
          <a:lstStyle/>
          <a:p>
            <a:r>
              <a:rPr lang="zh-CN" altLang="en-US" dirty="0"/>
              <a:t>获</a:t>
            </a:r>
            <a:r>
              <a:rPr lang="en-US" altLang="zh-CN" dirty="0"/>
              <a:t>2.3</a:t>
            </a:r>
            <a:r>
              <a:rPr lang="zh-CN" altLang="en-US" dirty="0"/>
              <a:t>亿美金总投资</a:t>
            </a:r>
            <a:endParaRPr lang="en-US" altLang="zh-CN" dirty="0"/>
          </a:p>
          <a:p>
            <a:r>
              <a:rPr lang="en-US" altLang="zh-CN" dirty="0"/>
              <a:t>Foursquare, Craigslist, </a:t>
            </a:r>
            <a:r>
              <a:rPr lang="en-US" altLang="zh-CN" dirty="0" err="1"/>
              <a:t>Metlife</a:t>
            </a:r>
            <a:r>
              <a:rPr lang="en-US" altLang="zh-CN" dirty="0"/>
              <a:t>, Salesforce, Forbes</a:t>
            </a:r>
          </a:p>
          <a:p>
            <a:r>
              <a:rPr lang="en-US" dirty="0"/>
              <a:t>Craigslist, </a:t>
            </a:r>
            <a:r>
              <a:rPr lang="zh-CN" altLang="en-US" dirty="0"/>
              <a:t>全球大型分类广告网站</a:t>
            </a:r>
            <a:endParaRPr lang="en-US" altLang="zh-CN" dirty="0"/>
          </a:p>
          <a:p>
            <a:pPr lvl="1"/>
            <a:r>
              <a:rPr lang="en-US" altLang="zh-CN" sz="2000" dirty="0"/>
              <a:t>20</a:t>
            </a:r>
            <a:r>
              <a:rPr lang="zh-CN" altLang="en-US" sz="2000" dirty="0"/>
              <a:t>亿个文档，现在已经有</a:t>
            </a:r>
            <a:r>
              <a:rPr lang="en-US" altLang="zh-CN" sz="2000" dirty="0"/>
              <a:t>50</a:t>
            </a:r>
            <a:r>
              <a:rPr lang="zh-CN" altLang="en-US" sz="2000" dirty="0"/>
              <a:t>亿文档</a:t>
            </a:r>
            <a:endParaRPr lang="en-US" altLang="zh-CN" sz="2000" dirty="0"/>
          </a:p>
          <a:p>
            <a:pPr lvl="1"/>
            <a:r>
              <a:rPr lang="zh-CN" altLang="en-US" sz="2000" dirty="0"/>
              <a:t>由</a:t>
            </a:r>
            <a:r>
              <a:rPr lang="en-US" altLang="zh-CN" sz="2000" dirty="0"/>
              <a:t>100</a:t>
            </a:r>
            <a:r>
              <a:rPr lang="zh-CN" altLang="en-US" sz="2000" dirty="0"/>
              <a:t>台</a:t>
            </a:r>
            <a:r>
              <a:rPr lang="en-US" altLang="zh-CN" sz="2000" dirty="0"/>
              <a:t>MySQL</a:t>
            </a:r>
            <a:r>
              <a:rPr lang="zh-CN" altLang="en-US" sz="2000" dirty="0"/>
              <a:t>集群整体迁移到</a:t>
            </a:r>
            <a:r>
              <a:rPr lang="en-US" altLang="zh-CN" sz="2000" dirty="0" err="1"/>
              <a:t>MongoDB</a:t>
            </a:r>
            <a:endParaRPr lang="en-US" altLang="zh-CN" sz="2000" dirty="0"/>
          </a:p>
          <a:p>
            <a:pPr lvl="1"/>
            <a:r>
              <a:rPr lang="zh-CN" altLang="en-US" sz="2000" dirty="0"/>
              <a:t>数据库模式改变</a:t>
            </a:r>
            <a:endParaRPr lang="en-US" altLang="zh-CN" sz="2000" dirty="0"/>
          </a:p>
          <a:p>
            <a:pPr lvl="1"/>
            <a:r>
              <a:rPr lang="zh-CN" altLang="en-US" sz="2000" dirty="0"/>
              <a:t>集群扩容</a:t>
            </a:r>
            <a:endParaRPr lang="en-US" altLang="zh-CN" sz="2000" dirty="0"/>
          </a:p>
          <a:p>
            <a:pPr lvl="1"/>
            <a:r>
              <a:rPr lang="zh-CN" altLang="en-US" sz="2000" dirty="0"/>
              <a:t>节点宕机</a:t>
            </a:r>
            <a:endParaRPr lang="en-US" altLang="zh-CN" sz="2000" dirty="0"/>
          </a:p>
          <a:p>
            <a:endParaRPr lang="en-US" dirty="0"/>
          </a:p>
        </p:txBody>
      </p:sp>
      <p:sp>
        <p:nvSpPr>
          <p:cNvPr id="4" name="日期占位符 3"/>
          <p:cNvSpPr>
            <a:spLocks noGrp="1"/>
          </p:cNvSpPr>
          <p:nvPr>
            <p:ph type="dt" sz="half" idx="10"/>
          </p:nvPr>
        </p:nvSpPr>
        <p:spPr/>
        <p:txBody>
          <a:bodyPr/>
          <a:lstStyle/>
          <a:p>
            <a:fld id="{AAA3484A-CA2E-45E0-B405-28587CFBD2C0}" type="datetime1">
              <a:rPr lang="zh-CN" altLang="en-US" smtClean="0"/>
              <a:pPr/>
              <a:t>2022/5/1</a:t>
            </a:fld>
            <a:endParaRPr lang="zh-CN" altLang="en-US"/>
          </a:p>
        </p:txBody>
      </p:sp>
      <p:sp>
        <p:nvSpPr>
          <p:cNvPr id="5" name="页脚占位符 4"/>
          <p:cNvSpPr>
            <a:spLocks noGrp="1"/>
          </p:cNvSpPr>
          <p:nvPr>
            <p:ph type="ftr" sz="quarter" idx="11"/>
          </p:nvPr>
        </p:nvSpPr>
        <p:spPr/>
        <p:txBody>
          <a:bodyPr/>
          <a:lstStyle/>
          <a:p>
            <a:r>
              <a:rPr lang="zh-CN" altLang="en-US"/>
              <a:t>大数据技术解析</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29</a:t>
            </a:fld>
            <a:endParaRPr lang="zh-CN" altLang="en-US"/>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8300" y="4437112"/>
            <a:ext cx="2649894" cy="1008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图片 4" descr="4.jpg"/>
          <p:cNvPicPr>
            <a:picLocks noChangeAspect="1"/>
          </p:cNvPicPr>
          <p:nvPr/>
        </p:nvPicPr>
        <p:blipFill>
          <a:blip r:embed="rId3"/>
          <a:srcRect/>
          <a:stretch>
            <a:fillRect/>
          </a:stretch>
        </p:blipFill>
        <p:spPr bwMode="auto">
          <a:xfrm>
            <a:off x="1" y="0"/>
            <a:ext cx="4214809" cy="785794"/>
          </a:xfrm>
          <a:prstGeom prst="rect">
            <a:avLst/>
          </a:prstGeom>
          <a:noFill/>
          <a:ln w="9525">
            <a:noFill/>
            <a:miter lim="800000"/>
            <a:headEnd/>
            <a:tailEnd/>
          </a:ln>
        </p:spPr>
      </p:pic>
    </p:spTree>
    <p:extLst>
      <p:ext uri="{BB962C8B-B14F-4D97-AF65-F5344CB8AC3E}">
        <p14:creationId xmlns:p14="http://schemas.microsoft.com/office/powerpoint/2010/main" val="20749219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1142984"/>
            <a:ext cx="8143932" cy="2246769"/>
          </a:xfrm>
          <a:prstGeom prst="rect">
            <a:avLst/>
          </a:prstGeom>
          <a:noFill/>
        </p:spPr>
        <p:txBody>
          <a:bodyPr wrap="square" rtlCol="0">
            <a:spAutoFit/>
          </a:bodyPr>
          <a:lstStyle/>
          <a:p>
            <a:pPr algn="just"/>
            <a:r>
              <a:rPr lang="en-US" sz="2000" dirty="0"/>
              <a:t>         </a:t>
            </a:r>
            <a:r>
              <a:rPr lang="en-US" sz="2000" dirty="0" err="1"/>
              <a:t>CouchDB</a:t>
            </a:r>
            <a:r>
              <a:rPr lang="zh-CN" altLang="en-US" sz="2000" dirty="0"/>
              <a:t>是一个开源的面向文档的数据库管理系统，可以通过 </a:t>
            </a:r>
            <a:r>
              <a:rPr lang="en-US" sz="2000" dirty="0" err="1"/>
              <a:t>RESTful</a:t>
            </a:r>
            <a:r>
              <a:rPr lang="en-US" sz="2000" dirty="0"/>
              <a:t> JavaScript Object Notation (JSON) API </a:t>
            </a:r>
            <a:r>
              <a:rPr lang="zh-CN" altLang="en-US" sz="2000" dirty="0"/>
              <a:t>访问。术语 “</a:t>
            </a:r>
            <a:r>
              <a:rPr lang="en-US" sz="2000" dirty="0"/>
              <a:t>Couch” </a:t>
            </a:r>
            <a:r>
              <a:rPr lang="zh-CN" altLang="en-US" sz="2000" dirty="0"/>
              <a:t>是 “</a:t>
            </a:r>
            <a:r>
              <a:rPr lang="en-US" sz="2000" dirty="0"/>
              <a:t>Cluster Of Unreliable Commodity Hardware” </a:t>
            </a:r>
            <a:r>
              <a:rPr lang="zh-CN" altLang="en-US" sz="2000" dirty="0"/>
              <a:t>的首字母缩写，它反映了 </a:t>
            </a:r>
            <a:r>
              <a:rPr lang="en-US" sz="2000" dirty="0" err="1"/>
              <a:t>CouchDB</a:t>
            </a:r>
            <a:r>
              <a:rPr lang="en-US" sz="2000" dirty="0"/>
              <a:t> </a:t>
            </a:r>
            <a:r>
              <a:rPr lang="zh-CN" altLang="en-US" sz="2000" dirty="0"/>
              <a:t>的目标具有高度可伸缩性，提供了高可用性和高可靠性，即使运行在容易出现故障的硬件上也是如此。</a:t>
            </a:r>
            <a:r>
              <a:rPr lang="en-US" sz="2000" dirty="0" err="1"/>
              <a:t>CouchDB</a:t>
            </a:r>
            <a:r>
              <a:rPr lang="en-US" sz="2000" dirty="0"/>
              <a:t> </a:t>
            </a:r>
            <a:r>
              <a:rPr lang="zh-CN" altLang="en-US" sz="2000" dirty="0"/>
              <a:t>最初是用 </a:t>
            </a:r>
            <a:r>
              <a:rPr lang="en-US" sz="2000" dirty="0"/>
              <a:t>C++ </a:t>
            </a:r>
            <a:r>
              <a:rPr lang="zh-CN" altLang="en-US" sz="2000" dirty="0"/>
              <a:t>编写的，但在 </a:t>
            </a:r>
            <a:r>
              <a:rPr lang="en-US" altLang="zh-CN" sz="2000" dirty="0"/>
              <a:t>2008 </a:t>
            </a:r>
            <a:r>
              <a:rPr lang="zh-CN" altLang="en-US" sz="2000" dirty="0"/>
              <a:t>年 </a:t>
            </a:r>
            <a:r>
              <a:rPr lang="en-US" altLang="zh-CN" sz="2000" dirty="0"/>
              <a:t>4 </a:t>
            </a:r>
            <a:r>
              <a:rPr lang="zh-CN" altLang="en-US" sz="2000" dirty="0"/>
              <a:t>月，这个项目转移到 </a:t>
            </a:r>
            <a:r>
              <a:rPr lang="en-US" sz="2000" dirty="0" err="1"/>
              <a:t>Erlang</a:t>
            </a:r>
            <a:r>
              <a:rPr lang="en-US" sz="2000" dirty="0"/>
              <a:t> OTP </a:t>
            </a:r>
            <a:r>
              <a:rPr lang="zh-CN" altLang="en-US" sz="2000" dirty="0"/>
              <a:t>平台进行容错测试。</a:t>
            </a:r>
          </a:p>
        </p:txBody>
      </p:sp>
      <p:pic>
        <p:nvPicPr>
          <p:cNvPr id="5122" name="Picture 2"/>
          <p:cNvPicPr>
            <a:picLocks noChangeAspect="1" noChangeArrowheads="1"/>
          </p:cNvPicPr>
          <p:nvPr/>
        </p:nvPicPr>
        <p:blipFill>
          <a:blip r:embed="rId2"/>
          <a:srcRect/>
          <a:stretch>
            <a:fillRect/>
          </a:stretch>
        </p:blipFill>
        <p:spPr bwMode="auto">
          <a:xfrm>
            <a:off x="500034" y="3357562"/>
            <a:ext cx="3833817" cy="3266061"/>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a:srcRect/>
          <a:stretch>
            <a:fillRect/>
          </a:stretch>
        </p:blipFill>
        <p:spPr bwMode="auto">
          <a:xfrm>
            <a:off x="4495718" y="3571876"/>
            <a:ext cx="4648282" cy="2786082"/>
          </a:xfrm>
          <a:prstGeom prst="rect">
            <a:avLst/>
          </a:prstGeom>
          <a:noFill/>
          <a:ln w="9525">
            <a:noFill/>
            <a:miter lim="800000"/>
            <a:headEnd/>
            <a:tailEnd/>
          </a:ln>
          <a:effectLst/>
        </p:spPr>
      </p:pic>
      <p:sp>
        <p:nvSpPr>
          <p:cNvPr id="2" name="日期占位符 1"/>
          <p:cNvSpPr>
            <a:spLocks noGrp="1"/>
          </p:cNvSpPr>
          <p:nvPr>
            <p:ph type="dt" sz="half" idx="10"/>
          </p:nvPr>
        </p:nvSpPr>
        <p:spPr/>
        <p:txBody>
          <a:bodyPr/>
          <a:lstStyle/>
          <a:p>
            <a:fld id="{312C93EB-DC12-4A92-BEB8-C8A0A8652F69}" type="datetime1">
              <a:rPr lang="zh-CN" altLang="en-US" smtClean="0"/>
              <a:pPr/>
              <a:t>2022/5/1</a:t>
            </a:fld>
            <a:endParaRPr lang="zh-CN" altLang="en-US"/>
          </a:p>
        </p:txBody>
      </p:sp>
      <p:sp>
        <p:nvSpPr>
          <p:cNvPr id="4" name="页脚占位符 3"/>
          <p:cNvSpPr>
            <a:spLocks noGrp="1"/>
          </p:cNvSpPr>
          <p:nvPr>
            <p:ph type="ftr" sz="quarter" idx="11"/>
          </p:nvPr>
        </p:nvSpPr>
        <p:spPr/>
        <p:txBody>
          <a:bodyPr/>
          <a:lstStyle/>
          <a:p>
            <a:r>
              <a:rPr lang="zh-CN" altLang="en-US"/>
              <a:t>大数据技术解析</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30</a:t>
            </a:fld>
            <a:endParaRPr lang="zh-CN" altLang="en-US"/>
          </a:p>
        </p:txBody>
      </p:sp>
      <p:sp>
        <p:nvSpPr>
          <p:cNvPr id="9" name="TextBox 8"/>
          <p:cNvSpPr txBox="1"/>
          <p:nvPr/>
        </p:nvSpPr>
        <p:spPr>
          <a:xfrm>
            <a:off x="2771800" y="0"/>
            <a:ext cx="5760640" cy="786754"/>
          </a:xfrm>
          <a:prstGeom prst="rect">
            <a:avLst/>
          </a:prstGeom>
          <a:noFill/>
        </p:spPr>
        <p:txBody>
          <a:bodyPr wrap="square" rtlCol="0">
            <a:spAutoFit/>
          </a:bodyPr>
          <a:lstStyle/>
          <a:p>
            <a:pPr algn="r">
              <a:lnSpc>
                <a:spcPts val="5800"/>
              </a:lnSpc>
              <a:spcBef>
                <a:spcPct val="0"/>
              </a:spcBef>
            </a:pPr>
            <a:r>
              <a:rPr lang="en-US" altLang="zh-CN" sz="3600" dirty="0" err="1">
                <a:solidFill>
                  <a:schemeClr val="tx2"/>
                </a:solidFill>
                <a:effectLst>
                  <a:outerShdw blurRad="63500" dist="38100" dir="5400000" algn="t" rotWithShape="0">
                    <a:prstClr val="black">
                      <a:alpha val="25000"/>
                    </a:prstClr>
                  </a:outerShdw>
                </a:effectLst>
                <a:ea typeface="+mj-ea"/>
                <a:cs typeface="+mj-cs"/>
              </a:rPr>
              <a:t>CouchDB</a:t>
            </a:r>
            <a:endParaRPr lang="zh-CN" altLang="en-US" sz="3600" dirty="0">
              <a:solidFill>
                <a:schemeClr val="tx2"/>
              </a:solidFill>
              <a:effectLst>
                <a:outerShdw blurRad="63500" dist="38100" dir="5400000" algn="t" rotWithShape="0">
                  <a:prstClr val="black">
                    <a:alpha val="25000"/>
                  </a:prstClr>
                </a:outerShdw>
              </a:effectLst>
              <a:ea typeface="+mj-ea"/>
              <a:cs typeface="+mj-cs"/>
            </a:endParaRPr>
          </a:p>
        </p:txBody>
      </p:sp>
      <p:pic>
        <p:nvPicPr>
          <p:cNvPr id="10" name="图片 4" descr="4.jpg"/>
          <p:cNvPicPr>
            <a:picLocks noChangeAspect="1"/>
          </p:cNvPicPr>
          <p:nvPr/>
        </p:nvPicPr>
        <p:blipFill>
          <a:blip r:embed="rId4"/>
          <a:srcRect/>
          <a:stretch>
            <a:fillRect/>
          </a:stretch>
        </p:blipFill>
        <p:spPr bwMode="auto">
          <a:xfrm>
            <a:off x="1" y="0"/>
            <a:ext cx="4214809" cy="785794"/>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1214422"/>
            <a:ext cx="8286808" cy="2554545"/>
          </a:xfrm>
          <a:prstGeom prst="rect">
            <a:avLst/>
          </a:prstGeom>
          <a:noFill/>
        </p:spPr>
        <p:txBody>
          <a:bodyPr wrap="square" rtlCol="0">
            <a:spAutoFit/>
          </a:bodyPr>
          <a:lstStyle/>
          <a:p>
            <a:pPr algn="just"/>
            <a:r>
              <a:rPr lang="en-US" altLang="zh-CN" sz="2000" dirty="0"/>
              <a:t>        </a:t>
            </a:r>
            <a:r>
              <a:rPr lang="en-US" altLang="zh-CN" sz="2000" dirty="0" err="1"/>
              <a:t>Redis</a:t>
            </a:r>
            <a:r>
              <a:rPr lang="en-US" altLang="zh-CN" sz="2000" dirty="0"/>
              <a:t> </a:t>
            </a:r>
            <a:r>
              <a:rPr lang="zh-CN" altLang="en-US" sz="2000" dirty="0"/>
              <a:t>是一个高性能的</a:t>
            </a:r>
            <a:r>
              <a:rPr lang="en-US" altLang="zh-CN" sz="2000" dirty="0"/>
              <a:t>key-value</a:t>
            </a:r>
            <a:r>
              <a:rPr lang="zh-CN" altLang="en-US" sz="2000" dirty="0"/>
              <a:t>数据库。和</a:t>
            </a:r>
            <a:r>
              <a:rPr lang="en-US" altLang="zh-CN" sz="2000" dirty="0" err="1"/>
              <a:t>Memcached</a:t>
            </a:r>
            <a:r>
              <a:rPr lang="zh-CN" altLang="en-US" sz="2000" dirty="0"/>
              <a:t>类似，它支持存储的</a:t>
            </a:r>
            <a:r>
              <a:rPr lang="en-US" altLang="zh-CN" sz="2000" dirty="0"/>
              <a:t>value</a:t>
            </a:r>
            <a:r>
              <a:rPr lang="zh-CN" altLang="en-US" sz="2000" dirty="0"/>
              <a:t>类型相对更多，包括</a:t>
            </a:r>
            <a:r>
              <a:rPr lang="en-US" altLang="zh-CN" sz="2000" dirty="0"/>
              <a:t>string</a:t>
            </a:r>
            <a:r>
              <a:rPr lang="zh-CN" altLang="en-US" sz="2000" dirty="0"/>
              <a:t>、</a:t>
            </a:r>
            <a:r>
              <a:rPr lang="en-US" altLang="zh-CN" sz="2000" dirty="0"/>
              <a:t>list</a:t>
            </a:r>
            <a:r>
              <a:rPr lang="zh-CN" altLang="en-US" sz="2000" dirty="0"/>
              <a:t>、</a:t>
            </a:r>
            <a:r>
              <a:rPr lang="en-US" altLang="zh-CN" sz="2000" dirty="0"/>
              <a:t>set</a:t>
            </a:r>
            <a:r>
              <a:rPr lang="zh-CN" altLang="en-US" sz="2000" dirty="0"/>
              <a:t>、</a:t>
            </a:r>
            <a:r>
              <a:rPr lang="en-US" altLang="zh-CN" sz="2000" dirty="0" err="1"/>
              <a:t>zset</a:t>
            </a:r>
            <a:r>
              <a:rPr lang="zh-CN" altLang="en-US" sz="2000" dirty="0"/>
              <a:t>和</a:t>
            </a:r>
            <a:r>
              <a:rPr lang="en-US" altLang="zh-CN" sz="2000" dirty="0" err="1"/>
              <a:t>hashs</a:t>
            </a:r>
            <a:r>
              <a:rPr lang="zh-CN" altLang="en-US" sz="2000" dirty="0"/>
              <a:t>，并且在此基础上，</a:t>
            </a:r>
            <a:r>
              <a:rPr lang="en-US" altLang="zh-CN" sz="2000" dirty="0" err="1"/>
              <a:t>Redis</a:t>
            </a:r>
            <a:r>
              <a:rPr lang="zh-CN" altLang="en-US" sz="2000" dirty="0"/>
              <a:t>支持各种不同方式的排序。与</a:t>
            </a:r>
            <a:r>
              <a:rPr lang="en-US" altLang="zh-CN" sz="2000" dirty="0" err="1"/>
              <a:t>memcached</a:t>
            </a:r>
            <a:r>
              <a:rPr lang="zh-CN" altLang="en-US" sz="2000" dirty="0"/>
              <a:t>一样，为了保证效率，数据都是缓存在内存中，而不同的是</a:t>
            </a:r>
            <a:r>
              <a:rPr lang="en-US" altLang="zh-CN" sz="2000" dirty="0" err="1"/>
              <a:t>Redis</a:t>
            </a:r>
            <a:r>
              <a:rPr lang="zh-CN" altLang="en-US" sz="2000" dirty="0"/>
              <a:t>会周期性的把更新的数据写入磁盘或者把修改操作写入追加的记录文件，并且在此基础上实现了</a:t>
            </a:r>
            <a:r>
              <a:rPr lang="en-US" altLang="zh-CN" sz="2000" dirty="0"/>
              <a:t>master-slave</a:t>
            </a:r>
            <a:r>
              <a:rPr lang="zh-CN" altLang="en-US" sz="2000" dirty="0"/>
              <a:t>同步。</a:t>
            </a:r>
            <a:r>
              <a:rPr lang="en-US" altLang="zh-CN" sz="2000" dirty="0" err="1"/>
              <a:t>Redis</a:t>
            </a:r>
            <a:r>
              <a:rPr lang="zh-CN" altLang="en-US" sz="2000" dirty="0"/>
              <a:t>的出现，很大程度补偿了</a:t>
            </a:r>
            <a:r>
              <a:rPr lang="en-US" altLang="zh-CN" sz="2000" dirty="0" err="1"/>
              <a:t>memcached</a:t>
            </a:r>
            <a:r>
              <a:rPr lang="zh-CN" altLang="en-US" sz="2000" dirty="0"/>
              <a:t>这类</a:t>
            </a:r>
            <a:r>
              <a:rPr lang="en-US" altLang="zh-CN" sz="2000" dirty="0"/>
              <a:t>key/value</a:t>
            </a:r>
            <a:r>
              <a:rPr lang="zh-CN" altLang="en-US" sz="2000" dirty="0"/>
              <a:t>存储的不足，在部分场合可以对关系数据库起到很好的补充作用。</a:t>
            </a:r>
          </a:p>
        </p:txBody>
      </p:sp>
      <p:pic>
        <p:nvPicPr>
          <p:cNvPr id="6146" name="Picture 2"/>
          <p:cNvPicPr>
            <a:picLocks noChangeAspect="1" noChangeArrowheads="1"/>
          </p:cNvPicPr>
          <p:nvPr/>
        </p:nvPicPr>
        <p:blipFill>
          <a:blip r:embed="rId2"/>
          <a:srcRect/>
          <a:stretch>
            <a:fillRect/>
          </a:stretch>
        </p:blipFill>
        <p:spPr bwMode="auto">
          <a:xfrm>
            <a:off x="642910" y="4429133"/>
            <a:ext cx="3071834" cy="1098414"/>
          </a:xfrm>
          <a:prstGeom prst="rect">
            <a:avLst/>
          </a:prstGeom>
          <a:noFill/>
          <a:ln w="9525">
            <a:noFill/>
            <a:miter lim="800000"/>
            <a:headEnd/>
            <a:tailEnd/>
          </a:ln>
          <a:effectLst/>
        </p:spPr>
      </p:pic>
      <p:pic>
        <p:nvPicPr>
          <p:cNvPr id="1026" name="Picture 2"/>
          <p:cNvPicPr>
            <a:picLocks noChangeAspect="1" noChangeArrowheads="1"/>
          </p:cNvPicPr>
          <p:nvPr/>
        </p:nvPicPr>
        <p:blipFill>
          <a:blip r:embed="rId3"/>
          <a:srcRect/>
          <a:stretch>
            <a:fillRect/>
          </a:stretch>
        </p:blipFill>
        <p:spPr bwMode="auto">
          <a:xfrm>
            <a:off x="3929058" y="3714752"/>
            <a:ext cx="4576769" cy="2742545"/>
          </a:xfrm>
          <a:prstGeom prst="rect">
            <a:avLst/>
          </a:prstGeom>
          <a:noFill/>
          <a:ln w="9525">
            <a:noFill/>
            <a:miter lim="800000"/>
            <a:headEnd/>
            <a:tailEnd/>
          </a:ln>
          <a:effectLst/>
        </p:spPr>
      </p:pic>
      <p:sp>
        <p:nvSpPr>
          <p:cNvPr id="2" name="日期占位符 1"/>
          <p:cNvSpPr>
            <a:spLocks noGrp="1"/>
          </p:cNvSpPr>
          <p:nvPr>
            <p:ph type="dt" sz="half" idx="10"/>
          </p:nvPr>
        </p:nvSpPr>
        <p:spPr/>
        <p:txBody>
          <a:bodyPr/>
          <a:lstStyle/>
          <a:p>
            <a:fld id="{08C9E495-D570-44F1-9B12-A0B1B13B92BC}" type="datetime1">
              <a:rPr lang="zh-CN" altLang="en-US" smtClean="0"/>
              <a:pPr/>
              <a:t>2022/5/1</a:t>
            </a:fld>
            <a:endParaRPr lang="zh-CN" altLang="en-US"/>
          </a:p>
        </p:txBody>
      </p:sp>
      <p:sp>
        <p:nvSpPr>
          <p:cNvPr id="4" name="页脚占位符 3"/>
          <p:cNvSpPr>
            <a:spLocks noGrp="1"/>
          </p:cNvSpPr>
          <p:nvPr>
            <p:ph type="ftr" sz="quarter" idx="11"/>
          </p:nvPr>
        </p:nvSpPr>
        <p:spPr/>
        <p:txBody>
          <a:bodyPr/>
          <a:lstStyle/>
          <a:p>
            <a:r>
              <a:rPr lang="zh-CN" altLang="en-US"/>
              <a:t>大数据技术解析</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31</a:t>
            </a:fld>
            <a:endParaRPr lang="zh-CN" altLang="en-US"/>
          </a:p>
        </p:txBody>
      </p:sp>
      <p:sp>
        <p:nvSpPr>
          <p:cNvPr id="9" name="TextBox 8"/>
          <p:cNvSpPr txBox="1"/>
          <p:nvPr/>
        </p:nvSpPr>
        <p:spPr>
          <a:xfrm>
            <a:off x="2771800" y="0"/>
            <a:ext cx="5760640" cy="786754"/>
          </a:xfrm>
          <a:prstGeom prst="rect">
            <a:avLst/>
          </a:prstGeom>
          <a:noFill/>
        </p:spPr>
        <p:txBody>
          <a:bodyPr wrap="square" rtlCol="0">
            <a:spAutoFit/>
          </a:bodyPr>
          <a:lstStyle/>
          <a:p>
            <a:pPr algn="r">
              <a:lnSpc>
                <a:spcPts val="5800"/>
              </a:lnSpc>
              <a:spcBef>
                <a:spcPct val="0"/>
              </a:spcBef>
            </a:pPr>
            <a:r>
              <a:rPr lang="en-US" altLang="zh-CN" sz="3600" dirty="0" err="1">
                <a:solidFill>
                  <a:schemeClr val="tx2"/>
                </a:solidFill>
                <a:effectLst>
                  <a:outerShdw blurRad="63500" dist="38100" dir="5400000" algn="t" rotWithShape="0">
                    <a:prstClr val="black">
                      <a:alpha val="25000"/>
                    </a:prstClr>
                  </a:outerShdw>
                </a:effectLst>
                <a:ea typeface="+mj-ea"/>
                <a:cs typeface="+mj-cs"/>
              </a:rPr>
              <a:t>Redis</a:t>
            </a:r>
            <a:endParaRPr lang="zh-CN" altLang="en-US" sz="3600" dirty="0">
              <a:solidFill>
                <a:schemeClr val="tx2"/>
              </a:solidFill>
              <a:effectLst>
                <a:outerShdw blurRad="63500" dist="38100" dir="5400000" algn="t" rotWithShape="0">
                  <a:prstClr val="black">
                    <a:alpha val="25000"/>
                  </a:prstClr>
                </a:outerShdw>
              </a:effectLst>
              <a:ea typeface="+mj-ea"/>
              <a:cs typeface="+mj-cs"/>
            </a:endParaRPr>
          </a:p>
        </p:txBody>
      </p:sp>
      <p:pic>
        <p:nvPicPr>
          <p:cNvPr id="10" name="图片 4" descr="4.jpg"/>
          <p:cNvPicPr>
            <a:picLocks noChangeAspect="1"/>
          </p:cNvPicPr>
          <p:nvPr/>
        </p:nvPicPr>
        <p:blipFill>
          <a:blip r:embed="rId4"/>
          <a:srcRect/>
          <a:stretch>
            <a:fillRect/>
          </a:stretch>
        </p:blipFill>
        <p:spPr bwMode="auto">
          <a:xfrm>
            <a:off x="1" y="0"/>
            <a:ext cx="4214809" cy="785794"/>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r"/>
            <a:r>
              <a:rPr lang="en-US" dirty="0"/>
              <a:t>Neo4j</a:t>
            </a:r>
          </a:p>
        </p:txBody>
      </p:sp>
      <p:sp>
        <p:nvSpPr>
          <p:cNvPr id="3" name="内容占位符 2"/>
          <p:cNvSpPr>
            <a:spLocks noGrp="1"/>
          </p:cNvSpPr>
          <p:nvPr>
            <p:ph idx="1"/>
          </p:nvPr>
        </p:nvSpPr>
        <p:spPr/>
        <p:txBody>
          <a:bodyPr/>
          <a:lstStyle/>
          <a:p>
            <a:r>
              <a:rPr lang="zh-CN" altLang="en-US" dirty="0"/>
              <a:t>图数据库，面向对象的、灵活的网络结构</a:t>
            </a:r>
            <a:endParaRPr lang="en-US" altLang="zh-CN" dirty="0"/>
          </a:p>
          <a:p>
            <a:r>
              <a:rPr lang="zh-CN" altLang="en-US" dirty="0"/>
              <a:t>提供了大规模可扩展性，在一台机器上可以处理数十亿节点</a:t>
            </a:r>
            <a:r>
              <a:rPr lang="en-US" altLang="zh-CN" dirty="0"/>
              <a:t>/</a:t>
            </a:r>
            <a:r>
              <a:rPr lang="zh-CN" altLang="en-US" dirty="0"/>
              <a:t>关系</a:t>
            </a:r>
            <a:r>
              <a:rPr lang="en-US" altLang="zh-CN" dirty="0"/>
              <a:t>/</a:t>
            </a:r>
            <a:r>
              <a:rPr lang="zh-CN" altLang="en-US" dirty="0"/>
              <a:t>属性的图，可以扩展到多台机器并行运行</a:t>
            </a:r>
            <a:endParaRPr lang="en-US" altLang="zh-CN" dirty="0"/>
          </a:p>
          <a:p>
            <a:r>
              <a:rPr lang="zh-CN" altLang="en-US" dirty="0"/>
              <a:t>还提供了非常快的图算法、推荐系统和</a:t>
            </a:r>
            <a:r>
              <a:rPr lang="en-US" altLang="zh-CN" dirty="0"/>
              <a:t>OLAP</a:t>
            </a:r>
            <a:r>
              <a:rPr lang="zh-CN" altLang="en-US" dirty="0"/>
              <a:t>风格的分析</a:t>
            </a:r>
            <a:endParaRPr lang="en-US" altLang="zh-CN" dirty="0"/>
          </a:p>
          <a:p>
            <a:endParaRPr lang="en-US" dirty="0"/>
          </a:p>
        </p:txBody>
      </p:sp>
      <p:sp>
        <p:nvSpPr>
          <p:cNvPr id="4" name="日期占位符 3"/>
          <p:cNvSpPr>
            <a:spLocks noGrp="1"/>
          </p:cNvSpPr>
          <p:nvPr>
            <p:ph type="dt" sz="half" idx="10"/>
          </p:nvPr>
        </p:nvSpPr>
        <p:spPr/>
        <p:txBody>
          <a:bodyPr/>
          <a:lstStyle/>
          <a:p>
            <a:fld id="{AAA3484A-CA2E-45E0-B405-28587CFBD2C0}" type="datetime1">
              <a:rPr lang="zh-CN" altLang="en-US" smtClean="0"/>
              <a:pPr/>
              <a:t>2022/5/1</a:t>
            </a:fld>
            <a:endParaRPr lang="zh-CN" altLang="en-US"/>
          </a:p>
        </p:txBody>
      </p:sp>
      <p:sp>
        <p:nvSpPr>
          <p:cNvPr id="5" name="页脚占位符 4"/>
          <p:cNvSpPr>
            <a:spLocks noGrp="1"/>
          </p:cNvSpPr>
          <p:nvPr>
            <p:ph type="ftr" sz="quarter" idx="11"/>
          </p:nvPr>
        </p:nvSpPr>
        <p:spPr/>
        <p:txBody>
          <a:bodyPr/>
          <a:lstStyle/>
          <a:p>
            <a:r>
              <a:rPr lang="zh-CN" altLang="en-US"/>
              <a:t>大数据技术解析</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32</a:t>
            </a:fld>
            <a:endParaRPr lang="zh-CN" alt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3224358"/>
            <a:ext cx="6168016" cy="30963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7829" y="830982"/>
            <a:ext cx="2419350" cy="1085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图片 4" descr="4.jpg"/>
          <p:cNvPicPr>
            <a:picLocks noChangeAspect="1"/>
          </p:cNvPicPr>
          <p:nvPr/>
        </p:nvPicPr>
        <p:blipFill>
          <a:blip r:embed="rId4"/>
          <a:srcRect/>
          <a:stretch>
            <a:fillRect/>
          </a:stretch>
        </p:blipFill>
        <p:spPr bwMode="auto">
          <a:xfrm>
            <a:off x="1" y="0"/>
            <a:ext cx="4214809" cy="785794"/>
          </a:xfrm>
          <a:prstGeom prst="rect">
            <a:avLst/>
          </a:prstGeom>
          <a:noFill/>
          <a:ln w="9525">
            <a:noFill/>
            <a:miter lim="800000"/>
            <a:headEnd/>
            <a:tailEnd/>
          </a:ln>
        </p:spPr>
      </p:pic>
    </p:spTree>
    <p:extLst>
      <p:ext uri="{BB962C8B-B14F-4D97-AF65-F5344CB8AC3E}">
        <p14:creationId xmlns:p14="http://schemas.microsoft.com/office/powerpoint/2010/main" val="3324072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2438400"/>
            <a:ext cx="8429684" cy="1200329"/>
          </a:xfrm>
          <a:prstGeom prst="rect">
            <a:avLst/>
          </a:prstGeom>
          <a:noFill/>
        </p:spPr>
        <p:txBody>
          <a:bodyPr wrap="square" rtlCol="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zh-CN" altLang="en-US" sz="3600" b="1" i="1" cap="all" dirty="0">
                <a:ln/>
                <a:solidFill>
                  <a:schemeClr val="tx2">
                    <a:lumMod val="60000"/>
                    <a:lumOff val="40000"/>
                  </a:schemeClr>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下一讲：</a:t>
            </a:r>
            <a:endParaRPr lang="en-US" altLang="zh-CN" sz="3600" b="1" i="1" cap="all" dirty="0">
              <a:ln/>
              <a:solidFill>
                <a:schemeClr val="tx2">
                  <a:lumMod val="60000"/>
                  <a:lumOff val="40000"/>
                </a:schemeClr>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a:p>
            <a:pPr algn="ctr"/>
            <a:r>
              <a:rPr lang="zh-CN" altLang="en-US" sz="3600" b="1" i="1" cap="all" dirty="0">
                <a:ln/>
                <a:solidFill>
                  <a:schemeClr val="tx2">
                    <a:lumMod val="60000"/>
                    <a:lumOff val="40000"/>
                  </a:schemeClr>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大数据实例分析</a:t>
            </a:r>
            <a:endParaRPr lang="en-US" sz="3600" b="1" i="1" cap="all" dirty="0">
              <a:ln/>
              <a:solidFill>
                <a:schemeClr val="tx2">
                  <a:lumMod val="60000"/>
                  <a:lumOff val="40000"/>
                </a:schemeClr>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
        <p:nvSpPr>
          <p:cNvPr id="2" name="日期占位符 1"/>
          <p:cNvSpPr>
            <a:spLocks noGrp="1"/>
          </p:cNvSpPr>
          <p:nvPr>
            <p:ph type="dt" sz="half" idx="10"/>
          </p:nvPr>
        </p:nvSpPr>
        <p:spPr/>
        <p:txBody>
          <a:bodyPr/>
          <a:lstStyle/>
          <a:p>
            <a:fld id="{0E5508DC-F027-4CA7-8B77-0D3919A114DC}" type="datetime1">
              <a:rPr lang="zh-CN" altLang="en-US" smtClean="0"/>
              <a:pPr/>
              <a:t>2022/5/1</a:t>
            </a:fld>
            <a:endParaRPr lang="en-US"/>
          </a:p>
        </p:txBody>
      </p:sp>
      <p:sp>
        <p:nvSpPr>
          <p:cNvPr id="3" name="页脚占位符 2"/>
          <p:cNvSpPr>
            <a:spLocks noGrp="1"/>
          </p:cNvSpPr>
          <p:nvPr>
            <p:ph type="ftr" sz="quarter" idx="11"/>
          </p:nvPr>
        </p:nvSpPr>
        <p:spPr/>
        <p:txBody>
          <a:bodyPr/>
          <a:lstStyle/>
          <a:p>
            <a:r>
              <a:rPr lang="zh-CN" altLang="en-US"/>
              <a:t>大数据技术解析</a:t>
            </a:r>
            <a:endParaRPr lang="en-US"/>
          </a:p>
        </p:txBody>
      </p:sp>
      <p:sp>
        <p:nvSpPr>
          <p:cNvPr id="6" name="灯片编号占位符 5"/>
          <p:cNvSpPr>
            <a:spLocks noGrp="1"/>
          </p:cNvSpPr>
          <p:nvPr>
            <p:ph type="sldNum" sz="quarter" idx="12"/>
          </p:nvPr>
        </p:nvSpPr>
        <p:spPr/>
        <p:txBody>
          <a:bodyPr/>
          <a:lstStyle/>
          <a:p>
            <a:fld id="{4B2A26B7-ED35-4C04-AE10-B3ACFC8BB5A8}" type="slidenum">
              <a:rPr lang="en-US" smtClean="0"/>
              <a:pPr/>
              <a:t>33</a:t>
            </a:fld>
            <a:endParaRPr lang="en-US"/>
          </a:p>
        </p:txBody>
      </p:sp>
      <p:pic>
        <p:nvPicPr>
          <p:cNvPr id="8" name="图片 4" descr="4.jpg"/>
          <p:cNvPicPr>
            <a:picLocks noChangeAspect="1"/>
          </p:cNvPicPr>
          <p:nvPr/>
        </p:nvPicPr>
        <p:blipFill>
          <a:blip r:embed="rId2"/>
          <a:srcRect/>
          <a:stretch>
            <a:fillRect/>
          </a:stretch>
        </p:blipFill>
        <p:spPr bwMode="auto">
          <a:xfrm>
            <a:off x="0" y="0"/>
            <a:ext cx="9144000" cy="1371600"/>
          </a:xfrm>
          <a:prstGeom prst="rect">
            <a:avLst/>
          </a:prstGeom>
          <a:noFill/>
          <a:ln w="9525">
            <a:noFill/>
            <a:miter lim="800000"/>
            <a:headEnd/>
            <a:tailEnd/>
          </a:ln>
        </p:spPr>
      </p:pic>
    </p:spTree>
    <p:extLst>
      <p:ext uri="{BB962C8B-B14F-4D97-AF65-F5344CB8AC3E}">
        <p14:creationId xmlns:p14="http://schemas.microsoft.com/office/powerpoint/2010/main" val="35898070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主管人员">
  <a:themeElements>
    <a:clrScheme name="主管人员">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主管人员">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主管人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645</TotalTime>
  <Words>2360</Words>
  <Application>Microsoft Macintosh PowerPoint</Application>
  <PresentationFormat>全屏显示(4:3)</PresentationFormat>
  <Paragraphs>302</Paragraphs>
  <Slides>33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33</vt:i4>
      </vt:variant>
    </vt:vector>
  </HeadingPairs>
  <TitlesOfParts>
    <vt:vector size="42" baseType="lpstr">
      <vt:lpstr>Arial</vt:lpstr>
      <vt:lpstr>Calibri</vt:lpstr>
      <vt:lpstr>Century Gothic</vt:lpstr>
      <vt:lpstr>Consolas</vt:lpstr>
      <vt:lpstr>Courier New</vt:lpstr>
      <vt:lpstr>Palatino Linotype</vt:lpstr>
      <vt:lpstr>Verdana</vt:lpstr>
      <vt:lpstr>Wingdings</vt:lpstr>
      <vt:lpstr>主管人员</vt:lpstr>
      <vt:lpstr>NoSQL综述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SQL vs NoSQL</vt:lpstr>
      <vt:lpstr>PowerPoint 演示文稿</vt:lpstr>
      <vt:lpstr>PowerPoint 演示文稿</vt:lpstr>
      <vt:lpstr>PowerPoint 演示文稿</vt:lpstr>
      <vt:lpstr>NoSQL数据库分类 ——按存储模型</vt:lpstr>
      <vt:lpstr>NoSQL数据库性能对比</vt:lpstr>
      <vt:lpstr>PowerPoint 演示文稿</vt:lpstr>
      <vt:lpstr>PowerPoint 演示文稿</vt:lpstr>
      <vt:lpstr>PowerPoint 演示文稿</vt:lpstr>
      <vt:lpstr>Amazon DynamoDB</vt:lpstr>
      <vt:lpstr>DynamoDB</vt:lpstr>
      <vt:lpstr>PowerPoint 演示文稿</vt:lpstr>
      <vt:lpstr>Cassandra架构与组成</vt:lpstr>
      <vt:lpstr>Cassandra特点</vt:lpstr>
      <vt:lpstr>PowerPoint 演示文稿</vt:lpstr>
      <vt:lpstr>PowerPoint 演示文稿</vt:lpstr>
      <vt:lpstr>MongDB特性</vt:lpstr>
      <vt:lpstr>MongoDB案例</vt:lpstr>
      <vt:lpstr>PowerPoint 演示文稿</vt:lpstr>
      <vt:lpstr>PowerPoint 演示文稿</vt:lpstr>
      <vt:lpstr>Neo4j</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NOSQL综述</dc:title>
  <dc:creator>lxl</dc:creator>
  <cp:lastModifiedBy>Bo Mao</cp:lastModifiedBy>
  <cp:revision>123</cp:revision>
  <dcterms:created xsi:type="dcterms:W3CDTF">2013-05-26T09:15:43Z</dcterms:created>
  <dcterms:modified xsi:type="dcterms:W3CDTF">2022-05-01T16:01:42Z</dcterms:modified>
</cp:coreProperties>
</file>