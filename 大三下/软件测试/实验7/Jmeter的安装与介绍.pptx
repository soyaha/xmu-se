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8" d="100"/>
          <a:sy n="118" d="100"/>
        </p:scale>
        <p:origin x="61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DF258F-471F-E352-1B6B-0DDA729FF0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35F3E7D-A721-96F2-1155-0510069F7D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07C25D5-44E6-F5C6-E130-799154EF4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BFEB-F850-4ACA-A5C2-7ED7599FFB3C}" type="datetimeFigureOut">
              <a:rPr lang="zh-CN" altLang="en-US" smtClean="0"/>
              <a:t>2022/5/8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19BAF5C-ACAB-FB23-C5FB-0EA43A704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58024E8-7B61-0A6C-EEB3-CC00BDF21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63A8A-7011-46C0-BA0F-D87D1FC8C0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3175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09A574-371B-C1EC-E9DE-5786D44EC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66B310-0B8A-3AE0-23FC-67AE0F327B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F39E09E-28BF-2E38-3322-2C150E29B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BFEB-F850-4ACA-A5C2-7ED7599FFB3C}" type="datetimeFigureOut">
              <a:rPr lang="zh-CN" altLang="en-US" smtClean="0"/>
              <a:t>2022/5/8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5D684D-1EB5-38F3-CE92-6F640BC47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7C57AAA-976D-E407-7320-98FB3F370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63A8A-7011-46C0-BA0F-D87D1FC8C0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1521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8892F3-109B-F179-201E-3EFB23C05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63C64AE-C9EC-1E73-FF21-C929302520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434FC0-F757-D55F-1AF7-25D7C89E6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BFEB-F850-4ACA-A5C2-7ED7599FFB3C}" type="datetimeFigureOut">
              <a:rPr lang="zh-CN" altLang="en-US" smtClean="0"/>
              <a:t>2022/5/8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6D206CB-8B04-B64E-0218-386C5AC93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2B13351-F2E0-CCF3-AE3F-5354AA19F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63A8A-7011-46C0-BA0F-D87D1FC8C0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15074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673939-A63B-BD06-E528-97E4A1C28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A264EE2-8608-BC7B-26D2-BD1E6D1ED2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893FB6D-F377-98AC-A4C8-E993A22027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2ECB58F-C8C8-DD8B-5773-C1BFC51AF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BFEB-F850-4ACA-A5C2-7ED7599FFB3C}" type="datetimeFigureOut">
              <a:rPr lang="zh-CN" altLang="en-US" smtClean="0"/>
              <a:t>2022/5/8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08D3E90-CFED-95A5-D221-943E3B77D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93287CC-E1EF-F970-6A07-85D987493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63A8A-7011-46C0-BA0F-D87D1FC8C0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3556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712F4E-5F81-8842-0FCB-ECF41DEB8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A6A66DD-82F9-8717-31F8-FB4F4BA47B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021AA5C-E846-9854-3B80-027BC4DB7C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F066F7A-C045-CFCE-68E6-F7093435D3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A0E1769-9E70-FACA-E0FA-9E5B2CECBA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DCB6335-3A20-F08A-CC71-1A3E87D6C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BFEB-F850-4ACA-A5C2-7ED7599FFB3C}" type="datetimeFigureOut">
              <a:rPr lang="zh-CN" altLang="en-US" smtClean="0"/>
              <a:t>2022/5/8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4EADDCA-3085-D7B8-2FD4-CC06B0438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FD0D17-B9AB-46D4-B918-A16B1D841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63A8A-7011-46C0-BA0F-D87D1FC8C0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17550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AE09EF-765B-D773-DC98-F53525FD0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333C7A1-3A6F-02B4-1F7D-179CA15E8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BFEB-F850-4ACA-A5C2-7ED7599FFB3C}" type="datetimeFigureOut">
              <a:rPr lang="zh-CN" altLang="en-US" smtClean="0"/>
              <a:t>2022/5/8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330CFBE-DA61-BE89-230D-30B37CB6B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4249864-F5B7-7C39-1D23-EC15E63EF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63A8A-7011-46C0-BA0F-D87D1FC8C0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98989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2BADAF3-B963-5F8B-D7EF-4ADC82E62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BFEB-F850-4ACA-A5C2-7ED7599FFB3C}" type="datetimeFigureOut">
              <a:rPr lang="zh-CN" altLang="en-US" smtClean="0"/>
              <a:t>2022/5/8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D19D7B7-5660-957A-4BD6-632EFC678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500172B-0359-D377-FAAC-7B2F0D643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63A8A-7011-46C0-BA0F-D87D1FC8C0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65492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5C0E27-65C7-A1E2-5E60-9984984A3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67F361D-34BF-F319-70DF-F4B5EC385B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A010A7D-AAAC-EAC7-1FCE-80B13497E3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5AF4531-26B2-9EC2-D759-EE906228D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BFEB-F850-4ACA-A5C2-7ED7599FFB3C}" type="datetimeFigureOut">
              <a:rPr lang="zh-CN" altLang="en-US" smtClean="0"/>
              <a:t>2022/5/8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2AC4040-0112-23EB-A7F8-D1863C7AE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A5D63BA-83F3-5D38-C795-F7DC85CEF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63A8A-7011-46C0-BA0F-D87D1FC8C0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48799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BAEFF3-156E-C920-CB8D-D108E6377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3A14961-5F3A-C2D3-4E4B-5BFEA796B5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6FC4D9A-9CC8-0115-3CCE-2B9FDF11C2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6D0FB5E-CBD3-6398-D5F3-30F35275A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BFEB-F850-4ACA-A5C2-7ED7599FFB3C}" type="datetimeFigureOut">
              <a:rPr lang="zh-CN" altLang="en-US" smtClean="0"/>
              <a:t>2022/5/8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8F1E2BC-02B3-10F1-30F9-73CFE80D6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5ECCC28-BEF8-ED3F-6B57-1626050FE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63A8A-7011-46C0-BA0F-D87D1FC8C0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9651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0994B2-F41A-8DD3-82B2-CF4D16E2A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2245E05-40E5-A725-DD13-E2B42F8759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CFB37B-679E-18F2-E680-A12689903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BFEB-F850-4ACA-A5C2-7ED7599FFB3C}" type="datetimeFigureOut">
              <a:rPr lang="zh-CN" altLang="en-US" smtClean="0"/>
              <a:t>2022/5/8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5E02D37-F0A0-87A1-BED1-A27DCE0AB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696104F-C5A5-82A2-9E87-EC3382C70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63A8A-7011-46C0-BA0F-D87D1FC8C0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329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9BCAB0A-AF5B-0FBD-7783-281B2480D0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FB42D3A-2A07-F6C3-F451-04610D50F1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AC531B9-73DB-CB91-1455-5D2DB17BB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BFEB-F850-4ACA-A5C2-7ED7599FFB3C}" type="datetimeFigureOut">
              <a:rPr lang="zh-CN" altLang="en-US" smtClean="0"/>
              <a:t>2022/5/8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D166F8-89ED-86C2-8C4A-BD588CD62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72ED34-2295-1B52-94CE-FED7A61D7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63A8A-7011-46C0-BA0F-D87D1FC8C0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942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202311B-B91B-A315-C829-7C2FE7296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234AD1C-5FB5-5ECD-3A32-F8B3361A6D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D5FE07F-E402-2718-CD1F-172854330F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AEBFEB-F850-4ACA-A5C2-7ED7599FFB3C}" type="datetimeFigureOut">
              <a:rPr lang="zh-CN" altLang="en-US" smtClean="0"/>
              <a:t>2022/5/8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C6A9230-E918-8BE5-9FFA-9F2F6CD8C1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C37B555-C77C-9235-2A90-81BBC64A2A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263A8A-7011-46C0-BA0F-D87D1FC8C0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0261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jmeter.apache.org/download_jmeter.cgi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73D0A2-FD5F-89BD-1BDC-2BE679DC2A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err="1"/>
              <a:t>Jmeter</a:t>
            </a:r>
            <a:r>
              <a:rPr lang="zh-CN" altLang="en-US" dirty="0"/>
              <a:t>的安装与介绍</a:t>
            </a:r>
          </a:p>
        </p:txBody>
      </p:sp>
    </p:spTree>
    <p:extLst>
      <p:ext uri="{BB962C8B-B14F-4D97-AF65-F5344CB8AC3E}">
        <p14:creationId xmlns:p14="http://schemas.microsoft.com/office/powerpoint/2010/main" val="23271586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F20BEA-B0CB-AB66-F3ED-02BA0CA4F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Jmeter</a:t>
            </a:r>
            <a:r>
              <a:rPr lang="zh-CN" altLang="en-US" dirty="0"/>
              <a:t>简介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3D490B2-E3AB-7CD6-59BB-A5EE899724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JMeter</a:t>
            </a:r>
            <a:r>
              <a:rPr lang="zh-CN" altLang="en-US" dirty="0"/>
              <a:t>是一个软件，使负载测试或业绩为导向的业务（功能）测试不同的协议或技术。 它是</a:t>
            </a:r>
            <a:r>
              <a:rPr lang="en-US" altLang="zh-CN" dirty="0"/>
              <a:t>Apache</a:t>
            </a:r>
            <a:r>
              <a:rPr lang="zh-CN" altLang="en-US" dirty="0"/>
              <a:t>软件基金会的</a:t>
            </a:r>
            <a:r>
              <a:rPr lang="en-US" altLang="zh-CN" dirty="0"/>
              <a:t>Stefano </a:t>
            </a:r>
            <a:r>
              <a:rPr lang="en-US" altLang="zh-CN" dirty="0" err="1"/>
              <a:t>Mazzocchi</a:t>
            </a:r>
            <a:r>
              <a:rPr lang="en-US" altLang="zh-CN" dirty="0"/>
              <a:t> JMeter</a:t>
            </a:r>
            <a:r>
              <a:rPr lang="zh-CN" altLang="en-US" dirty="0"/>
              <a:t>的最初的开发。它主要对 </a:t>
            </a:r>
            <a:r>
              <a:rPr lang="en-US" altLang="zh-CN" dirty="0"/>
              <a:t>Apache </a:t>
            </a:r>
            <a:r>
              <a:rPr lang="en-US" altLang="zh-CN" dirty="0" err="1"/>
              <a:t>JServ</a:t>
            </a:r>
            <a:r>
              <a:rPr lang="zh-CN" altLang="en-US" dirty="0"/>
              <a:t>（现在称为如</a:t>
            </a:r>
            <a:r>
              <a:rPr lang="en-US" altLang="zh-CN" dirty="0"/>
              <a:t>Apache Tomcat</a:t>
            </a:r>
            <a:r>
              <a:rPr lang="zh-CN" altLang="en-US" dirty="0"/>
              <a:t>项目）的性能进行测试。</a:t>
            </a:r>
            <a:r>
              <a:rPr lang="en-US" altLang="zh-CN" dirty="0"/>
              <a:t>Apache</a:t>
            </a:r>
            <a:r>
              <a:rPr lang="zh-CN" altLang="en-US" dirty="0"/>
              <a:t>后来重新设计</a:t>
            </a:r>
            <a:r>
              <a:rPr lang="en-US" altLang="zh-CN" dirty="0"/>
              <a:t>JMeter </a:t>
            </a:r>
            <a:r>
              <a:rPr lang="zh-CN" altLang="en-US" dirty="0"/>
              <a:t>增强的图形用户界面和添加功能测试能力。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这是一个具有图形界面，使用</a:t>
            </a:r>
            <a:r>
              <a:rPr lang="en-US" altLang="zh-CN" dirty="0"/>
              <a:t>Swing </a:t>
            </a:r>
            <a:r>
              <a:rPr lang="zh-CN" altLang="en-US" dirty="0"/>
              <a:t>图形</a:t>
            </a:r>
            <a:r>
              <a:rPr lang="en-US" altLang="zh-CN" dirty="0"/>
              <a:t>API </a:t>
            </a:r>
            <a:r>
              <a:rPr lang="zh-CN" altLang="en-US" dirty="0"/>
              <a:t>的 </a:t>
            </a:r>
            <a:r>
              <a:rPr lang="en-US" altLang="zh-CN" dirty="0"/>
              <a:t>Java </a:t>
            </a:r>
            <a:r>
              <a:rPr lang="zh-CN" altLang="en-US" dirty="0"/>
              <a:t>桌面应用程序，因此可以运行在任何环境</a:t>
            </a:r>
            <a:r>
              <a:rPr lang="en-US" altLang="zh-CN" dirty="0"/>
              <a:t>/</a:t>
            </a:r>
            <a:r>
              <a:rPr lang="zh-CN" altLang="en-US" dirty="0"/>
              <a:t>工作站接受一个</a:t>
            </a:r>
            <a:r>
              <a:rPr lang="en-US" altLang="zh-CN" dirty="0"/>
              <a:t>Java </a:t>
            </a:r>
            <a:r>
              <a:rPr lang="zh-CN" altLang="en-US" dirty="0"/>
              <a:t>虚拟机，例如：在</a:t>
            </a:r>
            <a:r>
              <a:rPr lang="en-US" altLang="zh-CN" dirty="0"/>
              <a:t>Windows</a:t>
            </a:r>
            <a:r>
              <a:rPr lang="zh-CN" altLang="en-US" dirty="0"/>
              <a:t>，</a:t>
            </a:r>
            <a:r>
              <a:rPr lang="en-US" altLang="zh-CN" dirty="0"/>
              <a:t>Linux</a:t>
            </a:r>
            <a:r>
              <a:rPr lang="zh-CN" altLang="en-US" dirty="0"/>
              <a:t>，</a:t>
            </a:r>
            <a:r>
              <a:rPr lang="en-US" altLang="zh-CN" dirty="0"/>
              <a:t>MAC</a:t>
            </a:r>
            <a:r>
              <a:rPr lang="zh-CN" altLang="en-US" dirty="0"/>
              <a:t>等。</a:t>
            </a:r>
          </a:p>
        </p:txBody>
      </p:sp>
    </p:spTree>
    <p:extLst>
      <p:ext uri="{BB962C8B-B14F-4D97-AF65-F5344CB8AC3E}">
        <p14:creationId xmlns:p14="http://schemas.microsoft.com/office/powerpoint/2010/main" val="19686042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5438B4-F7A8-50FF-FC2B-C6BEE9C55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Jmeter</a:t>
            </a:r>
            <a:r>
              <a:rPr lang="zh-CN" altLang="en-US" dirty="0"/>
              <a:t>支持的协议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E9280BC-64BB-3F1A-4E7B-36B78D7FCE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JMeter</a:t>
            </a:r>
            <a:r>
              <a:rPr lang="zh-CN" altLang="en-US" dirty="0"/>
              <a:t>支持的协议有：</a:t>
            </a:r>
            <a:endParaRPr lang="en-US" altLang="zh-CN" dirty="0"/>
          </a:p>
          <a:p>
            <a:pPr lvl="1"/>
            <a:r>
              <a:rPr lang="en-US" altLang="zh-CN" dirty="0"/>
              <a:t>web</a:t>
            </a:r>
            <a:r>
              <a:rPr lang="zh-CN" altLang="en-US" dirty="0"/>
              <a:t>：</a:t>
            </a:r>
            <a:r>
              <a:rPr lang="en-US" altLang="zh-CN" dirty="0"/>
              <a:t>HTTP</a:t>
            </a:r>
            <a:r>
              <a:rPr lang="zh-CN" altLang="en-US" dirty="0"/>
              <a:t>，</a:t>
            </a:r>
            <a:r>
              <a:rPr lang="en-US" altLang="zh-CN" dirty="0"/>
              <a:t>HTTPS</a:t>
            </a:r>
            <a:r>
              <a:rPr lang="zh-CN" altLang="en-US" dirty="0"/>
              <a:t>站点的</a:t>
            </a:r>
            <a:r>
              <a:rPr lang="en-US" altLang="zh-CN" dirty="0"/>
              <a:t>Web1.0</a:t>
            </a:r>
            <a:r>
              <a:rPr lang="zh-CN" altLang="en-US" dirty="0"/>
              <a:t>的</a:t>
            </a:r>
            <a:r>
              <a:rPr lang="en-US" altLang="zh-CN" dirty="0"/>
              <a:t>Web 2.0 (ajax, flex and flex-</a:t>
            </a:r>
            <a:r>
              <a:rPr lang="en-US" altLang="zh-CN" dirty="0" err="1"/>
              <a:t>ws</a:t>
            </a:r>
            <a:r>
              <a:rPr lang="en-US" altLang="zh-CN" dirty="0"/>
              <a:t>-</a:t>
            </a:r>
            <a:r>
              <a:rPr lang="en-US" altLang="zh-CN" dirty="0" err="1"/>
              <a:t>amf</a:t>
            </a:r>
            <a:r>
              <a:rPr lang="en-US" altLang="zh-CN" dirty="0"/>
              <a:t>)</a:t>
            </a:r>
          </a:p>
          <a:p>
            <a:pPr lvl="1"/>
            <a:r>
              <a:rPr lang="en-US" altLang="zh-CN" dirty="0"/>
              <a:t>Web Services: SOAP / XML-RPC</a:t>
            </a:r>
          </a:p>
          <a:p>
            <a:pPr lvl="1"/>
            <a:r>
              <a:rPr lang="zh-CN" altLang="en-US" dirty="0"/>
              <a:t>通过</a:t>
            </a:r>
            <a:r>
              <a:rPr lang="en-US" altLang="zh-CN" dirty="0"/>
              <a:t>JDBC</a:t>
            </a:r>
            <a:r>
              <a:rPr lang="zh-CN" altLang="en-US" dirty="0"/>
              <a:t>驱动程序的数据库</a:t>
            </a:r>
            <a:endParaRPr lang="en-US" altLang="zh-CN" dirty="0"/>
          </a:p>
          <a:p>
            <a:pPr lvl="1"/>
            <a:r>
              <a:rPr lang="zh-CN" altLang="en-US" dirty="0"/>
              <a:t>目录</a:t>
            </a:r>
            <a:r>
              <a:rPr lang="en-US" altLang="zh-CN" dirty="0"/>
              <a:t>: LDAP</a:t>
            </a:r>
          </a:p>
          <a:p>
            <a:pPr lvl="1"/>
            <a:r>
              <a:rPr lang="zh-CN" altLang="en-US" dirty="0"/>
              <a:t>通过</a:t>
            </a:r>
            <a:r>
              <a:rPr lang="en-US" altLang="zh-CN" dirty="0"/>
              <a:t>JMS</a:t>
            </a:r>
            <a:r>
              <a:rPr lang="zh-CN" altLang="en-US" dirty="0"/>
              <a:t>面向消息的服务</a:t>
            </a:r>
            <a:endParaRPr lang="en-US" altLang="zh-CN" dirty="0"/>
          </a:p>
          <a:p>
            <a:pPr lvl="1"/>
            <a:r>
              <a:rPr lang="en-US" altLang="zh-CN" dirty="0"/>
              <a:t>Service: POP3, IMAP, SMTP</a:t>
            </a:r>
          </a:p>
          <a:p>
            <a:pPr lvl="1"/>
            <a:r>
              <a:rPr lang="en-US" altLang="zh-CN" dirty="0"/>
              <a:t>FTP</a:t>
            </a:r>
            <a:r>
              <a:rPr lang="zh-CN" altLang="en-US" dirty="0"/>
              <a:t>服务</a:t>
            </a:r>
          </a:p>
        </p:txBody>
      </p:sp>
    </p:spTree>
    <p:extLst>
      <p:ext uri="{BB962C8B-B14F-4D97-AF65-F5344CB8AC3E}">
        <p14:creationId xmlns:p14="http://schemas.microsoft.com/office/powerpoint/2010/main" val="36548488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F00A70-C7C5-7CEB-06CB-08D56F602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Jmeter</a:t>
            </a:r>
            <a:r>
              <a:rPr lang="zh-CN" altLang="en-US" dirty="0"/>
              <a:t>的特点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BF1D6A-1E92-0B67-414E-AE1E99C0F2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dirty="0"/>
              <a:t>以下是一些 </a:t>
            </a:r>
            <a:r>
              <a:rPr lang="en-US" altLang="zh-CN" dirty="0"/>
              <a:t>JMeter </a:t>
            </a:r>
            <a:r>
              <a:rPr lang="zh-CN" altLang="en-US" dirty="0"/>
              <a:t>的特点：</a:t>
            </a:r>
            <a:endParaRPr lang="en-US" altLang="zh-CN" dirty="0"/>
          </a:p>
          <a:p>
            <a:pPr lvl="1"/>
            <a:r>
              <a:rPr lang="zh-CN" altLang="en-US" dirty="0"/>
              <a:t>它是免费的。开放源码软件。</a:t>
            </a:r>
            <a:endParaRPr lang="en-US" altLang="zh-CN" dirty="0"/>
          </a:p>
          <a:p>
            <a:pPr lvl="1"/>
            <a:r>
              <a:rPr lang="zh-CN" altLang="en-US" dirty="0"/>
              <a:t>它具有简单，直观的图形用户界面。</a:t>
            </a:r>
            <a:endParaRPr lang="en-US" altLang="zh-CN" dirty="0"/>
          </a:p>
          <a:p>
            <a:pPr lvl="1"/>
            <a:r>
              <a:rPr lang="en-US" altLang="zh-CN" dirty="0"/>
              <a:t>JMeter</a:t>
            </a:r>
            <a:r>
              <a:rPr lang="zh-CN" altLang="en-US" dirty="0"/>
              <a:t>中负载和性能测试许多不同的服务器类型：网站 </a:t>
            </a:r>
            <a:r>
              <a:rPr lang="en-US" altLang="zh-CN" dirty="0"/>
              <a:t>- - HTTP</a:t>
            </a:r>
            <a:r>
              <a:rPr lang="zh-CN" altLang="en-US" dirty="0"/>
              <a:t>，</a:t>
            </a:r>
            <a:r>
              <a:rPr lang="en-US" altLang="zh-CN" dirty="0"/>
              <a:t>HTTPS</a:t>
            </a:r>
            <a:r>
              <a:rPr lang="zh-CN" altLang="en-US" dirty="0"/>
              <a:t>，</a:t>
            </a:r>
            <a:r>
              <a:rPr lang="en-US" altLang="zh-CN" dirty="0"/>
              <a:t>SOAP</a:t>
            </a:r>
            <a:r>
              <a:rPr lang="zh-CN" altLang="en-US" dirty="0"/>
              <a:t>，数据库通过</a:t>
            </a:r>
            <a:r>
              <a:rPr lang="en-US" altLang="zh-CN" dirty="0"/>
              <a:t>JDBC</a:t>
            </a:r>
            <a:r>
              <a:rPr lang="zh-CN" altLang="en-US" dirty="0"/>
              <a:t>，</a:t>
            </a:r>
            <a:r>
              <a:rPr lang="en-US" altLang="zh-CN" dirty="0"/>
              <a:t>LDAP</a:t>
            </a:r>
            <a:r>
              <a:rPr lang="zh-CN" altLang="en-US" dirty="0"/>
              <a:t>，</a:t>
            </a:r>
            <a:r>
              <a:rPr lang="en-US" altLang="zh-CN" dirty="0"/>
              <a:t>JMS</a:t>
            </a:r>
            <a:r>
              <a:rPr lang="zh-CN" altLang="en-US" dirty="0"/>
              <a:t>，邮件 </a:t>
            </a:r>
            <a:r>
              <a:rPr lang="en-US" altLang="zh-CN" dirty="0"/>
              <a:t>POP3</a:t>
            </a:r>
          </a:p>
          <a:p>
            <a:pPr lvl="1"/>
            <a:r>
              <a:rPr lang="zh-CN" altLang="en-US" dirty="0"/>
              <a:t>它是独立于平台的工具。在</a:t>
            </a:r>
            <a:r>
              <a:rPr lang="en-US" altLang="zh-CN" dirty="0"/>
              <a:t>Linux / UNIX</a:t>
            </a:r>
            <a:r>
              <a:rPr lang="zh-CN" altLang="en-US" dirty="0"/>
              <a:t>，</a:t>
            </a:r>
            <a:r>
              <a:rPr lang="en-US" altLang="zh-CN" dirty="0"/>
              <a:t>JMeter</a:t>
            </a:r>
            <a:r>
              <a:rPr lang="zh-CN" altLang="en-US" dirty="0"/>
              <a:t>中</a:t>
            </a:r>
            <a:r>
              <a:rPr lang="en-US" altLang="zh-CN" dirty="0"/>
              <a:t>JMeter</a:t>
            </a:r>
            <a:r>
              <a:rPr lang="zh-CN" altLang="en-US" dirty="0"/>
              <a:t>中</a:t>
            </a:r>
            <a:r>
              <a:rPr lang="en-US" altLang="zh-CN" dirty="0"/>
              <a:t>shell</a:t>
            </a:r>
            <a:r>
              <a:rPr lang="zh-CN" altLang="en-US" dirty="0"/>
              <a:t>脚本点击可以调用。在</a:t>
            </a:r>
            <a:r>
              <a:rPr lang="en-US" altLang="zh-CN" dirty="0"/>
              <a:t>Windows</a:t>
            </a:r>
            <a:r>
              <a:rPr lang="zh-CN" altLang="en-US" dirty="0"/>
              <a:t>上，它可以调用启动</a:t>
            </a:r>
            <a:r>
              <a:rPr lang="en-US" altLang="zh-CN" dirty="0"/>
              <a:t>jmeter.bat</a:t>
            </a:r>
            <a:r>
              <a:rPr lang="zh-CN" altLang="en-US" dirty="0"/>
              <a:t>文件。</a:t>
            </a:r>
            <a:endParaRPr lang="en-US" altLang="zh-CN" dirty="0"/>
          </a:p>
          <a:p>
            <a:pPr lvl="1"/>
            <a:r>
              <a:rPr lang="zh-CN" altLang="en-US" dirty="0"/>
              <a:t>它具有完整的</a:t>
            </a:r>
            <a:r>
              <a:rPr lang="en-US" altLang="zh-CN" dirty="0"/>
              <a:t>Swing</a:t>
            </a:r>
            <a:r>
              <a:rPr lang="zh-CN" altLang="en-US" dirty="0"/>
              <a:t>和轻量级组件支持。</a:t>
            </a:r>
            <a:endParaRPr lang="en-US" altLang="zh-CN" dirty="0"/>
          </a:p>
          <a:p>
            <a:pPr lvl="1"/>
            <a:r>
              <a:rPr lang="en-US" altLang="zh-CN" dirty="0"/>
              <a:t>JMeter </a:t>
            </a:r>
            <a:r>
              <a:rPr lang="zh-CN" altLang="en-US" dirty="0"/>
              <a:t>测试计划存储为</a:t>
            </a:r>
            <a:r>
              <a:rPr lang="en-US" altLang="zh-CN" dirty="0"/>
              <a:t>XML</a:t>
            </a:r>
            <a:r>
              <a:rPr lang="zh-CN" altLang="en-US" dirty="0"/>
              <a:t>格式。这意味着可以使用文本编辑器生成一个测试计划。</a:t>
            </a:r>
            <a:endParaRPr lang="en-US" altLang="zh-CN" dirty="0"/>
          </a:p>
          <a:p>
            <a:pPr lvl="1"/>
            <a:r>
              <a:rPr lang="zh-CN" altLang="en-US" dirty="0"/>
              <a:t>它的完整的多线程框架，允许并发多线程和同步采样不同的功能由单独的线程组采样。</a:t>
            </a:r>
            <a:endParaRPr lang="en-US" altLang="zh-CN" dirty="0"/>
          </a:p>
          <a:p>
            <a:pPr lvl="1"/>
            <a:r>
              <a:rPr lang="zh-CN" altLang="en-US" dirty="0"/>
              <a:t>它是高度可扩展的。也可用于执行应用程序的自动化测试和功能测试。</a:t>
            </a:r>
          </a:p>
        </p:txBody>
      </p:sp>
    </p:spTree>
    <p:extLst>
      <p:ext uri="{BB962C8B-B14F-4D97-AF65-F5344CB8AC3E}">
        <p14:creationId xmlns:p14="http://schemas.microsoft.com/office/powerpoint/2010/main" val="780179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6E459F-241C-1AA0-ACFB-38D151058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安装</a:t>
            </a:r>
            <a:r>
              <a:rPr lang="en-US" altLang="zh-CN" dirty="0" err="1"/>
              <a:t>Jmeter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E63DD82-B794-9364-B7FA-4D547A5FBA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Jmeter</a:t>
            </a:r>
            <a:r>
              <a:rPr lang="zh-CN" altLang="en-US" dirty="0"/>
              <a:t>是需要</a:t>
            </a:r>
            <a:r>
              <a:rPr lang="en-US" altLang="zh-CN" dirty="0"/>
              <a:t>JDK</a:t>
            </a:r>
            <a:r>
              <a:rPr lang="zh-CN" altLang="en-US" dirty="0"/>
              <a:t>环境的</a:t>
            </a:r>
            <a:endParaRPr lang="en-US" altLang="zh-CN" dirty="0"/>
          </a:p>
          <a:p>
            <a:r>
              <a:rPr lang="zh-CN" altLang="en-US" dirty="0"/>
              <a:t>下载</a:t>
            </a:r>
            <a:r>
              <a:rPr lang="en-US" altLang="zh-CN" dirty="0" err="1"/>
              <a:t>Jmeter</a:t>
            </a:r>
            <a:endParaRPr lang="en-US" altLang="zh-CN" dirty="0"/>
          </a:p>
          <a:p>
            <a:pPr lvl="1"/>
            <a:r>
              <a:rPr lang="zh-CN" altLang="en-US" dirty="0"/>
              <a:t>下载地址：</a:t>
            </a:r>
            <a:r>
              <a:rPr lang="en-US" altLang="zh-CN" dirty="0">
                <a:hlinkClick r:id="rId2"/>
              </a:rPr>
              <a:t>https://jmeter.apache.org/download_jmeter.cgi</a:t>
            </a:r>
            <a:endParaRPr lang="en-US" altLang="zh-CN" dirty="0"/>
          </a:p>
          <a:p>
            <a:pPr lvl="1"/>
            <a:r>
              <a:rPr lang="en-US" altLang="zh-CN" dirty="0"/>
              <a:t>Windows</a:t>
            </a:r>
            <a:r>
              <a:rPr lang="zh-CN" altLang="en-US" dirty="0"/>
              <a:t>选择</a:t>
            </a:r>
            <a:r>
              <a:rPr lang="en-US" altLang="zh-CN" dirty="0"/>
              <a:t>zip</a:t>
            </a:r>
            <a:r>
              <a:rPr lang="zh-CN" altLang="en-US" dirty="0"/>
              <a:t>文件，</a:t>
            </a:r>
            <a:r>
              <a:rPr lang="en-US" altLang="zh-CN" dirty="0"/>
              <a:t>Linux</a:t>
            </a:r>
            <a:r>
              <a:rPr lang="zh-CN" altLang="en-US" dirty="0"/>
              <a:t>选择</a:t>
            </a:r>
            <a:r>
              <a:rPr lang="en-US" altLang="zh-CN" dirty="0" err="1"/>
              <a:t>tgz</a:t>
            </a:r>
            <a:r>
              <a:rPr lang="zh-CN" altLang="en-US" dirty="0"/>
              <a:t>文件</a:t>
            </a: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下载文件后解压既可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CC62252-1959-AC5E-1A24-427BDC7F27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8454" y="3659458"/>
            <a:ext cx="7402626" cy="180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3978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6E459F-241C-1AA0-ACFB-38D151058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安装</a:t>
            </a:r>
            <a:r>
              <a:rPr lang="en-US" altLang="zh-CN" dirty="0" err="1"/>
              <a:t>Jmeter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0516A4D-2557-6C21-D7CB-B7882BDB7684}"/>
              </a:ext>
            </a:extLst>
          </p:cNvPr>
          <p:cNvSpPr txBox="1"/>
          <p:nvPr/>
        </p:nvSpPr>
        <p:spPr>
          <a:xfrm>
            <a:off x="1686128" y="5343728"/>
            <a:ext cx="46281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双击</a:t>
            </a:r>
            <a:r>
              <a:rPr lang="en-US" altLang="zh-CN" dirty="0"/>
              <a:t>bin</a:t>
            </a:r>
            <a:r>
              <a:rPr lang="zh-CN" altLang="en-US" dirty="0"/>
              <a:t>目录下的</a:t>
            </a:r>
            <a:r>
              <a:rPr lang="en-US" altLang="zh-CN" dirty="0"/>
              <a:t>jmeter.bat</a:t>
            </a:r>
            <a:r>
              <a:rPr lang="zh-CN" altLang="en-US" dirty="0"/>
              <a:t>即可启动</a:t>
            </a:r>
            <a:r>
              <a:rPr lang="en-US" altLang="zh-CN" dirty="0" err="1"/>
              <a:t>Jmeter</a:t>
            </a:r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0DE7A65-157F-8A39-0C61-AE7E17EB3B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128" y="1365237"/>
            <a:ext cx="6788838" cy="3709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376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6E459F-241C-1AA0-ACFB-38D151058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安装</a:t>
            </a:r>
            <a:r>
              <a:rPr lang="en-US" altLang="zh-CN" dirty="0" err="1"/>
              <a:t>Jmeter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0516A4D-2557-6C21-D7CB-B7882BDB7684}"/>
              </a:ext>
            </a:extLst>
          </p:cNvPr>
          <p:cNvSpPr txBox="1"/>
          <p:nvPr/>
        </p:nvSpPr>
        <p:spPr>
          <a:xfrm>
            <a:off x="1686128" y="5343728"/>
            <a:ext cx="86645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双击后出现</a:t>
            </a:r>
            <a:r>
              <a:rPr lang="en-US" altLang="zh-CN" dirty="0" err="1"/>
              <a:t>Jmeter</a:t>
            </a:r>
            <a:r>
              <a:rPr lang="zh-CN" altLang="en-US" dirty="0"/>
              <a:t>的命令窗口和</a:t>
            </a:r>
            <a:r>
              <a:rPr lang="en-US" altLang="zh-CN" dirty="0" err="1"/>
              <a:t>Jmeter</a:t>
            </a:r>
            <a:r>
              <a:rPr lang="zh-CN" altLang="en-US" dirty="0"/>
              <a:t>的图形操作界面，要注意不可以关闭命令窗口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7265C69-A2C6-6172-1AD4-518BEC4252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200" y="1536970"/>
            <a:ext cx="4741397" cy="2477312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B7E5B370-952E-47FC-1140-C269AA88D7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4576" y="1210789"/>
            <a:ext cx="6304957" cy="3618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0958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162CB5-7A8F-E9D5-E052-7D498B7C7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设置环境变量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6B6CC54-4A52-AF83-4322-6B77213851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在桌面右击“此电脑”</a:t>
            </a:r>
            <a:r>
              <a:rPr lang="en-US" altLang="zh-CN" dirty="0"/>
              <a:t>-&gt;</a:t>
            </a:r>
            <a:r>
              <a:rPr lang="zh-CN" altLang="en-US" dirty="0"/>
              <a:t>“属性”</a:t>
            </a:r>
            <a:r>
              <a:rPr lang="en-US" altLang="zh-CN" dirty="0"/>
              <a:t>-&gt;</a:t>
            </a:r>
            <a:r>
              <a:rPr lang="zh-CN" altLang="en-US" dirty="0"/>
              <a:t>“高级系统设置”</a:t>
            </a:r>
            <a:r>
              <a:rPr lang="en-US" altLang="zh-CN" dirty="0"/>
              <a:t>-&gt;</a:t>
            </a:r>
            <a:r>
              <a:rPr lang="zh-CN" altLang="en-US" dirty="0"/>
              <a:t>“环境变量”</a:t>
            </a:r>
            <a:endParaRPr lang="en-US" altLang="zh-CN" dirty="0"/>
          </a:p>
          <a:p>
            <a:r>
              <a:rPr lang="zh-CN" altLang="en-US" dirty="0"/>
              <a:t>在系统变量中新建“</a:t>
            </a:r>
            <a:r>
              <a:rPr lang="en-US" altLang="zh-CN" dirty="0"/>
              <a:t>JMETER_HOME</a:t>
            </a:r>
            <a:r>
              <a:rPr lang="zh-CN" altLang="en-US" dirty="0"/>
              <a:t>”，设置为</a:t>
            </a:r>
            <a:r>
              <a:rPr lang="en-US" altLang="zh-CN" dirty="0" err="1"/>
              <a:t>jmeter</a:t>
            </a:r>
            <a:r>
              <a:rPr lang="zh-CN" altLang="en-US" dirty="0"/>
              <a:t>的目录地址，如</a:t>
            </a:r>
            <a:r>
              <a:rPr lang="en-US" altLang="zh-CN" dirty="0"/>
              <a:t>C:\apache-jmeter-3.2</a:t>
            </a:r>
          </a:p>
          <a:p>
            <a:r>
              <a:rPr lang="zh-CN" altLang="en-US" dirty="0"/>
              <a:t>在</a:t>
            </a:r>
            <a:r>
              <a:rPr lang="en-US" altLang="zh-CN" dirty="0"/>
              <a:t>Path</a:t>
            </a:r>
            <a:r>
              <a:rPr lang="zh-CN" altLang="en-US" dirty="0"/>
              <a:t>中加入</a:t>
            </a:r>
            <a:r>
              <a:rPr lang="en-US" altLang="zh-CN" dirty="0"/>
              <a:t>%JMETER_HOME%\bin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270853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57E6D0-FF94-2540-3E19-E18B69ECF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Jmeter</a:t>
            </a:r>
            <a:r>
              <a:rPr lang="zh-CN" altLang="en-US" dirty="0"/>
              <a:t>主要部件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722554-3561-8803-58FB-140B66FBBE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测试计划（</a:t>
            </a:r>
            <a:r>
              <a:rPr lang="en-US" altLang="zh-CN" dirty="0"/>
              <a:t>Test Plan</a:t>
            </a:r>
            <a:r>
              <a:rPr lang="zh-CN" altLang="en-US" dirty="0"/>
              <a:t>）用来描述一个性能测试，包含与本次性能测试所有相关的功能。测试计划是</a:t>
            </a:r>
            <a:r>
              <a:rPr lang="en-US" altLang="zh-CN" dirty="0" err="1"/>
              <a:t>Jmeter</a:t>
            </a:r>
            <a:r>
              <a:rPr lang="zh-CN" altLang="en-US" dirty="0"/>
              <a:t>测试脚本的基础，所有功能原件的组合都必须基于测试计划。测试计划的元件包括：线程组、控制器、监听器、定时器、断言等。</a:t>
            </a:r>
          </a:p>
        </p:txBody>
      </p:sp>
    </p:spTree>
    <p:extLst>
      <p:ext uri="{BB962C8B-B14F-4D97-AF65-F5344CB8AC3E}">
        <p14:creationId xmlns:p14="http://schemas.microsoft.com/office/powerpoint/2010/main" val="21039101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57E6D0-FF94-2540-3E19-E18B69ECF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Jmeter</a:t>
            </a:r>
            <a:r>
              <a:rPr lang="zh-CN" altLang="en-US" dirty="0"/>
              <a:t>主要部件</a:t>
            </a:r>
            <a:r>
              <a:rPr lang="en-US" altLang="zh-CN" dirty="0"/>
              <a:t>—</a:t>
            </a:r>
            <a:r>
              <a:rPr lang="zh-CN" altLang="en-US" dirty="0"/>
              <a:t>线程组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722554-3561-8803-58FB-140B66FBBE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0783"/>
            <a:ext cx="10515600" cy="849549"/>
          </a:xfrm>
        </p:spPr>
        <p:txBody>
          <a:bodyPr>
            <a:normAutofit/>
          </a:bodyPr>
          <a:lstStyle/>
          <a:p>
            <a:r>
              <a:rPr lang="zh-CN" altLang="en-US" sz="2000" dirty="0"/>
              <a:t>线程组是任何一个测试计划的开始点。所有的测试计划中的元素都要在一个线程组中。线程组元素控制了一组线程，</a:t>
            </a:r>
            <a:r>
              <a:rPr lang="en-US" altLang="zh-CN" sz="2000" dirty="0" err="1"/>
              <a:t>Jmeter</a:t>
            </a:r>
            <a:r>
              <a:rPr lang="zh-CN" altLang="en-US" sz="2000" dirty="0"/>
              <a:t>使用这些线程来执行测试。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F9C0B31-2E0F-44FA-5A7E-3D28A24B4B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323" y="2140085"/>
            <a:ext cx="4938188" cy="285774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3BE8E2A0-AC4E-A00B-0205-A1C485055F2D}"/>
              </a:ext>
            </a:extLst>
          </p:cNvPr>
          <p:cNvSpPr txBox="1"/>
          <p:nvPr/>
        </p:nvSpPr>
        <p:spPr>
          <a:xfrm>
            <a:off x="5700408" y="2250332"/>
            <a:ext cx="585605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Jmeter</a:t>
            </a:r>
            <a:r>
              <a:rPr lang="zh-CN" altLang="en-US" dirty="0"/>
              <a:t>中，线程组用户有三种类型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err="1"/>
              <a:t>setUp</a:t>
            </a:r>
            <a:r>
              <a:rPr lang="en-US" altLang="zh-CN" dirty="0"/>
              <a:t> Thread Group</a:t>
            </a:r>
            <a:r>
              <a:rPr lang="zh-CN" altLang="en-US" dirty="0"/>
              <a:t>用于执行预测试操作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err="1"/>
              <a:t>tearDown</a:t>
            </a:r>
            <a:r>
              <a:rPr lang="en-US" altLang="zh-CN" dirty="0"/>
              <a:t> Thread Group</a:t>
            </a:r>
            <a:r>
              <a:rPr lang="zh-CN" altLang="en-US" dirty="0"/>
              <a:t>用于执行测试后动作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Thread Group</a:t>
            </a:r>
            <a:r>
              <a:rPr lang="zh-CN" altLang="en-US" dirty="0"/>
              <a:t>是通常添加运行的线程。通俗的讲，一个线程组可以看作一个虚拟用户组，线程组中的每个线程可以理解为一个虚拟用户。</a:t>
            </a:r>
            <a:r>
              <a:rPr lang="en-US" altLang="zh-C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968575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57E6D0-FF94-2540-3E19-E18B69ECF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7111" y="162128"/>
            <a:ext cx="10515600" cy="1029207"/>
          </a:xfrm>
        </p:spPr>
        <p:txBody>
          <a:bodyPr/>
          <a:lstStyle/>
          <a:p>
            <a:r>
              <a:rPr lang="en-US" altLang="zh-CN" dirty="0" err="1"/>
              <a:t>Jmeter</a:t>
            </a:r>
            <a:r>
              <a:rPr lang="zh-CN" altLang="en-US" dirty="0"/>
              <a:t>主要部件</a:t>
            </a:r>
            <a:r>
              <a:rPr lang="en-US" altLang="zh-CN" dirty="0"/>
              <a:t>—</a:t>
            </a:r>
            <a:r>
              <a:rPr lang="zh-CN" altLang="en-US" dirty="0"/>
              <a:t>控制器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722554-3561-8803-58FB-140B66FBBE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0783"/>
            <a:ext cx="10515600" cy="849549"/>
          </a:xfrm>
        </p:spPr>
        <p:txBody>
          <a:bodyPr>
            <a:normAutofit lnSpcReduction="10000"/>
          </a:bodyPr>
          <a:lstStyle/>
          <a:p>
            <a:r>
              <a:rPr lang="en-US" altLang="zh-CN" sz="2000" dirty="0" err="1"/>
              <a:t>Jmeter</a:t>
            </a:r>
            <a:r>
              <a:rPr lang="zh-CN" altLang="en-US" sz="2000" dirty="0"/>
              <a:t>有两种控制器（</a:t>
            </a:r>
            <a:r>
              <a:rPr lang="en-US" altLang="zh-CN" sz="2000" dirty="0"/>
              <a:t>Controller</a:t>
            </a:r>
            <a:r>
              <a:rPr lang="zh-CN" altLang="en-US" sz="2000" dirty="0"/>
              <a:t>）</a:t>
            </a:r>
            <a:r>
              <a:rPr lang="en-US" altLang="zh-CN" sz="2000" dirty="0"/>
              <a:t>:</a:t>
            </a:r>
            <a:r>
              <a:rPr lang="zh-CN" altLang="en-US" sz="2000" dirty="0"/>
              <a:t>取样器（</a:t>
            </a:r>
            <a:r>
              <a:rPr lang="en-US" altLang="zh-CN" sz="2000" dirty="0"/>
              <a:t>Sampler</a:t>
            </a:r>
            <a:r>
              <a:rPr lang="zh-CN" altLang="en-US" sz="2000" dirty="0"/>
              <a:t>）和逻辑控制器（</a:t>
            </a:r>
            <a:r>
              <a:rPr lang="en-US" altLang="zh-CN" sz="2000" dirty="0"/>
              <a:t>Logical Controllers</a:t>
            </a:r>
            <a:r>
              <a:rPr lang="zh-CN" altLang="en-US" sz="2000" dirty="0"/>
              <a:t>）</a:t>
            </a:r>
            <a:endParaRPr lang="en-US" altLang="zh-CN" sz="2000" dirty="0"/>
          </a:p>
          <a:p>
            <a:pPr lvl="1"/>
            <a:r>
              <a:rPr lang="zh-CN" altLang="en-US" sz="1600" dirty="0"/>
              <a:t>取样器是用来向服务器发起请求并且等待接受服务器响应的元件。它是</a:t>
            </a:r>
            <a:r>
              <a:rPr lang="en-US" altLang="zh-CN" sz="1600" dirty="0" err="1"/>
              <a:t>Jmeter</a:t>
            </a:r>
            <a:r>
              <a:rPr lang="zh-CN" altLang="en-US" sz="1600" dirty="0"/>
              <a:t>测试脚本最基础的元件，所有与服务器交互的请求都依赖于取样器。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BE8E2A0-AC4E-A00B-0205-A1C485055F2D}"/>
              </a:ext>
            </a:extLst>
          </p:cNvPr>
          <p:cNvSpPr txBox="1"/>
          <p:nvPr/>
        </p:nvSpPr>
        <p:spPr>
          <a:xfrm>
            <a:off x="5259421" y="2962073"/>
            <a:ext cx="585605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常用的取样器有：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FTP</a:t>
            </a:r>
            <a:r>
              <a:rPr lang="zh-CN" altLang="en-US" dirty="0"/>
              <a:t>请求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HTTP</a:t>
            </a:r>
            <a:r>
              <a:rPr lang="zh-CN" altLang="en-US" dirty="0"/>
              <a:t>请求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JDBC</a:t>
            </a:r>
            <a:r>
              <a:rPr lang="zh-CN" altLang="en-US" dirty="0"/>
              <a:t>请求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LDAP</a:t>
            </a:r>
            <a:r>
              <a:rPr lang="zh-CN" altLang="en-US" dirty="0"/>
              <a:t>请求</a:t>
            </a:r>
            <a:endParaRPr lang="en-US" altLang="zh-CN" dirty="0"/>
          </a:p>
          <a:p>
            <a:endParaRPr lang="en-US" altLang="zh-CN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B8A76EC-4FC8-D242-040A-ED6FB8B4F3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878" y="2459780"/>
            <a:ext cx="3800292" cy="4179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677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57E6D0-FF94-2540-3E19-E18B69ECF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7111" y="162128"/>
            <a:ext cx="10515600" cy="1029207"/>
          </a:xfrm>
        </p:spPr>
        <p:txBody>
          <a:bodyPr/>
          <a:lstStyle/>
          <a:p>
            <a:r>
              <a:rPr lang="en-US" altLang="zh-CN" dirty="0" err="1"/>
              <a:t>Jmeter</a:t>
            </a:r>
            <a:r>
              <a:rPr lang="zh-CN" altLang="en-US" dirty="0"/>
              <a:t>主要部件</a:t>
            </a:r>
            <a:r>
              <a:rPr lang="en-US" altLang="zh-CN" dirty="0"/>
              <a:t>—</a:t>
            </a:r>
            <a:r>
              <a:rPr lang="zh-CN" altLang="en-US" dirty="0"/>
              <a:t>控制器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722554-3561-8803-58FB-140B66FBBE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0782"/>
            <a:ext cx="10515600" cy="1141379"/>
          </a:xfrm>
        </p:spPr>
        <p:txBody>
          <a:bodyPr>
            <a:normAutofit/>
          </a:bodyPr>
          <a:lstStyle/>
          <a:p>
            <a:r>
              <a:rPr lang="en-US" altLang="zh-CN" sz="2000" dirty="0" err="1"/>
              <a:t>Jmeter</a:t>
            </a:r>
            <a:r>
              <a:rPr lang="zh-CN" altLang="en-US" sz="2000" dirty="0"/>
              <a:t>有两种控制器（</a:t>
            </a:r>
            <a:r>
              <a:rPr lang="en-US" altLang="zh-CN" sz="2000" dirty="0"/>
              <a:t>Controller</a:t>
            </a:r>
            <a:r>
              <a:rPr lang="zh-CN" altLang="en-US" sz="2000" dirty="0"/>
              <a:t>）</a:t>
            </a:r>
            <a:r>
              <a:rPr lang="en-US" altLang="zh-CN" sz="2000" dirty="0"/>
              <a:t>:</a:t>
            </a:r>
            <a:r>
              <a:rPr lang="zh-CN" altLang="en-US" sz="2000" dirty="0"/>
              <a:t>取样器（</a:t>
            </a:r>
            <a:r>
              <a:rPr lang="en-US" altLang="zh-CN" sz="2000" dirty="0"/>
              <a:t>Sampler</a:t>
            </a:r>
            <a:r>
              <a:rPr lang="zh-CN" altLang="en-US" sz="2000" dirty="0"/>
              <a:t>）和逻辑控制器（</a:t>
            </a:r>
            <a:r>
              <a:rPr lang="en-US" altLang="zh-CN" sz="2000" dirty="0"/>
              <a:t>Logical Controllers</a:t>
            </a:r>
            <a:r>
              <a:rPr lang="zh-CN" altLang="en-US" sz="2000" dirty="0"/>
              <a:t>）</a:t>
            </a:r>
          </a:p>
          <a:p>
            <a:pPr lvl="1"/>
            <a:r>
              <a:rPr lang="zh-CN" altLang="en-US" sz="1600" dirty="0"/>
              <a:t>逻辑控制器用来定制</a:t>
            </a:r>
            <a:r>
              <a:rPr lang="en-US" altLang="zh-CN" sz="1600" dirty="0" err="1"/>
              <a:t>Jmeter</a:t>
            </a:r>
            <a:r>
              <a:rPr lang="zh-CN" altLang="en-US" sz="1600" dirty="0"/>
              <a:t>发送请求的逻辑。逻辑控制器包括两类元件，一类是用于控制</a:t>
            </a:r>
            <a:r>
              <a:rPr lang="en-US" altLang="zh-CN" sz="1600" dirty="0"/>
              <a:t>Test Plan</a:t>
            </a:r>
            <a:r>
              <a:rPr lang="zh-CN" altLang="en-US" sz="1600" dirty="0"/>
              <a:t>中</a:t>
            </a:r>
            <a:r>
              <a:rPr lang="en-US" altLang="zh-CN" sz="1600" dirty="0"/>
              <a:t>Sampler</a:t>
            </a:r>
            <a:r>
              <a:rPr lang="zh-CN" altLang="en-US" sz="1600" dirty="0"/>
              <a:t>节点发送请求的逻辑顺序的控制器，如</a:t>
            </a:r>
            <a:r>
              <a:rPr lang="en-US" altLang="zh-CN" sz="1600" dirty="0"/>
              <a:t>If Controller</a:t>
            </a:r>
            <a:r>
              <a:rPr lang="zh-CN" altLang="en-US" sz="1600" dirty="0"/>
              <a:t>，</a:t>
            </a:r>
            <a:r>
              <a:rPr lang="en-US" altLang="zh-CN" sz="1600" dirty="0"/>
              <a:t>Switch Controller</a:t>
            </a:r>
            <a:r>
              <a:rPr lang="zh-CN" altLang="en-US" sz="1600" dirty="0"/>
              <a:t>，</a:t>
            </a:r>
            <a:r>
              <a:rPr lang="en-US" altLang="zh-CN" sz="1600" dirty="0"/>
              <a:t>While Controller</a:t>
            </a:r>
            <a:r>
              <a:rPr lang="zh-CN" altLang="en-US" sz="1600" dirty="0"/>
              <a:t>等。另一类是用来组织可控制</a:t>
            </a:r>
            <a:r>
              <a:rPr lang="en-US" altLang="zh-CN" sz="1600" dirty="0"/>
              <a:t>Sampler</a:t>
            </a:r>
            <a:r>
              <a:rPr lang="zh-CN" altLang="en-US" sz="1600" dirty="0"/>
              <a:t>节点的，如事物控制器、吞吐量控制器等。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04A18A8-7BD0-09F5-7DFB-C1EAE67C76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360" y="2670189"/>
            <a:ext cx="3746810" cy="3874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3689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57E6D0-FF94-2540-3E19-E18B69ECF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7111" y="162128"/>
            <a:ext cx="10515600" cy="1029207"/>
          </a:xfrm>
        </p:spPr>
        <p:txBody>
          <a:bodyPr/>
          <a:lstStyle/>
          <a:p>
            <a:r>
              <a:rPr lang="en-US" altLang="zh-CN" dirty="0" err="1"/>
              <a:t>Jmeter</a:t>
            </a:r>
            <a:r>
              <a:rPr lang="zh-CN" altLang="en-US" dirty="0"/>
              <a:t>主要部件</a:t>
            </a:r>
            <a:r>
              <a:rPr lang="en-US" altLang="zh-CN" dirty="0"/>
              <a:t>—</a:t>
            </a:r>
            <a:r>
              <a:rPr lang="zh-CN" altLang="en-US" dirty="0"/>
              <a:t>控制器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722554-3561-8803-58FB-140B66FBBE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0782"/>
            <a:ext cx="10515600" cy="1141379"/>
          </a:xfrm>
        </p:spPr>
        <p:txBody>
          <a:bodyPr>
            <a:normAutofit/>
          </a:bodyPr>
          <a:lstStyle/>
          <a:p>
            <a:r>
              <a:rPr lang="en-US" altLang="zh-CN" sz="2000" dirty="0" err="1"/>
              <a:t>Jmeter</a:t>
            </a:r>
            <a:r>
              <a:rPr lang="zh-CN" altLang="en-US" sz="2000" dirty="0"/>
              <a:t>有两种控制器（</a:t>
            </a:r>
            <a:r>
              <a:rPr lang="en-US" altLang="zh-CN" sz="2000" dirty="0"/>
              <a:t>Controller</a:t>
            </a:r>
            <a:r>
              <a:rPr lang="zh-CN" altLang="en-US" sz="2000" dirty="0"/>
              <a:t>）</a:t>
            </a:r>
            <a:r>
              <a:rPr lang="en-US" altLang="zh-CN" sz="2000" dirty="0"/>
              <a:t>:</a:t>
            </a:r>
            <a:r>
              <a:rPr lang="zh-CN" altLang="en-US" sz="2000" dirty="0"/>
              <a:t>取样器（</a:t>
            </a:r>
            <a:r>
              <a:rPr lang="en-US" altLang="zh-CN" sz="2000" dirty="0"/>
              <a:t>Sampler</a:t>
            </a:r>
            <a:r>
              <a:rPr lang="zh-CN" altLang="en-US" sz="2000" dirty="0"/>
              <a:t>）和逻辑控制器（</a:t>
            </a:r>
            <a:r>
              <a:rPr lang="en-US" altLang="zh-CN" sz="2000" dirty="0"/>
              <a:t>Logical Controllers</a:t>
            </a:r>
            <a:r>
              <a:rPr lang="zh-CN" altLang="en-US" sz="2000" dirty="0"/>
              <a:t>）</a:t>
            </a:r>
          </a:p>
          <a:p>
            <a:pPr lvl="1"/>
            <a:r>
              <a:rPr lang="zh-CN" altLang="en-US" sz="1600" dirty="0"/>
              <a:t>逻辑控制器用来定制</a:t>
            </a:r>
            <a:r>
              <a:rPr lang="en-US" altLang="zh-CN" sz="1600" dirty="0" err="1"/>
              <a:t>Jmeter</a:t>
            </a:r>
            <a:r>
              <a:rPr lang="zh-CN" altLang="en-US" sz="1600" dirty="0"/>
              <a:t>发送请求的逻辑。逻辑控制器包括两类元件，一类是用于控制</a:t>
            </a:r>
            <a:r>
              <a:rPr lang="en-US" altLang="zh-CN" sz="1600" dirty="0"/>
              <a:t>Test Plan</a:t>
            </a:r>
            <a:r>
              <a:rPr lang="zh-CN" altLang="en-US" sz="1600" dirty="0"/>
              <a:t>中</a:t>
            </a:r>
            <a:r>
              <a:rPr lang="en-US" altLang="zh-CN" sz="1600" dirty="0"/>
              <a:t>Sampler</a:t>
            </a:r>
            <a:r>
              <a:rPr lang="zh-CN" altLang="en-US" sz="1600" dirty="0"/>
              <a:t>节点发送请求的逻辑顺序的控制器，如</a:t>
            </a:r>
            <a:r>
              <a:rPr lang="en-US" altLang="zh-CN" sz="1600" dirty="0"/>
              <a:t>If Controller</a:t>
            </a:r>
            <a:r>
              <a:rPr lang="zh-CN" altLang="en-US" sz="1600" dirty="0"/>
              <a:t>，</a:t>
            </a:r>
            <a:r>
              <a:rPr lang="en-US" altLang="zh-CN" sz="1600" dirty="0"/>
              <a:t>Switch Controller</a:t>
            </a:r>
            <a:r>
              <a:rPr lang="zh-CN" altLang="en-US" sz="1600" dirty="0"/>
              <a:t>，</a:t>
            </a:r>
            <a:r>
              <a:rPr lang="en-US" altLang="zh-CN" sz="1600" dirty="0"/>
              <a:t>While Controller</a:t>
            </a:r>
            <a:r>
              <a:rPr lang="zh-CN" altLang="en-US" sz="1600" dirty="0"/>
              <a:t>等。另一类是用来组织可控制</a:t>
            </a:r>
            <a:r>
              <a:rPr lang="en-US" altLang="zh-CN" sz="1600" dirty="0"/>
              <a:t>Sampler</a:t>
            </a:r>
            <a:r>
              <a:rPr lang="zh-CN" altLang="en-US" sz="1600" dirty="0"/>
              <a:t>节点的，如事物控制器、吞吐量控制器等。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04A18A8-7BD0-09F5-7DFB-C1EAE67C76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360" y="2670189"/>
            <a:ext cx="3746810" cy="3874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6742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57E6D0-FF94-2540-3E19-E18B69ECF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7111" y="162128"/>
            <a:ext cx="10515600" cy="1029207"/>
          </a:xfrm>
        </p:spPr>
        <p:txBody>
          <a:bodyPr/>
          <a:lstStyle/>
          <a:p>
            <a:r>
              <a:rPr lang="en-US" altLang="zh-CN" dirty="0" err="1"/>
              <a:t>Jmeter</a:t>
            </a:r>
            <a:r>
              <a:rPr lang="zh-CN" altLang="en-US" dirty="0"/>
              <a:t>主要部件</a:t>
            </a:r>
            <a:r>
              <a:rPr lang="en-US" altLang="zh-CN" dirty="0"/>
              <a:t>—</a:t>
            </a:r>
            <a:r>
              <a:rPr lang="zh-CN" altLang="en-US" dirty="0"/>
              <a:t>监听器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722554-3561-8803-58FB-140B66FBBE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5984"/>
            <a:ext cx="10515600" cy="1446178"/>
          </a:xfrm>
        </p:spPr>
        <p:txBody>
          <a:bodyPr>
            <a:normAutofit/>
          </a:bodyPr>
          <a:lstStyle/>
          <a:p>
            <a:r>
              <a:rPr lang="zh-CN" altLang="en-US" sz="2000" dirty="0"/>
              <a:t>监听器（</a:t>
            </a:r>
            <a:r>
              <a:rPr lang="en-US" altLang="zh-CN" sz="2000" dirty="0"/>
              <a:t>Listeners</a:t>
            </a:r>
            <a:r>
              <a:rPr lang="zh-CN" altLang="en-US" sz="2000" dirty="0"/>
              <a:t>）是在测试计划运行过程中监听请求及相应数据的，并且可以对结果形成表格或者图像形式。在测试计划中任意位置均可以添加监听器。根据监听器的作用域，监听器在不同的位置，监听的请求不同。同时，监听器提供了获取在</a:t>
            </a:r>
            <a:r>
              <a:rPr lang="en-US" altLang="zh-CN" sz="2000" dirty="0" err="1"/>
              <a:t>Jmeter</a:t>
            </a:r>
            <a:r>
              <a:rPr lang="zh-CN" altLang="en-US" sz="2000" dirty="0"/>
              <a:t>运行过程中搜集到的信息的访问方式。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A5CCBFD-840A-B3EC-F037-35438500AB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4987" y="2542162"/>
            <a:ext cx="4624831" cy="3919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4537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57E6D0-FF94-2540-3E19-E18B69ECF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7111" y="162128"/>
            <a:ext cx="10515600" cy="1029207"/>
          </a:xfrm>
        </p:spPr>
        <p:txBody>
          <a:bodyPr/>
          <a:lstStyle/>
          <a:p>
            <a:r>
              <a:rPr lang="en-US" altLang="zh-CN" dirty="0" err="1"/>
              <a:t>Jmeter</a:t>
            </a:r>
            <a:r>
              <a:rPr lang="zh-CN" altLang="en-US" dirty="0"/>
              <a:t>主要部件</a:t>
            </a:r>
            <a:r>
              <a:rPr lang="en-US" altLang="zh-CN" dirty="0"/>
              <a:t>—</a:t>
            </a:r>
            <a:r>
              <a:rPr lang="zh-CN" altLang="en-US" dirty="0"/>
              <a:t>定时器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722554-3561-8803-58FB-140B66FBBE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5984"/>
            <a:ext cx="10515600" cy="1219199"/>
          </a:xfrm>
        </p:spPr>
        <p:txBody>
          <a:bodyPr>
            <a:normAutofit/>
          </a:bodyPr>
          <a:lstStyle/>
          <a:p>
            <a:r>
              <a:rPr lang="zh-CN" altLang="en-US" sz="2000" dirty="0"/>
              <a:t>定时器（</a:t>
            </a:r>
            <a:r>
              <a:rPr lang="en-US" altLang="zh-CN" sz="2000" dirty="0"/>
              <a:t>Timer</a:t>
            </a:r>
            <a:r>
              <a:rPr lang="zh-CN" altLang="en-US" sz="2000" dirty="0"/>
              <a:t>）可以使</a:t>
            </a:r>
            <a:r>
              <a:rPr lang="en-US" altLang="zh-CN" sz="2000" dirty="0" err="1"/>
              <a:t>Jmeter</a:t>
            </a:r>
            <a:r>
              <a:rPr lang="zh-CN" altLang="en-US" sz="2000" dirty="0"/>
              <a:t>在线程发送每个请求时有一个延迟，等待时间是性能测试中常用的控制客户端</a:t>
            </a:r>
            <a:r>
              <a:rPr lang="en-US" altLang="zh-CN" sz="2000" dirty="0"/>
              <a:t>QPS(</a:t>
            </a:r>
            <a:r>
              <a:rPr lang="zh-CN" altLang="en-US" sz="2000" dirty="0"/>
              <a:t>每秒查询率</a:t>
            </a:r>
            <a:r>
              <a:rPr lang="en-US" altLang="zh-CN" sz="2000" dirty="0"/>
              <a:t>)</a:t>
            </a:r>
            <a:r>
              <a:rPr lang="zh-CN" altLang="en-US" sz="2000" dirty="0"/>
              <a:t>的手段。默认情况下，</a:t>
            </a:r>
            <a:r>
              <a:rPr lang="en-US" altLang="zh-CN" sz="2000" dirty="0" err="1"/>
              <a:t>Jmeter</a:t>
            </a:r>
            <a:r>
              <a:rPr lang="zh-CN" altLang="en-US" sz="2000" dirty="0"/>
              <a:t>的线程发送请求时之间没有任何停顿。如果没有添加一个延迟时间，</a:t>
            </a:r>
            <a:r>
              <a:rPr lang="en-US" altLang="zh-CN" sz="2000" dirty="0" err="1"/>
              <a:t>Jmeter</a:t>
            </a:r>
            <a:r>
              <a:rPr lang="zh-CN" altLang="en-US" sz="2000" dirty="0"/>
              <a:t>可能会在极短的时间内发送大量的请求而引起服务器崩溃。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722E4BD-6711-7F5F-1FA7-B7815AA5E5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330" y="2457855"/>
            <a:ext cx="5079006" cy="4343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8730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57E6D0-FF94-2540-3E19-E18B69ECF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7111" y="162128"/>
            <a:ext cx="10515600" cy="1029207"/>
          </a:xfrm>
        </p:spPr>
        <p:txBody>
          <a:bodyPr/>
          <a:lstStyle/>
          <a:p>
            <a:r>
              <a:rPr lang="en-US" altLang="zh-CN" dirty="0" err="1"/>
              <a:t>Jmeter</a:t>
            </a:r>
            <a:r>
              <a:rPr lang="zh-CN" altLang="en-US" dirty="0"/>
              <a:t>主要部件</a:t>
            </a:r>
            <a:r>
              <a:rPr lang="en-US" altLang="zh-CN" dirty="0"/>
              <a:t>—</a:t>
            </a:r>
            <a:r>
              <a:rPr lang="zh-CN" altLang="en-US" dirty="0"/>
              <a:t>断言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722554-3561-8803-58FB-140B66FBBE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5984"/>
            <a:ext cx="10515600" cy="693905"/>
          </a:xfrm>
        </p:spPr>
        <p:txBody>
          <a:bodyPr>
            <a:normAutofit/>
          </a:bodyPr>
          <a:lstStyle/>
          <a:p>
            <a:r>
              <a:rPr lang="zh-CN" altLang="en-US" sz="2000" dirty="0"/>
              <a:t>断言（</a:t>
            </a:r>
            <a:r>
              <a:rPr lang="en-US" altLang="zh-CN" sz="2000" dirty="0"/>
              <a:t>Assertion</a:t>
            </a:r>
            <a:r>
              <a:rPr lang="zh-CN" altLang="en-US" sz="2000" dirty="0"/>
              <a:t>）可以用于检查被测试程序返回的值是否是期望值。例如，检查回复字符串中包含一些特殊的文本。可以给任何一个</a:t>
            </a:r>
            <a:r>
              <a:rPr lang="en-US" altLang="zh-CN" sz="2000" dirty="0"/>
              <a:t>Sampler</a:t>
            </a:r>
            <a:r>
              <a:rPr lang="zh-CN" altLang="en-US" sz="2000" dirty="0"/>
              <a:t>添加一个</a:t>
            </a:r>
            <a:r>
              <a:rPr lang="en-US" altLang="zh-CN" sz="2000" dirty="0"/>
              <a:t>Assertion</a:t>
            </a:r>
            <a:r>
              <a:rPr lang="zh-CN" altLang="en-US" sz="2000" dirty="0"/>
              <a:t>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1F18BEB-F1C3-17A2-3856-30692660EA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250" y="2125191"/>
            <a:ext cx="4569088" cy="3883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7161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57E6D0-FF94-2540-3E19-E18B69ECF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7111" y="162128"/>
            <a:ext cx="10515600" cy="1029207"/>
          </a:xfrm>
        </p:spPr>
        <p:txBody>
          <a:bodyPr/>
          <a:lstStyle/>
          <a:p>
            <a:r>
              <a:rPr lang="en-US" altLang="zh-CN" dirty="0" err="1"/>
              <a:t>Jmeter</a:t>
            </a:r>
            <a:r>
              <a:rPr lang="zh-CN" altLang="en-US" dirty="0"/>
              <a:t>主要部件</a:t>
            </a:r>
            <a:r>
              <a:rPr lang="en-US" altLang="zh-CN" dirty="0"/>
              <a:t>—</a:t>
            </a:r>
            <a:r>
              <a:rPr lang="zh-CN" altLang="en-US" dirty="0"/>
              <a:t>配置元件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722554-3561-8803-58FB-140B66FBBE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5984"/>
            <a:ext cx="10515600" cy="1029207"/>
          </a:xfrm>
        </p:spPr>
        <p:txBody>
          <a:bodyPr>
            <a:normAutofit/>
          </a:bodyPr>
          <a:lstStyle/>
          <a:p>
            <a:r>
              <a:rPr lang="zh-CN" altLang="en-US" sz="2000" dirty="0"/>
              <a:t>配置元件（</a:t>
            </a:r>
            <a:r>
              <a:rPr lang="en-US" altLang="zh-CN" sz="2000" dirty="0"/>
              <a:t>Config Element</a:t>
            </a:r>
            <a:r>
              <a:rPr lang="zh-CN" altLang="en-US" sz="2000" dirty="0"/>
              <a:t>）是配合</a:t>
            </a:r>
            <a:r>
              <a:rPr lang="en-US" altLang="zh-CN" sz="2000" dirty="0"/>
              <a:t>Sampler</a:t>
            </a:r>
            <a:r>
              <a:rPr lang="zh-CN" altLang="en-US" sz="2000" dirty="0"/>
              <a:t>使用的，使脚本易于维护和操作。配置元件不会发送请求，但是可以改变发送请求的各种参数。配置元件能提供对静态数据配置的支持。例如，</a:t>
            </a:r>
            <a:r>
              <a:rPr lang="en-US" altLang="zh-CN" sz="2000" dirty="0"/>
              <a:t>HTTP Cookie Manager</a:t>
            </a:r>
            <a:r>
              <a:rPr lang="zh-CN" altLang="en-US" sz="2000" dirty="0"/>
              <a:t>可以用于对</a:t>
            </a:r>
            <a:r>
              <a:rPr lang="en-US" altLang="zh-CN" sz="2000" dirty="0"/>
              <a:t>HTTP Request Sampler</a:t>
            </a:r>
            <a:r>
              <a:rPr lang="zh-CN" altLang="en-US" sz="2000" dirty="0"/>
              <a:t>的</a:t>
            </a:r>
            <a:r>
              <a:rPr lang="en-US" altLang="zh-CN" sz="2000" dirty="0"/>
              <a:t>Cookie</a:t>
            </a:r>
            <a:r>
              <a:rPr lang="zh-CN" altLang="en-US" sz="2000" dirty="0"/>
              <a:t>进行管理。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965D6B4-0A2B-C91C-1AA0-50D42A25D8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110" y="2224391"/>
            <a:ext cx="5393831" cy="4212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3217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57E6D0-FF94-2540-3E19-E18B69ECF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7111" y="162128"/>
            <a:ext cx="10515600" cy="1029207"/>
          </a:xfrm>
        </p:spPr>
        <p:txBody>
          <a:bodyPr/>
          <a:lstStyle/>
          <a:p>
            <a:r>
              <a:rPr lang="en-US" altLang="zh-CN" dirty="0" err="1"/>
              <a:t>Jmeter</a:t>
            </a:r>
            <a:r>
              <a:rPr lang="zh-CN" altLang="en-US" dirty="0"/>
              <a:t>主要部件</a:t>
            </a:r>
            <a:r>
              <a:rPr lang="en-US" altLang="zh-CN" dirty="0"/>
              <a:t>—</a:t>
            </a:r>
            <a:r>
              <a:rPr lang="zh-CN" altLang="en-US" dirty="0"/>
              <a:t>前置处理器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722554-3561-8803-58FB-140B66FBBE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5984"/>
            <a:ext cx="10515600" cy="1258110"/>
          </a:xfrm>
        </p:spPr>
        <p:txBody>
          <a:bodyPr>
            <a:normAutofit/>
          </a:bodyPr>
          <a:lstStyle/>
          <a:p>
            <a:r>
              <a:rPr lang="zh-CN" altLang="en-US" sz="2000" dirty="0"/>
              <a:t>前置处理器（</a:t>
            </a:r>
            <a:r>
              <a:rPr lang="en-US" altLang="zh-CN" sz="2000" dirty="0"/>
              <a:t>Pre-Processer</a:t>
            </a:r>
            <a:r>
              <a:rPr lang="zh-CN" altLang="en-US" sz="2000" dirty="0"/>
              <a:t>）在</a:t>
            </a:r>
            <a:r>
              <a:rPr lang="en-US" altLang="zh-CN" sz="2000" dirty="0"/>
              <a:t>Sampler Request</a:t>
            </a:r>
            <a:r>
              <a:rPr lang="zh-CN" altLang="en-US" sz="2000" dirty="0"/>
              <a:t>被创建前执行一些操作。如果一个前置处理器被附加到一个</a:t>
            </a:r>
            <a:r>
              <a:rPr lang="en-US" altLang="zh-CN" sz="2000" dirty="0"/>
              <a:t>Sampler Element</a:t>
            </a:r>
            <a:r>
              <a:rPr lang="zh-CN" altLang="en-US" sz="2000" dirty="0"/>
              <a:t>上，那么它将先于</a:t>
            </a:r>
            <a:r>
              <a:rPr lang="en-US" altLang="zh-CN" sz="2000" dirty="0"/>
              <a:t>Sampler Element</a:t>
            </a:r>
            <a:r>
              <a:rPr lang="zh-CN" altLang="en-US" sz="2000" dirty="0"/>
              <a:t>运行。</a:t>
            </a:r>
            <a:r>
              <a:rPr lang="en-US" altLang="zh-CN" sz="2000" dirty="0"/>
              <a:t>Pre-Processor</a:t>
            </a:r>
            <a:r>
              <a:rPr lang="zh-CN" altLang="en-US" sz="2000" dirty="0"/>
              <a:t>最主要用于在</a:t>
            </a:r>
            <a:r>
              <a:rPr lang="en-US" altLang="zh-CN" sz="2000" dirty="0"/>
              <a:t>Sampler</a:t>
            </a:r>
            <a:r>
              <a:rPr lang="zh-CN" altLang="en-US" sz="2000" dirty="0"/>
              <a:t>运行前修改一些设置，或者更新一些无法从</a:t>
            </a:r>
            <a:r>
              <a:rPr lang="en-US" altLang="zh-CN" sz="2000" dirty="0"/>
              <a:t>Response</a:t>
            </a:r>
            <a:r>
              <a:rPr lang="zh-CN" altLang="en-US" sz="2000" dirty="0"/>
              <a:t>文本中获取的变量。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C4D716E-D6F3-65FA-3D5D-CEABEE1B08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522" y="2503447"/>
            <a:ext cx="3708007" cy="4000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8967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57E6D0-FF94-2540-3E19-E18B69ECF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7111" y="162128"/>
            <a:ext cx="10515600" cy="1029207"/>
          </a:xfrm>
        </p:spPr>
        <p:txBody>
          <a:bodyPr/>
          <a:lstStyle/>
          <a:p>
            <a:r>
              <a:rPr lang="en-US" altLang="zh-CN" dirty="0" err="1"/>
              <a:t>Jmeter</a:t>
            </a:r>
            <a:r>
              <a:rPr lang="zh-CN" altLang="en-US" dirty="0"/>
              <a:t>主要部件</a:t>
            </a:r>
            <a:r>
              <a:rPr lang="en-US" altLang="zh-CN" dirty="0"/>
              <a:t>—</a:t>
            </a:r>
            <a:r>
              <a:rPr lang="zh-CN" altLang="en-US" dirty="0"/>
              <a:t>后置处理器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722554-3561-8803-58FB-140B66FBBE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5984"/>
            <a:ext cx="10515600" cy="1258110"/>
          </a:xfrm>
        </p:spPr>
        <p:txBody>
          <a:bodyPr>
            <a:normAutofit/>
          </a:bodyPr>
          <a:lstStyle/>
          <a:p>
            <a:r>
              <a:rPr lang="zh-CN" altLang="en-US" sz="2000" dirty="0"/>
              <a:t>后置处理器（</a:t>
            </a:r>
            <a:r>
              <a:rPr lang="en-US" altLang="zh-CN" sz="2000" dirty="0"/>
              <a:t>Post-Processor</a:t>
            </a:r>
            <a:r>
              <a:rPr lang="zh-CN" altLang="en-US" sz="2000" dirty="0"/>
              <a:t>）在</a:t>
            </a:r>
            <a:r>
              <a:rPr lang="en-US" altLang="zh-CN" sz="2000" dirty="0"/>
              <a:t>Sampler Request</a:t>
            </a:r>
            <a:r>
              <a:rPr lang="zh-CN" altLang="en-US" sz="2000" dirty="0"/>
              <a:t>被创建后执行一些操作。后置处理器主要用于处理回复数据，常常用来从其中获取某些值。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F958C96-C7BB-A039-D44E-99E219E6AE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2624" y="1893651"/>
            <a:ext cx="4789158" cy="4209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756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57E6D0-FF94-2540-3E19-E18B69ECF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7111" y="162128"/>
            <a:ext cx="10515600" cy="1029207"/>
          </a:xfrm>
        </p:spPr>
        <p:txBody>
          <a:bodyPr/>
          <a:lstStyle/>
          <a:p>
            <a:r>
              <a:rPr lang="en-US" altLang="zh-CN" dirty="0" err="1"/>
              <a:t>Jmeter</a:t>
            </a:r>
            <a:r>
              <a:rPr lang="zh-CN" altLang="en-US" dirty="0"/>
              <a:t>基本操作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722554-3561-8803-58FB-140B66FBBE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5983"/>
            <a:ext cx="10515600" cy="3035029"/>
          </a:xfrm>
        </p:spPr>
        <p:txBody>
          <a:bodyPr>
            <a:normAutofit/>
          </a:bodyPr>
          <a:lstStyle/>
          <a:p>
            <a:r>
              <a:rPr lang="en-US" altLang="zh-CN" sz="2000" dirty="0" err="1"/>
              <a:t>Jmeter</a:t>
            </a:r>
            <a:r>
              <a:rPr lang="zh-CN" altLang="en-US" sz="2000" dirty="0"/>
              <a:t>的基本操作包括</a:t>
            </a:r>
            <a:endParaRPr lang="en-US" altLang="zh-CN" sz="2000" dirty="0"/>
          </a:p>
          <a:p>
            <a:pPr lvl="1"/>
            <a:r>
              <a:rPr lang="zh-CN" altLang="en-US" sz="1600" dirty="0"/>
              <a:t>建立测试计划</a:t>
            </a:r>
            <a:endParaRPr lang="en-US" altLang="zh-CN" sz="1600" dirty="0"/>
          </a:p>
          <a:p>
            <a:pPr lvl="1"/>
            <a:r>
              <a:rPr lang="zh-CN" altLang="en-US" sz="1600" dirty="0"/>
              <a:t>添加线程组</a:t>
            </a:r>
            <a:endParaRPr lang="en-US" altLang="zh-CN" sz="1600" dirty="0"/>
          </a:p>
          <a:p>
            <a:pPr lvl="1"/>
            <a:r>
              <a:rPr lang="zh-CN" altLang="en-US" sz="1600" dirty="0"/>
              <a:t>添加取样器</a:t>
            </a:r>
            <a:endParaRPr lang="en-US" altLang="zh-CN" sz="1600" dirty="0"/>
          </a:p>
          <a:p>
            <a:pPr lvl="1"/>
            <a:r>
              <a:rPr lang="zh-CN" altLang="en-US" sz="1600" dirty="0"/>
              <a:t>添加监听器</a:t>
            </a:r>
            <a:endParaRPr lang="en-US" altLang="zh-CN" sz="1600" dirty="0"/>
          </a:p>
          <a:p>
            <a:pPr lvl="1"/>
            <a:r>
              <a:rPr lang="zh-CN" altLang="en-US" sz="1600" dirty="0"/>
              <a:t>创建测试脚本</a:t>
            </a:r>
            <a:endParaRPr lang="en-US" altLang="zh-CN" sz="1600" dirty="0"/>
          </a:p>
          <a:p>
            <a:pPr lvl="1"/>
            <a:r>
              <a:rPr lang="zh-CN" altLang="en-US" sz="1600" dirty="0"/>
              <a:t>添加断言</a:t>
            </a:r>
            <a:endParaRPr lang="en-US" altLang="zh-CN" sz="1600" dirty="0"/>
          </a:p>
          <a:p>
            <a:pPr lvl="1"/>
            <a:r>
              <a:rPr lang="zh-CN" altLang="en-US" sz="1600" dirty="0"/>
              <a:t>集合点</a:t>
            </a:r>
            <a:endParaRPr lang="en-US" altLang="zh-CN" sz="1600" dirty="0"/>
          </a:p>
          <a:p>
            <a:pPr lvl="1"/>
            <a:r>
              <a:rPr lang="zh-CN" altLang="en-US" sz="1600" dirty="0"/>
              <a:t>参数化</a:t>
            </a:r>
            <a:endParaRPr lang="en-US" altLang="zh-CN" sz="1600" dirty="0"/>
          </a:p>
          <a:p>
            <a:pPr lvl="1"/>
            <a:r>
              <a:rPr lang="en-US" altLang="zh-CN" sz="1600" dirty="0" err="1"/>
              <a:t>Jmeter</a:t>
            </a:r>
            <a:r>
              <a:rPr lang="zh-CN" altLang="en-US" sz="1600" dirty="0"/>
              <a:t>结果处理</a:t>
            </a:r>
            <a:endParaRPr lang="en-US" altLang="zh-CN" sz="1600" dirty="0"/>
          </a:p>
          <a:p>
            <a:pPr lvl="1"/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9348350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57E6D0-FF94-2540-3E19-E18B69ECF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7111" y="162128"/>
            <a:ext cx="10515600" cy="1029207"/>
          </a:xfrm>
        </p:spPr>
        <p:txBody>
          <a:bodyPr/>
          <a:lstStyle/>
          <a:p>
            <a:r>
              <a:rPr lang="en-US" altLang="zh-CN" dirty="0" err="1"/>
              <a:t>Jmeter</a:t>
            </a:r>
            <a:r>
              <a:rPr lang="zh-CN" altLang="en-US" dirty="0"/>
              <a:t>基本操作</a:t>
            </a:r>
            <a:r>
              <a:rPr lang="en-US" altLang="zh-CN" dirty="0"/>
              <a:t>—</a:t>
            </a:r>
            <a:r>
              <a:rPr lang="zh-CN" altLang="en-US" dirty="0"/>
              <a:t>建立测试计划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722554-3561-8803-58FB-140B66FBBE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5983"/>
            <a:ext cx="10515600" cy="1095983"/>
          </a:xfrm>
        </p:spPr>
        <p:txBody>
          <a:bodyPr>
            <a:normAutofit/>
          </a:bodyPr>
          <a:lstStyle/>
          <a:p>
            <a:r>
              <a:rPr lang="zh-CN" altLang="en-US" sz="2000" dirty="0"/>
              <a:t>一个测试计划描述了一系列</a:t>
            </a:r>
            <a:r>
              <a:rPr lang="en-US" altLang="zh-CN" sz="2000" dirty="0" err="1"/>
              <a:t>Jmeter</a:t>
            </a:r>
            <a:r>
              <a:rPr lang="zh-CN" altLang="en-US" sz="2000" dirty="0"/>
              <a:t>在运行中要执行的步骤。一个完整的测试计划包含一个或多个</a:t>
            </a:r>
            <a:r>
              <a:rPr lang="en-US" altLang="zh-CN" sz="2000" dirty="0"/>
              <a:t>Thread Groups</a:t>
            </a:r>
            <a:r>
              <a:rPr lang="zh-CN" altLang="en-US" sz="2000" dirty="0"/>
              <a:t>，</a:t>
            </a:r>
            <a:r>
              <a:rPr lang="en-US" altLang="zh-CN" sz="2000" dirty="0"/>
              <a:t>Logic Controllers</a:t>
            </a:r>
            <a:r>
              <a:rPr lang="zh-CN" altLang="en-US" sz="2000" dirty="0"/>
              <a:t>，</a:t>
            </a:r>
            <a:r>
              <a:rPr lang="en-US" altLang="zh-CN" sz="2000" dirty="0"/>
              <a:t>Sampler Generating Controllers</a:t>
            </a:r>
            <a:r>
              <a:rPr lang="zh-CN" altLang="en-US" sz="2000" dirty="0"/>
              <a:t>，</a:t>
            </a:r>
            <a:r>
              <a:rPr lang="en-US" altLang="zh-CN" sz="2000" dirty="0"/>
              <a:t>Listeners</a:t>
            </a:r>
            <a:r>
              <a:rPr lang="zh-CN" altLang="en-US" sz="2000" dirty="0"/>
              <a:t>，</a:t>
            </a:r>
            <a:r>
              <a:rPr lang="en-US" altLang="zh-CN" sz="2000" dirty="0"/>
              <a:t>Timers</a:t>
            </a:r>
            <a:r>
              <a:rPr lang="zh-CN" altLang="en-US" sz="2000" dirty="0"/>
              <a:t>，</a:t>
            </a:r>
            <a:r>
              <a:rPr lang="en-US" altLang="zh-CN" sz="2000" dirty="0"/>
              <a:t>Assertions</a:t>
            </a:r>
            <a:r>
              <a:rPr lang="zh-CN" altLang="en-US" sz="2000" dirty="0"/>
              <a:t>和</a:t>
            </a:r>
            <a:r>
              <a:rPr lang="en-US" altLang="zh-CN" sz="2000" dirty="0"/>
              <a:t>Configuration Elements</a:t>
            </a:r>
            <a:endParaRPr lang="zh-CN" altLang="en-US" sz="20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79DD557-9B7B-AE68-746F-B1F14CD24D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796" y="2191966"/>
            <a:ext cx="4770533" cy="4168501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2BDCC121-173E-D6C7-CEB0-626000AB9B2E}"/>
              </a:ext>
            </a:extLst>
          </p:cNvPr>
          <p:cNvSpPr txBox="1"/>
          <p:nvPr/>
        </p:nvSpPr>
        <p:spPr>
          <a:xfrm>
            <a:off x="5667983" y="2444885"/>
            <a:ext cx="61154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添加或删除元件</a:t>
            </a:r>
            <a:endParaRPr lang="en-US" altLang="zh-CN" dirty="0"/>
          </a:p>
          <a:p>
            <a:r>
              <a:rPr lang="zh-CN" altLang="en-US" dirty="0"/>
              <a:t>可以在</a:t>
            </a:r>
            <a:r>
              <a:rPr lang="en-US" altLang="zh-CN" dirty="0"/>
              <a:t>Tree</a:t>
            </a:r>
            <a:r>
              <a:rPr lang="zh-CN" altLang="en-US" dirty="0"/>
              <a:t>中元件上右击，然后从添加列表中选择一个新的元件。右击可以选择删除元件。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573055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57E6D0-FF94-2540-3E19-E18B69ECF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7111" y="162128"/>
            <a:ext cx="10515600" cy="1029207"/>
          </a:xfrm>
        </p:spPr>
        <p:txBody>
          <a:bodyPr/>
          <a:lstStyle/>
          <a:p>
            <a:r>
              <a:rPr lang="en-US" altLang="zh-CN" dirty="0" err="1"/>
              <a:t>Jmeter</a:t>
            </a:r>
            <a:r>
              <a:rPr lang="zh-CN" altLang="en-US" dirty="0"/>
              <a:t>基本操作</a:t>
            </a:r>
            <a:r>
              <a:rPr lang="en-US" altLang="zh-CN" dirty="0"/>
              <a:t>—</a:t>
            </a:r>
            <a:r>
              <a:rPr lang="zh-CN" altLang="en-US" dirty="0"/>
              <a:t>添加线程组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722554-3561-8803-58FB-140B66FBBE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5984"/>
            <a:ext cx="10515600" cy="966280"/>
          </a:xfrm>
        </p:spPr>
        <p:txBody>
          <a:bodyPr>
            <a:normAutofit/>
          </a:bodyPr>
          <a:lstStyle/>
          <a:p>
            <a:r>
              <a:rPr lang="zh-CN" altLang="en-US" sz="2000" dirty="0"/>
              <a:t>一个测试计划至少需要包含一个线程组，当然也可以在一个计划中创建多个线程组。在测试右击测试计划，选择“</a:t>
            </a:r>
            <a:r>
              <a:rPr lang="en-US" altLang="zh-CN" sz="2000" dirty="0"/>
              <a:t>Threads</a:t>
            </a:r>
            <a:r>
              <a:rPr lang="zh-CN" altLang="en-US" sz="2000" dirty="0"/>
              <a:t>”可以添加线程组。线程属性中的线程数为虚拟用户数，</a:t>
            </a:r>
            <a:r>
              <a:rPr lang="en-US" altLang="zh-CN" sz="2000" dirty="0"/>
              <a:t>Ramp-up Period</a:t>
            </a:r>
            <a:r>
              <a:rPr lang="zh-CN" altLang="en-US" sz="2000" dirty="0"/>
              <a:t>告诉</a:t>
            </a:r>
            <a:r>
              <a:rPr lang="en-US" altLang="zh-CN" sz="2000" dirty="0" err="1"/>
              <a:t>Jmeter</a:t>
            </a:r>
            <a:r>
              <a:rPr lang="zh-CN" altLang="en-US" sz="2000" dirty="0"/>
              <a:t>需要用多长时间来转载全部的线程。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D323FE2A-4460-28AE-852C-90086C2E7C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772" y="2162782"/>
            <a:ext cx="7467528" cy="3599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0258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57E6D0-FF94-2540-3E19-E18B69ECF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7111" y="162128"/>
            <a:ext cx="10515600" cy="1029207"/>
          </a:xfrm>
        </p:spPr>
        <p:txBody>
          <a:bodyPr/>
          <a:lstStyle/>
          <a:p>
            <a:r>
              <a:rPr lang="en-US" altLang="zh-CN" dirty="0" err="1"/>
              <a:t>Jmeter</a:t>
            </a:r>
            <a:r>
              <a:rPr lang="zh-CN" altLang="en-US" dirty="0"/>
              <a:t>基本操作</a:t>
            </a:r>
            <a:r>
              <a:rPr lang="en-US" altLang="zh-CN" dirty="0"/>
              <a:t>—</a:t>
            </a:r>
            <a:r>
              <a:rPr lang="zh-CN" altLang="en-US" dirty="0"/>
              <a:t>添加取样器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722554-3561-8803-58FB-140B66FBBE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5984"/>
            <a:ext cx="10515600" cy="966280"/>
          </a:xfrm>
        </p:spPr>
        <p:txBody>
          <a:bodyPr>
            <a:normAutofit/>
          </a:bodyPr>
          <a:lstStyle/>
          <a:p>
            <a:r>
              <a:rPr lang="zh-CN" altLang="en-US" sz="2000" dirty="0"/>
              <a:t>对</a:t>
            </a:r>
            <a:r>
              <a:rPr lang="en-US" altLang="zh-CN" sz="2000" dirty="0" err="1"/>
              <a:t>Jmeter</a:t>
            </a:r>
            <a:r>
              <a:rPr lang="zh-CN" altLang="en-US" sz="2000" dirty="0"/>
              <a:t>来说，取样器是与服务器进行交互的单元。添加完线程组后，在线程组上右击，选择添加</a:t>
            </a:r>
            <a:r>
              <a:rPr lang="en-US" altLang="zh-CN" sz="2000" dirty="0"/>
              <a:t>-》</a:t>
            </a:r>
            <a:r>
              <a:rPr lang="zh-CN" altLang="en-US" sz="2000" dirty="0"/>
              <a:t>取样器</a:t>
            </a:r>
            <a:r>
              <a:rPr lang="en-US" altLang="zh-CN" sz="2000" dirty="0"/>
              <a:t>-》HTTP Request,</a:t>
            </a:r>
            <a:r>
              <a:rPr lang="zh-CN" altLang="en-US" sz="2000" dirty="0"/>
              <a:t>将弹出</a:t>
            </a:r>
            <a:r>
              <a:rPr lang="en-US" altLang="zh-CN" sz="2000" dirty="0"/>
              <a:t>HTTP</a:t>
            </a:r>
            <a:r>
              <a:rPr lang="zh-CN" altLang="en-US" sz="2000" dirty="0"/>
              <a:t>请求设置窗口。一个</a:t>
            </a:r>
            <a:r>
              <a:rPr lang="en-US" altLang="zh-CN" sz="2000" dirty="0"/>
              <a:t>HTTP</a:t>
            </a:r>
            <a:r>
              <a:rPr lang="zh-CN" altLang="en-US" sz="2000" dirty="0"/>
              <a:t>请求有许多配置参数，每个参数的具体含义请查询相关资料或帮助文档。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4610640-F3F4-C1BC-CC9A-01EA44A54B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582" y="2188183"/>
            <a:ext cx="6834492" cy="4556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2959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57E6D0-FF94-2540-3E19-E18B69ECF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7111" y="162128"/>
            <a:ext cx="10515600" cy="1029207"/>
          </a:xfrm>
        </p:spPr>
        <p:txBody>
          <a:bodyPr/>
          <a:lstStyle/>
          <a:p>
            <a:r>
              <a:rPr lang="en-US" altLang="zh-CN" dirty="0" err="1"/>
              <a:t>Jmeter</a:t>
            </a:r>
            <a:r>
              <a:rPr lang="zh-CN" altLang="en-US" dirty="0"/>
              <a:t>基本操作</a:t>
            </a:r>
            <a:r>
              <a:rPr lang="en-US" altLang="zh-CN" dirty="0"/>
              <a:t>—</a:t>
            </a:r>
            <a:r>
              <a:rPr lang="zh-CN" altLang="en-US" dirty="0"/>
              <a:t>添加监听器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722554-3561-8803-58FB-140B66FBBE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5984"/>
            <a:ext cx="10515600" cy="966280"/>
          </a:xfrm>
        </p:spPr>
        <p:txBody>
          <a:bodyPr>
            <a:normAutofit/>
          </a:bodyPr>
          <a:lstStyle/>
          <a:p>
            <a:r>
              <a:rPr lang="zh-CN" altLang="en-US" sz="2000" dirty="0"/>
              <a:t>监听器负责脚本运行的各种结果的监听，常用的为</a:t>
            </a:r>
            <a:r>
              <a:rPr lang="en-US" altLang="zh-CN" sz="2000" dirty="0"/>
              <a:t>Aggregate Graph</a:t>
            </a:r>
            <a:r>
              <a:rPr lang="zh-CN" altLang="en-US" sz="2000" dirty="0"/>
              <a:t>（聚合报告）。创建线程组后，在线程组上单击右键，选择添加</a:t>
            </a:r>
            <a:r>
              <a:rPr lang="en-US" altLang="zh-CN" sz="2000" dirty="0"/>
              <a:t>-》</a:t>
            </a:r>
            <a:r>
              <a:rPr lang="zh-CN" altLang="en-US" sz="2000" dirty="0"/>
              <a:t>监听器</a:t>
            </a:r>
            <a:r>
              <a:rPr lang="en-US" altLang="zh-CN" sz="2000" dirty="0"/>
              <a:t>-》Aggregate Graph</a:t>
            </a:r>
            <a:endParaRPr lang="zh-CN" altLang="en-US" sz="20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7BA2857-596F-8CD7-1897-D17FD1B3BB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461" y="2062265"/>
            <a:ext cx="6342135" cy="402076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228FEFA8-3BC6-789C-B8C3-7E8FF1817120}"/>
              </a:ext>
            </a:extLst>
          </p:cNvPr>
          <p:cNvSpPr txBox="1"/>
          <p:nvPr/>
        </p:nvSpPr>
        <p:spPr>
          <a:xfrm>
            <a:off x="6666689" y="2036326"/>
            <a:ext cx="477952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添加聚合报告后，运行脚本，聚合报告记录每个请求的各种指标（在作用范围内）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Sampler</a:t>
            </a:r>
            <a:r>
              <a:rPr lang="zh-CN" altLang="en-US" dirty="0"/>
              <a:t>：当前</a:t>
            </a:r>
            <a:r>
              <a:rPr lang="en-US" altLang="zh-CN" dirty="0"/>
              <a:t>Sampler</a:t>
            </a:r>
            <a:r>
              <a:rPr lang="zh-CN" altLang="en-US" dirty="0"/>
              <a:t>执行成功的总数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Average</a:t>
            </a:r>
            <a:r>
              <a:rPr lang="zh-CN" altLang="en-US" dirty="0"/>
              <a:t>：平均响应时间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Median</a:t>
            </a:r>
            <a:r>
              <a:rPr lang="zh-CN" altLang="en-US" dirty="0"/>
              <a:t>：响应时间中位数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90%Line</a:t>
            </a:r>
            <a:r>
              <a:rPr lang="zh-CN" altLang="en-US" dirty="0"/>
              <a:t>：</a:t>
            </a:r>
            <a:r>
              <a:rPr lang="en-US" altLang="zh-CN" dirty="0"/>
              <a:t>90%</a:t>
            </a:r>
            <a:r>
              <a:rPr lang="zh-CN" altLang="en-US" dirty="0"/>
              <a:t>的用户响应时间小于此值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Min</a:t>
            </a:r>
            <a:r>
              <a:rPr lang="zh-CN" altLang="en-US" dirty="0"/>
              <a:t>：最小响应时间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Max</a:t>
            </a:r>
            <a:r>
              <a:rPr lang="zh-CN" altLang="en-US" dirty="0"/>
              <a:t>：最大响应时间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Error</a:t>
            </a:r>
            <a:r>
              <a:rPr lang="zh-CN" altLang="en-US" dirty="0"/>
              <a:t>：断言失败的百分比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Throughput</a:t>
            </a:r>
            <a:r>
              <a:rPr lang="zh-CN" altLang="en-US" dirty="0"/>
              <a:t>：吞吐量</a:t>
            </a:r>
          </a:p>
        </p:txBody>
      </p:sp>
    </p:spTree>
    <p:extLst>
      <p:ext uri="{BB962C8B-B14F-4D97-AF65-F5344CB8AC3E}">
        <p14:creationId xmlns:p14="http://schemas.microsoft.com/office/powerpoint/2010/main" val="14225221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57E6D0-FF94-2540-3E19-E18B69ECF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7111" y="162128"/>
            <a:ext cx="10515600" cy="1029207"/>
          </a:xfrm>
        </p:spPr>
        <p:txBody>
          <a:bodyPr/>
          <a:lstStyle/>
          <a:p>
            <a:r>
              <a:rPr lang="en-US" altLang="zh-CN" dirty="0" err="1"/>
              <a:t>Jmeter</a:t>
            </a:r>
            <a:r>
              <a:rPr lang="zh-CN" altLang="en-US" dirty="0"/>
              <a:t>基本操作</a:t>
            </a:r>
            <a:r>
              <a:rPr lang="en-US" altLang="zh-CN" dirty="0"/>
              <a:t>—</a:t>
            </a:r>
            <a:r>
              <a:rPr lang="zh-CN" altLang="en-US" dirty="0"/>
              <a:t>创建测试脚本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722554-3561-8803-58FB-140B66FBBE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5984"/>
            <a:ext cx="10515600" cy="408561"/>
          </a:xfrm>
        </p:spPr>
        <p:txBody>
          <a:bodyPr>
            <a:normAutofit/>
          </a:bodyPr>
          <a:lstStyle/>
          <a:p>
            <a:r>
              <a:rPr lang="en-US" altLang="zh-CN" sz="2000" dirty="0" err="1"/>
              <a:t>Jmeter</a:t>
            </a:r>
            <a:r>
              <a:rPr lang="zh-CN" altLang="en-US" sz="2000" dirty="0"/>
              <a:t>的</a:t>
            </a:r>
            <a:r>
              <a:rPr lang="en-US" altLang="zh-CN" sz="2000" dirty="0"/>
              <a:t>Web</a:t>
            </a:r>
            <a:r>
              <a:rPr lang="zh-CN" altLang="en-US" sz="2000" dirty="0"/>
              <a:t>测试脚本可以通过</a:t>
            </a:r>
            <a:r>
              <a:rPr lang="en-US" altLang="zh-CN" sz="2000" dirty="0" err="1"/>
              <a:t>Jmeter</a:t>
            </a:r>
            <a:r>
              <a:rPr lang="zh-CN" altLang="en-US" sz="2000" dirty="0"/>
              <a:t>代理录制脚本和</a:t>
            </a:r>
            <a:r>
              <a:rPr lang="en-US" altLang="zh-CN" sz="2000" dirty="0" err="1"/>
              <a:t>Badboy</a:t>
            </a:r>
            <a:r>
              <a:rPr lang="zh-CN" altLang="en-US" sz="2000" dirty="0"/>
              <a:t>录制脚本。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ECAE02F-73AB-BC45-099B-D0969F7DCB0C}"/>
              </a:ext>
            </a:extLst>
          </p:cNvPr>
          <p:cNvSpPr txBox="1"/>
          <p:nvPr/>
        </p:nvSpPr>
        <p:spPr>
          <a:xfrm>
            <a:off x="752272" y="1617559"/>
            <a:ext cx="9909243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创建测试计划</a:t>
            </a: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在测试计划中添加线程组</a:t>
            </a: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在线程组中添加</a:t>
            </a:r>
            <a:r>
              <a:rPr lang="en-US" altLang="zh-CN" dirty="0"/>
              <a:t>HTTP Request Defaults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右击线程组，选择</a:t>
            </a:r>
            <a:r>
              <a:rPr lang="en-US" altLang="zh-CN" dirty="0"/>
              <a:t>Add-》Config Element-》HTTP Request Defaults</a:t>
            </a:r>
            <a:r>
              <a:rPr lang="zh-CN" altLang="en-US" dirty="0"/>
              <a:t>，将弹出配置窗口，在</a:t>
            </a:r>
            <a:r>
              <a:rPr lang="en-US" altLang="zh-CN" dirty="0"/>
              <a:t>Web </a:t>
            </a:r>
            <a:r>
              <a:rPr lang="en-US" altLang="zh-CN" dirty="0" err="1"/>
              <a:t>Server:Server</a:t>
            </a:r>
            <a:r>
              <a:rPr lang="en-US" altLang="zh-CN" dirty="0"/>
              <a:t> Name or IP</a:t>
            </a:r>
            <a:r>
              <a:rPr lang="zh-CN" altLang="en-US" dirty="0"/>
              <a:t>中输入“</a:t>
            </a:r>
            <a:r>
              <a:rPr lang="en-US" altLang="zh-CN" dirty="0"/>
              <a:t>jmeter.apche.org</a:t>
            </a:r>
            <a:r>
              <a:rPr lang="zh-CN" altLang="en-US" dirty="0"/>
              <a:t>”</a:t>
            </a: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在线程组中添加录制控制器</a:t>
            </a:r>
            <a:endParaRPr lang="en-US" altLang="zh-CN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右击线程组，选择</a:t>
            </a:r>
            <a:r>
              <a:rPr lang="en-US" altLang="zh-CN" dirty="0"/>
              <a:t>Add-》Logic Controller-》Recording Controller</a:t>
            </a:r>
            <a:r>
              <a:rPr lang="zh-CN" altLang="en-US" dirty="0"/>
              <a:t>，线程组中将添加一个录制控制器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设置并启动</a:t>
            </a:r>
            <a:r>
              <a:rPr lang="en-US" altLang="zh-CN" dirty="0" err="1"/>
              <a:t>Jmeter</a:t>
            </a:r>
            <a:r>
              <a:rPr lang="zh-CN" altLang="en-US" dirty="0"/>
              <a:t>代理服务器</a:t>
            </a: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右击</a:t>
            </a:r>
            <a:r>
              <a:rPr lang="en-US" altLang="zh-CN" dirty="0" err="1"/>
              <a:t>WorkBench</a:t>
            </a:r>
            <a:r>
              <a:rPr lang="zh-CN" altLang="en-US" dirty="0"/>
              <a:t>，在弹出的菜单中选择</a:t>
            </a:r>
            <a:r>
              <a:rPr lang="en-US" altLang="zh-CN" dirty="0"/>
              <a:t>Add-》Non-Test Elements-》HTTP(s) Test </a:t>
            </a:r>
            <a:r>
              <a:rPr lang="en-US" altLang="zh-CN" dirty="0" err="1"/>
              <a:t>Scipt</a:t>
            </a:r>
            <a:r>
              <a:rPr lang="en-US" altLang="zh-CN" dirty="0"/>
              <a:t> Recorder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/>
              <a:t>设置该</a:t>
            </a:r>
            <a:r>
              <a:rPr lang="en-US" altLang="zh-CN" dirty="0"/>
              <a:t>HTTP</a:t>
            </a:r>
            <a:r>
              <a:rPr lang="zh-CN" altLang="en-US" dirty="0"/>
              <a:t>脚本录制器的目标控制器为刚刚创建的控制器。</a:t>
            </a: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右键单击</a:t>
            </a:r>
            <a:r>
              <a:rPr lang="en-US" altLang="zh-CN" dirty="0"/>
              <a:t>HTTP Test Script Recorder</a:t>
            </a:r>
            <a:r>
              <a:rPr lang="zh-CN" altLang="en-US" dirty="0"/>
              <a:t>，在弹出的菜单中选择</a:t>
            </a:r>
            <a:r>
              <a:rPr lang="en-US" altLang="zh-CN" dirty="0"/>
              <a:t>Add-&gt;Listener-&gt;View Results Tree</a:t>
            </a:r>
            <a:r>
              <a:rPr lang="zh-CN" altLang="en-US" dirty="0"/>
              <a:t>，然后返回</a:t>
            </a:r>
            <a:r>
              <a:rPr lang="en-US" altLang="zh-CN" dirty="0"/>
              <a:t>Http Test Script Record</a:t>
            </a:r>
            <a:r>
              <a:rPr lang="zh-CN" altLang="en-US" dirty="0"/>
              <a:t>窗口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设置浏览器代理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录制脚本</a:t>
            </a: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在浏览器中输入要测试的地址，然后在页面上操作。操作完毕后，单击“</a:t>
            </a:r>
            <a:r>
              <a:rPr lang="en-US" altLang="zh-CN" dirty="0"/>
              <a:t>HTTP</a:t>
            </a:r>
            <a:r>
              <a:rPr lang="zh-CN" altLang="en-US" dirty="0"/>
              <a:t>脚本录制器”右侧窗口下的</a:t>
            </a:r>
            <a:r>
              <a:rPr lang="en-US" altLang="zh-CN" dirty="0"/>
              <a:t>Stop</a:t>
            </a:r>
            <a:r>
              <a:rPr lang="zh-CN" altLang="en-US" dirty="0"/>
              <a:t>按钮，可以看到</a:t>
            </a:r>
            <a:r>
              <a:rPr lang="en-US" altLang="zh-CN" dirty="0"/>
              <a:t>Recording Controller</a:t>
            </a:r>
            <a:r>
              <a:rPr lang="zh-CN" altLang="en-US" dirty="0"/>
              <a:t>中已经录制了刚刚操作的内容。</a:t>
            </a: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216272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57E6D0-FF94-2540-3E19-E18B69ECF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7111" y="162128"/>
            <a:ext cx="10515600" cy="1029207"/>
          </a:xfrm>
        </p:spPr>
        <p:txBody>
          <a:bodyPr/>
          <a:lstStyle/>
          <a:p>
            <a:r>
              <a:rPr lang="en-US" altLang="zh-CN" dirty="0" err="1"/>
              <a:t>Jmeter</a:t>
            </a:r>
            <a:r>
              <a:rPr lang="zh-CN" altLang="en-US" dirty="0"/>
              <a:t>基本操作</a:t>
            </a:r>
            <a:r>
              <a:rPr lang="en-US" altLang="zh-CN" dirty="0"/>
              <a:t>—</a:t>
            </a:r>
            <a:r>
              <a:rPr lang="zh-CN" altLang="en-US" dirty="0"/>
              <a:t>创建测试脚本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722554-3561-8803-58FB-140B66FBBE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5984"/>
            <a:ext cx="10515600" cy="408561"/>
          </a:xfrm>
        </p:spPr>
        <p:txBody>
          <a:bodyPr>
            <a:normAutofit/>
          </a:bodyPr>
          <a:lstStyle/>
          <a:p>
            <a:r>
              <a:rPr lang="en-US" altLang="zh-CN" sz="2000" dirty="0" err="1"/>
              <a:t>Jmeter</a:t>
            </a:r>
            <a:r>
              <a:rPr lang="zh-CN" altLang="en-US" sz="2000" dirty="0"/>
              <a:t>的</a:t>
            </a:r>
            <a:r>
              <a:rPr lang="en-US" altLang="zh-CN" sz="2000" dirty="0"/>
              <a:t>Web</a:t>
            </a:r>
            <a:r>
              <a:rPr lang="zh-CN" altLang="en-US" sz="2000" dirty="0"/>
              <a:t>测试脚本可以通过</a:t>
            </a:r>
            <a:r>
              <a:rPr lang="en-US" altLang="zh-CN" sz="2000" dirty="0" err="1"/>
              <a:t>Jmeter</a:t>
            </a:r>
            <a:r>
              <a:rPr lang="zh-CN" altLang="en-US" sz="2000" dirty="0"/>
              <a:t>代理录制脚本和</a:t>
            </a:r>
            <a:r>
              <a:rPr lang="en-US" altLang="zh-CN" sz="2000" dirty="0" err="1"/>
              <a:t>Badboy</a:t>
            </a:r>
            <a:r>
              <a:rPr lang="zh-CN" altLang="en-US" sz="2000" dirty="0"/>
              <a:t>录制脚本。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ECAE02F-73AB-BC45-099B-D0969F7DCB0C}"/>
              </a:ext>
            </a:extLst>
          </p:cNvPr>
          <p:cNvSpPr txBox="1"/>
          <p:nvPr/>
        </p:nvSpPr>
        <p:spPr>
          <a:xfrm>
            <a:off x="752272" y="1617559"/>
            <a:ext cx="9909243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创建测试计划</a:t>
            </a: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在测试计划中添加线程组</a:t>
            </a: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在线程组中添加</a:t>
            </a:r>
            <a:r>
              <a:rPr lang="en-US" altLang="zh-CN" dirty="0"/>
              <a:t>HTTP Request Defaults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右击线程组，选择</a:t>
            </a:r>
            <a:r>
              <a:rPr lang="en-US" altLang="zh-CN" dirty="0"/>
              <a:t>Add-》Config Element-》HTTP Request Defaults</a:t>
            </a:r>
            <a:r>
              <a:rPr lang="zh-CN" altLang="en-US" dirty="0"/>
              <a:t>，将弹出配置窗口，在</a:t>
            </a:r>
            <a:r>
              <a:rPr lang="en-US" altLang="zh-CN" dirty="0"/>
              <a:t>Web </a:t>
            </a:r>
            <a:r>
              <a:rPr lang="en-US" altLang="zh-CN" dirty="0" err="1"/>
              <a:t>Server:Server</a:t>
            </a:r>
            <a:r>
              <a:rPr lang="en-US" altLang="zh-CN" dirty="0"/>
              <a:t> Name or IP</a:t>
            </a:r>
            <a:r>
              <a:rPr lang="zh-CN" altLang="en-US" dirty="0"/>
              <a:t>中输入“</a:t>
            </a:r>
            <a:r>
              <a:rPr lang="en-US" altLang="zh-CN" dirty="0"/>
              <a:t>jmeter.apche.org</a:t>
            </a:r>
            <a:r>
              <a:rPr lang="zh-CN" altLang="en-US" dirty="0"/>
              <a:t>”</a:t>
            </a: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在线程组中添加录制控制器</a:t>
            </a:r>
            <a:endParaRPr lang="en-US" altLang="zh-CN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右击线程组，选择</a:t>
            </a:r>
            <a:r>
              <a:rPr lang="en-US" altLang="zh-CN" dirty="0"/>
              <a:t>Add-》Logic Controller-》Recording Controller</a:t>
            </a:r>
            <a:r>
              <a:rPr lang="zh-CN" altLang="en-US" dirty="0"/>
              <a:t>，线程组中将添加一个录制控制器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设置并启动</a:t>
            </a:r>
            <a:r>
              <a:rPr lang="en-US" altLang="zh-CN" dirty="0" err="1"/>
              <a:t>Jmeter</a:t>
            </a:r>
            <a:r>
              <a:rPr lang="zh-CN" altLang="en-US" dirty="0"/>
              <a:t>代理服务器</a:t>
            </a: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右击</a:t>
            </a:r>
            <a:r>
              <a:rPr lang="en-US" altLang="zh-CN" dirty="0" err="1"/>
              <a:t>WorkBench</a:t>
            </a:r>
            <a:r>
              <a:rPr lang="zh-CN" altLang="en-US" dirty="0"/>
              <a:t>，在弹出的菜单中选择</a:t>
            </a:r>
            <a:r>
              <a:rPr lang="en-US" altLang="zh-CN" dirty="0"/>
              <a:t>Add-》Non-Test Elements-》HTTP(s) Test </a:t>
            </a:r>
            <a:r>
              <a:rPr lang="en-US" altLang="zh-CN" dirty="0" err="1"/>
              <a:t>Scipt</a:t>
            </a:r>
            <a:r>
              <a:rPr lang="en-US" altLang="zh-CN" dirty="0"/>
              <a:t> Recorder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/>
              <a:t>设置该</a:t>
            </a:r>
            <a:r>
              <a:rPr lang="en-US" altLang="zh-CN" dirty="0"/>
              <a:t>HTTP</a:t>
            </a:r>
            <a:r>
              <a:rPr lang="zh-CN" altLang="en-US" dirty="0"/>
              <a:t>脚本录制器的目标控制器为刚刚创建的控制器。</a:t>
            </a: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右键单击</a:t>
            </a:r>
            <a:r>
              <a:rPr lang="en-US" altLang="zh-CN" dirty="0"/>
              <a:t>HTTP Test Script Recorder</a:t>
            </a:r>
            <a:r>
              <a:rPr lang="zh-CN" altLang="en-US" dirty="0"/>
              <a:t>，在弹出的菜单中选择</a:t>
            </a:r>
            <a:r>
              <a:rPr lang="en-US" altLang="zh-CN" dirty="0"/>
              <a:t>Add-&gt;Listener-&gt;View Results Tree</a:t>
            </a:r>
            <a:r>
              <a:rPr lang="zh-CN" altLang="en-US" dirty="0"/>
              <a:t>，然后返回</a:t>
            </a:r>
            <a:r>
              <a:rPr lang="en-US" altLang="zh-CN" dirty="0"/>
              <a:t>Http Test Script Record</a:t>
            </a:r>
            <a:r>
              <a:rPr lang="zh-CN" altLang="en-US" dirty="0"/>
              <a:t>窗口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设置浏览器代理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录制脚本</a:t>
            </a: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在浏览器中输入要测试的地址，然后在页面上操作。操作完毕后，单击“</a:t>
            </a:r>
            <a:r>
              <a:rPr lang="en-US" altLang="zh-CN" dirty="0"/>
              <a:t>HTTP</a:t>
            </a:r>
            <a:r>
              <a:rPr lang="zh-CN" altLang="en-US" dirty="0"/>
              <a:t>脚本录制器”右侧窗口下的</a:t>
            </a:r>
            <a:r>
              <a:rPr lang="en-US" altLang="zh-CN" dirty="0"/>
              <a:t>Stop</a:t>
            </a:r>
            <a:r>
              <a:rPr lang="zh-CN" altLang="en-US" dirty="0"/>
              <a:t>按钮，可以看到</a:t>
            </a:r>
            <a:r>
              <a:rPr lang="en-US" altLang="zh-CN" dirty="0"/>
              <a:t>Recording Controller</a:t>
            </a:r>
            <a:r>
              <a:rPr lang="zh-CN" altLang="en-US" dirty="0"/>
              <a:t>中已经录制了刚刚操作的内容。</a:t>
            </a: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9943976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57E6D0-FF94-2540-3E19-E18B69ECF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7111" y="162128"/>
            <a:ext cx="10515600" cy="1029207"/>
          </a:xfrm>
        </p:spPr>
        <p:txBody>
          <a:bodyPr/>
          <a:lstStyle/>
          <a:p>
            <a:r>
              <a:rPr lang="en-US" altLang="zh-CN" dirty="0" err="1"/>
              <a:t>Jmeter</a:t>
            </a:r>
            <a:r>
              <a:rPr lang="zh-CN" altLang="en-US" dirty="0"/>
              <a:t>基本操作</a:t>
            </a:r>
            <a:r>
              <a:rPr lang="en-US" altLang="zh-CN" dirty="0"/>
              <a:t>—</a:t>
            </a:r>
            <a:r>
              <a:rPr lang="zh-CN" altLang="en-US" dirty="0"/>
              <a:t>添加断言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722554-3561-8803-58FB-140B66FBBE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5984"/>
            <a:ext cx="10515600" cy="408561"/>
          </a:xfrm>
        </p:spPr>
        <p:txBody>
          <a:bodyPr>
            <a:normAutofit/>
          </a:bodyPr>
          <a:lstStyle/>
          <a:p>
            <a:r>
              <a:rPr lang="zh-CN" altLang="en-US" sz="2000" dirty="0"/>
              <a:t>右击线程组，选择</a:t>
            </a:r>
            <a:r>
              <a:rPr lang="en-US" altLang="zh-CN" sz="2000" dirty="0"/>
              <a:t>Add-&gt;Assertion</a:t>
            </a:r>
            <a:r>
              <a:rPr lang="zh-CN" altLang="en-US" sz="2000" dirty="0"/>
              <a:t>即可添加各种断言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A3FE4D5-DE41-8CEC-CA50-DC46CD86E0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598" y="2268331"/>
            <a:ext cx="7952960" cy="3665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4578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328</TotalTime>
  <Words>2116</Words>
  <Application>Microsoft Office PowerPoint</Application>
  <PresentationFormat>宽屏</PresentationFormat>
  <Paragraphs>139</Paragraphs>
  <Slides>27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1" baseType="lpstr">
      <vt:lpstr>等线</vt:lpstr>
      <vt:lpstr>等线 Light</vt:lpstr>
      <vt:lpstr>Arial</vt:lpstr>
      <vt:lpstr>Office 主题​​</vt:lpstr>
      <vt:lpstr>Jmeter的安装与介绍</vt:lpstr>
      <vt:lpstr>Jmeter简介</vt:lpstr>
      <vt:lpstr>Jmeter支持的协议</vt:lpstr>
      <vt:lpstr>Jmeter的特点</vt:lpstr>
      <vt:lpstr>安装Jmeter</vt:lpstr>
      <vt:lpstr>安装Jmeter</vt:lpstr>
      <vt:lpstr>安装Jmeter</vt:lpstr>
      <vt:lpstr>设置环境变量</vt:lpstr>
      <vt:lpstr>Jmeter主要部件</vt:lpstr>
      <vt:lpstr>Jmeter主要部件—线程组</vt:lpstr>
      <vt:lpstr>Jmeter主要部件—控制器</vt:lpstr>
      <vt:lpstr>Jmeter主要部件—控制器</vt:lpstr>
      <vt:lpstr>Jmeter主要部件—控制器</vt:lpstr>
      <vt:lpstr>Jmeter主要部件—监听器</vt:lpstr>
      <vt:lpstr>Jmeter主要部件—定时器</vt:lpstr>
      <vt:lpstr>Jmeter主要部件—断言</vt:lpstr>
      <vt:lpstr>Jmeter主要部件—配置元件</vt:lpstr>
      <vt:lpstr>Jmeter主要部件—前置处理器</vt:lpstr>
      <vt:lpstr>Jmeter主要部件—后置处理器</vt:lpstr>
      <vt:lpstr>Jmeter基本操作</vt:lpstr>
      <vt:lpstr>Jmeter基本操作—建立测试计划</vt:lpstr>
      <vt:lpstr>Jmeter基本操作—添加线程组</vt:lpstr>
      <vt:lpstr>Jmeter基本操作—添加取样器</vt:lpstr>
      <vt:lpstr>Jmeter基本操作—添加监听器</vt:lpstr>
      <vt:lpstr>Jmeter基本操作—创建测试脚本</vt:lpstr>
      <vt:lpstr>Jmeter基本操作—创建测试脚本</vt:lpstr>
      <vt:lpstr>Jmeter基本操作—添加断言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Jmeter的安装与使用</dc:title>
  <dc:creator>dingrui</dc:creator>
  <cp:lastModifiedBy>dingrui</cp:lastModifiedBy>
  <cp:revision>6</cp:revision>
  <dcterms:created xsi:type="dcterms:W3CDTF">2022-05-08T06:07:44Z</dcterms:created>
  <dcterms:modified xsi:type="dcterms:W3CDTF">2022-05-08T11:37:31Z</dcterms:modified>
</cp:coreProperties>
</file>