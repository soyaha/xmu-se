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4" r:id="rId5"/>
    <p:sldId id="265" r:id="rId6"/>
    <p:sldId id="258" r:id="rId7"/>
    <p:sldId id="263" r:id="rId8"/>
    <p:sldId id="260" r:id="rId9"/>
    <p:sldId id="261" r:id="rId10"/>
    <p:sldId id="266" r:id="rId11"/>
    <p:sldId id="285" r:id="rId12"/>
    <p:sldId id="286" r:id="rId13"/>
    <p:sldId id="284" r:id="rId14"/>
    <p:sldId id="287" r:id="rId15"/>
    <p:sldId id="288" r:id="rId16"/>
    <p:sldId id="276" r:id="rId17"/>
    <p:sldId id="280" r:id="rId18"/>
    <p:sldId id="277" r:id="rId19"/>
    <p:sldId id="278" r:id="rId20"/>
    <p:sldId id="279" r:id="rId21"/>
    <p:sldId id="281" r:id="rId22"/>
    <p:sldId id="283" r:id="rId2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/>
    <p:restoredTop sz="94674"/>
  </p:normalViewPr>
  <p:slideViewPr>
    <p:cSldViewPr>
      <p:cViewPr varScale="1">
        <p:scale>
          <a:sx n="124" d="100"/>
          <a:sy n="124" d="100"/>
        </p:scale>
        <p:origin x="161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Disk and New Storage Devices</a:t>
            </a:r>
            <a:endParaRPr lang="zh-CN" altLang="en-US" dirty="0"/>
          </a:p>
        </p:txBody>
      </p:sp>
      <p:sp>
        <p:nvSpPr>
          <p:cNvPr id="4" name="页脚占位符 4"/>
          <p:cNvSpPr txBox="1">
            <a:spLocks/>
          </p:cNvSpPr>
          <p:nvPr/>
        </p:nvSpPr>
        <p:spPr bwMode="auto">
          <a:xfrm>
            <a:off x="1475656" y="6165304"/>
            <a:ext cx="617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zh-CN" altLang="en-US" dirty="0">
                <a:solidFill>
                  <a:schemeClr val="tx1"/>
                </a:solidFill>
                <a:ea typeface="宋体" pitchFamily="2" charset="-122"/>
              </a:rPr>
              <a:t>毛 波</a:t>
            </a:r>
            <a:endParaRPr lang="en-US" altLang="zh-CN" dirty="0">
              <a:solidFill>
                <a:schemeClr val="tx1"/>
              </a:solidFill>
              <a:ea typeface="宋体" pitchFamily="2" charset="-122"/>
            </a:endParaRPr>
          </a:p>
          <a:p>
            <a:pPr lvl="0"/>
            <a:r>
              <a:rPr lang="zh-CN" altLang="en-US" dirty="0">
                <a:solidFill>
                  <a:schemeClr val="tx1"/>
                </a:solidFill>
                <a:ea typeface="宋体" pitchFamily="2" charset="-122"/>
              </a:rPr>
              <a:t>厦门大学 信息学院</a:t>
            </a:r>
            <a:endParaRPr lang="en-US" altLang="zh-CN" dirty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en-US" altLang="zh-CN" dirty="0"/>
              <a:t>The first HDD (1956)</a:t>
            </a:r>
            <a:endParaRPr lang="zh-CN" altLang="en-US" dirty="0"/>
          </a:p>
        </p:txBody>
      </p:sp>
      <p:pic>
        <p:nvPicPr>
          <p:cNvPr id="5" name="Picture 12" descr="IBM 305 RAMAC Compu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313112" y="941784"/>
            <a:ext cx="5867400" cy="5618163"/>
          </a:xfrm>
          <a:prstGeom prst="rect">
            <a:avLst/>
          </a:prstGeom>
        </p:spPr>
      </p:pic>
      <p:sp>
        <p:nvSpPr>
          <p:cNvPr id="6" name="Rectangle 13"/>
          <p:cNvSpPr txBox="1">
            <a:spLocks noChangeArrowheads="1"/>
          </p:cNvSpPr>
          <p:nvPr/>
        </p:nvSpPr>
        <p:spPr>
          <a:xfrm>
            <a:off x="107504" y="1094184"/>
            <a:ext cx="4648200" cy="579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8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IBM 305 RAMAC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8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4 MB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8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50x24” disks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8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1200 rpm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8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100 ms access 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8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35k$/y rent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8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Included computer &amp;  accounting software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</a:b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(tubes not transistors)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pPr lvl="0"/>
            <a:r>
              <a:rPr lang="en-US" altLang="zh-CN" dirty="0">
                <a:ea typeface="宋体" charset="-122"/>
              </a:rPr>
              <a:t>10 years later</a:t>
            </a:r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176"/>
            <a:ext cx="1905000" cy="457200"/>
          </a:xfrm>
        </p:spPr>
        <p:txBody>
          <a:bodyPr/>
          <a:lstStyle/>
          <a:p>
            <a:fld id="{17D74CF9-D23E-4FBB-99DE-CD884D02AA4D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85750" y="107776"/>
            <a:ext cx="77724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charset="-122"/>
              <a:cs typeface="+mj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945976"/>
            <a:ext cx="8572500" cy="58674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</p:pic>
      <p:sp>
        <p:nvSpPr>
          <p:cNvPr id="7" name="Line 5"/>
          <p:cNvSpPr>
            <a:spLocks noChangeShapeType="1"/>
          </p:cNvSpPr>
          <p:nvPr/>
        </p:nvSpPr>
        <p:spPr bwMode="auto">
          <a:xfrm flipV="1">
            <a:off x="1066800" y="1326976"/>
            <a:ext cx="0" cy="495300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 rot="16200000">
            <a:off x="-273843" y="3810619"/>
            <a:ext cx="2133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CCFF33"/>
                </a:solidFill>
                <a:latin typeface="Arial" charset="0"/>
                <a:ea typeface="宋体" charset="-122"/>
              </a:rPr>
              <a:t>1.6 meters</a:t>
            </a: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V="1">
            <a:off x="990600" y="1250776"/>
            <a:ext cx="0" cy="4953000"/>
          </a:xfrm>
          <a:prstGeom prst="line">
            <a:avLst/>
          </a:prstGeom>
          <a:noFill/>
          <a:ln w="76200">
            <a:solidFill>
              <a:srgbClr val="CCFF33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r>
              <a:rPr lang="en-US" altLang="zh-CN" dirty="0"/>
              <a:t>Transportation of HDD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1196752"/>
            <a:ext cx="3993232" cy="502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467544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 inch disk drive!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253480"/>
            <a:ext cx="8229600" cy="4767808"/>
          </a:xfrm>
        </p:spPr>
        <p:txBody>
          <a:bodyPr>
            <a:normAutofit/>
          </a:bodyPr>
          <a:lstStyle/>
          <a:p>
            <a:r>
              <a:rPr lang="en-US" altLang="zh-CN" dirty="0"/>
              <a:t>2000 IBM </a:t>
            </a:r>
            <a:r>
              <a:rPr lang="en-US" altLang="zh-CN" dirty="0" err="1"/>
              <a:t>MicroDrive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1.7” x 1.4” x 0.2” </a:t>
            </a:r>
          </a:p>
          <a:p>
            <a:pPr lvl="1"/>
            <a:r>
              <a:rPr lang="en-US" altLang="zh-CN" dirty="0"/>
              <a:t>1 GB, 3600 RPM, </a:t>
            </a:r>
            <a:br>
              <a:rPr lang="en-US" altLang="zh-CN" dirty="0"/>
            </a:br>
            <a:r>
              <a:rPr lang="en-US" altLang="zh-CN" dirty="0"/>
              <a:t>5 MB/s, 15 ms seek</a:t>
            </a:r>
          </a:p>
          <a:p>
            <a:pPr lvl="1"/>
            <a:r>
              <a:rPr lang="en-US" altLang="zh-CN" dirty="0"/>
              <a:t>Digital camera, </a:t>
            </a:r>
            <a:r>
              <a:rPr lang="en-US" altLang="zh-CN" dirty="0" err="1"/>
              <a:t>PalmPC</a:t>
            </a:r>
            <a:r>
              <a:rPr lang="en-US" altLang="zh-CN" dirty="0"/>
              <a:t>?</a:t>
            </a:r>
          </a:p>
          <a:p>
            <a:r>
              <a:rPr lang="en-US" altLang="zh-CN" dirty="0"/>
              <a:t>2006 </a:t>
            </a:r>
            <a:r>
              <a:rPr lang="en-US" altLang="zh-CN" dirty="0" err="1"/>
              <a:t>MicroDrive</a:t>
            </a:r>
            <a:endParaRPr lang="en-US" altLang="zh-CN" dirty="0"/>
          </a:p>
          <a:p>
            <a:pPr lvl="1"/>
            <a:r>
              <a:rPr lang="en-US" altLang="zh-CN" dirty="0"/>
              <a:t>8 GB, 50 MB/s! 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4088" y="1097260"/>
            <a:ext cx="3149600" cy="3771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CN" dirty="0"/>
              <a:t>The internal look of HDD (now)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285852" y="1100914"/>
            <a:ext cx="6357982" cy="54713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CN" dirty="0"/>
              <a:t>Data access of HDD</a:t>
            </a:r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196752"/>
            <a:ext cx="8037049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251520" y="6093296"/>
            <a:ext cx="8892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Access Time = Seek Time + Rotational Delay + Transfer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r>
              <a:rPr lang="en-US" altLang="zh-CN" sz="3200" b="1" dirty="0"/>
              <a:t>Redundant Array of  Inexpensive Disks (RAID):  </a:t>
            </a:r>
            <a:br>
              <a:rPr lang="en-US" altLang="zh-CN" sz="3200" b="1" dirty="0"/>
            </a:br>
            <a:r>
              <a:rPr lang="en-US" altLang="zh-CN" sz="3200" dirty="0"/>
              <a:t>1987-1993</a:t>
            </a:r>
            <a:endParaRPr lang="zh-CN" altLang="en-US" sz="32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79512" y="1196752"/>
            <a:ext cx="6624736" cy="2592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Randy Katz </a:t>
            </a:r>
            <a:r>
              <a:rPr lang="en-US" altLang="zh-CN" sz="2800" dirty="0">
                <a:ea typeface="ＭＳ Ｐゴシック" charset="-128"/>
              </a:rPr>
              <a:t>and David Patterson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: 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</a:b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charset="-128"/>
                <a:cs typeface="Times" charset="0"/>
              </a:rPr>
              <a:t>“Use many PC disks to build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charset="-128"/>
                <a:cs typeface="Times" charset="0"/>
              </a:rPr>
              <a:t>better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charset="-128"/>
                <a:cs typeface="Times" charset="0"/>
              </a:rPr>
              <a:t> storage?”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charset="-128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RAID I built on 1st SPARC,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 28 disks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charset="-128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RAID II custom HW, 144 disks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Today, RAID ~$25B industry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RAID students join industry and academia, started own companies (VMware,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Panassas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)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4208" y="2780928"/>
            <a:ext cx="2438400" cy="393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124743"/>
            <a:ext cx="8424936" cy="5606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en-US" altLang="zh-CN" dirty="0"/>
              <a:t>The RAID paper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1468760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0"/>
              </a:spcBef>
              <a:buFont typeface="Wingdings" pitchFamily="2" charset="2"/>
              <a:buChar char="Ø"/>
            </a:pPr>
            <a:r>
              <a:rPr lang="en-US" altLang="zh-CN" sz="2800" dirty="0"/>
              <a:t>D. A. Patterson, G. Gibson, and R. H. Katz, "</a:t>
            </a:r>
            <a:r>
              <a:rPr lang="en-US" altLang="zh-CN" sz="2800" i="1" dirty="0">
                <a:solidFill>
                  <a:srgbClr val="FF0000"/>
                </a:solidFill>
              </a:rPr>
              <a:t>A case for redundant arrays of inexpensive disks (RAID)</a:t>
            </a:r>
            <a:r>
              <a:rPr lang="en-US" altLang="zh-CN" sz="2800" dirty="0"/>
              <a:t>," in SIGMOD'88 Proceedings of the 1988 ACM SIGMOD International Conference on Management of Data, 1988, vol. 17, no. 3, pp. 109-116.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39552" y="4149080"/>
            <a:ext cx="8229600" cy="2232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buFont typeface="Wingdings" pitchFamily="2" charset="2"/>
              <a:buChar char="Ø"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One </a:t>
            </a:r>
            <a:r>
              <a:rPr lang="en-US" altLang="zh-CN" sz="2200" dirty="0">
                <a:solidFill>
                  <a:srgbClr val="FF0000"/>
                </a:solidFill>
              </a:rPr>
              <a:t>of the important publications in computer science</a:t>
            </a:r>
            <a:r>
              <a:rPr lang="en-US" altLang="zh-CN" sz="2200" dirty="0"/>
              <a:t>. http://en.wikipedia.org/wiki/</a:t>
            </a:r>
            <a:r>
              <a:rPr lang="en-US" altLang="zh-CN" sz="2200" dirty="0" err="1"/>
              <a:t>List_of_important_publications_in_computer_science</a:t>
            </a:r>
            <a:r>
              <a:rPr lang="en-US" altLang="zh-CN" sz="2200" dirty="0"/>
              <a:t> </a:t>
            </a:r>
          </a:p>
          <a:p>
            <a:pPr marL="342900" lvl="0" indent="-342900">
              <a:buFont typeface="Wingdings" pitchFamily="2" charset="2"/>
              <a:buChar char="Ø"/>
            </a:pP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buFont typeface="Wingdings" pitchFamily="2" charset="2"/>
              <a:buChar char="Ø"/>
            </a:pPr>
            <a:r>
              <a:rPr lang="en-US" altLang="zh-CN" sz="2200" dirty="0"/>
              <a:t>EMC, HP, IBM, NetApp… have produced so many RAID-related storage products.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F3D4FA-6D5D-F04B-BF62-0F317A973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368426"/>
            <a:ext cx="7734300" cy="1689100"/>
          </a:xfrm>
          <a:prstGeom prst="rect">
            <a:avLst/>
          </a:prstGeom>
        </p:spPr>
      </p:pic>
      <p:sp>
        <p:nvSpPr>
          <p:cNvPr id="8" name="椭圆 7"/>
          <p:cNvSpPr/>
          <p:nvPr/>
        </p:nvSpPr>
        <p:spPr>
          <a:xfrm>
            <a:off x="1979712" y="3056028"/>
            <a:ext cx="1925976" cy="43204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Better Storage?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525963"/>
          </a:xfrm>
        </p:spPr>
        <p:txBody>
          <a:bodyPr/>
          <a:lstStyle/>
          <a:p>
            <a:r>
              <a:rPr lang="en-US" altLang="zh-CN" dirty="0"/>
              <a:t>Capacity?</a:t>
            </a:r>
          </a:p>
          <a:p>
            <a:r>
              <a:rPr lang="en-US" altLang="zh-CN" dirty="0"/>
              <a:t>Performance?</a:t>
            </a:r>
          </a:p>
          <a:p>
            <a:r>
              <a:rPr lang="en-US" altLang="zh-CN" dirty="0"/>
              <a:t>Availability?</a:t>
            </a:r>
          </a:p>
          <a:p>
            <a:r>
              <a:rPr lang="en-US" altLang="zh-CN" dirty="0"/>
              <a:t>…… </a:t>
            </a:r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r>
              <a:rPr lang="en-US" altLang="zh-CN" dirty="0"/>
              <a:t>RAID Levels</a:t>
            </a:r>
            <a:endParaRPr lang="zh-CN" altLang="en-US" dirty="0"/>
          </a:p>
        </p:txBody>
      </p:sp>
      <p:graphicFrame>
        <p:nvGraphicFramePr>
          <p:cNvPr id="5" name="Group 61"/>
          <p:cNvGraphicFramePr>
            <a:graphicFrameLocks noGrp="1"/>
          </p:cNvGraphicFramePr>
          <p:nvPr>
            <p:ph/>
          </p:nvPr>
        </p:nvGraphicFramePr>
        <p:xfrm>
          <a:off x="685800" y="1219200"/>
          <a:ext cx="7848600" cy="4485958"/>
        </p:xfrm>
        <a:graphic>
          <a:graphicData uri="http://schemas.openxmlformats.org/drawingml/2006/table">
            <a:tbl>
              <a:tblPr/>
              <a:tblGrid>
                <a:gridCol w="671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8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3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RAID</a:t>
                      </a:r>
                      <a:endParaRPr kumimoji="0" lang="en-US" altLang="zh-CN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Min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Disks</a:t>
                      </a:r>
                      <a:endParaRPr kumimoji="0" lang="en-US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Storage Efficiency %</a:t>
                      </a:r>
                      <a:endParaRPr kumimoji="0" lang="en-US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Cost</a:t>
                      </a:r>
                      <a:endParaRPr kumimoji="0" lang="en-US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Read Performance</a:t>
                      </a:r>
                      <a:endParaRPr kumimoji="0" lang="en-US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Write Performance</a:t>
                      </a:r>
                      <a:endParaRPr kumimoji="0" lang="en-US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100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Low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Very good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Very good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1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50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High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Better than a single disk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Slower than a single disk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(n-1)*100/n</a:t>
                      </a:r>
                      <a:b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</a:b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Moderate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Good for reads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Poor for small random writes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7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(n-1)*100/n</a:t>
                      </a:r>
                      <a:b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</a:b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Moderate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Good for reads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Poor for small random writes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(n-2)*100/n</a:t>
                      </a:r>
                      <a:b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</a:b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Moderate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Good for reads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Times New Roman" pitchFamily="18" charset="0"/>
                        </a:rPr>
                        <a:t>Poor for small random writes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课堂练习（姓名</a:t>
            </a:r>
            <a:r>
              <a:rPr lang="en-US" altLang="zh-CN" dirty="0"/>
              <a:t>+</a:t>
            </a:r>
            <a:r>
              <a:rPr lang="zh-CN" altLang="en-US" dirty="0"/>
              <a:t>学号）</a:t>
            </a:r>
          </a:p>
        </p:txBody>
      </p:sp>
      <p:sp>
        <p:nvSpPr>
          <p:cNvPr id="4" name="矩形 3"/>
          <p:cNvSpPr/>
          <p:nvPr/>
        </p:nvSpPr>
        <p:spPr>
          <a:xfrm>
            <a:off x="714348" y="1428736"/>
            <a:ext cx="77153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假设每个磁盘的容量为</a:t>
            </a:r>
            <a:r>
              <a:rPr lang="en-US" sz="2800" dirty="0"/>
              <a:t>10GB</a:t>
            </a:r>
            <a:r>
              <a:rPr lang="zh-CN" altLang="en-US" sz="2800" dirty="0"/>
              <a:t>，根据</a:t>
            </a:r>
            <a:r>
              <a:rPr lang="en-US" sz="2800" dirty="0"/>
              <a:t>RAID</a:t>
            </a:r>
            <a:r>
              <a:rPr lang="zh-CN" altLang="en-US" sz="2800" dirty="0"/>
              <a:t>技术的相关知识填表：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88553"/>
              </p:ext>
            </p:extLst>
          </p:nvPr>
        </p:nvGraphicFramePr>
        <p:xfrm>
          <a:off x="857224" y="2786058"/>
          <a:ext cx="6929487" cy="2133600"/>
        </p:xfrm>
        <a:graphic>
          <a:graphicData uri="http://schemas.openxmlformats.org/drawingml/2006/table">
            <a:tbl>
              <a:tblPr/>
              <a:tblGrid>
                <a:gridCol w="1195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4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7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latin typeface="Times New Roman"/>
                          <a:ea typeface="宋体"/>
                          <a:cs typeface="Times New Roman"/>
                        </a:rPr>
                        <a:t>级别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latin typeface="Times New Roman"/>
                          <a:ea typeface="宋体"/>
                          <a:cs typeface="Times New Roman"/>
                        </a:rPr>
                        <a:t>盘个数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kern="100">
                          <a:latin typeface="Times New Roman"/>
                          <a:ea typeface="宋体"/>
                          <a:cs typeface="Times New Roman"/>
                        </a:rPr>
                        <a:t>容量（</a:t>
                      </a:r>
                      <a:r>
                        <a:rPr lang="en-US" sz="2800" kern="100">
                          <a:latin typeface="Times New Roman"/>
                          <a:ea typeface="宋体"/>
                          <a:cs typeface="Times New Roman"/>
                        </a:rPr>
                        <a:t>GB</a:t>
                      </a:r>
                      <a:r>
                        <a:rPr lang="zh-CN" sz="2800" kern="100">
                          <a:latin typeface="Times New Roman"/>
                          <a:ea typeface="宋体"/>
                          <a:cs typeface="Times New Roman"/>
                        </a:rPr>
                        <a:t>）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kern="100">
                          <a:latin typeface="Times New Roman"/>
                          <a:ea typeface="宋体"/>
                          <a:cs typeface="Times New Roman"/>
                        </a:rPr>
                        <a:t>存储效率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latin typeface="宋体"/>
                          <a:ea typeface="宋体"/>
                          <a:cs typeface="Times New Roman"/>
                        </a:rPr>
                        <a:t>RAID0</a:t>
                      </a:r>
                      <a:endParaRPr lang="zh-CN" sz="2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kern="100" dirty="0">
                          <a:latin typeface="Times New Roman"/>
                          <a:ea typeface="宋体"/>
                          <a:cs typeface="Times New Roman"/>
                        </a:rPr>
                        <a:t>60</a:t>
                      </a:r>
                      <a:endParaRPr lang="zh-CN" sz="2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latin typeface="宋体"/>
                          <a:ea typeface="宋体"/>
                          <a:cs typeface="Times New Roman"/>
                        </a:rPr>
                        <a:t>100%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宋体"/>
                          <a:ea typeface="宋体"/>
                          <a:cs typeface="Times New Roman"/>
                        </a:rPr>
                        <a:t>RAID1</a:t>
                      </a:r>
                      <a:endParaRPr lang="zh-CN" sz="2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kern="100" dirty="0">
                          <a:latin typeface="Times New Roman"/>
                          <a:ea typeface="宋体"/>
                          <a:cs typeface="Times New Roman"/>
                        </a:rPr>
                        <a:t>8</a:t>
                      </a:r>
                      <a:endParaRPr lang="zh-CN" sz="2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latin typeface="宋体"/>
                          <a:ea typeface="宋体"/>
                          <a:cs typeface="Times New Roman"/>
                        </a:rPr>
                        <a:t>50%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宋体"/>
                          <a:ea typeface="宋体"/>
                          <a:cs typeface="Times New Roman"/>
                        </a:rPr>
                        <a:t>RAID5</a:t>
                      </a:r>
                      <a:endParaRPr lang="zh-CN" sz="2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kern="100" dirty="0">
                          <a:latin typeface="Times New Roman"/>
                          <a:ea typeface="宋体"/>
                          <a:cs typeface="Times New Roman"/>
                        </a:rPr>
                        <a:t>8</a:t>
                      </a:r>
                      <a:endParaRPr lang="zh-CN" sz="2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latin typeface="宋体"/>
                          <a:ea typeface="宋体"/>
                          <a:cs typeface="Times New Roman"/>
                        </a:rPr>
                        <a:t>70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宋体"/>
                          <a:ea typeface="宋体"/>
                          <a:cs typeface="Times New Roman"/>
                        </a:rPr>
                        <a:t>RAID6</a:t>
                      </a:r>
                      <a:endParaRPr lang="zh-CN" sz="2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latin typeface="宋体"/>
                          <a:ea typeface="宋体"/>
                          <a:cs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latin typeface="宋体"/>
                          <a:ea typeface="宋体"/>
                          <a:cs typeface="Times New Roman"/>
                        </a:rPr>
                        <a:t>66.7%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r>
              <a:rPr lang="en-US" altLang="zh-CN" dirty="0"/>
              <a:t>Storage Hierarchy 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298C268-930E-F343-83B6-E0C35E411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2776"/>
            <a:ext cx="9144000" cy="48007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r>
              <a:rPr lang="en-US" altLang="zh-CN" dirty="0"/>
              <a:t>Storage Hierarchy </a:t>
            </a:r>
            <a:endParaRPr lang="zh-CN" altLang="en-US" dirty="0"/>
          </a:p>
        </p:txBody>
      </p:sp>
      <p:pic>
        <p:nvPicPr>
          <p:cNvPr id="1026" name="Picture 2" descr="Intel Data Pyramid">
            <a:extLst>
              <a:ext uri="{FF2B5EF4-FFF2-40B4-BE49-F238E27FC236}">
                <a16:creationId xmlns:a16="http://schemas.microsoft.com/office/drawing/2014/main" id="{CF7601A5-6B41-0F47-8319-7D7C30A26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86" y="1326925"/>
            <a:ext cx="7761051" cy="3660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tel Optane DC Persistent Memory Module">
            <a:extLst>
              <a:ext uri="{FF2B5EF4-FFF2-40B4-BE49-F238E27FC236}">
                <a16:creationId xmlns:a16="http://schemas.microsoft.com/office/drawing/2014/main" id="{181DAEB4-16F5-C240-BA19-D0E259F68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64" y="4982343"/>
            <a:ext cx="7596336" cy="1903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569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r>
              <a:rPr lang="en-US" altLang="zh-CN" dirty="0"/>
              <a:t>Intel</a:t>
            </a:r>
            <a:r>
              <a:rPr lang="zh-CN" altLang="en-US" dirty="0"/>
              <a:t> </a:t>
            </a:r>
            <a:r>
              <a:rPr lang="en-US" altLang="zh-CN" dirty="0"/>
              <a:t>Optane</a:t>
            </a:r>
            <a:r>
              <a:rPr lang="zh-CN" altLang="en-US" dirty="0"/>
              <a:t> </a:t>
            </a:r>
            <a:r>
              <a:rPr lang="en-US" altLang="zh-CN" dirty="0"/>
              <a:t>PM</a:t>
            </a:r>
            <a:endParaRPr lang="zh-CN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4CF1DAE-200F-E643-8AD6-5C527246C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760"/>
            <a:ext cx="9144000" cy="526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943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CN" dirty="0"/>
              <a:t>New Storage Devices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484784"/>
            <a:ext cx="7705725" cy="41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CN" dirty="0"/>
              <a:t>New Storage Devices</a:t>
            </a:r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772816"/>
            <a:ext cx="8530371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CN" dirty="0"/>
              <a:t>Backup</a:t>
            </a:r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350" y="260648"/>
            <a:ext cx="9010650" cy="636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CN" dirty="0"/>
              <a:t>New Storage Devices</a:t>
            </a:r>
            <a:endParaRPr lang="zh-CN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980728"/>
            <a:ext cx="910590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CN" dirty="0"/>
              <a:t>New Storage Devices</a:t>
            </a:r>
            <a:endParaRPr lang="zh-CN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 l="8659" t="26276" r="6689" b="5927"/>
          <a:stretch>
            <a:fillRect/>
          </a:stretch>
        </p:blipFill>
        <p:spPr bwMode="auto">
          <a:xfrm>
            <a:off x="611560" y="1268760"/>
            <a:ext cx="7849864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CN" dirty="0"/>
              <a:t>New Storage Devices</a:t>
            </a:r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124744"/>
            <a:ext cx="7243783" cy="5069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Comparison</a:t>
            </a:r>
            <a:endParaRPr lang="zh-CN" alt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1643050"/>
            <a:ext cx="7664359" cy="256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475C620-74D0-3E4B-92F2-21DFB5B2D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31756">
            <a:off x="1183398" y="4922549"/>
            <a:ext cx="3343257" cy="828089"/>
          </a:xfrm>
          <a:prstGeom prst="rect">
            <a:avLst/>
          </a:prstGeom>
        </p:spPr>
      </p:pic>
      <p:pic>
        <p:nvPicPr>
          <p:cNvPr id="3074" name="Picture 2" descr="Intel Optane DC P4801X Cover">
            <a:extLst>
              <a:ext uri="{FF2B5EF4-FFF2-40B4-BE49-F238E27FC236}">
                <a16:creationId xmlns:a16="http://schemas.microsoft.com/office/drawing/2014/main" id="{B09215BC-A1AA-214B-BD8F-ED0EE64FA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593" y="4477128"/>
            <a:ext cx="2808312" cy="2106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469</Words>
  <Application>Microsoft Macintosh PowerPoint</Application>
  <PresentationFormat>全屏显示(4:3)</PresentationFormat>
  <Paragraphs>126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宋体</vt:lpstr>
      <vt:lpstr>Arial</vt:lpstr>
      <vt:lpstr>Calibri</vt:lpstr>
      <vt:lpstr>Times New Roman</vt:lpstr>
      <vt:lpstr>Verdana</vt:lpstr>
      <vt:lpstr>Wingdings</vt:lpstr>
      <vt:lpstr>Office 主题</vt:lpstr>
      <vt:lpstr>Disk and New Storage Devices</vt:lpstr>
      <vt:lpstr>The first HDD (1956)</vt:lpstr>
      <vt:lpstr>10 years later</vt:lpstr>
      <vt:lpstr>Transportation of HDD</vt:lpstr>
      <vt:lpstr>PowerPoint 演示文稿</vt:lpstr>
      <vt:lpstr>The internal look of HDD (now)</vt:lpstr>
      <vt:lpstr>Data access of HDD</vt:lpstr>
      <vt:lpstr>Redundant Array of  Inexpensive Disks (RAID):   1987-1993</vt:lpstr>
      <vt:lpstr>The RAID paper</vt:lpstr>
      <vt:lpstr>Better Storage?</vt:lpstr>
      <vt:lpstr>RAID Levels</vt:lpstr>
      <vt:lpstr>课堂练习（姓名+学号）</vt:lpstr>
      <vt:lpstr>Storage Hierarchy </vt:lpstr>
      <vt:lpstr>Storage Hierarchy </vt:lpstr>
      <vt:lpstr>Intel Optane PM</vt:lpstr>
      <vt:lpstr>New Storage Devices</vt:lpstr>
      <vt:lpstr>New Storage Devices</vt:lpstr>
      <vt:lpstr>Backup</vt:lpstr>
      <vt:lpstr>New Storage Devices</vt:lpstr>
      <vt:lpstr>New Storage Devices</vt:lpstr>
      <vt:lpstr>New Storage Devices</vt:lpstr>
      <vt:lpstr>Performance Comparison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Disk &amp; RAID</dc:title>
  <dc:creator>MAOBo</dc:creator>
  <cp:lastModifiedBy>Bo Mao</cp:lastModifiedBy>
  <cp:revision>50</cp:revision>
  <dcterms:created xsi:type="dcterms:W3CDTF">2012-10-04T01:44:34Z</dcterms:created>
  <dcterms:modified xsi:type="dcterms:W3CDTF">2022-04-20T08:25:36Z</dcterms:modified>
</cp:coreProperties>
</file>