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svg" ContentType="image/svg+xml"/>
  <Override PartName="/ppt/media/image37.svg" ContentType="image/svg+xml"/>
  <Override PartName="/ppt/media/image4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notesMasterIdLst>
    <p:notesMasterId r:id="rId25"/>
  </p:notesMasterIdLst>
  <p:sldIdLst>
    <p:sldId id="260" r:id="rId5"/>
    <p:sldId id="261" r:id="rId6"/>
    <p:sldId id="262" r:id="rId7"/>
    <p:sldId id="286" r:id="rId8"/>
    <p:sldId id="354" r:id="rId9"/>
    <p:sldId id="355" r:id="rId10"/>
    <p:sldId id="268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12" r:id="rId23"/>
    <p:sldId id="313" r:id="rId24"/>
    <p:sldId id="314" r:id="rId26"/>
    <p:sldId id="308" r:id="rId27"/>
    <p:sldId id="309" r:id="rId28"/>
    <p:sldId id="310" r:id="rId29"/>
    <p:sldId id="320" r:id="rId30"/>
    <p:sldId id="318" r:id="rId31"/>
    <p:sldId id="311" r:id="rId32"/>
    <p:sldId id="271" r:id="rId33"/>
    <p:sldId id="319" r:id="rId34"/>
    <p:sldId id="272" r:id="rId35"/>
    <p:sldId id="273" r:id="rId36"/>
    <p:sldId id="274" r:id="rId37"/>
    <p:sldId id="325" r:id="rId38"/>
    <p:sldId id="329" r:id="rId39"/>
    <p:sldId id="331" r:id="rId40"/>
    <p:sldId id="332" r:id="rId41"/>
    <p:sldId id="333" r:id="rId42"/>
    <p:sldId id="335" r:id="rId43"/>
    <p:sldId id="337" r:id="rId44"/>
    <p:sldId id="338" r:id="rId45"/>
    <p:sldId id="344" r:id="rId46"/>
    <p:sldId id="348" r:id="rId47"/>
    <p:sldId id="345" r:id="rId48"/>
    <p:sldId id="346" r:id="rId49"/>
    <p:sldId id="341" r:id="rId50"/>
    <p:sldId id="339" r:id="rId51"/>
    <p:sldId id="347" r:id="rId52"/>
    <p:sldId id="349" r:id="rId53"/>
    <p:sldId id="350" r:id="rId54"/>
    <p:sldId id="342" r:id="rId55"/>
    <p:sldId id="340" r:id="rId56"/>
    <p:sldId id="351" r:id="rId57"/>
    <p:sldId id="352" r:id="rId58"/>
    <p:sldId id="353" r:id="rId59"/>
    <p:sldId id="343" r:id="rId60"/>
    <p:sldId id="316" r:id="rId61"/>
    <p:sldId id="275" r:id="rId62"/>
    <p:sldId id="276" r:id="rId63"/>
    <p:sldId id="321" r:id="rId64"/>
    <p:sldId id="336" r:id="rId65"/>
    <p:sldId id="293" r:id="rId66"/>
    <p:sldId id="322" r:id="rId67"/>
    <p:sldId id="324" r:id="rId68"/>
    <p:sldId id="326" r:id="rId69"/>
    <p:sldId id="327" r:id="rId70"/>
    <p:sldId id="328" r:id="rId71"/>
    <p:sldId id="330" r:id="rId72"/>
    <p:sldId id="334" r:id="rId73"/>
    <p:sldId id="292" r:id="rId74"/>
    <p:sldId id="284" r:id="rId7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3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post_object_image_1595126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895600"/>
            <a:ext cx="6400800" cy="1066800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post_object_image_1595126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895600"/>
            <a:ext cx="6400800" cy="1066800"/>
          </a:xfrm>
          <a:prstGeom prst="rect">
            <a:avLst/>
          </a:prstGeom>
        </p:spPr>
      </p:pic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1.png"/><Relationship Id="rId2" Type="http://schemas.openxmlformats.org/officeDocument/2006/relationships/tags" Target="../tags/tag34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image" Target="../media/image2.png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1.png"/><Relationship Id="rId2" Type="http://schemas.openxmlformats.org/officeDocument/2006/relationships/tags" Target="../tags/tag100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image" Target="../media/image2.png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image" Target="../media/image1.png"/><Relationship Id="rId2" Type="http://schemas.openxmlformats.org/officeDocument/2006/relationships/tags" Target="../tags/tag146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tags" Target="../tags/tag185.xml"/><Relationship Id="rId20" Type="http://schemas.openxmlformats.org/officeDocument/2006/relationships/tags" Target="../tags/tag184.xml"/><Relationship Id="rId2" Type="http://schemas.openxmlformats.org/officeDocument/2006/relationships/tags" Target="../tags/tag166.xml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33.xml"/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7" Type="http://schemas.openxmlformats.org/officeDocument/2006/relationships/tags" Target="../tags/tag241.xml"/><Relationship Id="rId16" Type="http://schemas.openxmlformats.org/officeDocument/2006/relationships/tags" Target="../tags/tag240.xml"/><Relationship Id="rId15" Type="http://schemas.openxmlformats.org/officeDocument/2006/relationships/tags" Target="../tags/tag239.xml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tags" Target="../tags/tag235.xml"/><Relationship Id="rId10" Type="http://schemas.openxmlformats.org/officeDocument/2006/relationships/tags" Target="../tags/tag234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7" Type="http://schemas.openxmlformats.org/officeDocument/2006/relationships/tags" Target="../tags/tag273.xml"/><Relationship Id="rId16" Type="http://schemas.openxmlformats.org/officeDocument/2006/relationships/tags" Target="../tags/tag272.xml"/><Relationship Id="rId15" Type="http://schemas.openxmlformats.org/officeDocument/2006/relationships/tags" Target="../tags/tag271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" Type="http://schemas.openxmlformats.org/officeDocument/2006/relationships/tags" Target="../tags/tag274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7" Type="http://schemas.openxmlformats.org/officeDocument/2006/relationships/tags" Target="../tags/tag302.xml"/><Relationship Id="rId16" Type="http://schemas.openxmlformats.org/officeDocument/2006/relationships/tags" Target="../tags/tag301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5" Type="http://schemas.openxmlformats.org/officeDocument/2006/relationships/tags" Target="../tags/tag316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7" Type="http://schemas.openxmlformats.org/officeDocument/2006/relationships/tags" Target="../tags/tag343.xml"/><Relationship Id="rId16" Type="http://schemas.openxmlformats.org/officeDocument/2006/relationships/tags" Target="../tags/tag342.xml"/><Relationship Id="rId15" Type="http://schemas.openxmlformats.org/officeDocument/2006/relationships/tags" Target="../tags/tag34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2" Type="http://schemas.openxmlformats.org/officeDocument/2006/relationships/tags" Target="../tags/tag354.xml"/><Relationship Id="rId11" Type="http://schemas.openxmlformats.org/officeDocument/2006/relationships/tags" Target="../tags/tag353.xml"/><Relationship Id="rId10" Type="http://schemas.openxmlformats.org/officeDocument/2006/relationships/tags" Target="../tags/tag352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4" Type="http://schemas.openxmlformats.org/officeDocument/2006/relationships/tags" Target="../tags/tag367.xml"/><Relationship Id="rId13" Type="http://schemas.openxmlformats.org/officeDocument/2006/relationships/tags" Target="../tags/tag366.xml"/><Relationship Id="rId12" Type="http://schemas.openxmlformats.org/officeDocument/2006/relationships/tags" Target="../tags/tag365.xml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7"/>
            </p:custDataLst>
          </p:nvPr>
        </p:nvSpPr>
        <p:spPr>
          <a:xfrm>
            <a:off x="8864596" y="0"/>
            <a:ext cx="3327400" cy="6858000"/>
          </a:xfrm>
          <a:custGeom>
            <a:avLst/>
            <a:gdLst>
              <a:gd name="connisteX0" fmla="*/ 1758226 w 3327401"/>
              <a:gd name="connsiteY0" fmla="*/ 0 h 6858000"/>
              <a:gd name="connisteX1" fmla="*/ 3327401 w 3327401"/>
              <a:gd name="connsiteY1" fmla="*/ 0 h 6858000"/>
              <a:gd name="connisteX2" fmla="*/ 3327401 w 3327401"/>
              <a:gd name="connsiteY2" fmla="*/ 6858000 h 6858000"/>
              <a:gd name="connisteX3" fmla="*/ 0 w 3327401"/>
              <a:gd name="connsiteY3" fmla="*/ 6858000 h 6858000"/>
              <a:gd name="connisteX4" fmla="*/ 1758226 w 3327401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327401" h="6858000">
                <a:moveTo>
                  <a:pt x="1758227" y="0"/>
                </a:moveTo>
                <a:lnTo>
                  <a:pt x="3327401" y="0"/>
                </a:lnTo>
                <a:lnTo>
                  <a:pt x="3327401" y="6858000"/>
                </a:lnTo>
                <a:lnTo>
                  <a:pt x="0" y="6858000"/>
                </a:lnTo>
                <a:lnTo>
                  <a:pt x="1758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8"/>
            </p:custDataLst>
          </p:nvPr>
        </p:nvSpPr>
        <p:spPr>
          <a:xfrm>
            <a:off x="9924203" y="4114800"/>
            <a:ext cx="2267585" cy="2742565"/>
          </a:xfrm>
          <a:custGeom>
            <a:avLst/>
            <a:gdLst>
              <a:gd name="connisteX0" fmla="*/ 2267785 w 2267794"/>
              <a:gd name="connsiteY0" fmla="*/ 195937 h 2743172"/>
              <a:gd name="connisteX1" fmla="*/ 2267785 w 2267794"/>
              <a:gd name="connsiteY1" fmla="*/ 2743172 h 2743172"/>
              <a:gd name="connisteX2" fmla="*/ 502517 w 2267794"/>
              <a:gd name="connsiteY2" fmla="*/ 2743172 h 2743172"/>
              <a:gd name="connisteX3" fmla="*/ 10652 w 2267794"/>
              <a:gd name="connsiteY3" fmla="*/ 924888 h 2743172"/>
              <a:gd name="connisteX4" fmla="*/ 225481 w 2267794"/>
              <a:gd name="connsiteY4" fmla="*/ 551026 h 2743172"/>
              <a:gd name="connisteX5" fmla="*/ 2267785 w 2267794"/>
              <a:gd name="connsiteY5" fmla="*/ 0 h 2743172"/>
              <a:gd name="connisteX6" fmla="*/ 2267785 w 2267794"/>
              <a:gd name="connsiteY6" fmla="*/ 195937 h 27431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267794" h="2743173">
                <a:moveTo>
                  <a:pt x="2267785" y="195938"/>
                </a:moveTo>
                <a:lnTo>
                  <a:pt x="2267785" y="2743173"/>
                </a:lnTo>
                <a:lnTo>
                  <a:pt x="502518" y="2743173"/>
                </a:lnTo>
                <a:lnTo>
                  <a:pt x="10653" y="924888"/>
                </a:lnTo>
                <a:cubicBezTo>
                  <a:pt x="-33330" y="762317"/>
                  <a:pt x="62874" y="594899"/>
                  <a:pt x="225482" y="551027"/>
                </a:cubicBezTo>
                <a:lnTo>
                  <a:pt x="2267785" y="0"/>
                </a:lnTo>
                <a:lnTo>
                  <a:pt x="2267785" y="195938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10545958" y="4648197"/>
            <a:ext cx="1645920" cy="2210435"/>
          </a:xfrm>
          <a:custGeom>
            <a:avLst/>
            <a:gdLst>
              <a:gd name="connisteX0" fmla="*/ 401430 w 1646038"/>
              <a:gd name="connsiteY0" fmla="*/ 2209803 h 2209803"/>
              <a:gd name="connisteX1" fmla="*/ 1646038 w 1646038"/>
              <a:gd name="connsiteY1" fmla="*/ 2209803 h 2209803"/>
              <a:gd name="connisteX2" fmla="*/ 1646038 w 1646038"/>
              <a:gd name="connsiteY2" fmla="*/ 1591056 h 2209803"/>
              <a:gd name="connisteX3" fmla="*/ 1646038 w 1646038"/>
              <a:gd name="connsiteY3" fmla="*/ 0 h 2209803"/>
              <a:gd name="connisteX4" fmla="*/ 226487 w 1646038"/>
              <a:gd name="connsiteY4" fmla="*/ 377766 h 2209803"/>
              <a:gd name="connisteX5" fmla="*/ 10469 w 1646038"/>
              <a:gd name="connsiteY5" fmla="*/ 751234 h 2209803"/>
              <a:gd name="connisteX6" fmla="*/ 401430 w 1646038"/>
              <a:gd name="connsiteY6" fmla="*/ 2209803 h 22098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46039" h="2209803">
                <a:moveTo>
                  <a:pt x="401431" y="2209803"/>
                </a:moveTo>
                <a:lnTo>
                  <a:pt x="1646039" y="2209803"/>
                </a:lnTo>
                <a:lnTo>
                  <a:pt x="1646039" y="1591056"/>
                </a:lnTo>
                <a:lnTo>
                  <a:pt x="1646039" y="0"/>
                </a:lnTo>
                <a:lnTo>
                  <a:pt x="226488" y="377766"/>
                </a:lnTo>
                <a:cubicBezTo>
                  <a:pt x="63606" y="421109"/>
                  <a:pt x="-33174" y="588426"/>
                  <a:pt x="10470" y="751234"/>
                </a:cubicBezTo>
                <a:lnTo>
                  <a:pt x="401431" y="2209803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0"/>
            </p:custDataLst>
          </p:nvPr>
        </p:nvSpPr>
        <p:spPr>
          <a:xfrm>
            <a:off x="11166827" y="5168920"/>
            <a:ext cx="1024890" cy="1689100"/>
          </a:xfrm>
          <a:custGeom>
            <a:avLst/>
            <a:gdLst>
              <a:gd name="connisteX0" fmla="*/ 1025161 w 1025161"/>
              <a:gd name="connsiteY0" fmla="*/ 1689070 h 1689079"/>
              <a:gd name="connisteX1" fmla="*/ 301258 w 1025161"/>
              <a:gd name="connsiteY1" fmla="*/ 1689070 h 1689079"/>
              <a:gd name="connisteX2" fmla="*/ 10195 w 1025161"/>
              <a:gd name="connsiteY2" fmla="*/ 587950 h 1689079"/>
              <a:gd name="connisteX3" fmla="*/ 225463 w 1025161"/>
              <a:gd name="connsiteY3" fmla="*/ 215780 h 1689079"/>
              <a:gd name="connisteX4" fmla="*/ 1025161 w 1025161"/>
              <a:gd name="connsiteY4" fmla="*/ 0 h 1689079"/>
              <a:gd name="connisteX5" fmla="*/ 1025161 w 1025161"/>
              <a:gd name="connsiteY5" fmla="*/ 1689070 h 16890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025161" h="1689080">
                <a:moveTo>
                  <a:pt x="1025161" y="1689071"/>
                </a:moveTo>
                <a:lnTo>
                  <a:pt x="301258" y="1689071"/>
                </a:lnTo>
                <a:lnTo>
                  <a:pt x="10196" y="587950"/>
                </a:lnTo>
                <a:cubicBezTo>
                  <a:pt x="-32672" y="425800"/>
                  <a:pt x="63533" y="259479"/>
                  <a:pt x="225464" y="215780"/>
                </a:cubicBezTo>
                <a:lnTo>
                  <a:pt x="1025161" y="0"/>
                </a:lnTo>
                <a:lnTo>
                  <a:pt x="1025161" y="168907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1"/>
            </p:custDataLst>
          </p:nvPr>
        </p:nvSpPr>
        <p:spPr>
          <a:xfrm>
            <a:off x="0" y="6349996"/>
            <a:ext cx="508000" cy="50863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2"/>
            </p:custDataLst>
          </p:nvPr>
        </p:nvSpPr>
        <p:spPr>
          <a:xfrm>
            <a:off x="1015999" y="1945642"/>
            <a:ext cx="1752614" cy="381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141223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20XX YEAR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1016000" y="2392680"/>
            <a:ext cx="8572500" cy="255587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高校毕业论文答辩
通用模板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015999" y="532129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BY WPS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61be7466cc40d4ab\datas\氛围图-6002&amp;64584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章节页的标题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谢谢观看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06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Sans DemiBold" charset="0"/>
                <a:ea typeface="MiSans Medium" panose="00000600000000000000" charset="-122"/>
              </a:rPr>
              <a:t>单击此处添加标题</a:t>
            </a:r>
            <a:endParaRPr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2578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421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4724400"/>
            <a:ext cx="6172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5588000" cy="4724400"/>
          </a:xfrm>
          <a:custGeom>
            <a:avLst/>
            <a:gdLst>
              <a:gd name="connisteX0" fmla="*/ 0 w 5588000"/>
              <a:gd name="connsiteY0" fmla="*/ 203200 h 4724400"/>
              <a:gd name="connisteX1" fmla="*/ 203200 w 5588000"/>
              <a:gd name="connsiteY1" fmla="*/ 0 h 4724400"/>
              <a:gd name="connisteX2" fmla="*/ 5384800 w 5588000"/>
              <a:gd name="connsiteY2" fmla="*/ 0 h 4724400"/>
              <a:gd name="connisteX3" fmla="*/ 5588000 w 5588000"/>
              <a:gd name="connsiteY3" fmla="*/ 203200 h 4724400"/>
              <a:gd name="connisteX4" fmla="*/ 5588000 w 5588000"/>
              <a:gd name="connsiteY4" fmla="*/ 4521200 h 4724400"/>
              <a:gd name="connisteX5" fmla="*/ 5384800 w 5588000"/>
              <a:gd name="connsiteY5" fmla="*/ 4724400 h 4724400"/>
              <a:gd name="connisteX6" fmla="*/ 203200 w 5588000"/>
              <a:gd name="connsiteY6" fmla="*/ 4724400 h 4724400"/>
              <a:gd name="connisteX7" fmla="*/ 0 w 5588000"/>
              <a:gd name="connsiteY7" fmla="*/ 4521200 h 4724400"/>
              <a:gd name="connisteX8" fmla="*/ 0 w 5588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4521200"/>
                </a:lnTo>
                <a:cubicBezTo>
                  <a:pt x="5588000" y="4633424"/>
                  <a:pt x="5497024" y="4724400"/>
                  <a:pt x="5384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29972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35560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6990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7752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334000"/>
            <a:ext cx="6934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5384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943600"/>
            <a:ext cx="10972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Sans DemiBold" charset="0"/>
                <a:ea typeface="MiSans Medium" panose="00000600000000000000" charset="-122"/>
              </a:rPr>
              <a:t>单击此处添加标题</a:t>
            </a:r>
            <a:endParaRPr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10160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1371600" y="22225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895600" y="20447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895600" y="26035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10160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1371600" y="47371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2895600" y="45593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2895600" y="51181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Sans DemiBold" charset="0"/>
                <a:ea typeface="MiSans Medium" panose="00000600000000000000" charset="-122"/>
              </a:rPr>
              <a:t>单击此处添加标题</a:t>
            </a:r>
            <a:endParaRPr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6" Type="http://schemas.openxmlformats.org/officeDocument/2006/relationships/theme" Target="../theme/theme2.xml"/><Relationship Id="rId25" Type="http://schemas.openxmlformats.org/officeDocument/2006/relationships/tags" Target="../tags/tag165.xml"/><Relationship Id="rId24" Type="http://schemas.openxmlformats.org/officeDocument/2006/relationships/tags" Target="../tags/tag164.xml"/><Relationship Id="rId23" Type="http://schemas.openxmlformats.org/officeDocument/2006/relationships/tags" Target="../tags/tag163.xml"/><Relationship Id="rId22" Type="http://schemas.openxmlformats.org/officeDocument/2006/relationships/tags" Target="../tags/tag162.xml"/><Relationship Id="rId21" Type="http://schemas.openxmlformats.org/officeDocument/2006/relationships/tags" Target="../tags/tag161.xml"/><Relationship Id="rId20" Type="http://schemas.openxmlformats.org/officeDocument/2006/relationships/tags" Target="../tags/tag160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image" Target="../media/image1.png"/><Relationship Id="rId16" Type="http://schemas.openxmlformats.org/officeDocument/2006/relationships/tags" Target="../tags/tag157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8" Type="http://schemas.openxmlformats.org/officeDocument/2006/relationships/theme" Target="../theme/theme3.xml"/><Relationship Id="rId27" Type="http://schemas.openxmlformats.org/officeDocument/2006/relationships/tags" Target="../tags/tag384.xml"/><Relationship Id="rId26" Type="http://schemas.openxmlformats.org/officeDocument/2006/relationships/tags" Target="../tags/tag383.xml"/><Relationship Id="rId25" Type="http://schemas.openxmlformats.org/officeDocument/2006/relationships/tags" Target="../tags/tag382.xml"/><Relationship Id="rId24" Type="http://schemas.openxmlformats.org/officeDocument/2006/relationships/tags" Target="../tags/tag381.xml"/><Relationship Id="rId23" Type="http://schemas.openxmlformats.org/officeDocument/2006/relationships/tags" Target="../tags/tag380.xml"/><Relationship Id="rId22" Type="http://schemas.openxmlformats.org/officeDocument/2006/relationships/tags" Target="../tags/tag379.xml"/><Relationship Id="rId21" Type="http://schemas.openxmlformats.org/officeDocument/2006/relationships/tags" Target="../tags/tag378.xml"/><Relationship Id="rId20" Type="http://schemas.openxmlformats.org/officeDocument/2006/relationships/tags" Target="../tags/tag377.xml"/><Relationship Id="rId2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18" Type="http://schemas.openxmlformats.org/officeDocument/2006/relationships/tags" Target="../tags/tag376.xml"/><Relationship Id="rId17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第二级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2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第三级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3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第四级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4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第五级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第二级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2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第三级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3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第四级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4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第五级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97.xml"/><Relationship Id="rId8" Type="http://schemas.openxmlformats.org/officeDocument/2006/relationships/tags" Target="../tags/tag396.xml"/><Relationship Id="rId7" Type="http://schemas.openxmlformats.org/officeDocument/2006/relationships/tags" Target="../tags/tag395.xml"/><Relationship Id="rId6" Type="http://schemas.openxmlformats.org/officeDocument/2006/relationships/tags" Target="../tags/tag394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9" Type="http://schemas.openxmlformats.org/officeDocument/2006/relationships/slideLayout" Target="../slideLayouts/slideLayout26.xml"/><Relationship Id="rId18" Type="http://schemas.openxmlformats.org/officeDocument/2006/relationships/tags" Target="../tags/tag406.xml"/><Relationship Id="rId17" Type="http://schemas.openxmlformats.org/officeDocument/2006/relationships/tags" Target="../tags/tag405.xml"/><Relationship Id="rId16" Type="http://schemas.openxmlformats.org/officeDocument/2006/relationships/tags" Target="../tags/tag404.xml"/><Relationship Id="rId15" Type="http://schemas.openxmlformats.org/officeDocument/2006/relationships/tags" Target="../tags/tag403.xml"/><Relationship Id="rId14" Type="http://schemas.openxmlformats.org/officeDocument/2006/relationships/tags" Target="../tags/tag402.xml"/><Relationship Id="rId13" Type="http://schemas.openxmlformats.org/officeDocument/2006/relationships/tags" Target="../tags/tag401.xml"/><Relationship Id="rId12" Type="http://schemas.openxmlformats.org/officeDocument/2006/relationships/tags" Target="../tags/tag400.xml"/><Relationship Id="rId11" Type="http://schemas.openxmlformats.org/officeDocument/2006/relationships/tags" Target="../tags/tag399.xml"/><Relationship Id="rId10" Type="http://schemas.openxmlformats.org/officeDocument/2006/relationships/tags" Target="../tags/tag398.xml"/><Relationship Id="rId1" Type="http://schemas.openxmlformats.org/officeDocument/2006/relationships/tags" Target="../tags/tag38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8.xml"/><Relationship Id="rId5" Type="http://schemas.openxmlformats.org/officeDocument/2006/relationships/tags" Target="../tags/tag414.xml"/><Relationship Id="rId4" Type="http://schemas.openxmlformats.org/officeDocument/2006/relationships/tags" Target="../tags/tag413.xml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8.xml"/><Relationship Id="rId4" Type="http://schemas.openxmlformats.org/officeDocument/2006/relationships/tags" Target="../tags/tag41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41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8.xml"/><Relationship Id="rId4" Type="http://schemas.openxmlformats.org/officeDocument/2006/relationships/tags" Target="../tags/tag418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4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tags" Target="../tags/tag4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tags" Target="../tags/tag424.xml"/><Relationship Id="rId2" Type="http://schemas.openxmlformats.org/officeDocument/2006/relationships/tags" Target="../tags/tag423.xml"/><Relationship Id="rId12" Type="http://schemas.openxmlformats.org/officeDocument/2006/relationships/slideLayout" Target="../slideLayouts/slideLayout32.xml"/><Relationship Id="rId11" Type="http://schemas.openxmlformats.org/officeDocument/2006/relationships/tags" Target="../tags/tag429.xml"/><Relationship Id="rId10" Type="http://schemas.openxmlformats.org/officeDocument/2006/relationships/image" Target="../media/image10.png"/><Relationship Id="rId1" Type="http://schemas.openxmlformats.org/officeDocument/2006/relationships/tags" Target="../tags/tag4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7" Type="http://schemas.openxmlformats.org/officeDocument/2006/relationships/tags" Target="../tags/tag43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431.xml"/><Relationship Id="rId1" Type="http://schemas.openxmlformats.org/officeDocument/2006/relationships/tags" Target="../tags/tag43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7" Type="http://schemas.openxmlformats.org/officeDocument/2006/relationships/tags" Target="../tags/tag43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9.png"/><Relationship Id="rId2" Type="http://schemas.openxmlformats.org/officeDocument/2006/relationships/tags" Target="../tags/tag434.xml"/><Relationship Id="rId1" Type="http://schemas.openxmlformats.org/officeDocument/2006/relationships/tags" Target="../tags/tag43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9.xml"/><Relationship Id="rId5" Type="http://schemas.openxmlformats.org/officeDocument/2006/relationships/tags" Target="../tags/tag438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tags" Target="../tags/tag437.xml"/><Relationship Id="rId1" Type="http://schemas.openxmlformats.org/officeDocument/2006/relationships/tags" Target="../tags/tag43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tags" Target="../tags/tag441.xml"/><Relationship Id="rId3" Type="http://schemas.openxmlformats.org/officeDocument/2006/relationships/image" Target="../media/image8.png"/><Relationship Id="rId2" Type="http://schemas.openxmlformats.org/officeDocument/2006/relationships/tags" Target="../tags/tag440.xml"/><Relationship Id="rId1" Type="http://schemas.openxmlformats.org/officeDocument/2006/relationships/tags" Target="../tags/tag43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tags" Target="../tags/tag444.xml"/><Relationship Id="rId3" Type="http://schemas.openxmlformats.org/officeDocument/2006/relationships/image" Target="../media/image9.png"/><Relationship Id="rId2" Type="http://schemas.openxmlformats.org/officeDocument/2006/relationships/tags" Target="../tags/tag443.xml"/><Relationship Id="rId1" Type="http://schemas.openxmlformats.org/officeDocument/2006/relationships/tags" Target="../tags/tag44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tags" Target="../tags/tag447.xml"/><Relationship Id="rId3" Type="http://schemas.openxmlformats.org/officeDocument/2006/relationships/image" Target="../media/image18.png"/><Relationship Id="rId2" Type="http://schemas.openxmlformats.org/officeDocument/2006/relationships/tags" Target="../tags/tag446.xml"/><Relationship Id="rId1" Type="http://schemas.openxmlformats.org/officeDocument/2006/relationships/tags" Target="../tags/tag445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9.xml"/><Relationship Id="rId6" Type="http://schemas.openxmlformats.org/officeDocument/2006/relationships/tags" Target="../tags/tag45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449.xml"/><Relationship Id="rId1" Type="http://schemas.openxmlformats.org/officeDocument/2006/relationships/tags" Target="../tags/tag448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9.xml"/><Relationship Id="rId6" Type="http://schemas.openxmlformats.org/officeDocument/2006/relationships/tags" Target="../tags/tag453.xml"/><Relationship Id="rId5" Type="http://schemas.openxmlformats.org/officeDocument/2006/relationships/image" Target="../media/image9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tags" Target="../tags/tag452.xml"/><Relationship Id="rId1" Type="http://schemas.openxmlformats.org/officeDocument/2006/relationships/tags" Target="../tags/tag45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9.xml"/><Relationship Id="rId6" Type="http://schemas.openxmlformats.org/officeDocument/2006/relationships/tags" Target="../tags/tag45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18.png"/><Relationship Id="rId2" Type="http://schemas.openxmlformats.org/officeDocument/2006/relationships/tags" Target="../tags/tag455.xml"/><Relationship Id="rId1" Type="http://schemas.openxmlformats.org/officeDocument/2006/relationships/tags" Target="../tags/tag45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7" Type="http://schemas.openxmlformats.org/officeDocument/2006/relationships/tags" Target="../tags/tag460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" Type="http://schemas.openxmlformats.org/officeDocument/2006/relationships/tags" Target="../tags/tag45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7" Type="http://schemas.openxmlformats.org/officeDocument/2006/relationships/tags" Target="../tags/tag464.xml"/><Relationship Id="rId6" Type="http://schemas.openxmlformats.org/officeDocument/2006/relationships/image" Target="../media/image28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" Type="http://schemas.openxmlformats.org/officeDocument/2006/relationships/tags" Target="../tags/tag46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34.xml"/><Relationship Id="rId10" Type="http://schemas.openxmlformats.org/officeDocument/2006/relationships/tags" Target="../tags/tag468.xml"/><Relationship Id="rId1" Type="http://schemas.openxmlformats.org/officeDocument/2006/relationships/tags" Target="../tags/tag46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72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tags" Target="../tags/tag471.xml"/><Relationship Id="rId2" Type="http://schemas.openxmlformats.org/officeDocument/2006/relationships/tags" Target="../tags/tag470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4.xml"/><Relationship Id="rId1" Type="http://schemas.openxmlformats.org/officeDocument/2006/relationships/tags" Target="../tags/tag46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76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0" Type="http://schemas.openxmlformats.org/officeDocument/2006/relationships/slideLayout" Target="../slideLayouts/slideLayout34.xml"/><Relationship Id="rId1" Type="http://schemas.openxmlformats.org/officeDocument/2006/relationships/tags" Target="../tags/tag47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0" Type="http://schemas.openxmlformats.org/officeDocument/2006/relationships/slideLayout" Target="../slideLayouts/slideLayout34.xml"/><Relationship Id="rId1" Type="http://schemas.openxmlformats.org/officeDocument/2006/relationships/tags" Target="../tags/tag47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0" Type="http://schemas.openxmlformats.org/officeDocument/2006/relationships/slideLayout" Target="../slideLayouts/slideLayout34.xml"/><Relationship Id="rId1" Type="http://schemas.openxmlformats.org/officeDocument/2006/relationships/tags" Target="../tags/tag48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7" Type="http://schemas.openxmlformats.org/officeDocument/2006/relationships/tags" Target="../tags/tag488.xml"/><Relationship Id="rId6" Type="http://schemas.openxmlformats.org/officeDocument/2006/relationships/image" Target="../media/image49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tags" Target="../tags/tag48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3" Type="http://schemas.openxmlformats.org/officeDocument/2006/relationships/slideLayout" Target="../slideLayouts/slideLayout34.xml"/><Relationship Id="rId12" Type="http://schemas.openxmlformats.org/officeDocument/2006/relationships/tags" Target="../tags/tag492.xml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tags" Target="../tags/tag48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7" Type="http://schemas.openxmlformats.org/officeDocument/2006/relationships/tags" Target="../tags/tag496.xml"/><Relationship Id="rId6" Type="http://schemas.openxmlformats.org/officeDocument/2006/relationships/image" Target="../media/image5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tags" Target="../tags/tag495.xml"/><Relationship Id="rId2" Type="http://schemas.openxmlformats.org/officeDocument/2006/relationships/tags" Target="../tags/tag494.xml"/><Relationship Id="rId1" Type="http://schemas.openxmlformats.org/officeDocument/2006/relationships/tags" Target="../tags/tag49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499.xml"/><Relationship Id="rId2" Type="http://schemas.openxmlformats.org/officeDocument/2006/relationships/tags" Target="../tags/tag498.xml"/><Relationship Id="rId1" Type="http://schemas.openxmlformats.org/officeDocument/2006/relationships/tags" Target="../tags/tag497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" Type="http://schemas.openxmlformats.org/officeDocument/2006/relationships/tags" Target="../tags/tag500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12.xml"/><Relationship Id="rId8" Type="http://schemas.openxmlformats.org/officeDocument/2006/relationships/tags" Target="../tags/tag511.xml"/><Relationship Id="rId7" Type="http://schemas.openxmlformats.org/officeDocument/2006/relationships/tags" Target="../tags/tag510.xml"/><Relationship Id="rId6" Type="http://schemas.openxmlformats.org/officeDocument/2006/relationships/tags" Target="../tags/tag509.xml"/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5" Type="http://schemas.openxmlformats.org/officeDocument/2006/relationships/slideLayout" Target="../slideLayouts/slideLayout34.xml"/><Relationship Id="rId14" Type="http://schemas.openxmlformats.org/officeDocument/2006/relationships/tags" Target="../tags/tag517.xml"/><Relationship Id="rId13" Type="http://schemas.openxmlformats.org/officeDocument/2006/relationships/tags" Target="../tags/tag516.xml"/><Relationship Id="rId12" Type="http://schemas.openxmlformats.org/officeDocument/2006/relationships/tags" Target="../tags/tag515.xml"/><Relationship Id="rId11" Type="http://schemas.openxmlformats.org/officeDocument/2006/relationships/tags" Target="../tags/tag514.xml"/><Relationship Id="rId10" Type="http://schemas.openxmlformats.org/officeDocument/2006/relationships/tags" Target="../tags/tag513.xml"/><Relationship Id="rId1" Type="http://schemas.openxmlformats.org/officeDocument/2006/relationships/tags" Target="../tags/tag50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526.xml"/><Relationship Id="rId8" Type="http://schemas.openxmlformats.org/officeDocument/2006/relationships/tags" Target="../tags/tag525.xml"/><Relationship Id="rId7" Type="http://schemas.openxmlformats.org/officeDocument/2006/relationships/tags" Target="../tags/tag524.xml"/><Relationship Id="rId6" Type="http://schemas.openxmlformats.org/officeDocument/2006/relationships/tags" Target="../tags/tag523.xml"/><Relationship Id="rId5" Type="http://schemas.openxmlformats.org/officeDocument/2006/relationships/tags" Target="../tags/tag522.xml"/><Relationship Id="rId4" Type="http://schemas.openxmlformats.org/officeDocument/2006/relationships/tags" Target="../tags/tag521.xml"/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5" Type="http://schemas.openxmlformats.org/officeDocument/2006/relationships/slideLayout" Target="../slideLayouts/slideLayout35.xml"/><Relationship Id="rId14" Type="http://schemas.openxmlformats.org/officeDocument/2006/relationships/tags" Target="../tags/tag531.xml"/><Relationship Id="rId13" Type="http://schemas.openxmlformats.org/officeDocument/2006/relationships/tags" Target="../tags/tag530.xml"/><Relationship Id="rId12" Type="http://schemas.openxmlformats.org/officeDocument/2006/relationships/tags" Target="../tags/tag529.xml"/><Relationship Id="rId11" Type="http://schemas.openxmlformats.org/officeDocument/2006/relationships/tags" Target="../tags/tag528.xml"/><Relationship Id="rId10" Type="http://schemas.openxmlformats.org/officeDocument/2006/relationships/tags" Target="../tags/tag527.xml"/><Relationship Id="rId1" Type="http://schemas.openxmlformats.org/officeDocument/2006/relationships/tags" Target="../tags/tag5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33.xml"/><Relationship Id="rId1" Type="http://schemas.openxmlformats.org/officeDocument/2006/relationships/tags" Target="../tags/tag53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535.xml"/><Relationship Id="rId2" Type="http://schemas.openxmlformats.org/officeDocument/2006/relationships/image" Target="../media/image57.png"/><Relationship Id="rId1" Type="http://schemas.openxmlformats.org/officeDocument/2006/relationships/tags" Target="../tags/tag53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537.xml"/><Relationship Id="rId2" Type="http://schemas.openxmlformats.org/officeDocument/2006/relationships/image" Target="../media/image58.png"/><Relationship Id="rId1" Type="http://schemas.openxmlformats.org/officeDocument/2006/relationships/tags" Target="../tags/tag536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539.xml"/><Relationship Id="rId2" Type="http://schemas.openxmlformats.org/officeDocument/2006/relationships/image" Target="../media/image59.png"/><Relationship Id="rId1" Type="http://schemas.openxmlformats.org/officeDocument/2006/relationships/tags" Target="../tags/tag538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541.xml"/><Relationship Id="rId2" Type="http://schemas.openxmlformats.org/officeDocument/2006/relationships/image" Target="../media/image59.png"/><Relationship Id="rId1" Type="http://schemas.openxmlformats.org/officeDocument/2006/relationships/tags" Target="../tags/tag540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543.xml"/><Relationship Id="rId2" Type="http://schemas.openxmlformats.org/officeDocument/2006/relationships/image" Target="../media/image60.png"/><Relationship Id="rId1" Type="http://schemas.openxmlformats.org/officeDocument/2006/relationships/tags" Target="../tags/tag542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tags" Target="../tags/tag545.xml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tags" Target="../tags/tag54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47.xml"/><Relationship Id="rId1" Type="http://schemas.openxmlformats.org/officeDocument/2006/relationships/tags" Target="../tags/tag5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49.xml"/><Relationship Id="rId1" Type="http://schemas.openxmlformats.org/officeDocument/2006/relationships/tags" Target="../tags/tag548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5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tags" Target="../tags/tag550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5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tags" Target="../tags/tag552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55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tags" Target="../tags/tag554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5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tags" Target="../tags/tag55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59.xml"/><Relationship Id="rId1" Type="http://schemas.openxmlformats.org/officeDocument/2006/relationships/tags" Target="../tags/tag55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61.xml"/><Relationship Id="rId1" Type="http://schemas.openxmlformats.org/officeDocument/2006/relationships/tags" Target="../tags/tag560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6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tags" Target="../tags/tag562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65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tags" Target="../tags/tag564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6.xml"/><Relationship Id="rId4" Type="http://schemas.openxmlformats.org/officeDocument/2006/relationships/tags" Target="../tags/tag567.xml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tags" Target="../tags/tag56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69.xml"/><Relationship Id="rId1" Type="http://schemas.openxmlformats.org/officeDocument/2006/relationships/tags" Target="../tags/tag56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71.xml"/><Relationship Id="rId1" Type="http://schemas.openxmlformats.org/officeDocument/2006/relationships/tags" Target="../tags/tag570.xml"/></Relationships>
</file>

<file path=ppt/slides/_rels/slide5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73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tags" Target="../tags/tag572.xml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75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tags" Target="../tags/tag574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6.xml"/><Relationship Id="rId6" Type="http://schemas.openxmlformats.org/officeDocument/2006/relationships/tags" Target="../tags/tag57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tags" Target="../tags/tag57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79.xml"/><Relationship Id="rId1" Type="http://schemas.openxmlformats.org/officeDocument/2006/relationships/tags" Target="../tags/tag57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581.xml"/><Relationship Id="rId1" Type="http://schemas.openxmlformats.org/officeDocument/2006/relationships/tags" Target="../tags/tag580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584.xml"/><Relationship Id="rId2" Type="http://schemas.openxmlformats.org/officeDocument/2006/relationships/tags" Target="../tags/tag583.xml"/><Relationship Id="rId1" Type="http://schemas.openxmlformats.org/officeDocument/2006/relationships/tags" Target="../tags/tag582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tags" Target="../tags/tag590.xml"/><Relationship Id="rId7" Type="http://schemas.openxmlformats.org/officeDocument/2006/relationships/tags" Target="../tags/tag589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tags" Target="../tags/tag588.xml"/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1" Type="http://schemas.openxmlformats.org/officeDocument/2006/relationships/slideLayout" Target="../slideLayouts/slideLayout37.xml"/><Relationship Id="rId10" Type="http://schemas.openxmlformats.org/officeDocument/2006/relationships/tags" Target="../tags/tag591.xml"/><Relationship Id="rId1" Type="http://schemas.openxmlformats.org/officeDocument/2006/relationships/tags" Target="../tags/tag58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0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10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8.xml"/><Relationship Id="rId4" Type="http://schemas.openxmlformats.org/officeDocument/2006/relationships/tags" Target="../tags/tag596.xml"/><Relationship Id="rId3" Type="http://schemas.openxmlformats.org/officeDocument/2006/relationships/image" Target="../media/image121.jpeg"/><Relationship Id="rId2" Type="http://schemas.openxmlformats.org/officeDocument/2006/relationships/tags" Target="../tags/tag595.xml"/><Relationship Id="rId1" Type="http://schemas.openxmlformats.org/officeDocument/2006/relationships/tags" Target="../tags/tag594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599.xml"/><Relationship Id="rId2" Type="http://schemas.openxmlformats.org/officeDocument/2006/relationships/tags" Target="../tags/tag598.xml"/><Relationship Id="rId1" Type="http://schemas.openxmlformats.org/officeDocument/2006/relationships/tags" Target="../tags/tag5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2026/04/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29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1016000" y="2392680"/>
            <a:ext cx="8572500" cy="2614295"/>
          </a:xfrm>
        </p:spPr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软件测试课程大作业汇报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lvl="0"/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汇报人: </a:t>
            </a:r>
            <a:r>
              <a:rPr lang="en-US" altLang="zh-CN">
                <a:solidFill>
                  <a:schemeClr val="accent1"/>
                </a:solidFill>
                <a:uFillTx/>
                <a:latin typeface="MiSans Medium" panose="00000600000000000000" charset="-122"/>
                <a:ea typeface="MiSans Normal" panose="00000500000000000000" charset="-122"/>
              </a:rPr>
              <a:t>伊木然、苏一涵、张瀚文</a:t>
            </a:r>
            <a:endParaRPr lang="en-US" altLang="zh-CN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系统概述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004300" y="1295400"/>
            <a:ext cx="2807055" cy="914400"/>
          </a:xfrm>
        </p:spPr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单元测试与深入分析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(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苏一涵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)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系统功能测试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18000"/>
              </a:lnSpc>
            </a:pP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(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张瀚文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)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系统性能测试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18000"/>
              </a:lnSpc>
            </a:pP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(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伊木然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)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5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总结与体会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系统概述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library_manager_system-master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1269884" y="1852295"/>
            <a:ext cx="9652186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使用 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Spring Boot+MyBatis+Thymeleaf 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技术实现的图书管理系统</a:t>
            </a:r>
            <a:endParaRPr lang="en-US" altLang="zh-CN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681934" y="1204216"/>
            <a:ext cx="65100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u="sng">
                <a:solidFill>
                  <a:schemeClr val="accent2"/>
                </a:solidFill>
              </a:rPr>
              <a:t>https://github.com/zhangbw409/library_manager_system</a:t>
            </a:r>
            <a:endParaRPr lang="en-US" altLang="zh-CN" u="sng">
              <a:solidFill>
                <a:schemeClr val="accent2"/>
              </a:solidFill>
            </a:endParaRPr>
          </a:p>
        </p:txBody>
      </p:sp>
      <p:sp>
        <p:nvSpPr>
          <p:cNvPr id="15" name="装饰 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2552" y="2537204"/>
            <a:ext cx="10826850" cy="4271823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0776" y="2598951"/>
            <a:ext cx="2624314" cy="457219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核心功能模块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圆角矩形 22"/>
          <p:cNvSpPr/>
          <p:nvPr userDrawn="1"/>
        </p:nvSpPr>
        <p:spPr>
          <a:xfrm>
            <a:off x="5364836" y="4399820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图书管理系统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4" name="圆角矩形 23"/>
          <p:cNvSpPr/>
          <p:nvPr userDrawn="1"/>
        </p:nvSpPr>
        <p:spPr>
          <a:xfrm>
            <a:off x="7210149" y="3385194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图书物资管理模块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5" name="圆角矩形 24"/>
          <p:cNvSpPr/>
          <p:nvPr userDrawn="1"/>
        </p:nvSpPr>
        <p:spPr>
          <a:xfrm>
            <a:off x="7210107" y="5408764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借阅调度记录模块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6" name="圆角矩形 25"/>
          <p:cNvSpPr/>
          <p:nvPr userDrawn="1"/>
        </p:nvSpPr>
        <p:spPr>
          <a:xfrm>
            <a:off x="3519444" y="5408792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前台查阅流转模块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7" name="圆角矩形 26"/>
          <p:cNvSpPr/>
          <p:nvPr userDrawn="1"/>
        </p:nvSpPr>
        <p:spPr>
          <a:xfrm>
            <a:off x="3519444" y="3385194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用户赋权与管理模块</a:t>
            </a:r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28" name="曲线连接符 27"/>
          <p:cNvCxnSpPr>
            <a:stCxn id="27" idx="3"/>
            <a:endCxn id="23" idx="0"/>
          </p:cNvCxnSpPr>
          <p:nvPr userDrawn="1"/>
        </p:nvCxnSpPr>
        <p:spPr>
          <a:xfrm>
            <a:off x="4981575" y="3725545"/>
            <a:ext cx="1115060" cy="674370"/>
          </a:xfrm>
          <a:prstGeom prst="curvedConnector2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23" idx="0"/>
            <a:endCxn id="24" idx="1"/>
          </p:cNvCxnSpPr>
          <p:nvPr userDrawn="1"/>
        </p:nvCxnSpPr>
        <p:spPr>
          <a:xfrm rot="16200000">
            <a:off x="6316345" y="3505835"/>
            <a:ext cx="674370" cy="1113790"/>
          </a:xfrm>
          <a:prstGeom prst="curvedConnector2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stCxn id="23" idx="2"/>
            <a:endCxn id="26" idx="3"/>
          </p:cNvCxnSpPr>
          <p:nvPr userDrawn="1"/>
        </p:nvCxnSpPr>
        <p:spPr>
          <a:xfrm rot="5400000">
            <a:off x="5204460" y="4857115"/>
            <a:ext cx="669290" cy="1115060"/>
          </a:xfrm>
          <a:prstGeom prst="curvedConnector2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23" idx="2"/>
            <a:endCxn id="25" idx="1"/>
          </p:cNvCxnSpPr>
          <p:nvPr userDrawn="1"/>
        </p:nvCxnSpPr>
        <p:spPr>
          <a:xfrm rot="5400000" flipV="1">
            <a:off x="6318568" y="4858068"/>
            <a:ext cx="669290" cy="1113155"/>
          </a:xfrm>
          <a:prstGeom prst="curvedConnector2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 userDrawn="1"/>
        </p:nvSpPr>
        <p:spPr>
          <a:xfrm>
            <a:off x="1743301" y="3088846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管理员添加读者</a:t>
            </a:r>
            <a:endParaRPr lang="zh-CN" altLang="en-US"/>
          </a:p>
        </p:txBody>
      </p:sp>
      <p:sp>
        <p:nvSpPr>
          <p:cNvPr id="33" name="圆角矩形 32"/>
          <p:cNvSpPr/>
          <p:nvPr userDrawn="1"/>
        </p:nvSpPr>
        <p:spPr>
          <a:xfrm>
            <a:off x="1743349" y="3860330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管理员回收读者权限</a:t>
            </a:r>
            <a:endParaRPr lang="zh-CN" altLang="en-US"/>
          </a:p>
        </p:txBody>
      </p:sp>
      <p:cxnSp>
        <p:nvCxnSpPr>
          <p:cNvPr id="34" name="曲线连接符 33"/>
          <p:cNvCxnSpPr>
            <a:stCxn id="27" idx="1"/>
            <a:endCxn id="32" idx="3"/>
          </p:cNvCxnSpPr>
          <p:nvPr userDrawn="1"/>
        </p:nvCxnSpPr>
        <p:spPr>
          <a:xfrm rot="10800000">
            <a:off x="3205480" y="3429000"/>
            <a:ext cx="313690" cy="296545"/>
          </a:xfrm>
          <a:prstGeom prst="curved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曲线连接符 34"/>
          <p:cNvCxnSpPr>
            <a:stCxn id="27" idx="1"/>
            <a:endCxn id="33" idx="3"/>
          </p:cNvCxnSpPr>
          <p:nvPr userDrawn="1"/>
        </p:nvCxnSpPr>
        <p:spPr>
          <a:xfrm rot="10800000" flipV="1">
            <a:off x="3205480" y="3725545"/>
            <a:ext cx="313690" cy="474980"/>
          </a:xfrm>
          <a:prstGeom prst="curved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 userDrawn="1"/>
        </p:nvSpPr>
        <p:spPr>
          <a:xfrm>
            <a:off x="9320411" y="3385158"/>
            <a:ext cx="17176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图书增删改查及分类管理</a:t>
            </a:r>
            <a:endParaRPr lang="zh-CN" altLang="en-US"/>
          </a:p>
        </p:txBody>
      </p:sp>
      <p:cxnSp>
        <p:nvCxnSpPr>
          <p:cNvPr id="37" name="曲线连接符 36"/>
          <p:cNvCxnSpPr>
            <a:stCxn id="24" idx="3"/>
            <a:endCxn id="36" idx="1"/>
          </p:cNvCxnSpPr>
          <p:nvPr userDrawn="1"/>
        </p:nvCxnSpPr>
        <p:spPr>
          <a:xfrm>
            <a:off x="8672830" y="3725545"/>
            <a:ext cx="647700" cy="3175"/>
          </a:xfrm>
          <a:prstGeom prst="curvedConnector2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 userDrawn="1"/>
        </p:nvSpPr>
        <p:spPr>
          <a:xfrm>
            <a:off x="1743349" y="4941258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前台读者书籍检索</a:t>
            </a:r>
            <a:endParaRPr lang="zh-CN" altLang="en-US"/>
          </a:p>
        </p:txBody>
      </p:sp>
      <p:sp>
        <p:nvSpPr>
          <p:cNvPr id="39" name="圆角矩形 38"/>
          <p:cNvSpPr/>
          <p:nvPr userDrawn="1"/>
        </p:nvSpPr>
        <p:spPr>
          <a:xfrm>
            <a:off x="1743349" y="5748885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前台读者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</a:rPr>
              <a:t>借阅申请</a:t>
            </a:r>
            <a:endParaRPr lang="zh-CN" altLang="en-US"/>
          </a:p>
        </p:txBody>
      </p:sp>
      <p:cxnSp>
        <p:nvCxnSpPr>
          <p:cNvPr id="40" name="曲线连接符 39"/>
          <p:cNvCxnSpPr>
            <a:stCxn id="26" idx="1"/>
            <a:endCxn id="38" idx="3"/>
          </p:cNvCxnSpPr>
          <p:nvPr userDrawn="1"/>
        </p:nvCxnSpPr>
        <p:spPr>
          <a:xfrm rot="10800000">
            <a:off x="3205480" y="5281930"/>
            <a:ext cx="313690" cy="467360"/>
          </a:xfrm>
          <a:prstGeom prst="curved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曲线连接符 40"/>
          <p:cNvCxnSpPr>
            <a:stCxn id="26" idx="1"/>
            <a:endCxn id="39" idx="3"/>
          </p:cNvCxnSpPr>
          <p:nvPr userDrawn="1"/>
        </p:nvCxnSpPr>
        <p:spPr>
          <a:xfrm rot="10800000" flipV="1">
            <a:off x="3205480" y="5749290"/>
            <a:ext cx="313690" cy="339725"/>
          </a:xfrm>
          <a:prstGeom prst="curved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 userDrawn="1"/>
        </p:nvSpPr>
        <p:spPr>
          <a:xfrm>
            <a:off x="9448084" y="4941210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书籍超期计算</a:t>
            </a:r>
            <a:endParaRPr lang="zh-CN" altLang="en-US"/>
          </a:p>
        </p:txBody>
      </p:sp>
      <p:sp>
        <p:nvSpPr>
          <p:cNvPr id="43" name="圆角矩形 42"/>
          <p:cNvSpPr/>
          <p:nvPr userDrawn="1"/>
        </p:nvSpPr>
        <p:spPr>
          <a:xfrm>
            <a:off x="9448084" y="5748837"/>
            <a:ext cx="1462360" cy="68035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>
            <a:solidFill>
              <a:schemeClr val="accent4">
                <a:lumMod val="40000"/>
                <a:lumOff val="6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归还库存回补</a:t>
            </a:r>
            <a:endParaRPr lang="zh-CN" altLang="en-US"/>
          </a:p>
        </p:txBody>
      </p:sp>
      <p:cxnSp>
        <p:nvCxnSpPr>
          <p:cNvPr id="44" name="曲线连接符 43"/>
          <p:cNvCxnSpPr>
            <a:stCxn id="25" idx="3"/>
            <a:endCxn id="42" idx="1"/>
          </p:cNvCxnSpPr>
          <p:nvPr userDrawn="1"/>
        </p:nvCxnSpPr>
        <p:spPr>
          <a:xfrm flipV="1">
            <a:off x="8672195" y="5281295"/>
            <a:ext cx="775970" cy="467995"/>
          </a:xfrm>
          <a:prstGeom prst="curved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曲线连接符 44"/>
          <p:cNvCxnSpPr>
            <a:stCxn id="25" idx="3"/>
            <a:endCxn id="43" idx="1"/>
          </p:cNvCxnSpPr>
          <p:nvPr userDrawn="1"/>
        </p:nvCxnSpPr>
        <p:spPr>
          <a:xfrm>
            <a:off x="8672195" y="5749290"/>
            <a:ext cx="775970" cy="339725"/>
          </a:xfrm>
          <a:prstGeom prst="curved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系统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运行概览</a:t>
            </a:r>
            <a:endParaRPr lang="zh-CN" altLang="en-US">
              <a:latin typeface="MiSans DemiBold" charset="0"/>
              <a:ea typeface="MiSans Medium" panose="00000600000000000000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570189" y="1680452"/>
            <a:ext cx="1147189" cy="508824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管理员</a:t>
            </a:r>
            <a:endParaRPr lang="zh-CN" altLang="en-US" sz="2400"/>
          </a:p>
        </p:txBody>
      </p:sp>
      <p:pic>
        <p:nvPicPr>
          <p:cNvPr id="7" name="图片 6" descr="post_object_image_35149227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2" y="2432848"/>
            <a:ext cx="5636628" cy="341039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8323573" y="1680452"/>
            <a:ext cx="1402080" cy="508743"/>
          </a:xfrm>
          <a:prstGeom prst="rect">
            <a:avLst/>
          </a:prstGeom>
        </p:spPr>
        <p:txBody>
          <a:bodyPr wrap="square" rtlCol="0">
            <a:no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>
                <a:solidFill>
                  <a:schemeClr val="tx1"/>
                </a:solidFill>
              </a:rPr>
              <a:t>前台读者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0" name="图片 9" descr="post_object_image_28181629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612" y="2432890"/>
            <a:ext cx="5683900" cy="34103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系统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运行概览</a:t>
            </a:r>
            <a:endParaRPr lang="zh-CN" altLang="en-US">
              <a:latin typeface="MiSans DemiBold" charset="0"/>
              <a:ea typeface="MiSans Medium" panose="00000600000000000000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570189" y="1680452"/>
            <a:ext cx="1147189" cy="508824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管理员</a:t>
            </a:r>
            <a:endParaRPr lang="zh-CN" altLang="en-US" sz="24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8323573" y="1680452"/>
            <a:ext cx="1402080" cy="508743"/>
          </a:xfrm>
          <a:prstGeom prst="rect">
            <a:avLst/>
          </a:prstGeom>
        </p:spPr>
        <p:txBody>
          <a:bodyPr wrap="square" rtlCol="0">
            <a:no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>
                <a:solidFill>
                  <a:schemeClr val="tx1"/>
                </a:solidFill>
              </a:rPr>
              <a:t>前台读者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3" name="图片 2" descr="post_object_image_17539471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454" y="2325186"/>
            <a:ext cx="5250317" cy="2771652"/>
          </a:xfrm>
          <a:prstGeom prst="rect">
            <a:avLst/>
          </a:prstGeom>
        </p:spPr>
      </p:pic>
      <p:pic>
        <p:nvPicPr>
          <p:cNvPr id="4" name="图片 3" descr="post_object_image_903023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9" y="2325200"/>
            <a:ext cx="5195350" cy="277162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5184140" y="2205355"/>
            <a:ext cx="5876182" cy="2332990"/>
          </a:xfrm>
        </p:spPr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单元测试与深入分析(苏一涵)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测试对象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600" y="3144969"/>
            <a:ext cx="3454400" cy="3103431"/>
          </a:xfrm>
        </p:spPr>
        <p:txBody>
          <a:bodyPr/>
          <a:p>
            <a:r>
              <a:rPr lang="zh-CN" altLang="en-US" b="1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b="1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同时包含“查询、判断、循环、分页、状态转换”四类典型控制流。这类逻辑最适合展示覆盖率和边界测试。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>
          <a:xfrm>
            <a:off x="4368800" y="3144969"/>
            <a:ext cx="3454400" cy="3103431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这个类除了查询，还包含用户信息、图书信息、借书日期、归还日期的组合逻辑，能很好地体现数据加工过程。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>
          <a:xfrm>
            <a:off x="8128000" y="3144969"/>
            <a:ext cx="3454400" cy="3103431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8432807" y="4173748"/>
            <a:ext cx="2844800" cy="1828800"/>
          </a:xfrm>
        </p:spPr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有正常登录、修改、借书、还书，也有空值、异常值、边界值。这个类最能体现业务流程，因为它不仅是查询，还包含 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session、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写库、删库和分页逻辑，最全面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21" name="图片 20" descr="post_object_image_8350686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031" y="3164113"/>
            <a:ext cx="2295525" cy="352425"/>
          </a:xfrm>
          <a:prstGeom prst="rect">
            <a:avLst/>
          </a:prstGeom>
        </p:spPr>
      </p:pic>
      <p:pic>
        <p:nvPicPr>
          <p:cNvPr id="23" name="图片 22" descr="post_object_image_26616564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1799" y="3145016"/>
            <a:ext cx="3381375" cy="371475"/>
          </a:xfrm>
          <a:prstGeom prst="rect">
            <a:avLst/>
          </a:prstGeom>
        </p:spPr>
      </p:pic>
      <p:pic>
        <p:nvPicPr>
          <p:cNvPr id="25" name="图片 24" descr="post_object_image_1023888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2334" y="3164127"/>
            <a:ext cx="2028825" cy="33337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27024" y="1241959"/>
            <a:ext cx="10675231" cy="645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本次汇报选取服务层作为单元测试对象，原因是服务层直接承载业务规则，适合做程序流图、基本路径、边界值和覆盖率演示。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而在</a:t>
            </a:r>
            <a:r>
              <a:rPr lang="en-US" altLang="zh-CN"/>
              <a:t>service</a:t>
            </a:r>
            <a:r>
              <a:rPr lang="zh-CN" altLang="en-US"/>
              <a:t>层中我选取了三个最有代表性的类进行单元测试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程序流程图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8" name="图片 7" descr="post_object_image_6891442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447" y="170359"/>
            <a:ext cx="4272659" cy="6687641"/>
          </a:xfrm>
          <a:prstGeom prst="rect">
            <a:avLst/>
          </a:prstGeom>
        </p:spPr>
      </p:pic>
      <p:pic>
        <p:nvPicPr>
          <p:cNvPr id="10" name="图片 9" descr="post_object_image_37094471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89" y="1665770"/>
            <a:ext cx="4781550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7896" y="1999808"/>
            <a:ext cx="1936547" cy="205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/>
          </a:p>
          <a:p>
            <a:r>
              <a:rPr lang="en-US" altLang="zh-CN"/>
              <a:t>findBooksByCategoryId.java </a:t>
            </a:r>
            <a:r>
              <a:rPr lang="zh-CN" altLang="en-US"/>
              <a:t>里有 </a:t>
            </a:r>
            <a:r>
              <a:rPr lang="zh-CN" altLang="en-US">
                <a:solidFill>
                  <a:schemeClr val="tx1"/>
                </a:solidFill>
              </a:rPr>
              <a:t>4个</a:t>
            </a:r>
            <a:r>
              <a:rPr lang="en-US" altLang="zh-CN">
                <a:solidFill>
                  <a:schemeClr val="tx1"/>
                </a:solidFill>
              </a:rPr>
              <a:t>if</a:t>
            </a:r>
            <a:endParaRPr lang="zh-CN" altLang="en-US"/>
          </a:p>
          <a:p>
            <a:r>
              <a:rPr lang="zh-CN" altLang="en-US"/>
              <a:t>故环形复杂度=</a:t>
            </a:r>
            <a:r>
              <a:rPr lang="en-US" altLang="zh-CN"/>
              <a:t>4</a:t>
            </a:r>
            <a:r>
              <a:rPr lang="zh-CN" altLang="en-US"/>
              <a:t>+</a:t>
            </a:r>
            <a:r>
              <a:rPr lang="en-US" altLang="zh-CN"/>
              <a:t>1</a:t>
            </a:r>
            <a:r>
              <a:rPr lang="zh-CN" altLang="en-US"/>
              <a:t>=</a:t>
            </a:r>
            <a:r>
              <a:rPr lang="en-US" altLang="zh-CN"/>
              <a:t>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selectBooksByBookPartInfo </a:t>
            </a:r>
            <a:r>
              <a:rPr lang="zh-CN" altLang="en-US"/>
              <a:t>里有 </a:t>
            </a:r>
            <a:r>
              <a:rPr lang="en-US" altLang="zh-CN"/>
              <a:t>2</a:t>
            </a:r>
            <a:r>
              <a:rPr lang="zh-CN" altLang="en-US">
                <a:solidFill>
                  <a:schemeClr val="tx1"/>
                </a:solidFill>
              </a:rPr>
              <a:t>个</a:t>
            </a:r>
            <a:r>
              <a:rPr lang="en-US" altLang="zh-CN">
                <a:solidFill>
                  <a:schemeClr val="tx1"/>
                </a:solidFill>
              </a:rPr>
              <a:t>if</a:t>
            </a:r>
            <a:endParaRPr lang="en-US" altLang="zh-CN"/>
          </a:p>
          <a:p>
            <a:r>
              <a:rPr lang="zh-CN" altLang="en-US"/>
              <a:t>故环形复杂度=</a:t>
            </a:r>
            <a:r>
              <a:rPr lang="en-US" altLang="zh-CN"/>
              <a:t>2</a:t>
            </a:r>
            <a:r>
              <a:rPr lang="zh-CN" altLang="en-US"/>
              <a:t>+</a:t>
            </a:r>
            <a:r>
              <a:rPr lang="en-US" altLang="zh-CN"/>
              <a:t>1</a:t>
            </a:r>
            <a:r>
              <a:rPr lang="zh-CN" altLang="en-US"/>
              <a:t>=</a:t>
            </a:r>
            <a:r>
              <a:rPr lang="en-US" altLang="zh-CN"/>
              <a:t>3</a:t>
            </a:r>
            <a:endParaRPr lang="zh-CN" altLang="en-US"/>
          </a:p>
        </p:txBody>
      </p:sp>
      <p:pic>
        <p:nvPicPr>
          <p:cNvPr id="21" name="图片 20" descr="post_object_image_8350686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94" y="1315857"/>
            <a:ext cx="2295525" cy="352425"/>
          </a:xfrm>
          <a:prstGeom prst="rect">
            <a:avLst/>
          </a:prstGeom>
        </p:spPr>
      </p:pic>
      <p:pic>
        <p:nvPicPr>
          <p:cNvPr id="13" name="图片 12" descr="post_object_image_29046581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4433" y="1665770"/>
            <a:ext cx="4940223" cy="3766827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程序流程图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896" y="1999808"/>
            <a:ext cx="1936547" cy="205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selectAllByPage：</a:t>
            </a:r>
            <a:r>
              <a:rPr lang="zh-CN" altLang="en-US"/>
              <a:t>复杂度 = 3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selectAllBorrowRecord：</a:t>
            </a:r>
            <a:r>
              <a:rPr lang="zh-CN" altLang="en-US"/>
              <a:t>复杂度 = 3</a:t>
            </a:r>
            <a:endParaRPr lang="zh-CN" altLang="en-US"/>
          </a:p>
        </p:txBody>
      </p:sp>
      <p:pic>
        <p:nvPicPr>
          <p:cNvPr id="23" name="图片 22" descr="post_object_image_26616564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3" y="1306332"/>
            <a:ext cx="3381375" cy="371475"/>
          </a:xfrm>
          <a:prstGeom prst="rect">
            <a:avLst/>
          </a:prstGeom>
        </p:spPr>
      </p:pic>
      <p:pic>
        <p:nvPicPr>
          <p:cNvPr id="13" name="图片 12" descr="post_object_image_5568814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745" y="75709"/>
            <a:ext cx="3170818" cy="6714673"/>
          </a:xfrm>
          <a:prstGeom prst="rect">
            <a:avLst/>
          </a:prstGeom>
        </p:spPr>
      </p:pic>
      <p:pic>
        <p:nvPicPr>
          <p:cNvPr id="15" name="图片 14" descr="post_object_image_17423136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334" y="1783666"/>
            <a:ext cx="4579578" cy="5006741"/>
          </a:xfrm>
          <a:prstGeom prst="rect">
            <a:avLst/>
          </a:prstGeom>
        </p:spPr>
      </p:pic>
      <p:pic>
        <p:nvPicPr>
          <p:cNvPr id="16" name="图片 15" descr="post_object_image_36886985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839" y="1783666"/>
            <a:ext cx="4438650" cy="48006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程序流程图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896" y="1999808"/>
            <a:ext cx="3932611" cy="20107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findUserByUserName：</a:t>
            </a:r>
            <a:r>
              <a:rPr lang="zh-CN" altLang="en-US"/>
              <a:t>复杂度=</a:t>
            </a:r>
            <a:r>
              <a:rPr lang="en-US" altLang="zh-CN"/>
              <a:t>1</a:t>
            </a:r>
            <a:endParaRPr lang="en-US" altLang="zh-CN"/>
          </a:p>
          <a:p>
            <a:r>
              <a:rPr lang="en-US" altLang="zh-CN"/>
              <a:t>findAllDepts：</a:t>
            </a:r>
            <a:r>
              <a:rPr lang="zh-CN" altLang="en-US"/>
              <a:t>复杂度=</a:t>
            </a:r>
            <a:r>
              <a:rPr lang="en-US" altLang="zh-CN"/>
              <a:t>1</a:t>
            </a:r>
            <a:endParaRPr lang="en-US" altLang="zh-CN"/>
          </a:p>
          <a:p>
            <a:r>
              <a:rPr lang="en-US" altLang="zh-CN"/>
              <a:t>userLogin：</a:t>
            </a:r>
            <a:r>
              <a:rPr lang="zh-CN" altLang="en-US"/>
              <a:t>复杂度=</a:t>
            </a:r>
            <a:r>
              <a:rPr lang="en-US" altLang="zh-CN"/>
              <a:t>3</a:t>
            </a:r>
            <a:endParaRPr lang="en-US" altLang="zh-CN"/>
          </a:p>
          <a:p>
            <a:r>
              <a:rPr lang="en-US" altLang="zh-CN"/>
              <a:t>updateUser：</a:t>
            </a:r>
            <a:r>
              <a:rPr lang="zh-CN" altLang="en-US"/>
              <a:t>复杂度=</a:t>
            </a:r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findAllBorrowingBooks：</a:t>
            </a:r>
            <a:r>
              <a:rPr lang="zh-CN" altLang="en-US"/>
              <a:t>复杂度=</a:t>
            </a:r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userReturnBook：</a:t>
            </a:r>
            <a:r>
              <a:rPr lang="zh-CN" altLang="en-US"/>
              <a:t>复杂度=</a:t>
            </a:r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userBorrowingBook：</a:t>
            </a:r>
            <a:r>
              <a:rPr lang="zh-CN" altLang="en-US"/>
              <a:t>复杂度=</a:t>
            </a:r>
            <a:r>
              <a:rPr lang="en-US" altLang="zh-CN"/>
              <a:t>4</a:t>
            </a:r>
            <a:endParaRPr lang="en-US" altLang="zh-CN"/>
          </a:p>
          <a:p>
            <a:r>
              <a:rPr lang="en-US" altLang="zh-CN"/>
              <a:t>findUserByPage：</a:t>
            </a:r>
            <a:r>
              <a:rPr lang="zh-CN" altLang="en-US"/>
              <a:t>复杂度=</a:t>
            </a:r>
            <a:r>
              <a:rPr lang="en-US" altLang="zh-CN"/>
              <a:t>1</a:t>
            </a:r>
            <a:endParaRPr lang="en-US" altLang="zh-CN"/>
          </a:p>
          <a:p>
            <a:r>
              <a:rPr lang="en-US" altLang="zh-CN"/>
              <a:t>insertUser：</a:t>
            </a:r>
            <a:r>
              <a:rPr lang="zh-CN" altLang="en-US"/>
              <a:t>复杂度=</a:t>
            </a:r>
            <a:r>
              <a:rPr lang="en-US" altLang="zh-CN"/>
              <a:t>1</a:t>
            </a:r>
            <a:endParaRPr lang="en-US" altLang="zh-CN"/>
          </a:p>
          <a:p>
            <a:r>
              <a:rPr lang="en-US" altLang="zh-CN"/>
              <a:t>deleteUserById：</a:t>
            </a:r>
            <a:r>
              <a:rPr lang="zh-CN" altLang="en-US"/>
              <a:t>复杂度=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3" name="图片 2" descr="post_object_image_10948337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500" y="881330"/>
            <a:ext cx="6372225" cy="4800600"/>
          </a:xfrm>
          <a:prstGeom prst="rect">
            <a:avLst/>
          </a:prstGeom>
        </p:spPr>
      </p:pic>
      <p:pic>
        <p:nvPicPr>
          <p:cNvPr id="9" name="图片 8" descr="post_object_image_12508074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89" y="1325382"/>
            <a:ext cx="2028825" cy="3333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测试用例设计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524760"/>
          <a:ext cx="10591800" cy="3029585"/>
        </p:xfrm>
        <a:graphic>
          <a:graphicData uri="http://schemas.openxmlformats.org/drawingml/2006/table">
            <a:tbl>
              <a:tblPr/>
              <a:tblGrid>
                <a:gridCol w="2118360"/>
                <a:gridCol w="2118360"/>
                <a:gridCol w="2118360"/>
                <a:gridCol w="2118360"/>
                <a:gridCol w="2118360"/>
              </a:tblGrid>
              <a:tr h="4000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用例编号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测试方法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测试目标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输入/条件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预期结果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</a:tr>
              <a:tr h="6299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selectBooksByBookPartInfo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空查询结果处理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partInfo = 不存在，bookMapper 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返回空列表，不抛异常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99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TC-B2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selectBooksByBookPartInfo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可借状态判断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查询到 1 本书，借阅记录为空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BookVo.isExist = 可借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TC-B3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selectBooksByBookPartInfo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不可借状态判断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查询到 1 本书，借阅记录非空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BookVo.isExist = 不可借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TC-B4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findBooksByCategoryId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空分页结果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categoryId 正常，查询书籍为空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pageNum=1，pageCount=1，list 为空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TC-B5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findBooksByCategoryId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分页边界测试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总记录数 = 11，pageNum = 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pageCount = 2，返回前 10 条数据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TC-B6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findBooksByCategoryId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借阅状态混合判断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查询到多本书，其中部分已借出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每本书状态分别正确标记为 可借/不可借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1" name="图片 20" descr="post_object_image_835068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94" y="1315857"/>
            <a:ext cx="2295525" cy="3524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测试用例设计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23" name="图片 22" descr="post_object_image_26616564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3" y="1306332"/>
            <a:ext cx="3381375" cy="37147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/>
        </p:nvGraphicFramePr>
        <p:xfrm>
          <a:off x="609600" y="2456180"/>
          <a:ext cx="10690225" cy="3164205"/>
        </p:xfrm>
        <a:graphic>
          <a:graphicData uri="http://schemas.openxmlformats.org/drawingml/2006/table">
            <a:tbl>
              <a:tblPr/>
              <a:tblGrid>
                <a:gridCol w="2138045"/>
                <a:gridCol w="2138045"/>
                <a:gridCol w="2138045"/>
                <a:gridCol w="2138045"/>
                <a:gridCol w="2138045"/>
              </a:tblGrid>
              <a:tr h="3879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用例编号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测试方法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测试目标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输入/条件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预期结果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TC-BR1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selectAllByPage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空记录分支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borrowingBooksMapper 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方法返回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TC-BR2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selectAllByPage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正常分页查询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pageNum = 1，返回 1 条记录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Page 对象，pageNum=1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611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TC-BR3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selectAllByPage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日期格式转换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借书日期为 2026-01-15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借书日期显示为 2026-01-15，还书日期为 2026-03-15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TC-BR4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selectAllByPage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总页数计算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总记录数 = 11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pageCount = 2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TC-BR5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selectAllBorrowRecord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session 为空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request 中没有 user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611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TC-BR6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selectAllBorrowRecord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用户借阅记录存在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session 中有 user，借阅记录存在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返回借阅记录列表，书籍和日期信息正确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测试用例设计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9" name="图片 8" descr="post_object_image_12508074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9" y="1325382"/>
            <a:ext cx="2028825" cy="33337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/>
        </p:nvGraphicFramePr>
        <p:xfrm>
          <a:off x="609620" y="2054096"/>
          <a:ext cx="11277600" cy="4579620"/>
        </p:xfrm>
        <a:graphic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371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用例编号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测试方法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测试目标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输入/条件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预期结果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</a:tr>
              <a:tr h="337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userLogin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登录成功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用户名正确，密码正确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返回该用户对象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TC-U2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userLogin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密码错误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用户名正确，密码错误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TC-U3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userLogin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用户不存在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findUserByUserName 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null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531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TC-U4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updateUser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修改成功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session 中有 user，updateByPrimaryKey 返回 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true，session 中 user 被刷新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TC-U5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updateUser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修改失败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updateByPrimaryKey 返回 0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false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TC-U6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userBorrowingBook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书已借出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borrowingBooksMapper 查询到记录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false，不插入新记录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TC-U7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userBorrowingBook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借书成功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借阅记录为空，insert 返回 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true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TC-U8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userBorrowingBook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插入失败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借阅记录为空，insert 返回 0 或抛异常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false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TC-U9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userReturnBook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还书成功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删除记录成功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true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TC-U10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userReturnBook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还书失败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删除记录数 = 0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 false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TC-U11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findUserByPage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分页边界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用户总数 = 11，pageNum = 2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pageCount = 2，返回第 2 页用户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TC-U12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Segoe WPC" charset="0"/>
                        </a:rPr>
                        <a:t>findAllDepts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查询所有部门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departmentMapper 正常返回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ea typeface="Segoe WPC"/>
                        </a:rPr>
                        <a:t>返回部门列表</a:t>
                      </a:r>
                      <a:endParaRPr lang="zh-CN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50800" marB="5080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635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测试</a:t>
            </a:r>
            <a:r>
              <a:rPr lang="zh-CN" altLang="en-US"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结果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9" name="图片 8" descr="post_object_image_12508074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9" y="1325382"/>
            <a:ext cx="2028825" cy="333375"/>
          </a:xfrm>
          <a:prstGeom prst="rect">
            <a:avLst/>
          </a:prstGeom>
        </p:spPr>
      </p:pic>
      <p:pic>
        <p:nvPicPr>
          <p:cNvPr id="3" name="图片 2" descr="post_object_image_7287841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3" y="2820451"/>
            <a:ext cx="6589119" cy="2029684"/>
          </a:xfrm>
          <a:prstGeom prst="rect">
            <a:avLst/>
          </a:prstGeom>
        </p:spPr>
      </p:pic>
      <p:pic>
        <p:nvPicPr>
          <p:cNvPr id="6" name="图片 5" descr="post_object_image_5610386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993" y="260845"/>
            <a:ext cx="4751839" cy="6140838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测试</a:t>
            </a:r>
            <a:r>
              <a:rPr lang="zh-CN" altLang="en-US"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结果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5" name="图片 4" descr="post_object_image_39754089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83" y="2355136"/>
            <a:ext cx="6137185" cy="2335692"/>
          </a:xfrm>
          <a:prstGeom prst="rect">
            <a:avLst/>
          </a:prstGeom>
        </p:spPr>
      </p:pic>
      <p:pic>
        <p:nvPicPr>
          <p:cNvPr id="7" name="图片 6" descr="post_object_image_22751683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363" y="85533"/>
            <a:ext cx="5735637" cy="6599911"/>
          </a:xfrm>
          <a:prstGeom prst="rect">
            <a:avLst/>
          </a:prstGeom>
        </p:spPr>
      </p:pic>
      <p:pic>
        <p:nvPicPr>
          <p:cNvPr id="23" name="图片 22" descr="post_object_image_26616564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33" y="1306332"/>
            <a:ext cx="3381375" cy="371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测试</a:t>
            </a:r>
            <a:r>
              <a:rPr lang="zh-CN" altLang="en-US"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结果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58820" y="1200468"/>
            <a:ext cx="50800" cy="583198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9" name="图片 8" descr="post_object_image_12508074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9" y="1325382"/>
            <a:ext cx="2028825" cy="333375"/>
          </a:xfrm>
          <a:prstGeom prst="rect">
            <a:avLst/>
          </a:prstGeom>
        </p:spPr>
      </p:pic>
      <p:pic>
        <p:nvPicPr>
          <p:cNvPr id="3" name="图片 2" descr="post_object_image_28225682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24" y="1990584"/>
            <a:ext cx="4869805" cy="2527298"/>
          </a:xfrm>
          <a:prstGeom prst="rect">
            <a:avLst/>
          </a:prstGeom>
        </p:spPr>
      </p:pic>
      <p:pic>
        <p:nvPicPr>
          <p:cNvPr id="6" name="图片 5" descr="post_object_image_205066058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515" y="124832"/>
            <a:ext cx="5260453" cy="6435117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覆盖率测试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7" name="图片占位符 16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pic>
        <p:nvPicPr>
          <p:cNvPr id="25" name="图片 24" descr="post_object_image_42691469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0909" y="1585601"/>
            <a:ext cx="7650181" cy="4064159"/>
          </a:xfrm>
          <a:prstGeom prst="rect">
            <a:avLst/>
          </a:prstGeom>
        </p:spPr>
      </p:pic>
      <p:sp>
        <p:nvSpPr>
          <p:cNvPr id="26" name="文本框 25"/>
          <p:cNvSpPr txBox="1"/>
          <p:nvPr userDrawn="1"/>
        </p:nvSpPr>
        <p:spPr>
          <a:xfrm>
            <a:off x="2438400" y="1215997"/>
            <a:ext cx="7315200" cy="36830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/>
              <a:t>使用</a:t>
            </a:r>
            <a:r>
              <a:rPr lang="en-US" altLang="zh-CN"/>
              <a:t>IDEA</a:t>
            </a:r>
            <a:r>
              <a:rPr lang="zh-CN" altLang="en-US"/>
              <a:t>的插件</a:t>
            </a:r>
            <a:r>
              <a:rPr lang="en-US" altLang="zh-CN"/>
              <a:t>Runcoverage</a:t>
            </a:r>
            <a:r>
              <a:rPr lang="zh-CN" altLang="en-US"/>
              <a:t>来测试程序测试的覆盖率。结果如下：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78958" y="5776895"/>
            <a:ext cx="10478738" cy="147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BookServiceImpl </a:t>
            </a:r>
            <a:r>
              <a:rPr lang="zh-CN" altLang="en-US"/>
              <a:t>和 </a:t>
            </a:r>
            <a:r>
              <a:rPr lang="en-US" altLang="zh-CN"/>
              <a:t>BorrowingBooksRecordServiceImpl </a:t>
            </a:r>
            <a:r>
              <a:rPr lang="zh-CN" altLang="en-US"/>
              <a:t>的类覆盖率与方法覆盖率均达到 100%，说明核心业务路径已被充分测试；</a:t>
            </a:r>
            <a:r>
              <a:rPr lang="en-US" altLang="zh-CN"/>
              <a:t>UserServiceImpl </a:t>
            </a:r>
            <a:r>
              <a:rPr lang="zh-CN" altLang="en-US"/>
              <a:t>因业务方法较多，当前测试主要覆盖核心借还书流程，因此方法覆盖率相对较低，后续可通过补充查询、插入和删除类测试进一步提升覆盖率。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覆盖率测试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7" name="图片占位符 16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sp>
        <p:nvSpPr>
          <p:cNvPr id="26" name="文本框 25"/>
          <p:cNvSpPr txBox="1"/>
          <p:nvPr userDrawn="1"/>
        </p:nvSpPr>
        <p:spPr>
          <a:xfrm>
            <a:off x="2438400" y="1215997"/>
            <a:ext cx="7315200" cy="36830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jacoco测试</a:t>
            </a:r>
            <a:r>
              <a:rPr lang="zh-CN" altLang="en-US"/>
              <a:t>结果如下：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78958" y="5776895"/>
            <a:ext cx="10478738" cy="147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BookServiceImpl </a:t>
            </a:r>
            <a:r>
              <a:rPr lang="zh-CN" altLang="en-US"/>
              <a:t>和 </a:t>
            </a:r>
            <a:r>
              <a:rPr lang="en-US" altLang="zh-CN"/>
              <a:t>BorrowingBooksRecordServiceImpl </a:t>
            </a:r>
            <a:r>
              <a:rPr lang="zh-CN" altLang="en-US"/>
              <a:t>的类覆盖率与方法覆盖率均达到接近100%，说明核心业务路径已被充分测试；</a:t>
            </a:r>
            <a:r>
              <a:rPr lang="en-US" altLang="zh-CN"/>
              <a:t>UserServiceImpl </a:t>
            </a:r>
            <a:r>
              <a:rPr lang="en-US" altLang="zh-CN">
                <a:solidFill>
                  <a:schemeClr val="tx1"/>
                </a:solidFill>
              </a:rPr>
              <a:t>只有65%说明有</a:t>
            </a:r>
            <a:r>
              <a:rPr lang="zh-CN" altLang="en-US">
                <a:solidFill>
                  <a:schemeClr val="tx1"/>
                </a:solidFill>
              </a:rPr>
              <a:t>一些业务没有被测试到。</a:t>
            </a:r>
            <a:endParaRPr lang="en-US" altLang="zh-CN"/>
          </a:p>
        </p:txBody>
      </p:sp>
      <p:pic>
        <p:nvPicPr>
          <p:cNvPr id="4" name="图片 3" descr="post_object_image_15288030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1724025"/>
            <a:ext cx="8534400" cy="34099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覆盖率测试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7" name="图片占位符 16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sp>
        <p:nvSpPr>
          <p:cNvPr id="26" name="文本框 25"/>
          <p:cNvSpPr txBox="1"/>
          <p:nvPr userDrawn="1"/>
        </p:nvSpPr>
        <p:spPr>
          <a:xfrm>
            <a:off x="1044940" y="1215914"/>
            <a:ext cx="7315200" cy="36830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jacoco测试</a:t>
            </a:r>
            <a:r>
              <a:rPr lang="zh-CN" altLang="en-US"/>
              <a:t>结果如下：</a:t>
            </a:r>
            <a:endParaRPr lang="zh-CN" altLang="en-US"/>
          </a:p>
        </p:txBody>
      </p:sp>
      <p:pic>
        <p:nvPicPr>
          <p:cNvPr id="5" name="图片 4" descr="post_object_image_41770209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774" y="1635824"/>
            <a:ext cx="5000625" cy="4800600"/>
          </a:xfrm>
          <a:prstGeom prst="rect">
            <a:avLst/>
          </a:prstGeom>
        </p:spPr>
      </p:pic>
      <p:pic>
        <p:nvPicPr>
          <p:cNvPr id="6" name="图片 5" descr="post_object_image_16337812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7158" y="1105560"/>
            <a:ext cx="3417347" cy="590269"/>
          </a:xfrm>
          <a:prstGeom prst="rect">
            <a:avLst/>
          </a:prstGeom>
        </p:spPr>
      </p:pic>
      <p:pic>
        <p:nvPicPr>
          <p:cNvPr id="7" name="图片 6" descr="post_object_image_13460599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7188" y="1877465"/>
            <a:ext cx="4178673" cy="799276"/>
          </a:xfrm>
          <a:prstGeom prst="rect">
            <a:avLst/>
          </a:prstGeom>
        </p:spPr>
      </p:pic>
      <p:pic>
        <p:nvPicPr>
          <p:cNvPr id="8" name="图片 7" descr="post_object_image_21173485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09" y="2862796"/>
            <a:ext cx="4843819" cy="807303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6751955" y="4114165"/>
            <a:ext cx="4423027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可以发现是这四个方法没有测到，而我们之前选定的测试用例确实没有测这几个方法，说明选定的那些用例覆盖了想要测试的方法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覆盖率测试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7" name="图片占位符 16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sp>
        <p:nvSpPr>
          <p:cNvPr id="26" name="文本框 25"/>
          <p:cNvSpPr txBox="1"/>
          <p:nvPr userDrawn="1"/>
        </p:nvSpPr>
        <p:spPr>
          <a:xfrm>
            <a:off x="1044940" y="1215914"/>
            <a:ext cx="7315200" cy="36830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增加</a:t>
            </a:r>
            <a:r>
              <a:rPr lang="en-US" altLang="zh-CN">
                <a:solidFill>
                  <a:schemeClr val="tx1"/>
                </a:solidFill>
              </a:rPr>
              <a:t>userserviceimpltest</a:t>
            </a:r>
            <a:r>
              <a:rPr lang="zh-CN" altLang="en-US">
                <a:solidFill>
                  <a:schemeClr val="tx1"/>
                </a:solidFill>
              </a:rPr>
              <a:t>的测试用例</a:t>
            </a:r>
            <a:r>
              <a:rPr lang="zh-CN" altLang="en-US"/>
              <a:t>如下：</a:t>
            </a:r>
            <a:endParaRPr lang="zh-CN" altLang="en-US"/>
          </a:p>
        </p:txBody>
      </p:sp>
      <p:pic>
        <p:nvPicPr>
          <p:cNvPr id="4" name="图片 3" descr="post_object_image_30973488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82" y="1585476"/>
            <a:ext cx="5362575" cy="4800600"/>
          </a:xfrm>
          <a:prstGeom prst="rect">
            <a:avLst/>
          </a:prstGeom>
        </p:spPr>
      </p:pic>
      <p:pic>
        <p:nvPicPr>
          <p:cNvPr id="10" name="图片 9" descr="post_object_image_26793582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234" y="1511838"/>
            <a:ext cx="5606493" cy="1852145"/>
          </a:xfrm>
          <a:prstGeom prst="rect">
            <a:avLst/>
          </a:prstGeom>
        </p:spPr>
      </p:pic>
      <p:pic>
        <p:nvPicPr>
          <p:cNvPr id="11" name="图片 10" descr="post_object_image_7794803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9366" y="3550042"/>
            <a:ext cx="5917284" cy="3077516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边界测试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5" name="图片占位符 14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87059" y="1215997"/>
            <a:ext cx="9014865" cy="147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根据之前的业务代码可以得到三个类的边界情况如下</a:t>
            </a:r>
            <a:endParaRPr lang="zh-CN" altLang="en-US"/>
          </a:p>
          <a:p>
            <a:r>
              <a:rPr lang="zh-CN" altLang="en-US"/>
              <a:t>图书查询：空关键字、空结果、分页总数 0/10/11、借阅记录为空或非空</a:t>
            </a:r>
            <a:endParaRPr lang="zh-CN" altLang="en-US"/>
          </a:p>
          <a:p>
            <a:r>
              <a:rPr lang="zh-CN" altLang="en-US"/>
              <a:t>借阅记录：</a:t>
            </a:r>
            <a:r>
              <a:rPr lang="en-US" altLang="zh-CN"/>
              <a:t>session </a:t>
            </a:r>
            <a:r>
              <a:rPr lang="zh-CN" altLang="en-US"/>
              <a:t>为空、分页总数边界、日期格式化边界</a:t>
            </a:r>
            <a:endParaRPr lang="zh-CN" altLang="en-US"/>
          </a:p>
          <a:p>
            <a:r>
              <a:rPr lang="zh-CN" altLang="en-US"/>
              <a:t>用户服务：空密码、</a:t>
            </a:r>
            <a:r>
              <a:rPr lang="en-US" altLang="zh-CN"/>
              <a:t>session </a:t>
            </a:r>
            <a:r>
              <a:rPr lang="zh-CN" altLang="en-US"/>
              <a:t>用户缺失、已借出无法再借、页数边界、还书失败边界</a:t>
            </a:r>
            <a:endParaRPr lang="zh-CN" altLang="en-US"/>
          </a:p>
        </p:txBody>
      </p:sp>
      <p:pic>
        <p:nvPicPr>
          <p:cNvPr id="6" name="图片 5" descr="post_object_image_24164100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33" y="2630118"/>
            <a:ext cx="4574763" cy="3798486"/>
          </a:xfrm>
          <a:prstGeom prst="rect">
            <a:avLst/>
          </a:prstGeom>
        </p:spPr>
      </p:pic>
      <p:pic>
        <p:nvPicPr>
          <p:cNvPr id="7" name="图片 6" descr="post_object_image_42092794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398" y="2412290"/>
            <a:ext cx="4259345" cy="4234142"/>
          </a:xfrm>
          <a:prstGeom prst="rect">
            <a:avLst/>
          </a:prstGeom>
        </p:spPr>
      </p:pic>
      <p:pic>
        <p:nvPicPr>
          <p:cNvPr id="8" name="图片 7" descr="post_object_image_2655390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366" y="2352140"/>
            <a:ext cx="4747246" cy="45058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边界测试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5" name="图片占位符 14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62149" y="1608983"/>
            <a:ext cx="9014865" cy="147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由之前的测试代码所得到的测试结果如下：</a:t>
            </a:r>
            <a:endParaRPr lang="zh-CN" altLang="en-US"/>
          </a:p>
        </p:txBody>
      </p:sp>
      <p:pic>
        <p:nvPicPr>
          <p:cNvPr id="4" name="图片 3" descr="post_object_image_32623726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2114550"/>
            <a:ext cx="8534400" cy="2628900"/>
          </a:xfrm>
          <a:prstGeom prst="rect">
            <a:avLst/>
          </a:prstGeom>
        </p:spPr>
      </p:pic>
      <p:pic>
        <p:nvPicPr>
          <p:cNvPr id="9" name="图片 8" descr="post_object_image_39298666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2402" y="3085334"/>
            <a:ext cx="8534400" cy="2181225"/>
          </a:xfrm>
          <a:prstGeom prst="rect">
            <a:avLst/>
          </a:prstGeom>
        </p:spPr>
      </p:pic>
      <p:pic>
        <p:nvPicPr>
          <p:cNvPr id="10" name="图片 9" descr="post_object_image_5676810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052" y="4084242"/>
            <a:ext cx="8534400" cy="26193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效能测试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057" y="1376704"/>
            <a:ext cx="1607077" cy="4251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启动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项目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16" name="图片占位符 15"/>
          <p:cNvPicPr/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pic>
        <p:nvPicPr>
          <p:cNvPr id="4" name="图片 3" descr="post_object_image_40399732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82" y="1801887"/>
            <a:ext cx="5262238" cy="3958460"/>
          </a:xfrm>
          <a:prstGeom prst="rect">
            <a:avLst/>
          </a:prstGeom>
        </p:spPr>
      </p:pic>
      <p:pic>
        <p:nvPicPr>
          <p:cNvPr id="6" name="图片 5" descr="post_object_image_28832477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6184" y="1801887"/>
            <a:ext cx="5262228" cy="39584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36188" y="1376704"/>
            <a:ext cx="2586310" cy="4251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执行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多次借书还书操作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15" name="图片 14" descr="post_object_image_10902547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1371" y="5487894"/>
            <a:ext cx="6135279" cy="629962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效能测试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057" y="1376704"/>
            <a:ext cx="9225510" cy="4251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启动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项目，依次登录管理员、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用户系统，将所有操作都执行一遍。</a:t>
            </a:r>
            <a:r>
              <a:rPr lang="zh-CN" altLang="en-US"/>
              <a:t>查看</a:t>
            </a:r>
            <a:r>
              <a:rPr lang="en-US" altLang="zh-CN"/>
              <a:t>CPU</a:t>
            </a:r>
            <a:r>
              <a:rPr lang="zh-CN" altLang="en-US"/>
              <a:t>视图的</a:t>
            </a:r>
            <a:r>
              <a:rPr lang="en-US" altLang="zh-CN"/>
              <a:t>Call Tree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16" name="图片占位符 15"/>
          <p:cNvPicPr/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pic>
        <p:nvPicPr>
          <p:cNvPr id="7" name="图片 6" descr="post_object_image_4903515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0700" y="1801887"/>
            <a:ext cx="6381750" cy="48006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效能测试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057" y="1376704"/>
            <a:ext cx="1607077" cy="4251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内存泄漏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16" name="图片占位符 15"/>
          <p:cNvPicPr/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pic>
        <p:nvPicPr>
          <p:cNvPr id="7" name="图片 6" descr="post_object_image_39932234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57" y="1801841"/>
            <a:ext cx="5275548" cy="3968472"/>
          </a:xfrm>
          <a:prstGeom prst="rect">
            <a:avLst/>
          </a:prstGeom>
        </p:spPr>
      </p:pic>
      <p:pic>
        <p:nvPicPr>
          <p:cNvPr id="8" name="图片 7" descr="post_object_image_26115425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397" y="1804847"/>
            <a:ext cx="5271603" cy="3965505"/>
          </a:xfrm>
          <a:prstGeom prst="rect">
            <a:avLst/>
          </a:prstGeom>
        </p:spPr>
      </p:pic>
      <p:pic>
        <p:nvPicPr>
          <p:cNvPr id="11" name="图片 10" descr="post_object_image_6943962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57" y="2175178"/>
            <a:ext cx="5154058" cy="3877083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6930211" y="1432271"/>
            <a:ext cx="143319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运行</a:t>
            </a:r>
            <a:r>
              <a:rPr lang="en-US" altLang="zh-CN">
                <a:cs typeface="Arial" panose="020B0604020202020204" pitchFamily="34" charset="0"/>
              </a:rPr>
              <a:t>GC</a:t>
            </a:r>
            <a:r>
              <a:rPr lang="zh-CN" altLang="en-US">
                <a:cs typeface="Arial" panose="020B0604020202020204" pitchFamily="34" charset="0"/>
              </a:rPr>
              <a:t>后：</a:t>
            </a:r>
            <a:endParaRPr lang="zh-CN" altLang="en-US"/>
          </a:p>
        </p:txBody>
      </p:sp>
      <p:pic>
        <p:nvPicPr>
          <p:cNvPr id="13" name="图片 12" descr="post_object_image_281471860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0211" y="2135532"/>
            <a:ext cx="5259361" cy="3956296"/>
          </a:xfrm>
          <a:prstGeom prst="rect">
            <a:avLst/>
          </a:prstGeom>
        </p:spPr>
      </p:pic>
      <p:pic>
        <p:nvPicPr>
          <p:cNvPr id="14" name="图片 13" descr="post_object_image_9792030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53" y="2383367"/>
            <a:ext cx="5385223" cy="4050974"/>
          </a:xfrm>
          <a:prstGeom prst="rect">
            <a:avLst/>
          </a:prstGeom>
        </p:spPr>
      </p:pic>
      <p:pic>
        <p:nvPicPr>
          <p:cNvPr id="17" name="图片 16" descr="post_object_image_23494237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0" y="2383367"/>
            <a:ext cx="5429250" cy="4084093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336624" y="453997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效能测试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343863" y="301558"/>
            <a:ext cx="914400" cy="914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6" name="图片占位符 15"/>
          <p:cNvPicPr/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62" y="514918"/>
            <a:ext cx="487680" cy="487680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1765544" y="1453438"/>
            <a:ext cx="326199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运行</a:t>
            </a:r>
            <a:r>
              <a:rPr lang="en-US" altLang="zh-CN">
                <a:cs typeface="Arial" panose="020B0604020202020204" pitchFamily="34" charset="0"/>
              </a:rPr>
              <a:t>GC</a:t>
            </a:r>
            <a:r>
              <a:rPr lang="zh-CN" altLang="en-US">
                <a:cs typeface="Arial" panose="020B0604020202020204" pitchFamily="34" charset="0"/>
              </a:rPr>
              <a:t>后：按相差来排序如下</a:t>
            </a:r>
            <a:endParaRPr lang="zh-CN" altLang="en-US"/>
          </a:p>
        </p:txBody>
      </p:sp>
      <p:pic>
        <p:nvPicPr>
          <p:cNvPr id="4" name="图片 3" descr="post_object_image_15102832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893" y="1822979"/>
            <a:ext cx="6381750" cy="4800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26643" y="2963333"/>
            <a:ext cx="4492308" cy="147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这次 </a:t>
            </a:r>
            <a:r>
              <a:rPr lang="en-US" altLang="zh-CN"/>
              <a:t>JProfiler </a:t>
            </a:r>
            <a:r>
              <a:rPr lang="zh-CN" altLang="en-US"/>
              <a:t>按相差排序后，能更清楚看出对象在两个快照之间的变化。执行 </a:t>
            </a:r>
            <a:r>
              <a:rPr lang="en-US" altLang="zh-CN"/>
              <a:t>GC </a:t>
            </a:r>
            <a:r>
              <a:rPr lang="zh-CN" altLang="en-US"/>
              <a:t>后，整体对象数量明显下降，说明大部分临时对象已经被回收；仍然增长的对象主要集中在集合、框架和运行时对象上，这属于正常运行开销，不一定代表内存泄漏。若同一操作重复多次后这些对象仍持续累积，则需要进一步排查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系统功能测试</a:t>
            </a:r>
            <a:br>
              <a:rPr lang="zh-CN" altLang="en-US">
                <a:latin typeface="MiSans DemiBold" charset="0"/>
                <a:ea typeface="MiSans Medium" panose="00000600000000000000" charset="-122"/>
              </a:rPr>
            </a:br>
            <a:r>
              <a:rPr lang="zh-CN" altLang="en-US">
                <a:latin typeface="MiSans DemiBold" charset="0"/>
                <a:ea typeface="MiSans Medium" panose="00000600000000000000" charset="-122"/>
              </a:rPr>
              <a:t>(张瀚文)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测试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环境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1366023" y="3018606"/>
            <a:ext cx="3454400" cy="3103431"/>
          </a:xfrm>
        </p:spPr>
        <p:txBody>
          <a:bodyPr/>
          <a:p>
            <a:r>
              <a:rPr lang="zh-CN" altLang="en-US" b="1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b="1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>
          <a:xfrm>
            <a:off x="7049704" y="3018606"/>
            <a:ext cx="3454400" cy="3103431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7024" y="1241959"/>
            <a:ext cx="10675231" cy="12250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>
                <a:solidFill>
                  <a:schemeClr val="tx1"/>
                </a:solidFill>
              </a:rPr>
              <a:t>本次测试针对基于 </a:t>
            </a:r>
            <a:r>
              <a:rPr lang="en-US" altLang="zh-CN">
                <a:solidFill>
                  <a:schemeClr val="tx1"/>
                </a:solidFill>
              </a:rPr>
              <a:t>Spring Boot + MyBatis + Thymeleaf </a:t>
            </a:r>
            <a:r>
              <a:rPr lang="zh-CN" altLang="en-US">
                <a:solidFill>
                  <a:schemeClr val="tx1"/>
                </a:solidFill>
              </a:rPr>
              <a:t>技术栈开发的图书管理系统展开，旨在验证系统各功能模块的业务正确性、数据安全性与用户体验，通过自动化测试手段高效发现缺陷。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/>
              <a:t>选择</a:t>
            </a:r>
            <a:r>
              <a:rPr lang="en-US" altLang="zh-CN"/>
              <a:t>Python 3.8+、Chrome </a:t>
            </a:r>
            <a:r>
              <a:rPr lang="zh-CN" altLang="en-US"/>
              <a:t>浏览器</a:t>
            </a:r>
            <a:r>
              <a:rPr lang="en-US" altLang="zh-CN"/>
              <a:t>、Selenium 4.x</a:t>
            </a:r>
            <a:r>
              <a:rPr lang="zh-CN" altLang="en-US"/>
              <a:t>作为 </a:t>
            </a:r>
            <a:r>
              <a:rPr lang="en-US" altLang="zh-CN"/>
              <a:t>UI </a:t>
            </a:r>
            <a:r>
              <a:rPr lang="zh-CN" altLang="en-US"/>
              <a:t>自动化框架实现功能测试</a:t>
            </a:r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512838" y="3702598"/>
            <a:ext cx="3160843" cy="173538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用 </a:t>
            </a:r>
            <a:r>
              <a:rPr lang="en-US" altLang="zh-CN"/>
              <a:t>Selenium </a:t>
            </a:r>
            <a:r>
              <a:rPr lang="zh-CN" altLang="en-US"/>
              <a:t>模拟用户在浏览器中的点击、输入、提交等操作，触发前端向后端发送接口请求，然后通过断言前端页面的展示结果，间接验证后端接口的业务处理是否正确</a:t>
            </a:r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697212" y="3175614"/>
            <a:ext cx="279209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zh-CN" altLang="en-US"/>
              <a:t>核心逻辑</a:t>
            </a:r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7394353" y="3702597"/>
            <a:ext cx="2765193" cy="207025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/>
              <a:t>贴近用户真实场景、覆盖前后端全链路、降低测试门槛、支持跨浏览器兼容性测试、可以集成失败截图等功能，帮助问题定位、高可复用性与可扩展性</a:t>
            </a:r>
            <a:endParaRPr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176750" y="3175614"/>
            <a:ext cx="1137658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核心优点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功能模块划分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4386542" y="1518234"/>
            <a:ext cx="2668407" cy="406400"/>
          </a:xfrm>
        </p:spPr>
        <p:txBody>
          <a:bodyPr>
            <a:normAutofit fontScale="70000"/>
          </a:bodyPr>
          <a:p>
            <a:pPr algn="l">
              <a:lnSpc>
                <a:spcPct val="111000"/>
              </a:lnSpc>
            </a:pPr>
            <a:r>
              <a:rPr lang="zh-CN" altLang="en-US" sz="3300">
                <a:latin typeface="MiSans Medium" panose="00000600000000000000" charset="-122"/>
                <a:ea typeface="MiSans Normal" panose="00000500000000000000" charset="-122"/>
              </a:rPr>
              <a:t>用户赋权与管理模块</a:t>
            </a:r>
            <a:endParaRPr lang="zh-CN" altLang="en-US" sz="33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4386542" y="1924597"/>
            <a:ext cx="3966905" cy="368286"/>
          </a:xfrm>
        </p:spPr>
        <p:txBody>
          <a:bodyPr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800">
                <a:latin typeface="MiSans Medium" panose="00000600000000000000" charset="-122"/>
                <a:ea typeface="MiSans Normal" panose="00000500000000000000" charset="-122"/>
              </a:rPr>
              <a:t>管理员添加读者、管理 / 回收读者权限</a:t>
            </a:r>
            <a:endParaRPr lang="zh-CN" altLang="en-US" sz="1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97331" y="1560574"/>
            <a:ext cx="550297" cy="3217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8000" b="0" u="none" strike="noStrike" kern="1200" cap="none" spc="0" normalizeH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9000"/>
              </a:lnSpc>
            </a:pPr>
            <a:r>
              <a:rPr lang="zh-CN" altLang="en-US" sz="280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z="2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97331" y="2576521"/>
            <a:ext cx="550297" cy="3217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8000" b="0" u="none" strike="noStrike" kern="1200" cap="none" spc="0" normalizeH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9000"/>
              </a:lnSpc>
            </a:pPr>
            <a:r>
              <a:rPr lang="zh-CN" altLang="en-US" sz="280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z="2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97331" y="3592567"/>
            <a:ext cx="550297" cy="3217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8000" b="0" u="none" strike="noStrike" kern="1200" cap="none" spc="0" normalizeH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9000"/>
              </a:lnSpc>
            </a:pPr>
            <a:r>
              <a:rPr lang="zh-CN" altLang="en-US" sz="280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z="2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597331" y="4603755"/>
            <a:ext cx="550297" cy="3217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8000" b="0" u="none" strike="noStrike" kern="1200" cap="none" spc="0" normalizeH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9000"/>
              </a:lnSpc>
            </a:pPr>
            <a:r>
              <a:rPr lang="zh-CN" altLang="en-US" sz="2800">
                <a:latin typeface="MiSans Medium" panose="00000600000000000000" charset="-122"/>
                <a:ea typeface="MiSans Normal" panose="00000500000000000000" charset="-122"/>
              </a:rPr>
              <a:t>0</a:t>
            </a:r>
            <a:r>
              <a:rPr lang="en-US" altLang="zh-CN" sz="2800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4</a:t>
            </a:r>
            <a:endParaRPr lang="zh-CN" altLang="en-US" sz="2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2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86542" y="2534165"/>
            <a:ext cx="2668356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70000"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300">
                <a:latin typeface="MiSans Medium" panose="00000600000000000000" charset="-122"/>
                <a:ea typeface="MiSans Normal" panose="00000500000000000000" charset="-122"/>
              </a:rPr>
              <a:t>图书物资管理模块</a:t>
            </a:r>
            <a:endParaRPr lang="zh-CN" altLang="en-US" sz="33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3" name="文本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86542" y="2940528"/>
            <a:ext cx="2760336" cy="3682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800">
                <a:latin typeface="MiSans Medium" panose="00000600000000000000" charset="-122"/>
                <a:ea typeface="MiSans Normal" panose="00000500000000000000" charset="-122"/>
              </a:rPr>
              <a:t>图书增删改、分类标签管理</a:t>
            </a:r>
            <a:endParaRPr lang="zh-CN" altLang="en-US" sz="1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4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386542" y="3549595"/>
            <a:ext cx="2760285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70000"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300">
                <a:latin typeface="MiSans Medium" panose="00000600000000000000" charset="-122"/>
                <a:ea typeface="MiSans Normal" panose="00000500000000000000" charset="-122"/>
              </a:rPr>
              <a:t>前台查阅流转模块</a:t>
            </a:r>
            <a:endParaRPr lang="zh-CN" altLang="en-US" sz="33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5" name="文本占位符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386542" y="3955958"/>
            <a:ext cx="4208219" cy="3682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800">
                <a:latin typeface="MiSans Medium" panose="00000600000000000000" charset="-122"/>
                <a:ea typeface="MiSans Normal" panose="00000500000000000000" charset="-122"/>
              </a:rPr>
              <a:t>读者书籍浏览、条件检索、发起借阅申请</a:t>
            </a:r>
            <a:endParaRPr lang="zh-CN" altLang="en-US" sz="18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7" name="文本占位符 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386542" y="4565025"/>
            <a:ext cx="2668356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70000"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300">
                <a:latin typeface="MiSans Medium" panose="00000600000000000000" charset="-122"/>
                <a:ea typeface="MiSans Normal" panose="00000500000000000000" charset="-122"/>
              </a:rPr>
              <a:t>借阅调度记录模块</a:t>
            </a:r>
            <a:endParaRPr lang="zh-CN" altLang="en-US" sz="33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8" name="文本占位符 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386542" y="4971388"/>
            <a:ext cx="2668356" cy="3682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800">
                <a:latin typeface="MiSans Medium" panose="00000600000000000000" charset="-122"/>
                <a:ea typeface="MiSans Normal" panose="00000500000000000000" charset="-122"/>
              </a:rPr>
              <a:t>超期计算、归还库存回补</a:t>
            </a:r>
            <a:endParaRPr lang="zh-CN" altLang="en-US" sz="180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功能测试方法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>
          <a:xfrm>
            <a:off x="2425814" y="1271816"/>
            <a:ext cx="798864" cy="889598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zh-CN" altLang="en-US" sz="360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z="36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3362571" y="1271816"/>
            <a:ext cx="1784214" cy="430021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Medium" panose="00000600000000000000" charset="-122"/>
                <a:ea typeface="MiSans Normal" panose="00000500000000000000" charset="-122"/>
              </a:rPr>
              <a:t>等价类划分：</a:t>
            </a:r>
            <a:endParaRPr lang="zh-CN" altLang="en-US">
              <a:solidFill>
                <a:schemeClr val="tx1"/>
              </a:solidFill>
              <a:uFillTx/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11000"/>
              </a:lnSpc>
            </a:pPr>
            <a:endParaRPr lang="zh-CN" altLang="en-US">
              <a:solidFill>
                <a:schemeClr val="tx1"/>
              </a:solidFill>
              <a:uFillTx/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2425814" y="2508514"/>
            <a:ext cx="798864" cy="889598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zh-CN" altLang="en-US" sz="360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z="36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3362571" y="2610137"/>
            <a:ext cx="1519918" cy="406400"/>
          </a:xfrm>
        </p:spPr>
        <p:txBody>
          <a:bodyPr>
            <a:normAutofit lnSpcReduction="1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数据驱动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：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3362557" y="3016569"/>
            <a:ext cx="6403677" cy="609600"/>
          </a:xfrm>
        </p:spPr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测试数据与代码分离，通过 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Python 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数组批量自动执行多组用例，提升回归测试效率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>
          <a:xfrm>
            <a:off x="2425814" y="3851713"/>
            <a:ext cx="798864" cy="889598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zh-CN" altLang="en-US" sz="360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z="36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3362571" y="3953336"/>
            <a:ext cx="1393516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2200">
                <a:latin typeface="MiSans Medium" panose="00000600000000000000" charset="-122"/>
                <a:ea typeface="MiSans Normal" panose="00000500000000000000" charset="-122"/>
              </a:rPr>
              <a:t>断言验证：</a:t>
            </a:r>
            <a:endParaRPr lang="zh-CN" altLang="en-US" sz="22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3362557" y="4359727"/>
            <a:ext cx="6403677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自动抓取页面弹窗文本或源码，比对预期与实际结果，失败时自动保存截图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362628" y="1671537"/>
            <a:ext cx="640365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将输入数据划分为 “合法有效等价类”、“无效等价类（关键值缺失）”、“无效等价类（非法字符）”，减少冗余用例，覆盖核心场景；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25814" y="5018362"/>
            <a:ext cx="798864" cy="88959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8000" b="0" u="none" strike="noStrike" kern="1200" cap="none" spc="0" normalizeH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zh-CN" altLang="en-US" sz="3600">
                <a:latin typeface="MiSans Medium" panose="00000600000000000000" charset="-122"/>
                <a:ea typeface="MiSans Normal" panose="00000500000000000000" charset="-122"/>
              </a:rPr>
              <a:t>0</a:t>
            </a:r>
            <a:r>
              <a:rPr lang="en-US" altLang="zh-CN" sz="3600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4</a:t>
            </a:r>
            <a:endParaRPr lang="zh-CN" altLang="en-US" sz="36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362571" y="5119985"/>
            <a:ext cx="1393516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2200">
                <a:latin typeface="MiSans Medium" panose="00000600000000000000" charset="-122"/>
                <a:ea typeface="MiSans Normal" panose="00000500000000000000" charset="-122"/>
              </a:rPr>
              <a:t>缺陷定级：</a:t>
            </a:r>
            <a:endParaRPr lang="zh-CN" altLang="en-US" sz="22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1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362558" y="5526376"/>
            <a:ext cx="6403677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按安全 / 功能 / 体验影响分为 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P0（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致命）、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P1（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阻塞）、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P2（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一般）、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P3（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体验） 四级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4202" y="1211947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测试用例设计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graphicFrame>
        <p:nvGraphicFramePr>
          <p:cNvPr id="28" name="表格 27"/>
          <p:cNvGraphicFramePr/>
          <p:nvPr/>
        </p:nvGraphicFramePr>
        <p:xfrm>
          <a:off x="540653" y="1897216"/>
          <a:ext cx="11080750" cy="3634105"/>
        </p:xfrm>
        <a:graphic>
          <a:graphicData uri="http://schemas.openxmlformats.org/drawingml/2006/table">
            <a:tbl>
              <a:tblPr/>
              <a:tblGrid>
                <a:gridCol w="2216150"/>
                <a:gridCol w="2216150"/>
                <a:gridCol w="2216150"/>
                <a:gridCol w="2216150"/>
                <a:gridCol w="2216150"/>
              </a:tblGrid>
              <a:tr h="670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用例 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ID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测试场景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输入数据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预期结果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测试方法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74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UC001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合法有效等价类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用户名：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user_test99</a:t>
                      </a:r>
                      <a:endParaRPr lang="en-US" sz="1400" b="1">
                        <a:solidFill>
                          <a:srgbClr val="1F2329"/>
                        </a:solidFill>
                        <a:latin typeface="宋体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密码：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123456</a:t>
                      </a:r>
                      <a:endParaRPr lang="zh-CN" sz="1400" b="1">
                        <a:solidFill>
                          <a:srgbClr val="1F2329"/>
                        </a:solidFill>
                        <a:ea typeface="宋体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邮箱：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123@qq.com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添加成功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有效等价类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86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UC002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无效等价类 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- </a:t>
                      </a: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关键值缺失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用户名：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user_test100</a:t>
                      </a:r>
                      <a:endParaRPr lang="en-US" sz="1400" b="1">
                        <a:solidFill>
                          <a:srgbClr val="1F2329"/>
                        </a:solidFill>
                        <a:latin typeface="宋体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密码：空</a:t>
                      </a:r>
                      <a:endParaRPr lang="zh-CN" sz="1400" b="1">
                        <a:solidFill>
                          <a:srgbClr val="1F2329"/>
                        </a:solidFill>
                        <a:ea typeface="宋体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邮箱：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test@163.com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提示 “必填”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74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UC003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无效等价类 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- </a:t>
                      </a: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非法字符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用户名：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admin' OR</a:t>
                      </a:r>
                      <a:endParaRPr lang="en-US" sz="1400" b="1">
                        <a:solidFill>
                          <a:srgbClr val="1F2329"/>
                        </a:solidFill>
                        <a:latin typeface="宋体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密码：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pass123</a:t>
                      </a:r>
                      <a:endParaRPr lang="en-US" sz="1400" b="1">
                        <a:solidFill>
                          <a:srgbClr val="1F2329"/>
                        </a:solidFill>
                        <a:latin typeface="宋体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邮箱：</a:t>
                      </a:r>
                      <a:r>
                        <a:rPr lang="en-US" sz="1400" b="1">
                          <a:solidFill>
                            <a:srgbClr val="1F2329"/>
                          </a:solidFill>
                          <a:latin typeface="宋体" charset="0"/>
                        </a:rPr>
                        <a:t>hi@aliyun.com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添加失败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1F2329"/>
                          </a:solidFill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2273" y="1487734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步骤</a:t>
            </a:r>
            <a:r>
              <a:rPr lang="en-US" altLang="zh-CN" sz="2400">
                <a:latin typeface="MiSans Medium" panose="00000600000000000000" charset="-122"/>
                <a:ea typeface="MiSans Normal" panose="00000500000000000000" charset="-122"/>
              </a:rPr>
              <a:t>1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2273" y="2021635"/>
            <a:ext cx="731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编写 </a:t>
            </a:r>
            <a:r>
              <a:rPr lang="en-US" altLang="zh-CN"/>
              <a:t>Python </a:t>
            </a:r>
            <a:r>
              <a:rPr lang="zh-CN" altLang="en-US"/>
              <a:t>自动化脚本，定义包含上述 3 组数据的参数化数组</a:t>
            </a:r>
            <a:endParaRPr lang="zh-CN" altLang="en-US"/>
          </a:p>
        </p:txBody>
      </p:sp>
      <p:pic>
        <p:nvPicPr>
          <p:cNvPr id="4" name="图片 3" descr="post_object_image_207048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46" y="3011469"/>
            <a:ext cx="8534400" cy="1800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2273" y="1487734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步骤</a:t>
            </a:r>
            <a:r>
              <a:rPr lang="en-US" altLang="zh-CN" sz="2400">
                <a:latin typeface="MiSans Medium" panose="00000600000000000000" charset="-122"/>
                <a:ea typeface="MiSans Normal" panose="00000500000000000000" charset="-122"/>
              </a:rPr>
              <a:t>2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2273" y="2021635"/>
            <a:ext cx="7809319" cy="34639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脚本通过</a:t>
            </a:r>
            <a:r>
              <a:rPr lang="en-US" altLang="zh-CN"/>
              <a:t>for</a:t>
            </a:r>
            <a:r>
              <a:rPr lang="zh-CN" altLang="en-US"/>
              <a:t>循环自动读取数据，使用 </a:t>
            </a:r>
            <a:r>
              <a:rPr lang="en-US" altLang="zh-CN"/>
              <a:t>Selenium </a:t>
            </a:r>
            <a:r>
              <a:rPr lang="zh-CN" altLang="en-US"/>
              <a:t>定位输入框并填入对应值</a:t>
            </a:r>
            <a:endParaRPr lang="zh-CN" altLang="en-US"/>
          </a:p>
        </p:txBody>
      </p:sp>
      <p:pic>
        <p:nvPicPr>
          <p:cNvPr id="5" name="图片 4" descr="post_object_image_5303395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308" y="2367978"/>
            <a:ext cx="7787476" cy="405887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2273" y="1487734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步骤</a:t>
            </a:r>
            <a:r>
              <a:rPr lang="en-US" altLang="zh-CN" sz="2400">
                <a:latin typeface="MiSans Medium" panose="00000600000000000000" charset="-122"/>
                <a:ea typeface="MiSans Normal" panose="00000500000000000000" charset="-122"/>
              </a:rPr>
              <a:t>3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2273" y="2021635"/>
            <a:ext cx="7809319" cy="34639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自动点击提交按钮，抓取页面弹窗文本或源码</a:t>
            </a:r>
            <a:endParaRPr lang="zh-CN" altLang="en-US"/>
          </a:p>
        </p:txBody>
      </p:sp>
      <p:pic>
        <p:nvPicPr>
          <p:cNvPr id="4" name="图片 3" descr="post_object_image_4270393339"/>
          <p:cNvPicPr>
            <a:picLocks noChangeAspect="1"/>
          </p:cNvPicPr>
          <p:nvPr/>
        </p:nvPicPr>
        <p:blipFill>
          <a:blip r:embed="rId2"/>
          <a:srcRect b="57312"/>
          <a:stretch>
            <a:fillRect/>
          </a:stretch>
        </p:blipFill>
        <p:spPr>
          <a:xfrm>
            <a:off x="1828846" y="3078665"/>
            <a:ext cx="8534400" cy="1711798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2273" y="1487734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步骤</a:t>
            </a:r>
            <a:r>
              <a:rPr lang="en-US" altLang="zh-CN" sz="2400">
                <a:latin typeface="MiSans Medium" panose="00000600000000000000" charset="-122"/>
                <a:ea typeface="MiSans Normal" panose="00000500000000000000" charset="-122"/>
              </a:rPr>
              <a:t>4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2273" y="2021635"/>
            <a:ext cx="7809319" cy="34639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执行断言语句</a:t>
            </a:r>
            <a:r>
              <a:rPr lang="en-US" altLang="zh-CN"/>
              <a:t>self.assertIn(data["expect"], actual_text)，</a:t>
            </a:r>
            <a:r>
              <a:rPr lang="zh-CN" altLang="en-US"/>
              <a:t>对比结果</a:t>
            </a:r>
            <a:endParaRPr lang="zh-CN" altLang="en-US"/>
          </a:p>
        </p:txBody>
      </p:sp>
      <p:pic>
        <p:nvPicPr>
          <p:cNvPr id="4" name="图片 3" descr="post_object_image_4270393339"/>
          <p:cNvPicPr>
            <a:picLocks noChangeAspect="1"/>
          </p:cNvPicPr>
          <p:nvPr/>
        </p:nvPicPr>
        <p:blipFill>
          <a:blip r:embed="rId2"/>
          <a:srcRect t="40692"/>
          <a:stretch>
            <a:fillRect/>
          </a:stretch>
        </p:blipFill>
        <p:spPr>
          <a:xfrm>
            <a:off x="1828846" y="2802923"/>
            <a:ext cx="8534400" cy="237828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2273" y="1487734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步骤</a:t>
            </a:r>
            <a:r>
              <a:rPr lang="en-US" altLang="zh-CN" sz="2400">
                <a:latin typeface="MiSans Medium" panose="00000600000000000000" charset="-122"/>
                <a:ea typeface="MiSans Normal" panose="00000500000000000000" charset="-122"/>
              </a:rPr>
              <a:t>5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2273" y="2021635"/>
            <a:ext cx="7809319" cy="34639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断言失败时自动保存错误截图</a:t>
            </a:r>
            <a:endParaRPr lang="zh-CN" altLang="en-US"/>
          </a:p>
        </p:txBody>
      </p:sp>
      <p:pic>
        <p:nvPicPr>
          <p:cNvPr id="5" name="图片 4" descr="post_object_image_2934939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46" y="3075306"/>
            <a:ext cx="8534400" cy="13049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3" name="图片 2" descr="post_object_image_1312420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3" y="2762761"/>
            <a:ext cx="3642958" cy="665419"/>
          </a:xfrm>
          <a:prstGeom prst="rect">
            <a:avLst/>
          </a:prstGeom>
        </p:spPr>
      </p:pic>
      <p:pic>
        <p:nvPicPr>
          <p:cNvPr id="4" name="图片 3" descr="post_object_image_33250737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54" y="3789425"/>
            <a:ext cx="3613407" cy="1963354"/>
          </a:xfrm>
          <a:prstGeom prst="rect">
            <a:avLst/>
          </a:prstGeom>
        </p:spPr>
      </p:pic>
      <p:pic>
        <p:nvPicPr>
          <p:cNvPr id="5" name="图片 4" descr="post_object_image_13823439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645" y="2762761"/>
            <a:ext cx="3642736" cy="665378"/>
          </a:xfrm>
          <a:prstGeom prst="rect">
            <a:avLst/>
          </a:prstGeom>
        </p:spPr>
      </p:pic>
      <p:pic>
        <p:nvPicPr>
          <p:cNvPr id="6" name="图片 5" descr="post_object_image_143942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712" y="3789434"/>
            <a:ext cx="3740719" cy="1963337"/>
          </a:xfrm>
          <a:prstGeom prst="rect">
            <a:avLst/>
          </a:prstGeom>
        </p:spPr>
      </p:pic>
      <p:pic>
        <p:nvPicPr>
          <p:cNvPr id="7" name="图片 6" descr="post_object_image_83184407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212" y="2839143"/>
            <a:ext cx="4263582" cy="512616"/>
          </a:xfrm>
          <a:prstGeom prst="rect">
            <a:avLst/>
          </a:prstGeom>
        </p:spPr>
      </p:pic>
      <p:pic>
        <p:nvPicPr>
          <p:cNvPr id="8" name="图片 7" descr="post_object_image_1857154228"/>
          <p:cNvPicPr>
            <a:picLocks noChangeAspect="1"/>
          </p:cNvPicPr>
          <p:nvPr/>
        </p:nvPicPr>
        <p:blipFill>
          <a:blip r:embed="rId7"/>
          <a:srcRect r="1424" b="7105"/>
          <a:stretch>
            <a:fillRect/>
          </a:stretch>
        </p:blipFill>
        <p:spPr>
          <a:xfrm>
            <a:off x="7728920" y="3789425"/>
            <a:ext cx="4332122" cy="196335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4687" y="2090990"/>
            <a:ext cx="302245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【UC001 </a:t>
            </a:r>
            <a:r>
              <a:rPr lang="zh-CN" altLang="en-US"/>
              <a:t>合法有效等价类】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59202" y="2090990"/>
            <a:ext cx="396971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【UC002 </a:t>
            </a:r>
            <a:r>
              <a:rPr lang="zh-CN" altLang="en-US"/>
              <a:t>无效等价类 - 关键值缺失】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876438" y="2090990"/>
            <a:ext cx="403713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【UC003 </a:t>
            </a:r>
            <a:r>
              <a:rPr lang="zh-CN" altLang="en-US"/>
              <a:t>无效等价类 - 非法字符类】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用户赋权与管理模块（添加新用户功能）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结果分析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15929" y="1998299"/>
            <a:ext cx="7315200" cy="3246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1</a:t>
            </a:r>
            <a:r>
              <a:rPr lang="en-US" altLang="zh-CN">
                <a:cs typeface="Arial" panose="020B0604020202020204" pitchFamily="34" charset="0"/>
              </a:rPr>
              <a:t>.</a:t>
            </a:r>
            <a:r>
              <a:rPr lang="en-US" altLang="zh-CN"/>
              <a:t>【UC001 </a:t>
            </a:r>
            <a:r>
              <a:rPr lang="zh-CN" altLang="en-US"/>
              <a:t>合法有效等价类】：执行通过，系统弹出 “添加成功” 提示；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2.【UC002 </a:t>
            </a:r>
            <a:r>
              <a:rPr lang="zh-CN" altLang="en-US"/>
              <a:t>无效等价类 - 关键值缺失】：前端正常拦截，弹出 “必填项不能为空” 提示；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3.【UC003 </a:t>
            </a:r>
            <a:r>
              <a:rPr lang="zh-CN" altLang="en-US"/>
              <a:t>无效等价类 - 非法字符类】：执行失败，系统未拦截且弹出 “添加成功” 提示；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4.  根本原因：前端</a:t>
            </a:r>
            <a:r>
              <a:rPr lang="en-US" altLang="zh-CN"/>
              <a:t>required</a:t>
            </a:r>
            <a:r>
              <a:rPr lang="zh-CN" altLang="en-US"/>
              <a:t>标签可被恶意绕过，后端</a:t>
            </a:r>
            <a:r>
              <a:rPr lang="en-US" altLang="zh-CN"/>
              <a:t>UserController</a:t>
            </a:r>
            <a:r>
              <a:rPr lang="zh-CN" altLang="en-US"/>
              <a:t>和</a:t>
            </a:r>
            <a:r>
              <a:rPr lang="en-US" altLang="zh-CN"/>
              <a:t>Mapper</a:t>
            </a:r>
            <a:r>
              <a:rPr lang="zh-CN" altLang="en-US"/>
              <a:t>未对危险 </a:t>
            </a:r>
            <a:r>
              <a:rPr lang="en-US" altLang="zh-CN"/>
              <a:t>SQL </a:t>
            </a:r>
            <a:r>
              <a:rPr lang="zh-CN" altLang="en-US"/>
              <a:t>符号进行正则拦截与转义，存在</a:t>
            </a:r>
            <a:r>
              <a:rPr lang="en-US" altLang="zh-CN"/>
              <a:t>P0 </a:t>
            </a:r>
            <a:r>
              <a:rPr lang="zh-CN" altLang="en-US"/>
              <a:t>级 </a:t>
            </a:r>
            <a:r>
              <a:rPr lang="en-US" altLang="zh-CN"/>
              <a:t>SQL </a:t>
            </a:r>
            <a:r>
              <a:rPr lang="zh-CN" altLang="en-US"/>
              <a:t>盲注致命缺陷。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9026124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图书物资管理模块（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新增书类、图书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4202" y="1211947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测试用例设计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581" y="2199213"/>
          <a:ext cx="10972800" cy="35306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061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用例</a:t>
                      </a:r>
                      <a:r>
                        <a:rPr lang="zh-CN" altLang="en-US" sz="1400"/>
                        <a:t> </a:t>
                      </a:r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测试场景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输入数据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预期结果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测试方法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1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/>
                        <a:t>UC004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合法类别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类别名称：自动化测试书籍类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添加成功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有效等价类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1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/>
                        <a:t>UC005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非法类别</a:t>
                      </a:r>
                      <a:r>
                        <a:rPr lang="zh-CN" altLang="en-US" sz="1400"/>
                        <a:t> </a:t>
                      </a:r>
                      <a:r>
                        <a:rPr lang="en-US" altLang="zh-CN" sz="1400"/>
                        <a:t>-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为空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类别名称：空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zh-CN" altLang="en-US" sz="1400"/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必填</a:t>
                      </a:r>
                      <a:r>
                        <a:rPr lang="zh-CN" altLang="en-US" sz="1400"/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120"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UC006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合法新书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软件测试实战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张三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清华大学出版社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 59.9 / 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一本好书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添加成功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有效等价类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120"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UC007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价格类型错误（字母）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测试用书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李四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北大出版社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/abc/ 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价格非数字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提示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 “</a:t>
                      </a: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数字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</a:rPr>
                        <a:t>无效等价类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 fontScale="9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图书物资管理模块（新增书类、图书功能）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46944" y="571259"/>
            <a:ext cx="3945033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i="1">
                <a:latin typeface="MiSans Medium" panose="00000600000000000000" charset="-122"/>
                <a:ea typeface="MiSans Normal" panose="00000500000000000000" charset="-122"/>
              </a:rPr>
              <a:t>步骤同用户赋权与管理模块</a:t>
            </a:r>
            <a:endParaRPr lang="zh-CN" altLang="en-US" sz="2400" i="1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29167" y="2049723"/>
            <a:ext cx="1456523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参数化数组</a:t>
            </a:r>
            <a:endParaRPr lang="zh-CN" altLang="en-US"/>
          </a:p>
        </p:txBody>
      </p:sp>
      <p:pic>
        <p:nvPicPr>
          <p:cNvPr id="5" name="图片 4" descr="post_object_image_1159860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19" y="2658200"/>
            <a:ext cx="5012219" cy="71603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05627" y="1317389"/>
            <a:ext cx="3839517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Selenium </a:t>
            </a:r>
            <a:r>
              <a:rPr lang="zh-CN" altLang="en-US"/>
              <a:t>定位输入框并填入对应值</a:t>
            </a:r>
            <a:endParaRPr lang="zh-CN" altLang="en-US"/>
          </a:p>
        </p:txBody>
      </p:sp>
      <p:pic>
        <p:nvPicPr>
          <p:cNvPr id="7" name="图片 6" descr="post_object_image_23559571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382" y="1763505"/>
            <a:ext cx="4338006" cy="236750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42271" y="4650058"/>
            <a:ext cx="363027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点击提交按钮，抓取页面弹窗文本</a:t>
            </a:r>
            <a:endParaRPr lang="zh-CN" altLang="en-US"/>
          </a:p>
        </p:txBody>
      </p:sp>
      <p:pic>
        <p:nvPicPr>
          <p:cNvPr id="9" name="图片 8" descr="post_object_image_1093350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19" y="5124681"/>
            <a:ext cx="5012191" cy="71043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657788" y="4650092"/>
            <a:ext cx="2735202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执行断言语句</a:t>
            </a:r>
            <a:r>
              <a:rPr lang="en-US" altLang="zh-CN"/>
              <a:t>，</a:t>
            </a:r>
            <a:r>
              <a:rPr lang="zh-CN" altLang="en-US"/>
              <a:t>对比结果</a:t>
            </a:r>
            <a:endParaRPr lang="zh-CN" altLang="en-US"/>
          </a:p>
        </p:txBody>
      </p:sp>
      <p:pic>
        <p:nvPicPr>
          <p:cNvPr id="11" name="图片 10" descr="post_object_image_1753907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575" y="5019654"/>
            <a:ext cx="4535620" cy="99216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734739" y="1208405"/>
            <a:ext cx="2045350" cy="47852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新增书类功能</a:t>
            </a:r>
            <a:endParaRPr lang="zh-CN" altLang="en-US" sz="2400"/>
          </a:p>
        </p:txBody>
      </p:sp>
    </p:spTree>
    <p:custDataLst>
      <p:tags r:id="rId6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 fontScale="9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图书物资管理模块（新增书类、图书功能）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46944" y="571259"/>
            <a:ext cx="3945033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i="1">
                <a:latin typeface="MiSans Medium" panose="00000600000000000000" charset="-122"/>
                <a:ea typeface="MiSans Normal" panose="00000500000000000000" charset="-122"/>
              </a:rPr>
              <a:t>步骤同用户赋权与管理模块</a:t>
            </a:r>
            <a:endParaRPr lang="zh-CN" altLang="en-US" sz="2400" i="1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29153" y="2047282"/>
            <a:ext cx="1456523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参数化数组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05627" y="1317389"/>
            <a:ext cx="3839517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Selenium </a:t>
            </a:r>
            <a:r>
              <a:rPr lang="zh-CN" altLang="en-US"/>
              <a:t>定位输入框并填入对应值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42271" y="5057759"/>
            <a:ext cx="363027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点击提交按钮，抓取页面弹窗文本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57788" y="5057759"/>
            <a:ext cx="2735202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执行断言语句</a:t>
            </a:r>
            <a:r>
              <a:rPr lang="en-US" altLang="zh-CN"/>
              <a:t>，</a:t>
            </a:r>
            <a:r>
              <a:rPr lang="zh-CN" altLang="en-US"/>
              <a:t>对比结果</a:t>
            </a:r>
            <a:endParaRPr lang="zh-CN" altLang="en-US"/>
          </a:p>
        </p:txBody>
      </p:sp>
      <p:pic>
        <p:nvPicPr>
          <p:cNvPr id="12" name="图片 11" descr="post_object_image_27681763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05" y="2536783"/>
            <a:ext cx="3767218" cy="203949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734739" y="1208405"/>
            <a:ext cx="2045350" cy="47852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新增图书功能</a:t>
            </a:r>
            <a:endParaRPr lang="zh-CN" altLang="en-US" sz="2400"/>
          </a:p>
        </p:txBody>
      </p:sp>
      <p:pic>
        <p:nvPicPr>
          <p:cNvPr id="14" name="图片 13" descr="post_object_image_16304818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052" y="1845836"/>
            <a:ext cx="4956665" cy="3166235"/>
          </a:xfrm>
          <a:prstGeom prst="rect">
            <a:avLst/>
          </a:prstGeom>
        </p:spPr>
      </p:pic>
      <p:pic>
        <p:nvPicPr>
          <p:cNvPr id="16" name="图片 15" descr="post_object_image_30250329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07" y="5766736"/>
            <a:ext cx="5105214" cy="313378"/>
          </a:xfrm>
          <a:prstGeom prst="rect">
            <a:avLst/>
          </a:prstGeom>
        </p:spPr>
      </p:pic>
      <p:pic>
        <p:nvPicPr>
          <p:cNvPr id="17" name="图片 16" descr="post_object_image_37095847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072" y="5427297"/>
            <a:ext cx="4956627" cy="105660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 fontScale="9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图书物资管理模块（新增书类、图书功能）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9" name="图片 8" descr="post_object_image_2535346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8" y="2395432"/>
            <a:ext cx="5810975" cy="685225"/>
          </a:xfrm>
          <a:prstGeom prst="rect">
            <a:avLst/>
          </a:prstGeom>
        </p:spPr>
      </p:pic>
      <p:pic>
        <p:nvPicPr>
          <p:cNvPr id="10" name="图片 9" descr="post_object_image_19739723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38" y="3336392"/>
            <a:ext cx="5810901" cy="2794607"/>
          </a:xfrm>
          <a:prstGeom prst="rect">
            <a:avLst/>
          </a:prstGeom>
        </p:spPr>
      </p:pic>
      <p:pic>
        <p:nvPicPr>
          <p:cNvPr id="11" name="图片 10" descr="post_object_image_42900845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567" y="2380397"/>
            <a:ext cx="3659127" cy="956026"/>
          </a:xfrm>
          <a:prstGeom prst="rect">
            <a:avLst/>
          </a:prstGeom>
        </p:spPr>
      </p:pic>
      <p:pic>
        <p:nvPicPr>
          <p:cNvPr id="12" name="图片 11" descr="post_object_image_23217795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715" y="3401171"/>
            <a:ext cx="5270832" cy="27298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674721" y="1881751"/>
            <a:ext cx="283425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【UC004 </a:t>
            </a:r>
            <a:r>
              <a:rPr lang="zh-CN" altLang="en-US"/>
              <a:t>合法分类输入】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863651" y="1881751"/>
            <a:ext cx="261895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【UC005 </a:t>
            </a:r>
            <a:r>
              <a:rPr lang="zh-CN" altLang="en-US"/>
              <a:t>空分类输入】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 fontScale="9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图书物资管理模块（新增书类、图书功能）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3" name="图片 2" descr="post_object_image_19905033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1" y="2409148"/>
            <a:ext cx="4693695" cy="862772"/>
          </a:xfrm>
          <a:prstGeom prst="rect">
            <a:avLst/>
          </a:prstGeom>
        </p:spPr>
      </p:pic>
      <p:pic>
        <p:nvPicPr>
          <p:cNvPr id="4" name="图片 3" descr="post_object_image_2998542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73" y="3523576"/>
            <a:ext cx="5309781" cy="2995576"/>
          </a:xfrm>
          <a:prstGeom prst="rect">
            <a:avLst/>
          </a:prstGeom>
        </p:spPr>
      </p:pic>
      <p:pic>
        <p:nvPicPr>
          <p:cNvPr id="5" name="图片 4" descr="post_object_image_5399432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613" y="2409148"/>
            <a:ext cx="4578450" cy="862760"/>
          </a:xfrm>
          <a:prstGeom prst="rect">
            <a:avLst/>
          </a:prstGeom>
        </p:spPr>
      </p:pic>
      <p:pic>
        <p:nvPicPr>
          <p:cNvPr id="6" name="图片 5" descr="post_object_image_40613783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089" y="3516041"/>
            <a:ext cx="5811431" cy="300313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663" y="1783867"/>
            <a:ext cx="283762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【UC006 </a:t>
            </a:r>
            <a:r>
              <a:rPr lang="zh-CN" altLang="en-US"/>
              <a:t>合法新书录入】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53329" y="1783867"/>
            <a:ext cx="326908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【UC007 </a:t>
            </a:r>
            <a:r>
              <a:rPr lang="zh-CN" altLang="en-US"/>
              <a:t>价格类型错误输入】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 fontScale="9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图书物资管理模块（新增书类、图书功能）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结果分析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15929" y="1998299"/>
            <a:ext cx="7315200" cy="3965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tx1"/>
                </a:solidFill>
              </a:rPr>
              <a:t>1.【UC004 合法</a:t>
            </a:r>
            <a:r>
              <a:rPr lang="zh-CN" altLang="en-US">
                <a:solidFill>
                  <a:schemeClr val="tx1"/>
                </a:solidFill>
              </a:rPr>
              <a:t>分类输入】：执行失败，页面全局刷新无任何反馈； </a:t>
            </a:r>
            <a:endParaRPr lang="zh-CN" altLang="en-US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tx1"/>
                </a:solidFill>
              </a:rPr>
              <a:t>2.【UC005 </a:t>
            </a:r>
            <a:r>
              <a:rPr lang="zh-CN" altLang="en-US">
                <a:solidFill>
                  <a:schemeClr val="tx1"/>
                </a:solidFill>
              </a:rPr>
              <a:t>空分类输入】：执行通过，系统弹出 “</a:t>
            </a:r>
            <a:r>
              <a:rPr lang="zh-CN" altLang="en-US">
                <a:solidFill>
                  <a:schemeClr val="tx1"/>
                </a:solidFill>
              </a:rPr>
              <a:t>必填项不能为空” 提示；</a:t>
            </a:r>
            <a:endParaRPr lang="zh-CN" altLang="en-US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tx1"/>
                </a:solidFill>
              </a:rPr>
              <a:t>3.【UC006 </a:t>
            </a:r>
            <a:r>
              <a:rPr lang="zh-CN" altLang="en-US">
                <a:solidFill>
                  <a:schemeClr val="tx1"/>
                </a:solidFill>
              </a:rPr>
              <a:t>合法新书录入】：执行通过，系统弹出 “添加成功” 提示；</a:t>
            </a:r>
            <a:endParaRPr lang="zh-CN" altLang="en-US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tx1"/>
                </a:solidFill>
              </a:rPr>
              <a:t>4.【UC007 </a:t>
            </a:r>
            <a:r>
              <a:rPr lang="zh-CN" altLang="en-US">
                <a:solidFill>
                  <a:schemeClr val="tx1"/>
                </a:solidFill>
              </a:rPr>
              <a:t>价格类型错误输入】：前端数字校验生效，弹出 “只能填写数字” 提示； </a:t>
            </a:r>
            <a:endParaRPr lang="zh-CN" altLang="en-US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/>
                </a:solidFill>
              </a:rPr>
              <a:t>5.  根本原因：前端</a:t>
            </a:r>
            <a:r>
              <a:rPr lang="en-US" altLang="zh-CN">
                <a:solidFill>
                  <a:schemeClr val="tx1"/>
                </a:solidFill>
              </a:rPr>
              <a:t>addBookCategory.js</a:t>
            </a:r>
            <a:r>
              <a:rPr lang="zh-CN" altLang="en-US">
                <a:solidFill>
                  <a:schemeClr val="tx1"/>
                </a:solidFill>
              </a:rPr>
              <a:t>第 3 行误写不支持的</a:t>
            </a:r>
            <a:r>
              <a:rPr lang="en-US" altLang="zh-CN">
                <a:solidFill>
                  <a:schemeClr val="tx1"/>
                </a:solidFill>
              </a:rPr>
              <a:t>layui.element()</a:t>
            </a:r>
            <a:r>
              <a:rPr lang="zh-CN" altLang="en-US">
                <a:solidFill>
                  <a:schemeClr val="tx1"/>
                </a:solidFill>
              </a:rPr>
              <a:t>方法，引发语法错误，截断了 </a:t>
            </a:r>
            <a:r>
              <a:rPr lang="en-US" altLang="zh-CN">
                <a:solidFill>
                  <a:schemeClr val="tx1"/>
                </a:solidFill>
              </a:rPr>
              <a:t>Form 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return false</a:t>
            </a:r>
            <a:r>
              <a:rPr lang="zh-CN" altLang="en-US">
                <a:solidFill>
                  <a:schemeClr val="tx1"/>
                </a:solidFill>
              </a:rPr>
              <a:t>防跳路由与 </a:t>
            </a:r>
            <a:r>
              <a:rPr lang="en-US" altLang="zh-CN">
                <a:solidFill>
                  <a:schemeClr val="tx1"/>
                </a:solidFill>
              </a:rPr>
              <a:t>Ajax </a:t>
            </a:r>
            <a:r>
              <a:rPr lang="zh-CN" altLang="en-US">
                <a:solidFill>
                  <a:schemeClr val="tx1"/>
                </a:solidFill>
              </a:rPr>
              <a:t>交互，导致整个新增分类功能完全失效（</a:t>
            </a:r>
            <a:r>
              <a:rPr lang="en-US" altLang="zh-CN">
                <a:solidFill>
                  <a:schemeClr val="tx1"/>
                </a:solidFill>
              </a:rPr>
              <a:t>P1 </a:t>
            </a:r>
            <a:r>
              <a:rPr lang="zh-CN" altLang="en-US">
                <a:solidFill>
                  <a:schemeClr val="tx1"/>
                </a:solidFill>
              </a:rPr>
              <a:t>级阻塞缺陷）。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9026124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前台查阅流转模块（书籍查询功能）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4202" y="1211947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测试用例设计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2094297"/>
          <a:ext cx="10972800" cy="29718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29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用例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ID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测试场景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输入关键词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预期结果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测试方法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UC008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合法关键词查询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三体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页面显示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三体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相关书籍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有效等价类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UC009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空关键词查询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空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请输入书名信息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UC010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不存在的书籍查询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银河系漫游飞船指南本不存在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暂无数据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前台查阅流转模块（书籍查询功能）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19646" y="1317389"/>
            <a:ext cx="1456523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参数化数组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05627" y="1317389"/>
            <a:ext cx="3839517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Selenium </a:t>
            </a:r>
            <a:r>
              <a:rPr lang="zh-CN" altLang="en-US"/>
              <a:t>定位输入框并填入对应值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32768" y="3808439"/>
            <a:ext cx="363027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点击提交按钮，抓取页面弹窗文本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57784" y="3808489"/>
            <a:ext cx="2735202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执行断言语句</a:t>
            </a:r>
            <a:r>
              <a:rPr lang="en-US" altLang="zh-CN"/>
              <a:t>，</a:t>
            </a:r>
            <a:r>
              <a:rPr lang="zh-CN" altLang="en-US"/>
              <a:t>对比结果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67959" y="571259"/>
            <a:ext cx="3945033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i="1">
                <a:latin typeface="MiSans Medium" panose="00000600000000000000" charset="-122"/>
                <a:ea typeface="MiSans Normal" panose="00000500000000000000" charset="-122"/>
              </a:rPr>
              <a:t>步骤同用户赋权与管理模块</a:t>
            </a:r>
            <a:endParaRPr lang="zh-CN" altLang="en-US" sz="2400" i="1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2" name="图片 11" descr="post_object_image_1946022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6" y="2035689"/>
            <a:ext cx="5580551" cy="803450"/>
          </a:xfrm>
          <a:prstGeom prst="rect">
            <a:avLst/>
          </a:prstGeom>
        </p:spPr>
      </p:pic>
      <p:pic>
        <p:nvPicPr>
          <p:cNvPr id="13" name="图片 12" descr="post_object_image_1475427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606" y="1754537"/>
            <a:ext cx="5695558" cy="1741722"/>
          </a:xfrm>
          <a:prstGeom prst="rect">
            <a:avLst/>
          </a:prstGeom>
        </p:spPr>
      </p:pic>
      <p:pic>
        <p:nvPicPr>
          <p:cNvPr id="16" name="图片 15" descr="post_object_image_2199947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54" y="4759780"/>
            <a:ext cx="5721305" cy="759861"/>
          </a:xfrm>
          <a:prstGeom prst="rect">
            <a:avLst/>
          </a:prstGeom>
        </p:spPr>
      </p:pic>
      <p:pic>
        <p:nvPicPr>
          <p:cNvPr id="17" name="图片 16" descr="post_object_image_23355146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910" y="4576503"/>
            <a:ext cx="5644949" cy="112641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前台查阅流转模块（书籍查询功能）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3" name="图片 2" descr="post_object_image_1909297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3" y="2960369"/>
            <a:ext cx="5123797" cy="598270"/>
          </a:xfrm>
          <a:prstGeom prst="rect">
            <a:avLst/>
          </a:prstGeom>
        </p:spPr>
      </p:pic>
      <p:pic>
        <p:nvPicPr>
          <p:cNvPr id="4" name="图片 3" descr="post_object_image_435274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9" y="3977118"/>
            <a:ext cx="5759679" cy="1684623"/>
          </a:xfrm>
          <a:prstGeom prst="rect">
            <a:avLst/>
          </a:prstGeom>
        </p:spPr>
      </p:pic>
      <p:pic>
        <p:nvPicPr>
          <p:cNvPr id="5" name="图片 4" descr="post_object_image_23626287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48" y="3022566"/>
            <a:ext cx="5123785" cy="473876"/>
          </a:xfrm>
          <a:prstGeom prst="rect">
            <a:avLst/>
          </a:prstGeom>
        </p:spPr>
      </p:pic>
      <p:pic>
        <p:nvPicPr>
          <p:cNvPr id="6" name="图片 5" descr="post_object_image_694946399"/>
          <p:cNvPicPr>
            <a:picLocks noChangeAspect="1"/>
          </p:cNvPicPr>
          <p:nvPr/>
        </p:nvPicPr>
        <p:blipFill>
          <a:blip r:embed="rId5"/>
          <a:srcRect b="11694"/>
          <a:stretch>
            <a:fillRect/>
          </a:stretch>
        </p:blipFill>
        <p:spPr>
          <a:xfrm>
            <a:off x="6265152" y="3767837"/>
            <a:ext cx="5764573" cy="2106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5371" y="2172322"/>
            <a:ext cx="315367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【UC008 </a:t>
            </a:r>
            <a:r>
              <a:rPr lang="zh-CN" altLang="en-US"/>
              <a:t>合法关键词查询】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30315" y="2172360"/>
            <a:ext cx="283425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【UC009 </a:t>
            </a:r>
            <a:r>
              <a:rPr lang="zh-CN" altLang="en-US"/>
              <a:t>空关键词查询】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前台查阅流转模块（书籍查询功能）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7" name="图片 6" descr="post_object_image_1734811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19" y="2519658"/>
            <a:ext cx="9550656" cy="507896"/>
          </a:xfrm>
          <a:prstGeom prst="rect">
            <a:avLst/>
          </a:prstGeom>
        </p:spPr>
      </p:pic>
      <p:pic>
        <p:nvPicPr>
          <p:cNvPr id="8" name="图片 7" descr="post_object_image_27033342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606" y="3376993"/>
            <a:ext cx="4746882" cy="228289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55273" y="1881751"/>
            <a:ext cx="3281547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【UC010 </a:t>
            </a:r>
            <a:r>
              <a:rPr lang="zh-CN" altLang="en-US"/>
              <a:t>不存在的书籍查询】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前台查阅流转模块（书籍查询功能）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结果分析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15929" y="1998299"/>
            <a:ext cx="7315200" cy="3246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1.【UC008 </a:t>
            </a:r>
            <a:r>
              <a:rPr lang="zh-CN" altLang="en-US"/>
              <a:t>合法关键词查询】：执行通过，页面正确展示 “三体” 相关书籍；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2.【UC009 </a:t>
            </a:r>
            <a:r>
              <a:rPr lang="zh-CN" altLang="en-US"/>
              <a:t>空关键词查询】：前端正常拦截，弹出 “必填项不能为空” 提示；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3.【UC010 </a:t>
            </a:r>
            <a:r>
              <a:rPr lang="zh-CN" altLang="en-US"/>
              <a:t>不存在的书籍查询】：执行失败，页面表格直接为空，无任何友好提示；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4.  根</a:t>
            </a:r>
            <a:r>
              <a:rPr lang="zh-CN" altLang="en-US">
                <a:solidFill>
                  <a:schemeClr val="tx1"/>
                </a:solidFill>
              </a:rPr>
              <a:t>本原因</a:t>
            </a:r>
            <a:r>
              <a:rPr lang="zh-CN" altLang="en-US"/>
              <a:t>：前端未处理后台返回空数据的场景，未渲染 “暂无数据” 等提示信息，属于</a:t>
            </a:r>
            <a:r>
              <a:rPr lang="en-US" altLang="zh-CN"/>
              <a:t>P3 </a:t>
            </a:r>
            <a:r>
              <a:rPr lang="zh-CN" altLang="en-US"/>
              <a:t>级用户体验缺陷。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9026124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借阅调度记录模块（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借书还书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4202" y="1211947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测试用例设计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996014"/>
          <a:ext cx="10972800" cy="340995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81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用例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ID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测试场景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操作类型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书籍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ID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预期结果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latin typeface="Calibri"/>
                          <a:ea typeface="宋体"/>
                        </a:rPr>
                        <a:t>测试方法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UC011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借书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-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书籍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ID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非数字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借书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abc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请正确输入书籍编号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UC012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借书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-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正常借阅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借书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2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成功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有效等价类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UC013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还书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-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异常图书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ID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还书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abc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请正确输入书籍编号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无效等价类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UC014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还书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- 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正常归还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还书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16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提示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400">
                          <a:latin typeface="Calibri"/>
                          <a:ea typeface="宋体"/>
                        </a:rPr>
                        <a:t>成功</a:t>
                      </a:r>
                      <a:r>
                        <a:rPr lang="en-US" sz="14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>
                          <a:latin typeface="Calibri"/>
                          <a:ea typeface="宋体"/>
                        </a:rPr>
                        <a:t>有效等价类</a:t>
                      </a:r>
                      <a:endParaRPr lang="zh-CN" altLang="en-US" sz="14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借阅调度记录模块（借书还书功能）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19646" y="1317389"/>
            <a:ext cx="1456523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参数化数组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23877" y="1317389"/>
            <a:ext cx="3839517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Selenium </a:t>
            </a:r>
            <a:r>
              <a:rPr lang="zh-CN" altLang="en-US"/>
              <a:t>定位输入框并填入对应值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32768" y="3808439"/>
            <a:ext cx="363027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点击提交按钮，抓取页面弹窗文本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76034" y="3808489"/>
            <a:ext cx="2735202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执行断言语句</a:t>
            </a:r>
            <a:r>
              <a:rPr lang="en-US" altLang="zh-CN"/>
              <a:t>，</a:t>
            </a:r>
            <a:r>
              <a:rPr lang="zh-CN" altLang="en-US"/>
              <a:t>对比结果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67959" y="571259"/>
            <a:ext cx="3945033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i="1">
                <a:latin typeface="MiSans Medium" panose="00000600000000000000" charset="-122"/>
                <a:ea typeface="MiSans Normal" panose="00000500000000000000" charset="-122"/>
              </a:rPr>
              <a:t>步骤同用户赋权与管理模块</a:t>
            </a:r>
            <a:endParaRPr lang="zh-CN" altLang="en-US" sz="2400" i="1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5" name="图片 4" descr="post_object_image_1644861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01" y="2026451"/>
            <a:ext cx="5581813" cy="897077"/>
          </a:xfrm>
          <a:prstGeom prst="rect">
            <a:avLst/>
          </a:prstGeom>
        </p:spPr>
      </p:pic>
      <p:pic>
        <p:nvPicPr>
          <p:cNvPr id="7" name="图片 6" descr="post_object_image_25180706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438" y="1861324"/>
            <a:ext cx="5701894" cy="1508202"/>
          </a:xfrm>
          <a:prstGeom prst="rect">
            <a:avLst/>
          </a:prstGeom>
        </p:spPr>
      </p:pic>
      <p:pic>
        <p:nvPicPr>
          <p:cNvPr id="9" name="图片 8" descr="post_object_image_854315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15" y="4701105"/>
            <a:ext cx="5581785" cy="672804"/>
          </a:xfrm>
          <a:prstGeom prst="rect">
            <a:avLst/>
          </a:prstGeom>
        </p:spPr>
      </p:pic>
      <p:pic>
        <p:nvPicPr>
          <p:cNvPr id="11" name="图片 10" descr="post_object_image_30137188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395" y="4544372"/>
            <a:ext cx="5738597" cy="98632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借阅调度记录模块（借书还书功能）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7" name="图片 6" descr="post_object_image_1875716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27" y="2564915"/>
            <a:ext cx="4844812" cy="408869"/>
          </a:xfrm>
          <a:prstGeom prst="rect">
            <a:avLst/>
          </a:prstGeom>
        </p:spPr>
      </p:pic>
      <p:pic>
        <p:nvPicPr>
          <p:cNvPr id="9" name="图片 8" descr="post_object_image_42083550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497" y="2674144"/>
            <a:ext cx="5681766" cy="190487"/>
          </a:xfrm>
          <a:prstGeom prst="rect">
            <a:avLst/>
          </a:prstGeom>
        </p:spPr>
      </p:pic>
      <p:pic>
        <p:nvPicPr>
          <p:cNvPr id="10" name="图片 9" descr="post_object_image_25148078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375" y="3061603"/>
            <a:ext cx="5798010" cy="278840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362380" y="2004938"/>
            <a:ext cx="354890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【UC011 </a:t>
            </a:r>
            <a:r>
              <a:rPr lang="zh-CN" altLang="en-US"/>
              <a:t>借书 - 书籍 </a:t>
            </a:r>
            <a:r>
              <a:rPr lang="en-US" altLang="zh-CN"/>
              <a:t>ID </a:t>
            </a:r>
            <a:r>
              <a:rPr lang="zh-CN" altLang="en-US"/>
              <a:t>非数字】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19884" y="2004969"/>
            <a:ext cx="2996992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【UC012 </a:t>
            </a:r>
            <a:r>
              <a:rPr lang="zh-CN" altLang="en-US"/>
              <a:t>借书 - 正常借阅】</a:t>
            </a:r>
            <a:endParaRPr lang="zh-CN" altLang="en-US"/>
          </a:p>
        </p:txBody>
      </p:sp>
      <p:pic>
        <p:nvPicPr>
          <p:cNvPr id="17" name="图片 16" descr="post_object_image_40564695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16" y="3310619"/>
            <a:ext cx="5386430" cy="22904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借阅调度记录模块（借书还书功能）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测试结果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3" name="图片 2" descr="post_object_image_34759085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57" y="2462975"/>
            <a:ext cx="4239099" cy="332799"/>
          </a:xfrm>
          <a:prstGeom prst="rect">
            <a:avLst/>
          </a:prstGeom>
        </p:spPr>
      </p:pic>
      <p:pic>
        <p:nvPicPr>
          <p:cNvPr id="4" name="图片 3" descr="post_object_image_19465196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46" y="3005013"/>
            <a:ext cx="5554321" cy="2696896"/>
          </a:xfrm>
          <a:prstGeom prst="rect">
            <a:avLst/>
          </a:prstGeom>
        </p:spPr>
      </p:pic>
      <p:pic>
        <p:nvPicPr>
          <p:cNvPr id="5" name="图片 4" descr="post_object_image_34660137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883" y="2524077"/>
            <a:ext cx="5879380" cy="210706"/>
          </a:xfrm>
          <a:prstGeom prst="rect">
            <a:avLst/>
          </a:prstGeom>
        </p:spPr>
      </p:pic>
      <p:pic>
        <p:nvPicPr>
          <p:cNvPr id="6" name="图片 5" descr="post_object_image_2724947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669" y="3005025"/>
            <a:ext cx="5501808" cy="26968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62233" y="1881751"/>
            <a:ext cx="3281547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【UC013 </a:t>
            </a:r>
            <a:r>
              <a:rPr lang="zh-CN" altLang="en-US"/>
              <a:t>还书 - 异常图书 </a:t>
            </a:r>
            <a:r>
              <a:rPr lang="en-US" altLang="zh-CN"/>
              <a:t>ID】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00855" y="1881751"/>
            <a:ext cx="303743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【UC014 </a:t>
            </a:r>
            <a:r>
              <a:rPr lang="zh-CN" altLang="en-US"/>
              <a:t>还书 - 正常归还】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282165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借阅调度记录模块（借书还书功能）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581" y="1347766"/>
            <a:ext cx="2224628" cy="53394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MiSans Medium" panose="00000600000000000000" charset="-122"/>
                <a:ea typeface="MiSans Normal" panose="00000500000000000000" charset="-122"/>
              </a:rPr>
              <a:t>结果分析</a:t>
            </a:r>
            <a:endParaRPr lang="zh-CN" altLang="en-US" sz="24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8400" y="1881705"/>
            <a:ext cx="7315200" cy="5044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1.【UC011 </a:t>
            </a:r>
            <a:r>
              <a:rPr lang="zh-CN" altLang="en-US"/>
              <a:t>借书 - 书籍 </a:t>
            </a:r>
            <a:r>
              <a:rPr lang="en-US" altLang="zh-CN"/>
              <a:t>ID </a:t>
            </a:r>
            <a:r>
              <a:rPr lang="zh-CN" altLang="en-US"/>
              <a:t>非数字】：执行通过，前端正常拦截非数字输入，弹出“请正确输入书籍编号”提示；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2.【UC012 </a:t>
            </a:r>
            <a:r>
              <a:rPr lang="zh-CN" altLang="en-US"/>
              <a:t>借书 - 正常借阅】：测试卡在 </a:t>
            </a:r>
            <a:r>
              <a:rPr lang="en-US" altLang="zh-CN"/>
              <a:t>library_system_test.py:385 </a:t>
            </a:r>
            <a:r>
              <a:rPr lang="zh-CN" altLang="en-US"/>
              <a:t>的浮层等待上，超时没有捕获到“借 书 成 功”的可见消息。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3.【UC013 </a:t>
            </a:r>
            <a:r>
              <a:rPr lang="zh-CN" altLang="en-US"/>
              <a:t>还书 - 异常图书 </a:t>
            </a:r>
            <a:r>
              <a:rPr lang="en-US" altLang="zh-CN"/>
              <a:t>ID】：</a:t>
            </a:r>
            <a:r>
              <a:rPr lang="zh-CN" altLang="en-US"/>
              <a:t>执行通过，前端正常拦截非数字输入，弹出“请正确输入书籍编号”提示；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4.【UC014 </a:t>
            </a:r>
            <a:r>
              <a:rPr lang="zh-CN" altLang="en-US"/>
              <a:t>还书 - 正常归还】：和借书正常场景一样，测试在 </a:t>
            </a:r>
            <a:r>
              <a:rPr lang="en-US" altLang="zh-CN"/>
              <a:t>library_system_test.py:385 </a:t>
            </a:r>
            <a:r>
              <a:rPr lang="zh-CN" altLang="en-US"/>
              <a:t>等待“还书成功”浮层时超时，没有捕获到可见提示。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5.  根本原因：业务反馈通过短暂浮层完成，成功结果页又没有额外的稳定文本标识，导致页面刷新、浮层自动消失，自动化就抓不到成功文案，属于 </a:t>
            </a:r>
            <a:r>
              <a:rPr lang="en-US" altLang="zh-CN"/>
              <a:t>P2 </a:t>
            </a:r>
            <a:r>
              <a:rPr lang="zh-CN" altLang="en-US"/>
              <a:t>级缺陷。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46" y="30091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缺陷定级与测试结论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13083" y="2369152"/>
            <a:ext cx="5443678" cy="30646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1.  基础业务可用：合法流程（用户添加、图书录入、正常借还）均可正常执行；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2.  高危漏洞存在：</a:t>
            </a:r>
            <a:r>
              <a:rPr lang="en-US" altLang="zh-CN"/>
              <a:t>SQL </a:t>
            </a:r>
            <a:r>
              <a:rPr lang="zh-CN" altLang="en-US"/>
              <a:t>注入可被利用，</a:t>
            </a:r>
            <a:r>
              <a:rPr lang="en-US" altLang="zh-CN"/>
              <a:t>P0 </a:t>
            </a:r>
            <a:r>
              <a:rPr lang="zh-CN" altLang="en-US"/>
              <a:t>级必须立即修复；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3.  功能阻塞：图书分类新增功能完全失效，</a:t>
            </a:r>
            <a:r>
              <a:rPr lang="en-US" altLang="zh-CN"/>
              <a:t>P1 </a:t>
            </a:r>
            <a:r>
              <a:rPr lang="zh-CN" altLang="en-US"/>
              <a:t>级需优先修复；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4.  体验与校验不足：搜索无结果无提示、借还书编号前端校验弱，需优化。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18" name="表格 17"/>
          <p:cNvGraphicFramePr/>
          <p:nvPr/>
        </p:nvGraphicFramePr>
        <p:xfrm>
          <a:off x="295742" y="1143023"/>
          <a:ext cx="5638800" cy="4150995"/>
        </p:xfrm>
        <a:graphic>
          <a:graphicData uri="http://schemas.openxmlformats.org/drawingml/2006/table">
            <a:tbl>
              <a:tblPr/>
              <a:tblGrid>
                <a:gridCol w="1127760"/>
                <a:gridCol w="1127760"/>
                <a:gridCol w="1127760"/>
                <a:gridCol w="1127760"/>
                <a:gridCol w="1127760"/>
              </a:tblGrid>
              <a:tr h="318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latin typeface="Calibri"/>
                          <a:ea typeface="宋体"/>
                        </a:rPr>
                        <a:t>缺陷编号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latin typeface="Calibri"/>
                          <a:ea typeface="宋体"/>
                        </a:rPr>
                        <a:t>缺陷等级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latin typeface="Calibri"/>
                          <a:ea typeface="宋体"/>
                        </a:rPr>
                        <a:t>缺陷模块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latin typeface="Calibri"/>
                          <a:ea typeface="宋体"/>
                        </a:rPr>
                        <a:t>缺陷描述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latin typeface="Calibri"/>
                          <a:ea typeface="宋体"/>
                        </a:rPr>
                        <a:t>影响范围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07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BUG-001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P0 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级（致命）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用户管理模块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用户名输入</a:t>
                      </a: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admin' OR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等</a:t>
                      </a: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 SQL 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关键字时，系统未拦截且提示</a:t>
                      </a: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 “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添加成功</a:t>
                      </a: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”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攻击者可通过恶意输入篡改后台数据库，导致用户数据泄露、丢失或系统瘫痪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01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BUG-002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P1 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级（阻塞）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图书管理模块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图书分类新增功能完全失效：合法输入提交后页面全局刷新，无任何反馈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无法新增图书分类，导致后续图书录入功能无法正常使用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712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BUG-003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P2 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级（一般）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借阅调度模块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借阅与归还</a:t>
                      </a:r>
                      <a:r>
                        <a:rPr lang="zh-CN" sz="120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</a:rPr>
                        <a:t>反馈不稳定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：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</a:rPr>
                        <a:t>成功提示不稳定、无法稳定断言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</a:rPr>
                        <a:t>正常借阅与归还场景在自动化断言层面不稳定，影响结果判定和用户反馈可见性。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</a:endParaRPr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07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BUG-004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latin typeface="Calibri" charset="0"/>
                          <a:cs typeface="宋体" charset="0"/>
                        </a:rPr>
                        <a:t>P3 </a:t>
                      </a:r>
                      <a:r>
                        <a:rPr lang="zh-CN" sz="1200">
                          <a:latin typeface="Calibri"/>
                          <a:ea typeface="宋体"/>
                        </a:rPr>
                        <a:t>级（体验）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前台查询模块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书籍搜索空状态无提示：搜索不存在的图书时，表格直接为空，无友好提示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latin typeface="Calibri"/>
                          <a:ea typeface="宋体"/>
                        </a:rPr>
                        <a:t>用户无法判断是搜索结果为空还是系统故障，影响使用体验</a:t>
                      </a:r>
                      <a:endParaRPr lang="zh-CN" altLang="en-US" sz="1200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系统性能测试</a:t>
            </a:r>
            <a:br>
              <a:rPr lang="zh-CN" altLang="en-US">
                <a:latin typeface="MiSans DemiBold" charset="0"/>
                <a:ea typeface="MiSans Medium" panose="00000600000000000000" charset="-122"/>
              </a:rPr>
            </a:br>
            <a:r>
              <a:rPr lang="zh-CN" altLang="en-US">
                <a:latin typeface="MiSans DemiBold" charset="0"/>
                <a:ea typeface="MiSans Medium" panose="00000600000000000000" charset="-122"/>
              </a:rPr>
              <a:t>(伊木然)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测试方案与场景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>
          <a:xfrm>
            <a:off x="609606" y="1510174"/>
            <a:ext cx="10972800" cy="22098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>
          <a:xfrm>
            <a:off x="1016006" y="1853074"/>
            <a:ext cx="1524000" cy="15240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4" name="图片占位符 13"/>
          <p:cNvPicPr/>
          <p:nvPr>
            <p:ph type="pic" idx="16390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6" y="2208674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>
          <a:xfrm>
            <a:off x="2895606" y="2030874"/>
            <a:ext cx="82804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选用工具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>
          <a:xfrm>
            <a:off x="2895606" y="2589674"/>
            <a:ext cx="8280400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本次测试采用 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Apache JMeter 5.6.3 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作为主流开源性能测试工具，支持多线程并发模拟、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HTTP/HTTPS 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协议接口压测、参数化、断言检查及性能指标实时统计。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9" name="图片 18" descr="post_object_image_27799097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963" y="3904155"/>
            <a:ext cx="9998745" cy="1980883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609600" y="2773741"/>
          <a:ext cx="10972800" cy="34518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8629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测试阶段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核心配置（线程 / 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 charset="0"/>
                        </a:rPr>
                        <a:t>ram-up时间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 / 循环）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测试目标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关键指标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29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统一通调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1 / 1s / 1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接口可正常跑通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响应码 200、无报错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29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低并发测试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5-50 / 5-30s / 5-10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验证基础稳定性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异常率≤0.1%、响应时间≤500ms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29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高并发加压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80-800 / 10-20s / 5-20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寻找性能瓶颈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异常率≤1%、响应时间≤1000ms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 userDrawn="1"/>
        </p:nvSpPr>
        <p:spPr>
          <a:xfrm>
            <a:off x="609629" y="2225588"/>
            <a:ext cx="1710055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 b="1"/>
              <a:t>测试组选择</a:t>
            </a:r>
            <a:endParaRPr lang="zh-CN" altLang="en-US" sz="2400" b="1"/>
          </a:p>
        </p:txBody>
      </p:sp>
      <p:sp>
        <p:nvSpPr>
          <p:cNvPr id="6" name="文本框 5"/>
          <p:cNvSpPr txBox="1"/>
          <p:nvPr userDrawn="1"/>
        </p:nvSpPr>
        <p:spPr>
          <a:xfrm>
            <a:off x="609629" y="456788"/>
            <a:ext cx="8700695" cy="156578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2400" b="1"/>
              <a:t>测试环境与设备</a:t>
            </a:r>
            <a:endParaRPr lang="zh-CN" altLang="en-US" sz="2400" b="1"/>
          </a:p>
          <a:p>
            <a:pPr algn="l"/>
            <a:r>
              <a:rPr lang="zh-CN" altLang="en-US" sz="2400"/>
              <a:t>本次测试基于本地开发环境开展，硬件配置如下：</a:t>
            </a:r>
            <a:endParaRPr lang="zh-CN" altLang="en-US" sz="2400"/>
          </a:p>
          <a:p>
            <a:pPr algn="l"/>
            <a:r>
              <a:rPr lang="zh-CN" altLang="en-US" sz="2400"/>
              <a:t>设备：个人笔记本电脑</a:t>
            </a:r>
            <a:endParaRPr lang="zh-CN" altLang="en-US" sz="2400"/>
          </a:p>
          <a:p>
            <a:pPr algn="l"/>
            <a:r>
              <a:rPr lang="zh-CN" altLang="en-US" sz="2400"/>
              <a:t>操作系统：</a:t>
            </a:r>
            <a:r>
              <a:rPr lang="en-US" altLang="zh-CN" sz="2400"/>
              <a:t>Windows 10/11</a:t>
            </a:r>
            <a:endParaRPr lang="en-US" altLang="zh-CN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624463" y="529367"/>
            <a:ext cx="201549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 b="1"/>
              <a:t>核心</a:t>
            </a:r>
            <a:r>
              <a:rPr lang="zh-CN" altLang="en-US" sz="2400" b="1">
                <a:cs typeface="Arial" panose="020B0604020202020204" pitchFamily="34" charset="0"/>
              </a:rPr>
              <a:t>测试逻辑</a:t>
            </a:r>
            <a:endParaRPr lang="zh-CN" altLang="en-US" sz="2400" b="1"/>
          </a:p>
        </p:txBody>
      </p:sp>
      <p:pic>
        <p:nvPicPr>
          <p:cNvPr id="5" name="图片 4" descr="post_object_image_2787203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417" y="1620924"/>
            <a:ext cx="10723555" cy="294925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一、五个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接口调通测试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graphicFrame>
        <p:nvGraphicFramePr>
          <p:cNvPr id="29" name="表格 28"/>
          <p:cNvGraphicFramePr/>
          <p:nvPr/>
        </p:nvGraphicFramePr>
        <p:xfrm>
          <a:off x="609629" y="1640237"/>
          <a:ext cx="10972800" cy="407289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接口名称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测试配置（线程 / 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 charset="0"/>
                        </a:rPr>
                        <a:t>ram-up时间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 / 循环）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关键结果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核心结论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用户登录（Login）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1 / 1s / 1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响应码 200，断言校验通过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接口连通正常，登录业务可用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图书搜索（Search）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1 / 1s / 1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响应码 200，返回图书列表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接口连通正常，搜索功能可用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图书分类（CategoryList）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1 / 1s / 1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响应码 200，返回分类数据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接口连通正常，分类查询可用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用户借书（Borrow）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1 / 1s / 1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响应码 200，图书状态更新正常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接口连通正常，借书业务可用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用户还书（Return）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ui-sans-serif" charset="0"/>
                        </a:rPr>
                        <a:t>1 / 1s / 1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响应码 200，图书状态更新正常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ea typeface="ui-sans-serif"/>
                        </a:rPr>
                        <a:t>接口连通正常，还书业务可用</a:t>
                      </a:r>
                      <a:endParaRPr lang="zh-CN" altLang="en-US" sz="1800"/>
                    </a:p>
                  </a:txBody>
                  <a:tcPr marL="0" marR="0" marT="0" marB="0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131570" y="471170"/>
            <a:ext cx="140462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 b="1"/>
              <a:t>测试</a:t>
            </a:r>
            <a:r>
              <a:rPr lang="zh-CN" altLang="en-US" sz="2400" b="1">
                <a:cs typeface="Arial" panose="020B0604020202020204" pitchFamily="34" charset="0"/>
              </a:rPr>
              <a:t>结果</a:t>
            </a:r>
            <a:endParaRPr lang="zh-CN" altLang="en-US" sz="2400" b="1"/>
          </a:p>
        </p:txBody>
      </p:sp>
      <p:pic>
        <p:nvPicPr>
          <p:cNvPr id="3" name="图片 2" descr="post_object_image_34147313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374" y="1235089"/>
            <a:ext cx="5774830" cy="2736372"/>
          </a:xfrm>
          <a:prstGeom prst="rect">
            <a:avLst/>
          </a:prstGeom>
        </p:spPr>
      </p:pic>
      <p:pic>
        <p:nvPicPr>
          <p:cNvPr id="5" name="图片 4" descr="post_object_image_20958722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68" y="4246918"/>
            <a:ext cx="11175078" cy="229371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435949" y="282627"/>
            <a:ext cx="62814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b="1"/>
              <a:t>01-Login（</a:t>
            </a:r>
            <a:r>
              <a:rPr lang="zh-CN" altLang="en-US" b="1"/>
              <a:t>用户登录接口）- </a:t>
            </a:r>
            <a:r>
              <a:rPr lang="en-US" altLang="zh-CN" b="1"/>
              <a:t>POST /userLogin    </a:t>
            </a:r>
            <a:r>
              <a:rPr lang="zh-CN" altLang="en-US" b="1"/>
              <a:t>压力测试</a:t>
            </a:r>
            <a:endParaRPr lang="zh-CN" altLang="en-US" b="1"/>
          </a:p>
        </p:txBody>
      </p:sp>
      <p:sp>
        <p:nvSpPr>
          <p:cNvPr id="3" name="文本框 2"/>
          <p:cNvSpPr txBox="1"/>
          <p:nvPr userDrawn="1"/>
        </p:nvSpPr>
        <p:spPr>
          <a:xfrm>
            <a:off x="435946" y="833375"/>
            <a:ext cx="10089354" cy="145843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/>
              <a:t>接口功能：用户提交用户名、密码及角色，完成登录验证，返回登录状态。</a:t>
            </a:r>
            <a:endParaRPr lang="en-US" altLang="zh-CN"/>
          </a:p>
          <a:p>
            <a:pPr algn="l"/>
            <a:r>
              <a:rPr lang="zh-CN" altLang="en-US"/>
              <a:t>低并发压力测试（阶段 2）线程数：50预热时间（</a:t>
            </a:r>
            <a:r>
              <a:rPr lang="en-US" altLang="zh-CN"/>
              <a:t>Ramp-Up）：5 </a:t>
            </a:r>
            <a:r>
              <a:rPr lang="zh-CN" altLang="en-US"/>
              <a:t>秒循环次数：5 次测试目的：模拟少量并发用户登录，验证接口基础稳定性预期结果：错误率≤0.1%，平均响应时间≤500</a:t>
            </a:r>
            <a:r>
              <a:rPr lang="en-US" altLang="zh-CN"/>
              <a:t>ms，</a:t>
            </a:r>
            <a:r>
              <a:rPr lang="zh-CN" altLang="en-US"/>
              <a:t>无连接超时。</a:t>
            </a:r>
            <a:endParaRPr lang="zh-CN" altLang="en-US"/>
          </a:p>
        </p:txBody>
      </p:sp>
      <p:pic>
        <p:nvPicPr>
          <p:cNvPr id="4" name="图片 3" descr="post_object_image_30671163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617" y="2842712"/>
            <a:ext cx="4207107" cy="3516524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3335107" y="2473142"/>
            <a:ext cx="2926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全部成功，与</a:t>
            </a:r>
            <a:r>
              <a:rPr lang="zh-CN" altLang="en-US">
                <a:cs typeface="Arial" panose="020B0604020202020204" pitchFamily="34" charset="0"/>
              </a:rPr>
              <a:t>预期结果一致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820136" y="456565"/>
            <a:ext cx="62814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/>
              <a:t>01-</a:t>
            </a:r>
            <a:r>
              <a:rPr lang="en-US" altLang="zh-CN" b="1"/>
              <a:t>Login（</a:t>
            </a:r>
            <a:r>
              <a:rPr lang="zh-CN" altLang="en-US" b="1"/>
              <a:t>用户登录接口）- </a:t>
            </a:r>
            <a:r>
              <a:rPr lang="en-US" altLang="zh-CN" b="1"/>
              <a:t>POST /userLogin    </a:t>
            </a:r>
            <a:r>
              <a:rPr lang="zh-CN" altLang="en-US" b="1"/>
              <a:t>压力测试</a:t>
            </a:r>
            <a:endParaRPr lang="zh-CN" altLang="en-US" b="1"/>
          </a:p>
        </p:txBody>
      </p:sp>
      <p:sp>
        <p:nvSpPr>
          <p:cNvPr id="3" name="文本框 2"/>
          <p:cNvSpPr txBox="1"/>
          <p:nvPr userDrawn="1"/>
        </p:nvSpPr>
        <p:spPr>
          <a:xfrm>
            <a:off x="820136" y="1087094"/>
            <a:ext cx="83826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逐步加压测试（阶段 3）第一次加压：线程数 800，</a:t>
            </a:r>
            <a:r>
              <a:rPr lang="en-US" altLang="zh-CN"/>
              <a:t>Ramp-Up 10 </a:t>
            </a:r>
            <a:r>
              <a:rPr lang="zh-CN" altLang="en-US"/>
              <a:t>秒，循环 5 次</a:t>
            </a:r>
            <a:endParaRPr lang="zh-CN" altLang="en-US"/>
          </a:p>
        </p:txBody>
      </p:sp>
      <p:pic>
        <p:nvPicPr>
          <p:cNvPr id="4" name="图片 3" descr="post_object_image_41365186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172" y="1710931"/>
            <a:ext cx="3331793" cy="2552492"/>
          </a:xfrm>
          <a:prstGeom prst="rect">
            <a:avLst/>
          </a:prstGeom>
        </p:spPr>
      </p:pic>
      <p:pic>
        <p:nvPicPr>
          <p:cNvPr id="5" name="图片 4" descr="post_object_image_25619427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6" y="4524382"/>
            <a:ext cx="10449923" cy="1177882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5176743" y="3689959"/>
            <a:ext cx="560070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测试</a:t>
            </a:r>
            <a:r>
              <a:rPr lang="zh-CN" altLang="en-US">
                <a:cs typeface="Arial" panose="020B0604020202020204" pitchFamily="34" charset="0"/>
              </a:rPr>
              <a:t>结果表明 </a:t>
            </a:r>
            <a:r>
              <a:rPr lang="en-US" altLang="zh-CN">
                <a:cs typeface="Arial" panose="020B0604020202020204" pitchFamily="34" charset="0"/>
              </a:rPr>
              <a:t>login</a:t>
            </a:r>
            <a:r>
              <a:rPr lang="zh-CN" altLang="en-US">
                <a:cs typeface="Arial" panose="020B0604020202020204" pitchFamily="34" charset="0"/>
              </a:rPr>
              <a:t>接口满足系统应具备的高并发环境</a:t>
            </a:r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89424" y="137963"/>
            <a:ext cx="11002460" cy="20832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b="1"/>
              <a:t>02-</a:t>
            </a:r>
            <a:r>
              <a:rPr lang="en-US" altLang="zh-CN" b="1"/>
              <a:t>Search（</a:t>
            </a:r>
            <a:r>
              <a:rPr lang="zh-CN" altLang="en-US" b="1"/>
              <a:t>图书搜索接口）- </a:t>
            </a:r>
            <a:r>
              <a:rPr lang="en-US" altLang="zh-CN" b="1"/>
              <a:t>GET /findBookByBookPartInfo </a:t>
            </a:r>
            <a:r>
              <a:rPr lang="zh-CN" altLang="en-US" b="1"/>
              <a:t>压力测试</a:t>
            </a:r>
            <a:endParaRPr lang="en-US" altLang="zh-CN" b="1"/>
          </a:p>
          <a:p>
            <a:pPr algn="l"/>
            <a:endParaRPr lang="zh-CN" altLang="en-US" b="1"/>
          </a:p>
          <a:p>
            <a:pPr algn="l"/>
            <a:r>
              <a:rPr lang="zh-CN" altLang="en-US"/>
              <a:t>接口功能：根据关键词「</a:t>
            </a:r>
            <a:r>
              <a:rPr lang="en-US" altLang="zh-CN"/>
              <a:t>Java」</a:t>
            </a:r>
            <a:r>
              <a:rPr lang="zh-CN" altLang="en-US"/>
              <a:t>搜索图书，返回匹配图书列表。</a:t>
            </a:r>
            <a:endParaRPr lang="en-US" altLang="zh-CN"/>
          </a:p>
          <a:p>
            <a:pPr algn="l"/>
            <a:r>
              <a:rPr lang="zh-CN" altLang="en-US"/>
              <a:t>低并发压力测试（阶段 2）线程数：150 预热时间（</a:t>
            </a:r>
            <a:r>
              <a:rPr lang="en-US" altLang="zh-CN"/>
              <a:t>Ramp-Up）：30 </a:t>
            </a:r>
            <a:r>
              <a:rPr lang="zh-CN" altLang="en-US"/>
              <a:t>秒循环次数：10 次测试目的：验证接口查询性能稳定，无数据返回异常预期结果：错误率≤0.1%，平均响应时间≤600</a:t>
            </a:r>
            <a:r>
              <a:rPr lang="en-US" altLang="zh-CN"/>
              <a:t>ms。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297058" y="3026749"/>
            <a:ext cx="794321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加压测试（阶段 3）第一次加压：线程数 800，</a:t>
            </a:r>
            <a:r>
              <a:rPr lang="en-US" altLang="zh-CN"/>
              <a:t>Ramp-Up 15 </a:t>
            </a:r>
            <a:r>
              <a:rPr lang="zh-CN" altLang="en-US"/>
              <a:t>秒，循环10 次</a:t>
            </a:r>
            <a:endParaRPr lang="zh-CN" altLang="en-US"/>
          </a:p>
        </p:txBody>
      </p:sp>
      <p:pic>
        <p:nvPicPr>
          <p:cNvPr id="5" name="图片 4" descr="post_object_image_1995987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538" y="3396380"/>
            <a:ext cx="5619750" cy="212407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6205985" y="5052617"/>
            <a:ext cx="579564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>
                <a:solidFill>
                  <a:srgbClr val="000000"/>
                </a:solidFill>
              </a:rPr>
              <a:t>测试结果表明 </a:t>
            </a:r>
            <a:r>
              <a:rPr lang="zh-CN" altLang="en-US">
                <a:solidFill>
                  <a:srgbClr val="000000"/>
                </a:solidFill>
              </a:rPr>
              <a:t>search接口满足系统应具备的高并发环境</a:t>
            </a: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9" name="图片 8" descr="post_object_image_227320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08" y="5619489"/>
            <a:ext cx="9705439" cy="953213"/>
          </a:xfrm>
          <a:prstGeom prst="rect">
            <a:avLst/>
          </a:prstGeom>
        </p:spPr>
      </p:pic>
      <p:pic>
        <p:nvPicPr>
          <p:cNvPr id="10" name="图片 9" descr="post_object_image_2471873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49" y="1720233"/>
            <a:ext cx="10810990" cy="117038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247058" y="195606"/>
            <a:ext cx="11133368" cy="1503332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b="1"/>
              <a:t>03-CategoryList（</a:t>
            </a:r>
            <a:r>
              <a:rPr lang="zh-CN" altLang="en-US" b="1"/>
              <a:t>图书分类接口）- </a:t>
            </a:r>
            <a:r>
              <a:rPr lang="en-US" altLang="zh-CN" b="1"/>
              <a:t>GET /findAllBookCategory </a:t>
            </a:r>
            <a:r>
              <a:rPr lang="zh-CN" altLang="en-US" b="1"/>
              <a:t>压力测试</a:t>
            </a:r>
            <a:endParaRPr lang="en-US" altLang="zh-CN" b="1"/>
          </a:p>
          <a:p>
            <a:pPr algn="l"/>
            <a:endParaRPr lang="zh-CN" altLang="en-US" b="1"/>
          </a:p>
          <a:p>
            <a:pPr algn="l"/>
            <a:r>
              <a:rPr lang="zh-CN" altLang="en-US"/>
              <a:t>接口功能：查询所有图书分类，返回分类列表（核心测试接口）。</a:t>
            </a:r>
            <a:endParaRPr lang="en-US" altLang="zh-CN"/>
          </a:p>
          <a:p>
            <a:pPr algn="l"/>
            <a:r>
              <a:rPr lang="zh-CN" altLang="en-US"/>
              <a:t>低并发压力测试（阶段 2）线程数：80预热时间（</a:t>
            </a:r>
            <a:r>
              <a:rPr lang="en-US" altLang="zh-CN"/>
              <a:t>Ramp-Up）：20 </a:t>
            </a:r>
            <a:r>
              <a:rPr lang="zh-CN" altLang="en-US"/>
              <a:t>秒循环次数：20 次测试目的：验证分类接口低并发下的稳定性，数据返回完整预期结果：错误率 = 0，平均响应时间≤400</a:t>
            </a:r>
            <a:r>
              <a:rPr lang="en-US" altLang="zh-CN"/>
              <a:t>ms。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350265" y="3244215"/>
            <a:ext cx="848233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逐步加压测试（阶段 3）第一次加压：线程数 800，</a:t>
            </a:r>
            <a:r>
              <a:rPr lang="en-US" altLang="zh-CN"/>
              <a:t>Ramp-Up 15 </a:t>
            </a:r>
            <a:r>
              <a:rPr lang="zh-CN" altLang="en-US"/>
              <a:t>秒，循环 10 次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350265" y="5522453"/>
            <a:ext cx="628015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测试结果表明</a:t>
            </a:r>
            <a:r>
              <a:rPr lang="zh-CN" altLang="en-US">
                <a:solidFill>
                  <a:schemeClr val="tx1"/>
                </a:solidFill>
              </a:rPr>
              <a:t>categorylist</a:t>
            </a:r>
            <a:r>
              <a:rPr lang="zh-CN" altLang="en-US"/>
              <a:t>接口满足系统应具备的高并发环境</a:t>
            </a:r>
            <a:endParaRPr lang="zh-CN" altLang="en-US"/>
          </a:p>
        </p:txBody>
      </p:sp>
      <p:pic>
        <p:nvPicPr>
          <p:cNvPr id="7" name="图片 6" descr="post_object_image_18529718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41" y="3686334"/>
            <a:ext cx="11398327" cy="1615611"/>
          </a:xfrm>
          <a:prstGeom prst="rect">
            <a:avLst/>
          </a:prstGeom>
        </p:spPr>
      </p:pic>
      <p:pic>
        <p:nvPicPr>
          <p:cNvPr id="8" name="图片 7" descr="post_object_image_7299099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7" y="1773251"/>
            <a:ext cx="10858918" cy="115133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261466" y="311802"/>
            <a:ext cx="10800036" cy="172079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b="1"/>
              <a:t>04-Borrow（</a:t>
            </a:r>
            <a:r>
              <a:rPr lang="zh-CN" altLang="en-US" b="1"/>
              <a:t>用户借书接口）- </a:t>
            </a:r>
            <a:r>
              <a:rPr lang="en-US" altLang="zh-CN" b="1"/>
              <a:t>POST /userBorrowingBook </a:t>
            </a:r>
            <a:r>
              <a:rPr lang="zh-CN" altLang="en-US" b="1"/>
              <a:t>压力测试</a:t>
            </a:r>
            <a:endParaRPr lang="en-US" altLang="zh-CN" b="1"/>
          </a:p>
          <a:p>
            <a:pPr algn="l"/>
            <a:endParaRPr lang="zh-CN" altLang="en-US"/>
          </a:p>
          <a:p>
            <a:pPr algn="l"/>
            <a:r>
              <a:rPr lang="zh-CN" altLang="en-US"/>
              <a:t>接口功能：用户借阅指定图书（</a:t>
            </a:r>
            <a:r>
              <a:rPr lang="en-US" altLang="zh-CN"/>
              <a:t>bookId=1），</a:t>
            </a:r>
            <a:r>
              <a:rPr lang="zh-CN" altLang="en-US"/>
              <a:t>返回借书成功提示。</a:t>
            </a:r>
            <a:endParaRPr lang="en-US" altLang="zh-CN"/>
          </a:p>
          <a:p>
            <a:pPr algn="l"/>
            <a:r>
              <a:rPr lang="zh-CN" altLang="en-US"/>
              <a:t>低并发压力测试（阶段 2）线程数：40 预热时间（</a:t>
            </a:r>
            <a:r>
              <a:rPr lang="en-US" altLang="zh-CN"/>
              <a:t>Ramp-Up）：10 </a:t>
            </a:r>
            <a:r>
              <a:rPr lang="zh-CN" altLang="en-US"/>
              <a:t>秒循环次数：5 次测试目的：模拟少量用户同时借书，验证借阅逻辑正常预期结果：错误率≤0.1%，平均响应时间≤700</a:t>
            </a:r>
            <a:r>
              <a:rPr lang="en-US" altLang="zh-CN"/>
              <a:t>ms，</a:t>
            </a:r>
            <a:r>
              <a:rPr lang="zh-CN" altLang="en-US"/>
              <a:t>借阅逻辑正常。</a:t>
            </a:r>
            <a:endParaRPr lang="zh-CN" altLang="en-US"/>
          </a:p>
        </p:txBody>
      </p:sp>
      <p:pic>
        <p:nvPicPr>
          <p:cNvPr id="4" name="图片 3" descr="post_object_image_362862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97" y="3755077"/>
            <a:ext cx="11930606" cy="1466829"/>
          </a:xfrm>
          <a:prstGeom prst="rect">
            <a:avLst/>
          </a:prstGeom>
        </p:spPr>
      </p:pic>
      <p:pic>
        <p:nvPicPr>
          <p:cNvPr id="5" name="图片 4" descr="post_object_image_34317049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" y="2032580"/>
            <a:ext cx="10905258" cy="827631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421263" y="3124548"/>
            <a:ext cx="848233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逐步加压测试（阶段 3）第一次加压：线程数 800，</a:t>
            </a:r>
            <a:r>
              <a:rPr lang="en-US" altLang="zh-CN"/>
              <a:t>Ramp-Up 15 </a:t>
            </a:r>
            <a:r>
              <a:rPr lang="zh-CN" altLang="en-US"/>
              <a:t>秒，循环 10 次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21304" y="5482865"/>
            <a:ext cx="577723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测试结果表明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borrow</a:t>
            </a:r>
            <a:r>
              <a:rPr lang="zh-CN" altLang="en-US"/>
              <a:t>接口满足系统应具备的高并发环境</a:t>
            </a:r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306482" y="167048"/>
            <a:ext cx="11713428" cy="1603413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b="1"/>
              <a:t>05-Return（</a:t>
            </a:r>
            <a:r>
              <a:rPr lang="zh-CN" altLang="en-US" b="1"/>
              <a:t>用户还书接口）- </a:t>
            </a:r>
            <a:r>
              <a:rPr lang="en-US" altLang="zh-CN" b="1"/>
              <a:t>POST /userReturnBook</a:t>
            </a:r>
            <a:endParaRPr lang="en-US" altLang="zh-CN" b="1"/>
          </a:p>
          <a:p>
            <a:pPr algn="l"/>
            <a:endParaRPr lang="zh-CN" altLang="en-US" b="1"/>
          </a:p>
          <a:p>
            <a:pPr algn="l"/>
            <a:r>
              <a:rPr lang="zh-CN" altLang="en-US"/>
              <a:t>接口功能：用户归还指定图书（</a:t>
            </a:r>
            <a:r>
              <a:rPr lang="en-US" altLang="zh-CN"/>
              <a:t>bookId=1），</a:t>
            </a:r>
            <a:r>
              <a:rPr lang="zh-CN" altLang="en-US"/>
              <a:t>返回还书成功提示。</a:t>
            </a:r>
            <a:endParaRPr lang="zh-CN" altLang="en-US"/>
          </a:p>
          <a:p>
            <a:pPr algn="l"/>
            <a:r>
              <a:rPr lang="zh-CN" altLang="en-US"/>
              <a:t>低并发压力测试（阶段 2）线程数：50预热时间（</a:t>
            </a:r>
            <a:r>
              <a:rPr lang="en-US" altLang="zh-CN"/>
              <a:t>Ramp-Up）：10 </a:t>
            </a:r>
            <a:r>
              <a:rPr lang="zh-CN" altLang="en-US"/>
              <a:t>秒循环次数：5 次测试目的：模拟少量用户同时还书，验证还书逻辑正常预期结果：错误率≤0.1%，平均响应时间≤700</a:t>
            </a:r>
            <a:r>
              <a:rPr lang="en-US" altLang="zh-CN"/>
              <a:t>ms，</a:t>
            </a:r>
            <a:r>
              <a:rPr lang="zh-CN" altLang="en-US"/>
              <a:t>还书逻辑正常。</a:t>
            </a:r>
            <a:endParaRPr lang="zh-CN" altLang="en-US"/>
          </a:p>
        </p:txBody>
      </p:sp>
      <p:pic>
        <p:nvPicPr>
          <p:cNvPr id="3" name="图片 2" descr="post_object_image_32676587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540" y="1857447"/>
            <a:ext cx="11494136" cy="133238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06482" y="3400057"/>
            <a:ext cx="725741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逐步加压测试（阶段 3）：线程数 800，</a:t>
            </a:r>
            <a:r>
              <a:rPr lang="en-US" altLang="zh-CN"/>
              <a:t>Ramp-Up 15 </a:t>
            </a:r>
            <a:r>
              <a:rPr lang="zh-CN" altLang="en-US"/>
              <a:t>秒，循环 10次</a:t>
            </a:r>
            <a:endParaRPr lang="zh-CN" altLang="en-US"/>
          </a:p>
        </p:txBody>
      </p:sp>
      <p:pic>
        <p:nvPicPr>
          <p:cNvPr id="5" name="图片 4" descr="post_object_image_28210740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82" y="3883264"/>
            <a:ext cx="11358303" cy="1150147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406539" y="5306385"/>
            <a:ext cx="566547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测试结果表明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return</a:t>
            </a:r>
            <a:r>
              <a:rPr lang="zh-CN" altLang="en-US"/>
              <a:t>接口满足系统应具备的高并发环境</a:t>
            </a:r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</a:rPr>
              <a:t>性能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测试分析</a:t>
            </a:r>
            <a:r>
              <a:rPr lang="zh-CN" altLang="en-US">
                <a:solidFill>
                  <a:schemeClr val="tx1"/>
                </a:solidFill>
                <a:uFillTx/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与总结</a:t>
            </a:r>
            <a:endParaRPr lang="zh-CN" altLang="en-US">
              <a:latin typeface="MiSans DemiBold" charset="0"/>
              <a:ea typeface="MiSans Medium" panose="00000600000000000000" charset="-122"/>
              <a:cs typeface="Arial" panose="020B0604020202020204" pitchFamily="34" charset="0"/>
            </a:endParaRPr>
          </a:p>
        </p:txBody>
      </p:sp>
      <p:pic>
        <p:nvPicPr>
          <p:cNvPr id="3" name="内容占位符 2" descr="8628428e-4212-11f1-857d-06dc517dc16e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006" b="1006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6" name="文本框 15"/>
          <p:cNvSpPr txBox="1"/>
          <p:nvPr userDrawn="1"/>
        </p:nvSpPr>
        <p:spPr>
          <a:xfrm>
            <a:off x="6096000" y="1283271"/>
            <a:ext cx="5008942" cy="4546449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/>
              <a:t>  本次图书管理系统 5 个核心接口性能测试，按照统一通调 → 低并发验证 → 高并发逐步加压的标准流程完成。所有接口在 1/1/1 通调阶段全部正常连通、业务逻辑无误；</a:t>
            </a:r>
            <a:endParaRPr lang="zh-CN" altLang="en-US"/>
          </a:p>
          <a:p>
            <a:pPr algn="l"/>
            <a:r>
              <a:rPr lang="zh-CN" altLang="en-US"/>
              <a:t>  在低并发阶段均保持稳定运行、异常率 0%；  </a:t>
            </a:r>
            <a:endParaRPr lang="zh-CN" altLang="en-US"/>
          </a:p>
          <a:p>
            <a:pPr algn="l"/>
            <a:r>
              <a:rPr lang="zh-CN" altLang="en-US"/>
              <a:t>  在高并发 800 线程加压下依然响应极快、无报错、无异常、无数据错乱。</a:t>
            </a:r>
            <a:endParaRPr lang="zh-CN" altLang="en-US"/>
          </a:p>
          <a:p>
            <a:pPr algn="l"/>
            <a:r>
              <a:rPr lang="zh-CN" altLang="en-US" b="1"/>
              <a:t> </a:t>
            </a:r>
            <a:endParaRPr lang="zh-CN" altLang="en-US" b="1"/>
          </a:p>
          <a:p>
            <a:pPr algn="l"/>
            <a:r>
              <a:rPr lang="zh-CN" altLang="en-US" b="1"/>
              <a:t> 因测试环境为本地电脑，硬件资源有限，继续加压会导致设备崩溃，故在 800 线程 时停止加压。该并发规模已远超系统实际用户需求，完全满足日常使用与高并发访问场景。</a:t>
            </a:r>
            <a:endParaRPr lang="zh-CN" altLang="en-US" b="1"/>
          </a:p>
          <a:p>
            <a:pPr algn="l"/>
            <a:endParaRPr lang="zh-CN" altLang="en-US"/>
          </a:p>
          <a:p>
            <a:pPr algn="l"/>
            <a:r>
              <a:rPr lang="zh-CN" altLang="en-US"/>
              <a:t>最终结论：系统接口性能优秀、运行稳定、无性能瓶颈，满足业务使用要求。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6300">
                <a:latin typeface="MiSans DemiBold" charset="0"/>
                <a:ea typeface="MiSans Medium" panose="00000600000000000000" charset="-122"/>
              </a:rPr>
              <a:t>谢谢</a:t>
            </a:r>
            <a:endParaRPr lang="zh-CN" altLang="en-US" sz="6300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39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40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41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42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</p:tagLst>
</file>

<file path=ppt/tags/tag43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4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4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46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5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5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5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5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11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11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12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e905392b5a776f7f7c2e40982592b5860f1fb6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122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12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124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125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12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127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128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12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130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131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3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33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3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135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137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138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139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140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14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150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151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152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153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5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16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  <p:tag name="KSO_WM_AITEMPLATE_STYLE_ID" val="69796643749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6609d75033b791c21b71abc56be77ee61cafa1e"/>
  <p:tag name="KSO_WM_NEWLAYOUT_GROUP_ID" val="layout_1-5"/>
  <p:tag name="KSO_WM_NEWLAYOUT_ID" val="slide_ba60fb0293b23fd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7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7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8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8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18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1cb0d1f36996698412547de3bd74bbb44a126d0"/>
  <p:tag name="KSO_WM_NEWLAYOUT_GROUP_ID" val="layout_30"/>
  <p:tag name="KSO_WM_NEWLAYOUT_ID" val="slide_e2c2d52b078adba4"/>
</p:tagLst>
</file>

<file path=ppt/tags/tag1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ac9903646bf431e7b8748fdc0fab0a28bf2eac"/>
  <p:tag name="KSO_WM_NEWLAYOUT_GROUP_ID" val="layout_10014"/>
  <p:tag name="KSO_WM_NEWLAYOUT_ID" val="slide_8bf42050c508f287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</p:tagLst>
</file>

<file path=ppt/tags/tag2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94789e6eb66a6c137fef64785f3ee778c0c0d8"/>
  <p:tag name="KSO_WM_NEWLAYOUT_GROUP_ID" val="layout_63"/>
  <p:tag name="KSO_WM_NEWLAYOUT_ID" val="slide_cd21ea65db8caf9f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3083c2e95840777db44b99287d4ef0fe2da808"/>
  <p:tag name="KSO_WM_NEWLAYOUT_GROUP_ID" val="layout_10009"/>
  <p:tag name="KSO_WM_NEWLAYOUT_ID" val="slide_e2ddc6610455839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08638d55aff372db32973dded31fe1dfeb6593"/>
  <p:tag name="KSO_WM_NEWLAYOUT_GROUP_ID" val="layout_48"/>
  <p:tag name="KSO_WM_NEWLAYOUT_ID" val="slide_81d8e711c58b27d4"/>
</p:tagLst>
</file>

<file path=ppt/tags/tag2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34d2256c9e5a147a5f4b7ede3a3e1c08119a15"/>
  <p:tag name="KSO_WM_NEWLAYOUT_GROUP_ID" val="layout_26"/>
  <p:tag name="KSO_WM_NEWLAYOUT_ID" val="slide_33b65c8d547e38d4"/>
</p:tagLst>
</file>

<file path=ppt/tags/tag2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</p:tagLst>
</file>

<file path=ppt/tags/tag26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1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2effa6886e4a628ac0a9643a0dd14e15594929"/>
  <p:tag name="KSO_WM_NEWLAYOUT_GROUP_ID" val="layout_35"/>
  <p:tag name="KSO_WM_NEWLAYOUT_ID" val="slide_3a8d68c4cb9e2e1d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</p:tagLst>
</file>

<file path=ppt/tags/tag2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986016b34badc7d58ea62c32340dc066adf6fba"/>
  <p:tag name="KSO_WM_NEWLAYOUT_GROUP_ID" val="layout_32"/>
  <p:tag name="KSO_WM_NEWLAYOUT_ID" val="slide_5239d9be7cf8785b"/>
</p:tagLst>
</file>

<file path=ppt/tags/tag3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0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1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e343be931cf23c18fd5cb7c5565ea418ca952b"/>
  <p:tag name="KSO_WM_NEWLAYOUT_GROUP_ID" val="layout_10012"/>
  <p:tag name="KSO_WM_NEWLAYOUT_ID" val="slide_ed19c0db6ed585c4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d124dc9665e77339ebd04add91d76783c1aee85"/>
  <p:tag name="KSO_WM_NEWLAYOUT_GROUP_ID" val="layout_2"/>
  <p:tag name="KSO_WM_NEWLAYOUT_ID" val="slide_dbd12360534da726"/>
</p:tagLst>
</file>

<file path=ppt/tags/tag3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75dff1309fcc5b3197073c1ee6ed72766ce700"/>
  <p:tag name="KSO_WM_NEWLAYOUT_GROUP_ID" val="layout_51"/>
  <p:tag name="KSO_WM_NEWLAYOUT_ID" val="slide_090884a5b4d69dad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a074687e3dae338ec8fe8db6127bfa1f0f87e1"/>
  <p:tag name="KSO_WM_NEWLAYOUT_GROUP_ID" val="layout_34"/>
  <p:tag name="KSO_WM_NEWLAYOUT_ID" val="slide_4acdb5d565d7a68b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27a1e5c2b90f6f18e8fe68f27f160a01af43a2d"/>
  <p:tag name="KSO_WM_NEWLAYOUT_GROUP_ID" val="layout_42"/>
  <p:tag name="KSO_WM_NEWLAYOUT_ID" val="slide_6d6aa6c8b5b8e23d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7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3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38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385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1"/>
  <p:tag name="KSO_WM_TAG_VERSION" val="3.0"/>
  <p:tag name="KSO_WM_UNIT_TEXT_LAYER_COUNT" val="1"/>
  <p:tag name="KSO_WM_UNIT_PRESET_TEXT" val="20XX YEAR 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38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</p:tagLst>
</file>

<file path=ppt/tags/tag387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2"/>
  <p:tag name="KSO_WM_TAG_VERSION" val="3.0"/>
  <p:tag name="KSO_WM_UNIT_TEXT_LAYER_COUNT" val="1"/>
  <p:tag name="KSO_WM_UNIT_PRESET_TEXT" val="BY WPS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388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6"/>
  <p:tag name="KSO_WM_SLIDE_ID" val="custom40494636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6609d75033b791c21b71abc56be77ee61cafa1e"/>
  <p:tag name="KSO_WM_NEWLAYOUT_GROUP_ID" val="layout_1-5"/>
  <p:tag name="KSO_WM_NEWLAYOUT_ID" val="slide_ba60fb0293b23fda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FIGMA_ID" val="69796643749"/>
  <p:tag name="KSO_WM_TEMPLATE_SLIDE_ID" val="slide_ba60fb0293b23fda"/>
</p:tagLst>
</file>

<file path=ppt/tags/tag40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0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0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4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ac9903646bf431e7b8748fdc0fab0a28bf2eac"/>
  <p:tag name="KSO_WM_NEWLAYOUT_GROUP_ID" val="layout_10014"/>
  <p:tag name="KSO_WM_NEWLAYOUT_ID" val="slide_8bf42050c508f287"/>
  <p:tag name="KSO_WM_UNIT_PRESET_TEXT" val="单击此处添加标题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8bf42050c508f287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ac9903646bf431e7b8748fdc0fab0a28bf2eac"/>
  <p:tag name="KSO_WM_NEWLAYOUT_GROUP_ID" val="layout_10014"/>
  <p:tag name="KSO_WM_NEWLAYOUT_ID" val="slide_8bf42050c508f287"/>
  <p:tag name="KSO_WM_UNIT_PRESET_TEXT" val="单击此处添加标题"/>
</p:tagLst>
</file>

<file path=ppt/tags/tag416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8bf42050c508f287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ac9903646bf431e7b8748fdc0fab0a28bf2eac"/>
  <p:tag name="KSO_WM_NEWLAYOUT_GROUP_ID" val="layout_10014"/>
  <p:tag name="KSO_WM_NEWLAYOUT_ID" val="slide_8bf42050c508f287"/>
  <p:tag name="KSO_WM_UNIT_PRESET_TEXT" val="单击此处添加标题"/>
</p:tagLst>
</file>

<file path=ppt/tags/tag41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8bf42050c508f287"/>
</p:tagLst>
</file>

<file path=ppt/tags/tag41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2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21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4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08638d55aff372db32973dded31fe1dfeb6593"/>
  <p:tag name="KSO_WM_NEWLAYOUT_GROUP_ID" val="layout_48"/>
  <p:tag name="KSO_WM_NEWLAYOUT_ID" val="slide_81d8e711c58b27d4"/>
  <p:tag name="KSO_WM_UNIT_PRESET_TEXT" val="单击此处添加标题"/>
</p:tagLst>
</file>

<file path=ppt/tags/tag42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81d8e711c58b27d4"/>
</p:tagLst>
</file>

<file path=ppt/tags/tag4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3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3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4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41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4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47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3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29ba74fea240dfeec0760e215bb260ae380a63"/>
  <p:tag name="KSO_WM_NEWLAYOUT_GROUP_ID" val="layout_6"/>
  <p:tag name="KSO_WM_NEWLAYOUT_ID" val="slide_9e8be4250b09d1bd"/>
  <p:tag name="KSO_WM_UNIT_PRESET_TEXT" val="单击此处添加标题"/>
</p:tagLst>
</file>

<file path=ppt/tags/tag4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6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9e8be4250b09d1bd"/>
</p:tagLst>
</file>

<file path=ppt/tags/tag4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5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6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6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6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6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6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6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6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7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71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7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7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75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7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7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79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8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8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83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8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8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8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8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9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91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9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49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95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9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49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9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9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5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08638d55aff372db32973dded31fe1dfeb6593"/>
  <p:tag name="KSO_WM_NEWLAYOUT_GROUP_ID" val="layout_48"/>
  <p:tag name="KSO_WM_NEWLAYOUT_ID" val="slide_81d8e711c58b27d4"/>
  <p:tag name="KSO_WM_UNIT_PRESET_TEXT" val="单击此处添加标题"/>
</p:tagLst>
</file>

<file path=ppt/tags/tag5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0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81d8e711c58b27d4"/>
</p:tagLst>
</file>

<file path=ppt/tags/tag5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b826f1efd85fd50865a25f67d2f26c03a6d5c"/>
  <p:tag name="KSO_WM_NEWLAYOUT_GROUP_ID" val="layout_3"/>
  <p:tag name="KSO_WM_NEWLAYOUT_ID" val="slide_0576b72b971413eb"/>
  <p:tag name="KSO_WM_UNIT_PRESET_TEXT" val="单击此处添加标题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0576b72b971413eb"/>
</p:tagLst>
</file>

<file path=ppt/tags/tag5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2effa6886e4a628ac0a9643a0dd14e15594929"/>
  <p:tag name="KSO_WM_NEWLAYOUT_GROUP_ID" val="layout_35"/>
  <p:tag name="KSO_WM_NEWLAYOUT_ID" val="slide_3a8d68c4cb9e2e1d"/>
  <p:tag name="KSO_WM_UNIT_PRESET_TEXT" val="单击此处添加标题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3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3a8d68c4cb9e2e1d"/>
</p:tagLst>
</file>

<file path=ppt/tags/tag5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3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3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3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3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4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4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4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4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4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5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5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5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5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5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6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6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6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6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6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7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7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7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7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9605dde2e5b15b8a8a928d20911ccaa043430a"/>
  <p:tag name="KSO_WM_NEWLAYOUT_GROUP_ID" val="layout_27"/>
  <p:tag name="KSO_WM_NEWLAYOUT_ID" val="slide_bbec08b93f7bcfad"/>
  <p:tag name="KSO_WM_UNIT_PRESET_TEXT" val="单击此处添加标题"/>
</p:tagLst>
</file>

<file path=ppt/tags/tag57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5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e343be931cf23c18fd5cb7c5565ea418ca952b"/>
  <p:tag name="KSO_WM_NEWLAYOUT_GROUP_ID" val="layout_10012"/>
  <p:tag name="KSO_WM_NEWLAYOUT_ID" val="slide_ed19c0db6ed585c4"/>
  <p:tag name="KSO_WM_UNIT_PRESET_TEXT" val="单击此处添加标题"/>
</p:tagLst>
</file>

<file path=ppt/tags/tag58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ed19c0db6ed585c4"/>
</p:tagLst>
</file>

<file path=ppt/tags/tag58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58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584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5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986016b34badc7d58ea62c32340dc066adf6fba"/>
  <p:tag name="KSO_WM_NEWLAYOUT_GROUP_ID" val="layout_32"/>
  <p:tag name="KSO_WM_NEWLAYOUT_ID" val="slide_5239d9be7cf8785b"/>
  <p:tag name="KSO_WM_UNIT_PRESET_TEXT" val="单击此处添加标题"/>
</p:tagLst>
</file>

<file path=ppt/tags/tag5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58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5239d9be7cf8785b"/>
</p:tagLst>
</file>

<file path=ppt/tags/tag5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d124dc9665e77339ebd04add91d76783c1aee85"/>
  <p:tag name="KSO_WM_NEWLAYOUT_GROUP_ID" val="layout_2"/>
  <p:tag name="KSO_WM_NEWLAYOUT_ID" val="slide_dbd12360534da726"/>
  <p:tag name="KSO_WM_UNIT_PRESET_TEXT" val="单击此处添加标题"/>
</p:tagLst>
</file>

<file path=ppt/tags/tag59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dbd12360534da726"/>
</p:tagLst>
</file>

<file path=ppt/tags/tag5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e343be931cf23c18fd5cb7c5565ea418ca952b"/>
  <p:tag name="KSO_WM_NEWLAYOUT_GROUP_ID" val="layout_10012"/>
  <p:tag name="KSO_WM_NEWLAYOUT_ID" val="slide_ed19c0db6ed585c4"/>
  <p:tag name="KSO_WM_UNIT_PRESET_TEXT" val="单击此处添加标题"/>
</p:tagLst>
</file>

<file path=ppt/tags/tag5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4/c251f165-2c28-4947-8105-7cd0225717c1.jpg?Expires=1808814275\u0026AWSAccessKeyId=AKLT9NSy7kh8TIS1UzNqLRY2\u0026Signature=P7ZXy7jTj8%2FZEN5xdnsmUToQXao%3D&quot;,&quot;product_name&quot;:&quot;kdocs-wpp-web&quot;,&quot;intention_code&quot;:&quot;kdocs_wpp_generate_outline_pay&quot;}*auto_qingqiu_3.0.7_prod*1777278270880_0b9d81_38d2f74ab4d3-slide-17"/>
</p:tagLst>
</file>

<file path=ppt/tags/tag59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ed19c0db6ed585c4"/>
</p:tagLst>
</file>

<file path=ppt/tags/tag597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36"/>
  <p:tag name="KSO_WM_UNIT_LAYERLEVEL" val="1"/>
  <p:tag name="KSO_WM_UNIT_ID" val="custom40494636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59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599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36"/>
  <p:tag name="KSO_WM_SLIDE_ID" val="custom40494636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蓝色毕业答辩简约风主题">
  <a:themeElements>
    <a:clrScheme name="自定义 316">
      <a:dk1>
        <a:srgbClr val="000000"/>
      </a:dk1>
      <a:lt1>
        <a:srgbClr val="FFFFFF"/>
      </a:lt1>
      <a:dk2>
        <a:srgbClr val="333638"/>
      </a:dk2>
      <a:lt2>
        <a:srgbClr val="EFF1F4"/>
      </a:lt2>
      <a:accent1>
        <a:srgbClr val="0745AA"/>
      </a:accent1>
      <a:accent2>
        <a:srgbClr val="478DFF"/>
      </a:accent2>
      <a:accent3>
        <a:srgbClr val="1B55B3"/>
      </a:accent3>
      <a:accent4>
        <a:srgbClr val="69A9FF"/>
      </a:accent4>
      <a:accent5>
        <a:srgbClr val="356CC4"/>
      </a:accent5>
      <a:accent6>
        <a:srgbClr val="91C5FF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蓝色毕业答辩简约风主题">
  <a:themeElements>
    <a:clrScheme name="">
      <a:dk1>
        <a:srgbClr val="000000"/>
      </a:dk1>
      <a:lt1>
        <a:srgbClr val="FFFFFF"/>
      </a:lt1>
      <a:dk2>
        <a:srgbClr val="03204C"/>
      </a:dk2>
      <a:lt2>
        <a:srgbClr val="F2F3F5"/>
      </a:lt2>
      <a:accent1>
        <a:srgbClr val="0745AA"/>
      </a:accent1>
      <a:accent2>
        <a:srgbClr val="478DFF"/>
      </a:accent2>
      <a:accent3>
        <a:srgbClr val="1B55B3"/>
      </a:accent3>
      <a:accent4>
        <a:srgbClr val="88B4FB"/>
      </a:accent4>
      <a:accent5>
        <a:srgbClr val="356CC4"/>
      </a:accent5>
      <a:accent6>
        <a:srgbClr val="9EC0F9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9744</Words>
  <Application>WPS Office WWO_wpscloud_20260422194245-febe6525c7</Application>
  <PresentationFormat>宽屏</PresentationFormat>
  <Paragraphs>1212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70</vt:i4>
      </vt:variant>
    </vt:vector>
  </HeadingPairs>
  <TitlesOfParts>
    <vt:vector size="92" baseType="lpstr">
      <vt:lpstr>Arial</vt:lpstr>
      <vt:lpstr>宋体</vt:lpstr>
      <vt:lpstr>Wingdings</vt:lpstr>
      <vt:lpstr>微软雅黑</vt:lpstr>
      <vt:lpstr>汉仪旗黑KW 55S</vt:lpstr>
      <vt:lpstr>MiSans DemiBold</vt:lpstr>
      <vt:lpstr>MiSans Medium</vt:lpstr>
      <vt:lpstr>MiSans Normal</vt:lpstr>
      <vt:lpstr>Wingdings</vt:lpstr>
      <vt:lpstr>Segoe WPC</vt:lpstr>
      <vt:lpstr>Segoe WPC</vt:lpstr>
      <vt:lpstr>宋体</vt:lpstr>
      <vt:lpstr>宋体</vt:lpstr>
      <vt:lpstr>Calibri</vt:lpstr>
      <vt:lpstr>Calibri</vt:lpstr>
      <vt:lpstr>ui-sans-serif</vt:lpstr>
      <vt:lpstr>ui-sans-serif</vt:lpstr>
      <vt:lpstr>汉仪书宋二KW</vt:lpstr>
      <vt:lpstr>Kingsoft Confetti</vt:lpstr>
      <vt:lpstr>Office 主题</vt:lpstr>
      <vt:lpstr>1_蓝色毕业答辩简约风主题</vt:lpstr>
      <vt:lpstr>2_蓝色毕业答辩简约风主题</vt:lpstr>
      <vt:lpstr>软件测试课程大作业汇报</vt:lpstr>
      <vt:lpstr>目录</vt:lpstr>
      <vt:lpstr>系统概述</vt:lpstr>
      <vt:lpstr>主标题</vt:lpstr>
      <vt:lpstr>library_manager_system-master</vt:lpstr>
      <vt:lpstr>系统运行概览</vt:lpstr>
      <vt:lpstr>单元测试与深入分析(苏一涵)</vt:lpstr>
      <vt:lpstr>测试对象</vt:lpstr>
      <vt:lpstr>程序流程图</vt:lpstr>
      <vt:lpstr>程序流程图</vt:lpstr>
      <vt:lpstr>程序流程图</vt:lpstr>
      <vt:lpstr>测试用例设计</vt:lpstr>
      <vt:lpstr>测试用例设计</vt:lpstr>
      <vt:lpstr>测试用例设计</vt:lpstr>
      <vt:lpstr>测试结果</vt:lpstr>
      <vt:lpstr>测试结果</vt:lpstr>
      <vt:lpstr>测试结果</vt:lpstr>
      <vt:lpstr>覆盖率测试</vt:lpstr>
      <vt:lpstr>覆盖率测试</vt:lpstr>
      <vt:lpstr>覆盖率测试</vt:lpstr>
      <vt:lpstr>覆盖率测试</vt:lpstr>
      <vt:lpstr>边界测试</vt:lpstr>
      <vt:lpstr>边界测试</vt:lpstr>
      <vt:lpstr>效能测试</vt:lpstr>
      <vt:lpstr>效能测试</vt:lpstr>
      <vt:lpstr>效能测试</vt:lpstr>
      <vt:lpstr>效能测试</vt:lpstr>
      <vt:lpstr>系统功能测试 (张瀚文)</vt:lpstr>
      <vt:lpstr>测试环境</vt:lpstr>
      <vt:lpstr>功能模块划分</vt:lpstr>
      <vt:lpstr>功能测试方法</vt:lpstr>
      <vt:lpstr>用户赋权与管理模块（添加新用户功能）</vt:lpstr>
      <vt:lpstr>用户赋权与管理模块（添加新用户功能）</vt:lpstr>
      <vt:lpstr>用户赋权与管理模块（添加新用户功能）</vt:lpstr>
      <vt:lpstr>用户赋权与管理模块（添加新用户功能）</vt:lpstr>
      <vt:lpstr>用户赋权与管理模块（添加新用户功能）</vt:lpstr>
      <vt:lpstr>用户赋权与管理模块（添加新用户功能）</vt:lpstr>
      <vt:lpstr>用户赋权与管理模块（添加新用户功能）</vt:lpstr>
      <vt:lpstr>用户赋权与管理模块（添加新用户功能）</vt:lpstr>
      <vt:lpstr>图书物资管理模块（新增书类、图书功能）</vt:lpstr>
      <vt:lpstr>图书物资管理模块（新增书类、图书功能）</vt:lpstr>
      <vt:lpstr>图书物资管理模块（新增书类、图书功能）</vt:lpstr>
      <vt:lpstr>图书物资管理模块（新增书类、图书功能）</vt:lpstr>
      <vt:lpstr>图书物资管理模块（新增书类、图书功能）</vt:lpstr>
      <vt:lpstr>图书物资管理模块（新增书类、图书功能）</vt:lpstr>
      <vt:lpstr>前台查阅流转模块（书籍查询功能）</vt:lpstr>
      <vt:lpstr>前台查阅流转模块（书籍查询功能）</vt:lpstr>
      <vt:lpstr>前台查阅流转模块（书籍查询功能）</vt:lpstr>
      <vt:lpstr>前台查阅流转模块（书籍查询功能）</vt:lpstr>
      <vt:lpstr>前台查阅流转模块（书籍查询功能）</vt:lpstr>
      <vt:lpstr>借阅调度记录模块（借书还书功能）</vt:lpstr>
      <vt:lpstr>借阅调度记录模块（借书还书功能）</vt:lpstr>
      <vt:lpstr>借阅调度记录模块（借书还书功能）</vt:lpstr>
      <vt:lpstr>借阅调度记录模块（借书还书功能）</vt:lpstr>
      <vt:lpstr>借阅调度记录模块（借书还书功能）</vt:lpstr>
      <vt:lpstr>缺陷定级与测试结论</vt:lpstr>
      <vt:lpstr>系统性能测试 (伊木然)</vt:lpstr>
      <vt:lpstr>测试方案与场景</vt:lpstr>
      <vt:lpstr>PowerPoint 演示文稿</vt:lpstr>
      <vt:lpstr>PowerPoint 演示文稿</vt:lpstr>
      <vt:lpstr>一、五个接口调通测试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性能测试分析与总结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软件测试课程大作业汇报</dc:title>
  <dc:creator/>
  <cp:lastModifiedBy/>
  <dcterms:created xsi:type="dcterms:W3CDTF">2026-04-29T05:35:56Z</dcterms:created>
  <dcterms:modified xsi:type="dcterms:W3CDTF">2026-04-29T05:35:56Z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2052-12.9.0.26352</vt:lpwstr>
  </property>
  <property fmtid="{D5CDD505-2E9C-101B-9397-08002B2CF9AE}" pid="3" name="KSOTemplateUUID">
    <vt:lpwstr>v1.0_ai_69796643749</vt:lpwstr>
  </property>
  <property fmtid="{D5CDD505-2E9C-101B-9397-08002B2CF9AE}" pid="4" name="ICV">
    <vt:lpwstr>F995F23759FE0F93631DEF69D3F34595_42</vt:lpwstr>
  </property>
</Properties>
</file>